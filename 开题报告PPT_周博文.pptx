
<file path=[Content_Types].xml><?xml version="1.0" encoding="utf-8"?>
<Types xmlns="http://schemas.openxmlformats.org/package/2006/content-types">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6.xml" ContentType="application/vnd.openxmlformats-officedocument.presentationml.tags+xml"/>
  <Override PartName="/ppt/tags/tag61.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p:sldMasterIdLst>
    <p:sldMasterId id="2147483648" r:id="rId1"/>
  </p:sldMasterIdLst>
  <p:notesMasterIdLst>
    <p:notesMasterId r:id="rId4"/>
  </p:notesMasterIdLst>
  <p:handoutMasterIdLst>
    <p:handoutMasterId r:id="rId12"/>
  </p:handoutMasterIdLst>
  <p:sldIdLst>
    <p:sldId id="256" r:id="rId11"/>
    <p:sldId id="257" r:id="rId10"/>
    <p:sldId id="258" r:id="rId9"/>
    <p:sldId id="259" r:id="rId8"/>
    <p:sldId id="260" r:id="rId7"/>
    <p:sldId id="261" r:id="rId6"/>
    <p:sldId id="262" r:id="rId5"/>
    <p:sldId id="263" r:id="rId3"/>
    <p:sldId id="264" r:id="rId23"/>
    <p:sldId id="265" r:id="rId24"/>
    <p:sldId id="266" r:id="rId25"/>
    <p:sldId id="267" r:id="rId26"/>
    <p:sldId id="268" r:id="rId27"/>
    <p:sldId id="269" r:id="rId28"/>
    <p:sldId id="270" r:id="rId29"/>
    <p:sldId id="271" r:id="rId30"/>
    <p:sldId id="272" r:id="rId31"/>
    <p:sldId id="273" r:id="rId32"/>
    <p:sldId id="274" r:id="rId33"/>
    <p:sldId id="275" r:id="rId34"/>
    <p:sldId id="276" r:id="rId35"/>
    <p:sldId id="277" r:id="rId36"/>
    <p:sldId id="278" r:id="rId37"/>
    <p:sldId id="279" r:id="rId38"/>
    <p:sldId id="280" r:id="rId39"/>
    <p:sldId id="281" r:id="rId40"/>
  </p:sldIdLst>
  <p:sldSz cx="12192000" cy="6858000"/>
  <p:notesSz cx="6858000" cy="9144000"/>
  <p:embeddedFontLst>
    <p:embeddedFont>
      <p:font typeface="方正小标宋简体" panose="02000000000000000000" charset="-122"/>
      <p:regular r:id="rId16"/>
    </p:embeddedFont>
    <p:embeddedFont>
      <p:font typeface="微软雅黑" panose="020B0503020204020204" charset="-122"/>
      <p:regular r:id="rId17"/>
    </p:embeddedFont>
    <p:embeddedFont>
      <p:font typeface="Calibri" panose="020F0502020204030204" charset="0"/>
      <p:regular r:id="rId18"/>
      <p:bold r:id="rId19"/>
      <p:italic r:id="rId20"/>
      <p:boldItalic r:id="rId21"/>
    </p:embeddedFont>
  </p:embeddedFontLst>
  <p:custDataLst>
    <p:tags r:id="rId22"/>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71" userDrawn="1">
          <p15:clr>
            <a:srgbClr val="A4A3A4"/>
          </p15:clr>
        </p15:guide>
        <p15:guide id="2" pos="377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787A7"/>
    <a:srgbClr val="F3E8FF"/>
    <a:srgbClr val="E9ABE6"/>
    <a:srgbClr val="C0DC7A"/>
    <a:srgbClr val="A8E584"/>
    <a:srgbClr val="E1B5E1"/>
    <a:srgbClr val="685EB0"/>
    <a:srgbClr val="D47581"/>
    <a:srgbClr val="B48EB9"/>
    <a:srgbClr val="7030A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778" autoAdjust="0"/>
    <p:restoredTop sz="87978"/>
  </p:normalViewPr>
  <p:slideViewPr>
    <p:cSldViewPr snapToGrid="0" showGuides="1">
      <p:cViewPr varScale="1">
        <p:scale>
          <a:sx n="99" d="100"/>
          <a:sy n="99" d="100"/>
        </p:scale>
        <p:origin x="176" y="448"/>
      </p:cViewPr>
      <p:guideLst>
        <p:guide orient="horz" pos="1971"/>
        <p:guide pos="3776"/>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0" cy="72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8.xml"/><Relationship Id="rId4" Type="http://schemas.openxmlformats.org/officeDocument/2006/relationships/notesMaster" Target="notesMasters/notesMaster1.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slide" Target="slides/slide2.xml"/><Relationship Id="rId11" Type="http://schemas.openxmlformats.org/officeDocument/2006/relationships/slide" Target="slides/slide1.xml"/><Relationship Id="rId12" Type="http://schemas.openxmlformats.org/officeDocument/2006/relationships/handoutMaster" Target="handoutMasters/handout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ableStyles" Target="tableStyles.xml"/><Relationship Id="rId16" Type="http://schemas.openxmlformats.org/officeDocument/2006/relationships/font" Target="fonts/font1.fntdata"/><Relationship Id="rId17" Type="http://schemas.openxmlformats.org/officeDocument/2006/relationships/font" Target="fonts/font2.fntdata"/><Relationship Id="rId18" Type="http://schemas.openxmlformats.org/officeDocument/2006/relationships/font" Target="fonts/font3.fntdata"/><Relationship Id="rId19" Type="http://schemas.openxmlformats.org/officeDocument/2006/relationships/font" Target="fonts/font4.fntdata"/><Relationship Id="rId20" Type="http://schemas.openxmlformats.org/officeDocument/2006/relationships/font" Target="fonts/font5.fntdata"/><Relationship Id="rId21" Type="http://schemas.openxmlformats.org/officeDocument/2006/relationships/font" Target="fonts/font6.fntdata"/><Relationship Id="rId22" Type="http://schemas.openxmlformats.org/officeDocument/2006/relationships/tags" Target="tags/tag61.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8.xml"/><Relationship Id="rId33" Type="http://schemas.openxmlformats.org/officeDocument/2006/relationships/slide" Target="slides/slide19.xml"/><Relationship Id="rId34" Type="http://schemas.openxmlformats.org/officeDocument/2006/relationships/slide" Target="slides/slide20.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 Id="rId38" Type="http://schemas.openxmlformats.org/officeDocument/2006/relationships/slide" Target="slides/slide24.xml"/><Relationship Id="rId39" Type="http://schemas.openxmlformats.org/officeDocument/2006/relationships/slide" Target="slides/slide25.xml"/><Relationship Id="rId40" Type="http://schemas.openxmlformats.org/officeDocument/2006/relationships/slide" Target="slides/slide2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第一部分：研究背景和选题意义</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通用数字智能体的目标是在真实计算机环境中自主完成长程数字工作。它具备三种场景能力：命令行操作（Bash）和代码构建（Coding）属于 CLI 能力，图形界面操作属于 GUI 能力。左图是真实任务中的混合轨迹：数据分析、游戏开发、网站运维都需要在命令行与图形界面之间交替。三种能力互补而非互替。</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通用数字智能体可应用于软件开发、系统运维、内容创作以及金融、电商等行业业务流程。三段视频是真实的智能体轨迹。产业界已将三种能力整合到同一智能体中；大量存量软件没有可编程接口，必须依赖 GUI 能力；混合能力交互已成为前沿基础模型的核心议题。</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第二部分：国内外研究现状</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国内外研究可分为四类：纯 CLI 能力方法，包括命令行智能体与代码智能体；纯 GUI 能力方法，包括原生 GUI 智能体与高效视觉推理；混合能力方法，包括多智能体协作、工具增强 GUI 与可验证环境构建；以及新兴的走向真实世界的智能体，包括个人智能体产品、物理世界生成与机器人使用。</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纯 CLI 能力方法：动作精确、执行高效，单元测试提供可验证奖励，强化学习已规模化。不足在于无法观测渲染结果，只能处理有接口的软件。</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纯 GUI 能力方法：以截图和键鼠为通用接口，OSWorld 两年从 12% 到 80% 以上。不足在于开销高、步数多、看不到隐藏状态；FastV、SnapKV 等通用压缩方法没有利用 GUI 的帧间冗余与二维布局。</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混合能力方法：CoAct-1 让 GUI 操作员与程序员协作，OSWorld-MCP 在 GUI 之外提供工具，GUI-Genesis 将应用重建为可验证环境。右侧对照说明，在以 GUI 为主的 OSWorld 上，同一模型仅用 CLI 即可以约一半步数取得相当的成功率，说明两类能力各有优势。不足在于第二种能力多为辅助，任务未强制协同、只看结果判分；可验证环境局限于单一界面。</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第四类是走向真实世界的智能体。个人智能体产品方面，OpenAI dots、Meta Muse 都在云端机器或安全虚拟机中执行，Manus 起初完全在云 VM，2026 年起支持在本机运行；OpenClaw 则运行在用户自己的设备上，Muse 据报道正是以 OpenClaw 为蓝本。物理世界方面，SimWorlds、Text2Sim、4DCodeBench 让 Coding Agent 生成物理世界或复现运动，RobotWorld 评测多模态智能体使用机器人，最强模型成功率仅 19%。不足：个人智能体多在云端通用环境执行，个人化主要体现在记忆，职业特质不鲜明；物理世界生成多以原条件下看起来正确为准，缺少跨条件的物理验证。</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三个挑战分别对应三项研究。第一，任务范式与能力度量失配：纯 GUI 范式偏重，基准割裂评测且只看结果判分。第二，混合行为模式难以习得：缺少可验证奖励与训练环境。第三，通用能力难以落到真实世界：缺少个人环境与职业知识，生成内容不受物理规律约束。</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第三部分：课题研究内容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研究框架分三段：研究一做评测，研究二做训练，研究三做应用。前一项研究的结论构成后一项研究的动机。贯穿三项研究的是可扩展：任务、环境和 verifier 都能自动批量构造。</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课题一是评测。最初两项工作在纯 GUI 范式下做推理效率优化：GUIPruner 做视觉 token 压缩，ST-Lite 做 KV Cache 压缩，开销显著下降。但我们发现纯 GUI 范式天然偏重：同一模型在 OSWorld 上仅用 CLI 的成功率与仅用 GUI 相当，步数只有一半。同时 2026 年初 OpenClaw 这类以 CLI 为主、运行在个人电脑上的智能体迅速普及，进一步说明纯 GUI 范式并非天然合理。由此转向定义 CLI 与 GUI 交织的综合数字智能体范式，并给出可信评测，即 WeaveBench。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WeaveBench 以已部署的 CLI 智能体运行时为底座，加入最小桌面控制插件，形成真实的混合运行时；114 个长程任务覆盖 8 个真实工作领域，每个任务 CLI 与 GUI 缺一不可；轨迹感知判官审计交付物、文件、截图、日志与动作轨迹。最强组合仅 41.2%，单一能力不超过 3.5%；过程审计修正约 20 个百分点的虚高；65.6% 的失败源于违规取巧与长程失控。结论：瓶颈在自主编排与自我验证，需要训练这种新的行为模式。</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课题二回答如何训练这种新的行为模式。自主编排与自我验证需要在能力交织、结果可验证的场景中习得。我们找到的场景是应用复刻：规格在界面里、交付物是代码、对错要运行后看界面，天然要求 CLI 与 GUI 交织；而原版应用本身就是 oracle，可以自动合成隐藏行为测试作为可验证奖励。右下图显示复刻任务中 GUI 与代码的切换频率远高于现有基准。</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训练流程分四步：从 GitHub 高质量开源应用构造复刻任务，覆盖五个平台并与评测集去重；用 Qwen3.8-Max 在隔离的虚拟机池中并发生成轨迹；用任务级行为 verifier 做拒绝采样，每平台 7000 条、共 3.5 万条；在 Qwen3.7-Plus 和持续预训练后的 Qwen-Flash 上监督微调。结果在五个分布外基准上一致提升，最高 17.9 个百分点；在研究一的 WeaveBench 上从 35.7 提升到 48.2，评测与训练形成闭环。结论是可验证环境中习得的行为可以迁移，引出研究三：推广到真实世界。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课题三的第一个方向是职业化个人智能体。OpenAI dots、Meta Muse、Manus 等产品的个人化主要体现在记忆与对话人设上，任务多在云端通用环境中执行，职业特质并不鲜明。我们认为真正的个人智能体应当在用户自己的电脑环境中工作，具备不同职业的业务世界知识与专业软件的使用能力，才能真正作为数字员工帮助不同职业的人提高生产力。</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方法上做多职业可验证环境扩展：第一，App Mock，用研究二的复刻能力把各行业业务软件构建为可交互、可重置的仿真应用，并组装为个人电脑环境；第二，用脱敏的真实业务数据驱动状态与事件演化；第三，构造 SFT 与 RL 任务流水线，verifier 以数据库状态为准。研究一的评测、研究二的训练流程与研究一的压缩方法都在这里复用。</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课题三的第二个方向是物理世界智能体，本质是把 CLI 能力、尤其是 Coding 能力外扩到物理世界，要求产出的代码与内容遵循现实物理规律。以多米诺为例：关键帧动画与物理仿真在原始条件下看起来完全一样；但拉大第 10、11 块骨牌间距后，关键帧动画仍然全部倒下，物理仿真则在间隙处正确中断。只看原任务的视觉效果，无法判断智能体是否真正构建了正确的动力学模型。需要说明，解析式公式不一定错，物理引擎也不保证正确，判断标准是物理行为能否在不同条件下通过独立验证。现有工作分别考察了场景重建、运动复现、机制验证与仿真修复，但尚未统一考察跨条件泛化、错误因果定位和修复后的回归三件事。</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据此提出三个研究问题：RQ1 物理泛化，RQ2 错误诊断，RQ3 可靠修复。方法是物理落地的验证与因果修复：智能体构建物理世界，执行仿真并记录状态轨迹，由基于干预的 verifier 改变参数与初始条件，结合轨迹、接触状态、物理约束与渲染图定位错误，再定向修复并对原始与干预条件做回归测试。核心消融比较 One-shot、执行反馈、视觉反馈、物理状态反馈和我们的方法。主要科学问题是 Coding Agent 能否构建物理上可泛化的世界；方法贡献是基于干预的反馈能否提升仿真修复。这与主线一致：反事实干预就是一种可扩展的 verifier，修复闭环可以作为训练环境。</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第四部分：论文进度安排及预期达到目标</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已完成工作：研究一对应 GUIPruner（投稿 KDD 2027）与 ST-Lite（EMNLP 2026）；WeaveBench（EMNLP 2026）同属研究一；研究二对应 RecreationWorld 技术报告。在 Qwen 团队实习期间参与 Qwen3.8-Max 研发，研究问题源于前沿基础模型的一线痛点。</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预期创新点有三：一是综合数字智能体范式与轨迹感知评测；二是以复刻为 oracle 的可扩展可验证训练；三是面向真实世界的环境扩展与物理落地验证。三者共享同一原则：以可执行、可验证的证据度量和训练智能体。</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后续计划聚焦研究三：先构建职业化个人电脑环境，再以真实数据驱动环境并构造 SFT 与 RL 任务流水线，然后推进物理世界智能体的反事实干预基准与因果修复方法，最后整合评测、训练与应用三部分完成学位论文。</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汇报结束，请各位老师批评指正。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tags" Target="../tags/tag1.xml"/><Relationship Id="rId4" Type="http://schemas.openxmlformats.org/officeDocument/2006/relationships/tags" Target="../tags/tag2.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xml"/><Relationship Id="rId3" Type="http://schemas.openxmlformats.org/officeDocument/2006/relationships/image" Target="../media/image2.jpeg"/><Relationship Id="rId4" Type="http://schemas.openxmlformats.org/officeDocument/2006/relationships/tags" Target="../tags/tag4.xml"/><Relationship Id="rId5" Type="http://schemas.openxmlformats.org/officeDocument/2006/relationships/tags" Target="../tags/tag5.xml"/><Relationship Id="rId6" Type="http://schemas.openxmlformats.org/officeDocument/2006/relationships/tags" Target="../tags/tag6.xml"/><Relationship Id="rId7" Type="http://schemas.openxmlformats.org/officeDocument/2006/relationships/tags" Target="../tags/tag7.xml"/><Relationship Id="rId8" Type="http://schemas.openxmlformats.org/officeDocument/2006/relationships/tags" Target="../tags/tag8.xml"/><Relationship Id="rId9" Type="http://schemas.openxmlformats.org/officeDocument/2006/relationships/tags" Target="../tags/tag9.xml"/><Relationship Id="rId10" Type="http://schemas.openxmlformats.org/officeDocument/2006/relationships/tags" Target="../tags/tag10.xml"/><Relationship Id="rId11" Type="http://schemas.openxmlformats.org/officeDocument/2006/relationships/image" Target="../media/image3.png"/><Relationship Id="rId12" Type="http://schemas.microsoft.com/office/2007/relationships/hdphoto" Target="../media/image4.wdp"/></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1.xml"/><Relationship Id="rId3" Type="http://schemas.openxmlformats.org/officeDocument/2006/relationships/tags" Target="../tags/tag12.xml"/><Relationship Id="rId4" Type="http://schemas.openxmlformats.org/officeDocument/2006/relationships/tags" Target="../tags/tag13.xml"/><Relationship Id="rId5" Type="http://schemas.openxmlformats.org/officeDocument/2006/relationships/image" Target="../media/image5.png"/><Relationship Id="rId6" Type="http://schemas.microsoft.com/office/2007/relationships/hdphoto" Target="../media/image6.wdp"/><Relationship Id="rId7" Type="http://schemas.openxmlformats.org/officeDocument/2006/relationships/tags" Target="../tags/tag14.xml"/><Relationship Id="rId8" Type="http://schemas.openxmlformats.org/officeDocument/2006/relationships/image" Target="../media/image7.png"/><Relationship Id="rId9" Type="http://schemas.openxmlformats.org/officeDocument/2006/relationships/tags" Target="../tags/tag15.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microsoft.com/office/2007/relationships/hdphoto" Target="../media/image9.wdp"/><Relationship Id="rId4" Type="http://schemas.openxmlformats.org/officeDocument/2006/relationships/image" Target="../media/image10.png"/><Relationship Id="rId5" Type="http://schemas.microsoft.com/office/2007/relationships/hdphoto" Target="../media/image11.wdp"/><Relationship Id="rId6" Type="http://schemas.openxmlformats.org/officeDocument/2006/relationships/image" Target="../media/image1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6.xml"/><Relationship Id="rId3" Type="http://schemas.openxmlformats.org/officeDocument/2006/relationships/tags" Target="../tags/tag17.xml"/><Relationship Id="rId4" Type="http://schemas.openxmlformats.org/officeDocument/2006/relationships/tags" Target="../tags/tag18.xml"/><Relationship Id="rId5" Type="http://schemas.openxmlformats.org/officeDocument/2006/relationships/tags" Target="../tags/tag19.xml"/><Relationship Id="rId6" Type="http://schemas.openxmlformats.org/officeDocument/2006/relationships/tags" Target="../tags/tag20.xml"/><Relationship Id="rId7" Type="http://schemas.openxmlformats.org/officeDocument/2006/relationships/tags" Target="../tags/tag2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22.xml"/><Relationship Id="rId3" Type="http://schemas.openxmlformats.org/officeDocument/2006/relationships/tags" Target="../tags/tag23.xml"/><Relationship Id="rId4" Type="http://schemas.openxmlformats.org/officeDocument/2006/relationships/tags" Target="../tags/tag24.xml"/><Relationship Id="rId5" Type="http://schemas.openxmlformats.org/officeDocument/2006/relationships/tags" Target="../tags/tag25.xml"/><Relationship Id="rId6" Type="http://schemas.openxmlformats.org/officeDocument/2006/relationships/tags" Target="../tags/tag26.xml"/><Relationship Id="rId7" Type="http://schemas.openxmlformats.org/officeDocument/2006/relationships/tags" Target="../tags/tag27.xml"/><Relationship Id="rId8" Type="http://schemas.openxmlformats.org/officeDocument/2006/relationships/tags" Target="../tags/tag28.xml"/><Relationship Id="rId9" Type="http://schemas.openxmlformats.org/officeDocument/2006/relationships/tags" Target="../tags/tag29.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0.xml"/><Relationship Id="rId3" Type="http://schemas.openxmlformats.org/officeDocument/2006/relationships/tags" Target="../tags/tag31.xml"/><Relationship Id="rId4" Type="http://schemas.openxmlformats.org/officeDocument/2006/relationships/tags" Target="../tags/tag32.xml"/><Relationship Id="rId5" Type="http://schemas.openxmlformats.org/officeDocument/2006/relationships/tags" Target="../tags/tag3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4.xml"/><Relationship Id="rId3" Type="http://schemas.openxmlformats.org/officeDocument/2006/relationships/tags" Target="../tags/tag35.xml"/><Relationship Id="rId4" Type="http://schemas.openxmlformats.org/officeDocument/2006/relationships/tags" Target="../tags/tag36.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7.xml"/><Relationship Id="rId3" Type="http://schemas.openxmlformats.org/officeDocument/2006/relationships/tags" Target="../tags/tag38.xml"/><Relationship Id="rId4" Type="http://schemas.openxmlformats.org/officeDocument/2006/relationships/tags" Target="../tags/tag39.xml"/><Relationship Id="rId5" Type="http://schemas.openxmlformats.org/officeDocument/2006/relationships/tags" Target="../tags/tag40.xml"/><Relationship Id="rId6" Type="http://schemas.openxmlformats.org/officeDocument/2006/relationships/tags" Target="../tags/tag41.xml"/><Relationship Id="rId7" Type="http://schemas.openxmlformats.org/officeDocument/2006/relationships/tags" Target="../tags/tag4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3.xml"/><Relationship Id="rId3" Type="http://schemas.openxmlformats.org/officeDocument/2006/relationships/tags" Target="../tags/tag44.xml"/><Relationship Id="rId4" Type="http://schemas.openxmlformats.org/officeDocument/2006/relationships/tags" Target="../tags/tag45.xml"/><Relationship Id="rId5" Type="http://schemas.openxmlformats.org/officeDocument/2006/relationships/tags" Target="../tags/tag46.xml"/><Relationship Id="rId6" Type="http://schemas.openxmlformats.org/officeDocument/2006/relationships/tags" Target="../tags/tag47.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8.xml"/><Relationship Id="rId3" Type="http://schemas.openxmlformats.org/officeDocument/2006/relationships/tags" Target="../tags/tag49.xml"/><Relationship Id="rId4" Type="http://schemas.openxmlformats.org/officeDocument/2006/relationships/tags" Target="../tags/tag50.xml"/><Relationship Id="rId5" Type="http://schemas.openxmlformats.org/officeDocument/2006/relationships/tags" Target="../tags/tag5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pic>
        <p:nvPicPr>
          <p:cNvPr id="4" name="图片 3" descr="清华大学模板"/>
          <p:cNvPicPr>
            <a:picLocks noChangeAspect="1"/>
          </p:cNvPicPr>
          <p:nvPr userDrawn="1"/>
        </p:nvPicPr>
        <p:blipFill>
          <a:blip r:embed="rId2"/>
          <a:stretch>
            <a:fillRect/>
          </a:stretch>
        </p:blipFill>
        <p:spPr>
          <a:xfrm>
            <a:off x="0" y="0"/>
            <a:ext cx="12192000" cy="6856730"/>
          </a:xfrm>
          <a:prstGeom prst="rect">
            <a:avLst/>
          </a:prstGeom>
        </p:spPr>
      </p:pic>
      <p:sp>
        <p:nvSpPr>
          <p:cNvPr id="17" name="页脚占位符 16"/>
          <p:cNvSpPr>
            <a:spLocks noGrp="1"/>
          </p:cNvSpPr>
          <p:nvPr>
            <p:ph type="ftr" sz="quarter" idx="11"/>
            <p:custDataLst>
              <p:tags r:id="rId3"/>
            </p:custDataLst>
          </p:nvPr>
        </p:nvSpPr>
        <p:spPr/>
        <p:txBody>
          <a:bodyPr/>
          <a:lstStyle/>
          <a:p>
            <a:endParaRPr lang="zh-CN" altLang="en-US" dirty="0"/>
          </a:p>
        </p:txBody>
      </p:sp>
      <p:sp>
        <p:nvSpPr>
          <p:cNvPr id="18" name="灯片编号占位符 17"/>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dirty="0"/>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pic>
        <p:nvPicPr>
          <p:cNvPr id="10" name="图片 9"/>
          <p:cNvPicPr>
            <a:picLocks noChangeAspect="1"/>
          </p:cNvPicPr>
          <p:nvPr userDrawn="1">
            <p:custDataLst>
              <p:tags r:id="rId2"/>
            </p:custDataLst>
          </p:nvPr>
        </p:nvPicPr>
        <p:blipFill rotWithShape="1">
          <a:blip r:embed="rId3" cstate="print">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sp>
        <p:nvSpPr>
          <p:cNvPr id="9" name="灯片编号占位符 5"/>
          <p:cNvSpPr>
            <a:spLocks noGrp="1"/>
          </p:cNvSpPr>
          <p:nvPr userDrawn="1">
            <p:custDataLst>
              <p:tags r:id="rId4"/>
            </p:custDataLst>
          </p:nvPr>
        </p:nvSpPr>
        <p:spPr>
          <a:xfrm>
            <a:off x="8610600" y="6356352"/>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65CE74E-AB26-4998-AD42-012C4C1AD076}" type="slidenum">
              <a:rPr lang="zh-CN" altLang="en-US" smtClean="0"/>
            </a:fld>
            <a:endParaRPr lang="zh-CN" altLang="en-US"/>
          </a:p>
        </p:txBody>
      </p:sp>
      <p:sp>
        <p:nvSpPr>
          <p:cNvPr id="11" name="矩形 5"/>
          <p:cNvSpPr/>
          <p:nvPr userDrawn="1">
            <p:custDataLst>
              <p:tags r:id="rId5"/>
            </p:custDataLst>
          </p:nvPr>
        </p:nvSpPr>
        <p:spPr>
          <a:xfrm>
            <a:off x="1" y="0"/>
            <a:ext cx="8238932" cy="6858000"/>
          </a:xfrm>
          <a:custGeom>
            <a:avLst/>
            <a:gdLst>
              <a:gd name="connsiteX0" fmla="*/ 0 w 7675927"/>
              <a:gd name="connsiteY0" fmla="*/ 0 h 6858000"/>
              <a:gd name="connsiteX1" fmla="*/ 7675927 w 7675927"/>
              <a:gd name="connsiteY1" fmla="*/ 0 h 6858000"/>
              <a:gd name="connsiteX2" fmla="*/ 7675927 w 7675927"/>
              <a:gd name="connsiteY2" fmla="*/ 6858000 h 6858000"/>
              <a:gd name="connsiteX3" fmla="*/ 0 w 7675927"/>
              <a:gd name="connsiteY3" fmla="*/ 6858000 h 6858000"/>
              <a:gd name="connsiteX4" fmla="*/ 0 w 7675927"/>
              <a:gd name="connsiteY4" fmla="*/ 0 h 6858000"/>
              <a:gd name="connsiteX0-1" fmla="*/ 0 w 7675927"/>
              <a:gd name="connsiteY0-2" fmla="*/ 0 h 6858000"/>
              <a:gd name="connsiteX1-3" fmla="*/ 7675927 w 7675927"/>
              <a:gd name="connsiteY1-4" fmla="*/ 0 h 6858000"/>
              <a:gd name="connsiteX2-5" fmla="*/ 7669764 w 7675927"/>
              <a:gd name="connsiteY2-6" fmla="*/ 3433665 h 6858000"/>
              <a:gd name="connsiteX3-7" fmla="*/ 7675927 w 7675927"/>
              <a:gd name="connsiteY3-8" fmla="*/ 6858000 h 6858000"/>
              <a:gd name="connsiteX4-9" fmla="*/ 0 w 7675927"/>
              <a:gd name="connsiteY4-10" fmla="*/ 6858000 h 6858000"/>
              <a:gd name="connsiteX5" fmla="*/ 0 w 7675927"/>
              <a:gd name="connsiteY5" fmla="*/ 0 h 6858000"/>
              <a:gd name="connsiteX0-11" fmla="*/ 0 w 9181326"/>
              <a:gd name="connsiteY0-12" fmla="*/ 0 h 6858000"/>
              <a:gd name="connsiteX1-13" fmla="*/ 7675927 w 9181326"/>
              <a:gd name="connsiteY1-14" fmla="*/ 0 h 6858000"/>
              <a:gd name="connsiteX2-15" fmla="*/ 9181324 w 9181326"/>
              <a:gd name="connsiteY2-16" fmla="*/ 3461657 h 6858000"/>
              <a:gd name="connsiteX3-17" fmla="*/ 7675927 w 9181326"/>
              <a:gd name="connsiteY3-18" fmla="*/ 6858000 h 6858000"/>
              <a:gd name="connsiteX4-19" fmla="*/ 0 w 9181326"/>
              <a:gd name="connsiteY4-20" fmla="*/ 6858000 h 6858000"/>
              <a:gd name="connsiteX5-21" fmla="*/ 0 w 9181326"/>
              <a:gd name="connsiteY5-22" fmla="*/ 0 h 6858000"/>
              <a:gd name="connsiteX0-23" fmla="*/ 0 w 9181328"/>
              <a:gd name="connsiteY0-24" fmla="*/ 0 h 6858000"/>
              <a:gd name="connsiteX1-25" fmla="*/ 7675927 w 9181328"/>
              <a:gd name="connsiteY1-26" fmla="*/ 0 h 6858000"/>
              <a:gd name="connsiteX2-27" fmla="*/ 9181324 w 9181328"/>
              <a:gd name="connsiteY2-28" fmla="*/ 3461657 h 6858000"/>
              <a:gd name="connsiteX3-29" fmla="*/ 7675927 w 9181328"/>
              <a:gd name="connsiteY3-30" fmla="*/ 6858000 h 6858000"/>
              <a:gd name="connsiteX4-31" fmla="*/ 0 w 9181328"/>
              <a:gd name="connsiteY4-32" fmla="*/ 6858000 h 6858000"/>
              <a:gd name="connsiteX5-33" fmla="*/ 0 w 9181328"/>
              <a:gd name="connsiteY5-34" fmla="*/ 0 h 6858000"/>
              <a:gd name="connsiteX0-35" fmla="*/ 0 w 9153337"/>
              <a:gd name="connsiteY0-36" fmla="*/ 0 h 6858000"/>
              <a:gd name="connsiteX1-37" fmla="*/ 7675927 w 9153337"/>
              <a:gd name="connsiteY1-38" fmla="*/ 0 h 6858000"/>
              <a:gd name="connsiteX2-39" fmla="*/ 9153333 w 9153337"/>
              <a:gd name="connsiteY2-40" fmla="*/ 3582955 h 6858000"/>
              <a:gd name="connsiteX3-41" fmla="*/ 7675927 w 9153337"/>
              <a:gd name="connsiteY3-42" fmla="*/ 6858000 h 6858000"/>
              <a:gd name="connsiteX4-43" fmla="*/ 0 w 9153337"/>
              <a:gd name="connsiteY4-44" fmla="*/ 6858000 h 6858000"/>
              <a:gd name="connsiteX5-45" fmla="*/ 0 w 9153337"/>
              <a:gd name="connsiteY5-46" fmla="*/ 0 h 6858000"/>
              <a:gd name="connsiteX0-47" fmla="*/ 0 w 9153339"/>
              <a:gd name="connsiteY0-48" fmla="*/ 0 h 6858000"/>
              <a:gd name="connsiteX1-49" fmla="*/ 7675927 w 9153339"/>
              <a:gd name="connsiteY1-50" fmla="*/ 0 h 6858000"/>
              <a:gd name="connsiteX2-51" fmla="*/ 9153333 w 9153339"/>
              <a:gd name="connsiteY2-52" fmla="*/ 3582955 h 6858000"/>
              <a:gd name="connsiteX3-53" fmla="*/ 7675927 w 9153339"/>
              <a:gd name="connsiteY3-54" fmla="*/ 6858000 h 6858000"/>
              <a:gd name="connsiteX4-55" fmla="*/ 0 w 9153339"/>
              <a:gd name="connsiteY4-56" fmla="*/ 6858000 h 6858000"/>
              <a:gd name="connsiteX5-57" fmla="*/ 0 w 9153339"/>
              <a:gd name="connsiteY5-58" fmla="*/ 0 h 6858000"/>
              <a:gd name="connsiteX0-59" fmla="*/ 0 w 9144008"/>
              <a:gd name="connsiteY0-60" fmla="*/ 0 h 6858000"/>
              <a:gd name="connsiteX1-61" fmla="*/ 7675927 w 9144008"/>
              <a:gd name="connsiteY1-62" fmla="*/ 0 h 6858000"/>
              <a:gd name="connsiteX2-63" fmla="*/ 9144002 w 9144008"/>
              <a:gd name="connsiteY2-64" fmla="*/ 3433665 h 6858000"/>
              <a:gd name="connsiteX3-65" fmla="*/ 7675927 w 9144008"/>
              <a:gd name="connsiteY3-66" fmla="*/ 6858000 h 6858000"/>
              <a:gd name="connsiteX4-67" fmla="*/ 0 w 9144008"/>
              <a:gd name="connsiteY4-68" fmla="*/ 6858000 h 6858000"/>
              <a:gd name="connsiteX5-69" fmla="*/ 0 w 9144008"/>
              <a:gd name="connsiteY5-70" fmla="*/ 0 h 6858000"/>
              <a:gd name="connsiteX0-71" fmla="*/ 0 w 9153339"/>
              <a:gd name="connsiteY0-72" fmla="*/ 0 h 6858000"/>
              <a:gd name="connsiteX1-73" fmla="*/ 7675927 w 9153339"/>
              <a:gd name="connsiteY1-74" fmla="*/ 0 h 6858000"/>
              <a:gd name="connsiteX2-75" fmla="*/ 9153333 w 9153339"/>
              <a:gd name="connsiteY2-76" fmla="*/ 3480318 h 6858000"/>
              <a:gd name="connsiteX3-77" fmla="*/ 7675927 w 9153339"/>
              <a:gd name="connsiteY3-78" fmla="*/ 6858000 h 6858000"/>
              <a:gd name="connsiteX4-79" fmla="*/ 0 w 9153339"/>
              <a:gd name="connsiteY4-80" fmla="*/ 6858000 h 6858000"/>
              <a:gd name="connsiteX5-81" fmla="*/ 0 w 9153339"/>
              <a:gd name="connsiteY5-82" fmla="*/ 0 h 6858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9153339" h="6858000">
                <a:moveTo>
                  <a:pt x="0" y="0"/>
                </a:moveTo>
                <a:lnTo>
                  <a:pt x="7675927" y="0"/>
                </a:lnTo>
                <a:cubicBezTo>
                  <a:pt x="8644256" y="1088571"/>
                  <a:pt x="9155387" y="2335763"/>
                  <a:pt x="9153333" y="3480318"/>
                </a:cubicBezTo>
                <a:cubicBezTo>
                  <a:pt x="9155387" y="4621763"/>
                  <a:pt x="8485636" y="6024465"/>
                  <a:pt x="7675927" y="6858000"/>
                </a:cubicBezTo>
                <a:lnTo>
                  <a:pt x="0" y="6858000"/>
                </a:lnTo>
                <a:lnTo>
                  <a:pt x="0" y="0"/>
                </a:lnTo>
                <a:close/>
              </a:path>
            </a:pathLst>
          </a:custGeom>
          <a:solidFill>
            <a:srgbClr val="702F73">
              <a:alpha val="90000"/>
            </a:srgbClr>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2" name="椭圆 11"/>
          <p:cNvSpPr/>
          <p:nvPr userDrawn="1">
            <p:custDataLst>
              <p:tags r:id="rId6"/>
            </p:custDataLst>
          </p:nvPr>
        </p:nvSpPr>
        <p:spPr>
          <a:xfrm>
            <a:off x="7961878" y="3151946"/>
            <a:ext cx="554111" cy="554111"/>
          </a:xfrm>
          <a:prstGeom prst="ellipse">
            <a:avLst/>
          </a:prstGeom>
          <a:solidFill>
            <a:srgbClr val="702F73">
              <a:alpha val="99000"/>
            </a:srgbClr>
          </a:solidFill>
          <a:ln w="57150">
            <a:solidFill>
              <a:schemeClr val="bg1"/>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3" name="日期占位符 2"/>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8"/>
            </p:custDataLst>
          </p:nvPr>
        </p:nvSpPr>
        <p:spPr/>
        <p:txBody>
          <a:bodyPr/>
          <a:lstStyle/>
          <a:p>
            <a:endParaRPr lang="zh-CN" altLang="en-US"/>
          </a:p>
        </p:txBody>
      </p:sp>
      <p:sp>
        <p:nvSpPr>
          <p:cNvPr id="5" name="灯片编号占位符 4"/>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pic>
        <p:nvPicPr>
          <p:cNvPr id="13" name="图片 12"/>
          <p:cNvPicPr>
            <a:picLocks noChangeAspect="1"/>
          </p:cNvPicPr>
          <p:nvPr userDrawn="1">
            <p:custDataLst>
              <p:tags r:id="rId10"/>
            </p:custDataLst>
          </p:nvPr>
        </p:nvPicPr>
        <p:blipFill rotWithShape="1">
          <a:blip r:embed="rId11" cstate="print">
            <a:clrChange>
              <a:clrFrom>
                <a:srgbClr val="FFFFFF"/>
              </a:clrFrom>
              <a:clrTo>
                <a:srgbClr val="FFFFFF">
                  <a:alpha val="0"/>
                </a:srgbClr>
              </a:clrTo>
            </a:clrChange>
            <a:biLevel thresh="50000"/>
            <a:extLst>
              <a:ext uri="{BEBA8EAE-BF5A-486C-A8C5-ECC9F3942E4B}">
                <a14:imgProps xmlns:a14="http://schemas.microsoft.com/office/drawing/2010/main">
                  <a14:imgLayer r:embed="rId12">
                    <a14:imgEffect>
                      <a14:brightnessContrast bright="40000" contrast="-40000"/>
                    </a14:imgEffect>
                    <a14:imgEffect>
                      <a14:sharpenSoften amount="-25000"/>
                    </a14:imgEffect>
                  </a14:imgLayer>
                </a14:imgProps>
              </a:ext>
              <a:ext uri="{28A0092B-C50C-407E-A947-70E740481C1C}">
                <a14:useLocalDpi xmlns:a14="http://schemas.microsoft.com/office/drawing/2010/main" val="0"/>
              </a:ext>
            </a:extLst>
          </a:blip>
          <a:srcRect l="7721" t="45442" r="4115" b="13605"/>
          <a:stretch>
            <a:fillRect/>
          </a:stretch>
        </p:blipFill>
        <p:spPr>
          <a:xfrm>
            <a:off x="223937" y="214603"/>
            <a:ext cx="2528596" cy="880912"/>
          </a:xfrm>
          <a:prstGeom prst="rect">
            <a:avLst/>
          </a:prstGeom>
        </p:spPr>
      </p:pic>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grpSp>
        <p:nvGrpSpPr>
          <p:cNvPr id="74" name="组合 73"/>
          <p:cNvGrpSpPr>
            <a:grpSpLocks noChangeAspect="1"/>
          </p:cNvGrpSpPr>
          <p:nvPr userDrawn="1"/>
        </p:nvGrpSpPr>
        <p:grpSpPr>
          <a:xfrm>
            <a:off x="9505950" y="336023"/>
            <a:ext cx="2325831" cy="699934"/>
            <a:chOff x="2685028" y="2876682"/>
            <a:chExt cx="5502784" cy="1656004"/>
          </a:xfrm>
        </p:grpSpPr>
        <p:sp>
          <p:nvSpPr>
            <p:cNvPr id="75" name="i$ľïdê"/>
            <p:cNvSpPr/>
            <p:nvPr userDrawn="1">
              <p:custDataLst>
                <p:tags r:id="rId2"/>
              </p:custDataLst>
            </p:nvPr>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sp>
          <p:nvSpPr>
            <p:cNvPr id="76" name="îṥlîḋê"/>
            <p:cNvSpPr/>
            <p:nvPr userDrawn="1">
              <p:custDataLst>
                <p:tags r:id="rId3"/>
              </p:custDataLst>
            </p:nvPr>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pic>
          <p:nvPicPr>
            <p:cNvPr id="77" name="图片 76"/>
            <p:cNvPicPr>
              <a:picLocks noChangeAspect="1"/>
            </p:cNvPicPr>
            <p:nvPr userDrawn="1">
              <p:custDataLst>
                <p:tags r:id="rId4"/>
              </p:custDataLst>
            </p:nvPr>
          </p:nvPicPr>
          <p:blipFill>
            <a:blip r:embed="rId5" cstate="print">
              <a:extLst>
                <a:ext uri="{BEBA8EAE-BF5A-486C-A8C5-ECC9F3942E4B}">
                  <a14:imgProps xmlns:a14="http://schemas.microsoft.com/office/drawing/2010/main">
                    <a14:imgLayer r:embed="rId6">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pic>
        <p:nvPicPr>
          <p:cNvPr id="16" name="图片 15" descr="建筑的设计&#10;&#10;描述已自动生成"/>
          <p:cNvPicPr>
            <a:picLocks noChangeAspect="1"/>
          </p:cNvPicPr>
          <p:nvPr userDrawn="1">
            <p:custDataLst>
              <p:tags r:id="rId7"/>
            </p:custDataLst>
          </p:nvPr>
        </p:nvPicPr>
        <p:blipFill>
          <a:blip r:embed="rId8">
            <a:alphaModFix amt="20000"/>
            <a:extLst>
              <a:ext uri="{28A0092B-C50C-407E-A947-70E740481C1C}">
                <a14:useLocalDpi xmlns:a14="http://schemas.microsoft.com/office/drawing/2010/main" val="0"/>
              </a:ext>
            </a:extLst>
          </a:blip>
          <a:stretch>
            <a:fillRect/>
          </a:stretch>
        </p:blipFill>
        <p:spPr>
          <a:xfrm>
            <a:off x="6978048" y="3076575"/>
            <a:ext cx="5635327" cy="3781425"/>
          </a:xfrm>
          <a:prstGeom prst="rect">
            <a:avLst/>
          </a:prstGeom>
        </p:spPr>
      </p:pic>
      <p:sp>
        <p:nvSpPr>
          <p:cNvPr id="7" name="矩形 6"/>
          <p:cNvSpPr/>
          <p:nvPr userDrawn="1">
            <p:custDataLst>
              <p:tags r:id="rId9"/>
            </p:custDataLst>
          </p:nvPr>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grpSp>
        <p:nvGrpSpPr>
          <p:cNvPr id="23" name="组合 22"/>
          <p:cNvGrpSpPr>
            <a:grpSpLocks noChangeAspect="1"/>
          </p:cNvGrpSpPr>
          <p:nvPr userDrawn="1"/>
        </p:nvGrpSpPr>
        <p:grpSpPr>
          <a:xfrm>
            <a:off x="10386222" y="242117"/>
            <a:ext cx="1561684" cy="469972"/>
            <a:chOff x="2685028" y="2876682"/>
            <a:chExt cx="5502784" cy="1656004"/>
          </a:xfrm>
        </p:grpSpPr>
        <p:sp>
          <p:nvSpPr>
            <p:cNvPr id="24" name="i$ľïdê"/>
            <p:cNvSpPr/>
            <p:nvPr userDrawn="1"/>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sp>
          <p:nvSpPr>
            <p:cNvPr id="25" name="îṥlîḋê"/>
            <p:cNvSpPr/>
            <p:nvPr userDrawn="1"/>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pic>
          <p:nvPicPr>
            <p:cNvPr id="26" name="图片 2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cxnSp>
        <p:nvCxnSpPr>
          <p:cNvPr id="37" name="直接连接符 36"/>
          <p:cNvCxnSpPr/>
          <p:nvPr userDrawn="1"/>
        </p:nvCxnSpPr>
        <p:spPr>
          <a:xfrm>
            <a:off x="0" y="891159"/>
            <a:ext cx="12179808" cy="0"/>
          </a:xfrm>
          <a:prstGeom prst="line">
            <a:avLst/>
          </a:prstGeom>
          <a:ln w="12700">
            <a:gradFill>
              <a:gsLst>
                <a:gs pos="0">
                  <a:srgbClr val="703881"/>
                </a:gs>
                <a:gs pos="74000">
                  <a:srgbClr val="DA3C7F"/>
                </a:gs>
                <a:gs pos="83000">
                  <a:srgbClr val="DA3C7F"/>
                </a:gs>
                <a:gs pos="100000">
                  <a:srgbClr val="DA3C7F"/>
                </a:gs>
              </a:gsLst>
              <a:lin ang="5400000" scaled="1"/>
            </a:gradFill>
          </a:ln>
        </p:spPr>
        <p:style>
          <a:lnRef idx="1">
            <a:schemeClr val="accent1"/>
          </a:lnRef>
          <a:fillRef idx="0">
            <a:schemeClr val="accent1"/>
          </a:fillRef>
          <a:effectRef idx="0">
            <a:schemeClr val="accent1"/>
          </a:effectRef>
          <a:fontRef idx="minor">
            <a:schemeClr val="tx1"/>
          </a:fontRef>
        </p:style>
      </p:cxnSp>
      <p:sp>
        <p:nvSpPr>
          <p:cNvPr id="45" name="矩形 44"/>
          <p:cNvSpPr/>
          <p:nvPr userDrawn="1"/>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pic>
        <p:nvPicPr>
          <p:cNvPr id="49" name="图片 48" descr="图片包含 游戏机, 建筑, 标志, 围栏&#10;&#10;描述已自动生成"/>
          <p:cNvPicPr>
            <a:picLocks noChangeAspect="1"/>
          </p:cNvPicPr>
          <p:nvPr userDrawn="1"/>
        </p:nvPicPr>
        <p:blipFill>
          <a:blip r:embed="rId4" cstate="print">
            <a:extLst>
              <a:ext uri="{BEBA8EAE-BF5A-486C-A8C5-ECC9F3942E4B}">
                <a14:imgProps xmlns:a14="http://schemas.microsoft.com/office/drawing/2010/main">
                  <a14:imgLayer r:embed="rId5">
                    <a14:imgEffect>
                      <a14:backgroundRemoval t="10000" b="97339" l="2737" r="98290">
                        <a14:foregroundMark x1="48945" y1="29798" x2="54989" y2="44073"/>
                        <a14:foregroundMark x1="44897" y1="27218" x2="65792" y2="69274"/>
                        <a14:foregroundMark x1="65792" y1="69274" x2="78278" y2="76008"/>
                        <a14:foregroundMark x1="78278" y1="76008" x2="80245" y2="62056"/>
                        <a14:foregroundMark x1="80245" y1="62056" x2="75912" y2="53710"/>
                        <a14:foregroundMark x1="80359" y1="50565" x2="82725" y2="84798"/>
                        <a14:foregroundMark x1="70410" y1="52056" x2="94897" y2="62944"/>
                        <a14:foregroundMark x1="78278" y1="41129" x2="81813" y2="97419"/>
                        <a14:foregroundMark x1="64652" y1="37581" x2="71066" y2="48710"/>
                        <a14:foregroundMark x1="40564" y1="58710" x2="55758" y2="81774"/>
                        <a14:foregroundMark x1="55758" y1="81774" x2="56414" y2="80000"/>
                        <a14:foregroundMark x1="41220" y1="90927" x2="82868" y2="89194"/>
                        <a14:foregroundMark x1="82868" y1="89194" x2="85205" y2="89274"/>
                        <a14:foregroundMark x1="95553" y1="45000" x2="98318" y2="72056"/>
                        <a14:foregroundMark x1="98318" y1="72056" x2="98318" y2="72056"/>
                        <a14:foregroundMark x1="92816" y1="29435" x2="93871" y2="37944"/>
                        <a14:foregroundMark x1="96351" y1="39798" x2="97263" y2="50000"/>
                        <a14:foregroundMark x1="92018" y1="28347" x2="93871" y2="44435"/>
                        <a14:foregroundMark x1="79447" y1="36492" x2="82212" y2="33710"/>
                        <a14:foregroundMark x1="82326" y1="33871" x2="79989" y2="42218"/>
                        <a14:foregroundMark x1="36659" y1="50927" x2="46152" y2="50242"/>
                        <a14:foregroundMark x1="46152" y1="50242" x2="53022" y2="51290"/>
                        <a14:foregroundMark x1="69641" y1="94435" x2="71608" y2="94073"/>
                        <a14:foregroundMark x1="43843" y1="93347" x2="59949" y2="96129"/>
                        <a14:foregroundMark x1="2737" y1="89435" x2="10063" y2="86855"/>
                        <a14:foregroundMark x1="10063" y1="86855" x2="10063" y2="86855"/>
                        <a14:foregroundMark x1="36374" y1="35202" x2="37030" y2="43508"/>
                        <a14:foregroundMark x1="25513" y1="41129" x2="25770" y2="42419"/>
                        <a14:foregroundMark x1="76311" y1="39274" x2="75656" y2="41653"/>
                      </a14:backgroundRemoval>
                    </a14:imgEffect>
                  </a14:imgLayer>
                </a14:imgProps>
              </a:ext>
              <a:ext uri="{28A0092B-C50C-407E-A947-70E740481C1C}">
                <a14:useLocalDpi xmlns:a14="http://schemas.microsoft.com/office/drawing/2010/main" val="0"/>
              </a:ext>
            </a:extLst>
          </a:blip>
          <a:stretch>
            <a:fillRect/>
          </a:stretch>
        </p:blipFill>
        <p:spPr>
          <a:xfrm>
            <a:off x="0" y="241300"/>
            <a:ext cx="860855" cy="608586"/>
          </a:xfrm>
          <a:prstGeom prst="rect">
            <a:avLst/>
          </a:prstGeom>
        </p:spPr>
      </p:pic>
      <p:pic>
        <p:nvPicPr>
          <p:cNvPr id="46" name="图片 45" descr="建筑的摆设布局&#10;&#10;描述已自动生成"/>
          <p:cNvPicPr>
            <a:picLocks noChangeAspect="1"/>
          </p:cNvPicPr>
          <p:nvPr userDrawn="1"/>
        </p:nvPicPr>
        <p:blipFill rotWithShape="1">
          <a:blip r:embed="rId6" cstate="print">
            <a:extLst>
              <a:ext uri="{28A0092B-C50C-407E-A947-70E740481C1C}">
                <a14:useLocalDpi xmlns:a14="http://schemas.microsoft.com/office/drawing/2010/main" val="0"/>
              </a:ext>
            </a:extLst>
          </a:blip>
          <a:srcRect l="31442" t="55311"/>
          <a:stretch>
            <a:fillRect/>
          </a:stretch>
        </p:blipFill>
        <p:spPr>
          <a:xfrm>
            <a:off x="9237785" y="6143541"/>
            <a:ext cx="3036277" cy="913752"/>
          </a:xfrm>
          <a:prstGeom prst="rect">
            <a:avLst/>
          </a:prstGeom>
        </p:spPr>
      </p:pic>
      <p:sp>
        <p:nvSpPr>
          <p:cNvPr id="8" name="页脚占位符 7"/>
          <p:cNvSpPr>
            <a:spLocks noGrp="1"/>
          </p:cNvSpPr>
          <p:nvPr>
            <p:ph type="ftr" sz="quarter" idx="11"/>
          </p:nvPr>
        </p:nvSpPr>
        <p:spPr/>
        <p:txBody>
          <a:bodyPr/>
          <a:p>
            <a:endParaRPr lang="zh-CN" altLang="en-US"/>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单击此处编辑文本</a:t>
            </a:r>
            <a:endParaRPr lang="zh-CN" altLang="en-US"/>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日期占位符 6"/>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日期占位符 2"/>
          <p:cNvSpPr>
            <a:spLocks noGrp="1"/>
          </p:cNvSpPr>
          <p:nvPr>
            <p:ph type="dt" sz="half" idx="10"/>
            <p:custDataLst>
              <p:tags r:id="rId3"/>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zh-CN" altLang="en-US"/>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zh-CN" altLang="en-US"/>
              <a:t>单击此处编辑母版文本样式</a:t>
            </a:r>
            <a:endParaRPr lang="zh-CN" altLang="en-US"/>
          </a:p>
        </p:txBody>
      </p:sp>
      <p:sp>
        <p:nvSpPr>
          <p:cNvPr id="5" name="日期占位符 4"/>
          <p:cNvSpPr>
            <a:spLocks noGrp="1"/>
          </p:cNvSpPr>
          <p:nvPr>
            <p:ph type="dt" sz="half" idx="10"/>
            <p:custDataLst>
              <p:tags r:id="rId4"/>
            </p:custDataLst>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a:xfrm>
            <a:off x="608400" y="608400"/>
            <a:ext cx="10969200" cy="705600"/>
          </a:xfrm>
          <a:prstGeom prst="rect">
            <a:avLst/>
          </a:prstGeom>
        </p:spPr>
        <p:txBody>
          <a:bodyPr/>
          <a:lstStyle/>
          <a:p>
            <a:r>
              <a:rPr lang="zh-CN" altLang="en-US"/>
              <a:t>单击此处编辑母版标题样式</a:t>
            </a:r>
            <a:endParaRPr lang="zh-CN" altLang="en-US"/>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a:prstGeom prst="rect">
            <a:avLst/>
          </a:prstGeom>
        </p:spPr>
        <p:txBody>
          <a:bodyPr vert="eaVert" lIns="90000" tIns="46800" rIns="90000" bIns="46800" rtlCol="0" anchor="ctr" anchorCtr="0">
            <a:normAutofit/>
          </a:bodyPr>
          <a:lstStyle>
            <a:lvl1pPr>
              <a:buNone/>
              <a:defRPr sz="2800"/>
            </a:lvl1pPr>
          </a:lstStyle>
          <a:p>
            <a:pPr lvl="0"/>
            <a:r>
              <a:rPr lang="zh-CN" altLang="en-US"/>
              <a:t>单击此处编辑标题</a:t>
            </a:r>
            <a:endParaRPr lang="zh-CN" altLang="en-US"/>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ags" Target="../tags/tag52.xml"/><Relationship Id="rId13" Type="http://schemas.openxmlformats.org/officeDocument/2006/relationships/tags" Target="../tags/tag53.xml"/><Relationship Id="rId14" Type="http://schemas.openxmlformats.org/officeDocument/2006/relationships/tags" Target="../tags/tag54.xml"/><Relationship Id="rId15" Type="http://schemas.openxmlformats.org/officeDocument/2006/relationships/tags" Target="../tags/tag55.xml"/><Relationship Id="rId16" Type="http://schemas.openxmlformats.org/officeDocument/2006/relationships/tags" Target="../tags/tag5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文本占位符 2"/>
          <p:cNvSpPr>
            <a:spLocks noGrp="1"/>
          </p:cNvSpPr>
          <p:nvPr>
            <p:ph type="body" idx="1"/>
            <p:custDataLst>
              <p:tags r:id="rId12"/>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3"/>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custDataLst>
              <p:tags r:id="rId14"/>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5"/>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zh-CN" altLang="en-US" smtClean="0"/>
            </a:fld>
            <a:endParaRPr lang="zh-CN" altLang="en-US" dirty="0"/>
          </a:p>
        </p:txBody>
      </p:sp>
    </p:spTree>
    <p:custDataLst>
      <p:tags r:id="rId16"/>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4.jp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15.jpg"/><Relationship Id="rId8" Type="http://schemas.microsoft.com/office/2007/relationships/media" Target="../media/media3.mp4"/><Relationship Id="rId9" Type="http://schemas.openxmlformats.org/officeDocument/2006/relationships/video" Target="../media/media3.mp4"/><Relationship Id="rId10" Type="http://schemas.openxmlformats.org/officeDocument/2006/relationships/image" Target="../media/image16.jpg"/><Relationship Id="rId11" Type="http://schemas.openxmlformats.org/officeDocument/2006/relationships/image" Target="../media/image17.png"/><Relationship Id="rId1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5.jp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microsoft.com/office/2007/relationships/media" Target="../media/media4.mp4"/><Relationship Id="rId10" Type="http://schemas.openxmlformats.org/officeDocument/2006/relationships/video" Target="../media/media4.mp4"/><Relationship Id="rId11" Type="http://schemas.openxmlformats.org/officeDocument/2006/relationships/image" Target="../media/image33.jpg"/><Relationship Id="rId1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7.pn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5.png"/><Relationship Id="rId3"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6.pn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7.png"/><Relationship Id="rId3"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8.png"/><Relationship Id="rId3"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0.png"/><Relationship Id="rId3" Type="http://schemas.openxmlformats.org/officeDocument/2006/relationships/image" Target="../media/image42.png"/><Relationship Id="rId4" Type="http://schemas.openxmlformats.org/officeDocument/2006/relationships/image" Target="../media/image47.png"/><Relationship Id="rId5"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914400" y="1619250"/>
            <a:ext cx="16002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047750" y="1619250"/>
            <a:ext cx="13906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硕士学位论文开题报告</a:t>
            </a:r>
          </a:p>
        </p:txBody>
      </p:sp>
      <p:sp>
        <p:nvSpPr>
          <p:cNvPr id="4" name="TextBox 3"/>
          <p:cNvSpPr txBox="1"/>
          <p:nvPr/>
        </p:nvSpPr>
        <p:spPr>
          <a:xfrm>
            <a:off x="914400" y="2095500"/>
            <a:ext cx="8610600" cy="1066800"/>
          </a:xfrm>
          <a:prstGeom prst="rect">
            <a:avLst/>
          </a:prstGeom>
          <a:noFill/>
        </p:spPr>
        <p:txBody>
          <a:bodyPr wrap="square" lIns="0" rIns="0" tIns="0" bIns="0" anchor="t">
            <a:noAutofit/>
          </a:bodyPr>
          <a:lstStyle/>
          <a:p>
            <a:pPr algn="l">
              <a:lnSpc>
                <a:spcPts val="4200"/>
              </a:lnSpc>
              <a:spcBef>
                <a:spcPts val="0"/>
              </a:spcBef>
              <a:spcAft>
                <a:spcPts val="0"/>
              </a:spcAft>
            </a:pPr>
            <a:r>
              <a:rPr sz="3000" b="1" i="0">
                <a:solidFill>
                  <a:srgbClr val="660874"/>
                </a:solidFill>
                <a:latin typeface="Arial"/>
                <a:ea typeface="微软雅黑"/>
                <a:cs typeface="微软雅黑"/>
              </a:rPr>
              <a:t>面向通用数字智能体的</a:t>
            </a:r>
          </a:p>
          <a:p>
            <a:pPr algn="l">
              <a:lnSpc>
                <a:spcPts val="4200"/>
              </a:lnSpc>
              <a:spcBef>
                <a:spcPts val="0"/>
              </a:spcBef>
              <a:spcAft>
                <a:spcPts val="0"/>
              </a:spcAft>
            </a:pPr>
            <a:r>
              <a:rPr sz="3000" b="1" i="0">
                <a:solidFill>
                  <a:srgbClr val="660874"/>
                </a:solidFill>
                <a:latin typeface="Arial"/>
                <a:ea typeface="微软雅黑"/>
                <a:cs typeface="微软雅黑"/>
              </a:rPr>
              <a:t>可扩展评测与训练框架研究</a:t>
            </a:r>
          </a:p>
        </p:txBody>
      </p:sp>
      <p:sp>
        <p:nvSpPr>
          <p:cNvPr id="5" name="Rounded Rectangle 4"/>
          <p:cNvSpPr/>
          <p:nvPr/>
        </p:nvSpPr>
        <p:spPr>
          <a:xfrm>
            <a:off x="914400" y="33337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3600450"/>
            <a:ext cx="6705600" cy="759916"/>
          </a:xfrm>
          <a:prstGeom prst="rect">
            <a:avLst/>
          </a:prstGeom>
          <a:noFill/>
        </p:spPr>
        <p:txBody>
          <a:bodyPr wrap="square" lIns="0" rIns="0" tIns="0" bIns="0" anchor="t">
            <a:noAutofit/>
          </a:bodyPr>
          <a:lstStyle/>
          <a:p>
            <a:pPr algn="l">
              <a:lnSpc>
                <a:spcPts val="2992"/>
              </a:lnSpc>
              <a:spcBef>
                <a:spcPts val="0"/>
              </a:spcBef>
              <a:spcAft>
                <a:spcPts val="0"/>
              </a:spcAft>
            </a:pPr>
            <a:r>
              <a:rPr sz="1575" b="0" i="0">
                <a:solidFill>
                  <a:srgbClr val="1F1A22"/>
                </a:solidFill>
                <a:latin typeface="Arial"/>
                <a:ea typeface="微软雅黑"/>
                <a:cs typeface="微软雅黑"/>
              </a:rPr>
              <a:t>研究生：周博文</a:t>
            </a:r>
          </a:p>
          <a:p>
            <a:pPr algn="l">
              <a:lnSpc>
                <a:spcPts val="2992"/>
              </a:lnSpc>
              <a:spcBef>
                <a:spcPts val="0"/>
              </a:spcBef>
              <a:spcAft>
                <a:spcPts val="0"/>
              </a:spcAft>
            </a:pPr>
            <a:r>
              <a:rPr sz="1575" b="0" i="0">
                <a:solidFill>
                  <a:srgbClr val="1F1A22"/>
                </a:solidFill>
                <a:latin typeface="Arial"/>
                <a:ea typeface="微软雅黑"/>
                <a:cs typeface="微软雅黑"/>
              </a:rPr>
              <a:t>导　师：王好谦 教授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 / 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52500"/>
            <a:ext cx="11315700" cy="609600"/>
          </a:xfrm>
          <a:prstGeom prst="rect">
            <a:avLst/>
          </a:prstGeom>
          <a:noFill/>
        </p:spPr>
        <p:txBody>
          <a:bodyPr wrap="square" lIns="0" rIns="0" tIns="0" bIns="0" anchor="t">
            <a:noAutofit/>
          </a:bodyPr>
          <a:lstStyle/>
          <a:p>
            <a:pPr algn="ctr">
              <a:lnSpc>
                <a:spcPts val="2400"/>
              </a:lnSpc>
              <a:spcBef>
                <a:spcPts val="0"/>
              </a:spcBef>
              <a:spcAft>
                <a:spcPts val="0"/>
              </a:spcAft>
            </a:pPr>
            <a:r>
              <a:rPr sz="1500" b="1" i="0">
                <a:solidFill>
                  <a:srgbClr val="660874"/>
                </a:solidFill>
                <a:latin typeface="Arial"/>
                <a:ea typeface="微软雅黑"/>
                <a:cs typeface="微软雅黑"/>
              </a:rPr>
              <a:t>通用数字智能体</a:t>
            </a:r>
            <a:r>
              <a:rPr sz="1500" b="1" i="0">
                <a:solidFill>
                  <a:srgbClr val="1F1A22"/>
                </a:solidFill>
                <a:latin typeface="Arial"/>
                <a:ea typeface="微软雅黑"/>
                <a:cs typeface="微软雅黑"/>
              </a:rPr>
              <a:t>（Universal Digital Agent）的目标是在真实计算机环境中</a:t>
            </a:r>
            <a:r>
              <a:rPr sz="1500" b="1" i="0">
                <a:solidFill>
                  <a:srgbClr val="C0392B"/>
                </a:solidFill>
                <a:latin typeface="Arial"/>
                <a:ea typeface="微软雅黑"/>
                <a:cs typeface="微软雅黑"/>
              </a:rPr>
              <a:t>自主完成长程数字工作</a:t>
            </a:r>
            <a:r>
              <a:rPr sz="1500" b="1" i="0">
                <a:solidFill>
                  <a:srgbClr val="1F1A22"/>
                </a:solidFill>
                <a:latin typeface="Arial"/>
                <a:ea typeface="微软雅黑"/>
                <a:cs typeface="微软雅黑"/>
              </a:rPr>
              <a:t>，</a:t>
            </a:r>
          </a:p>
          <a:p>
            <a:pPr algn="ctr">
              <a:lnSpc>
                <a:spcPts val="2400"/>
              </a:lnSpc>
              <a:spcBef>
                <a:spcPts val="0"/>
              </a:spcBef>
              <a:spcAft>
                <a:spcPts val="0"/>
              </a:spcAft>
            </a:pPr>
            <a:r>
              <a:rPr sz="1500" b="1" i="0">
                <a:solidFill>
                  <a:srgbClr val="1F1A22"/>
                </a:solidFill>
                <a:latin typeface="Arial"/>
                <a:ea typeface="微软雅黑"/>
                <a:cs typeface="微软雅黑"/>
              </a:rPr>
              <a:t>通过</a:t>
            </a:r>
            <a:r>
              <a:rPr sz="1500" b="1" i="0">
                <a:solidFill>
                  <a:srgbClr val="C0392B"/>
                </a:solidFill>
                <a:latin typeface="Arial"/>
                <a:ea typeface="微软雅黑"/>
                <a:cs typeface="微软雅黑"/>
              </a:rPr>
              <a:t>CLI 能力</a:t>
            </a:r>
            <a:r>
              <a:rPr sz="1500" b="1" i="0">
                <a:solidFill>
                  <a:srgbClr val="1F1A22"/>
                </a:solidFill>
                <a:latin typeface="Arial"/>
                <a:ea typeface="微软雅黑"/>
                <a:cs typeface="微软雅黑"/>
              </a:rPr>
              <a:t>（命令行、代码）与</a:t>
            </a:r>
            <a:r>
              <a:rPr sz="1500" b="1" i="0">
                <a:solidFill>
                  <a:srgbClr val="C0392B"/>
                </a:solidFill>
                <a:latin typeface="Arial"/>
                <a:ea typeface="微软雅黑"/>
                <a:cs typeface="微软雅黑"/>
              </a:rPr>
              <a:t>GUI 能力</a:t>
            </a:r>
            <a:r>
              <a:rPr sz="1500" b="1" i="0">
                <a:solidFill>
                  <a:srgbClr val="1F1A22"/>
                </a:solidFill>
                <a:latin typeface="Arial"/>
                <a:ea typeface="微软雅黑"/>
                <a:cs typeface="微软雅黑"/>
              </a:rPr>
              <a:t>（图形界面）的协同感知与操作实现任务闭环。</a:t>
            </a:r>
          </a:p>
        </p:txBody>
      </p:sp>
      <p:sp>
        <p:nvSpPr>
          <p:cNvPr id="4" name="Rounded Rectangle 3"/>
          <p:cNvSpPr/>
          <p:nvPr/>
        </p:nvSpPr>
        <p:spPr>
          <a:xfrm>
            <a:off x="457200" y="1676400"/>
            <a:ext cx="5334000" cy="3848100"/>
          </a:xfrm>
          <a:prstGeom prst="roundRect">
            <a:avLst>
              <a:gd name="adj" fmla="val 198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wb_fig1.png"/>
          <p:cNvPicPr>
            <a:picLocks noChangeAspect="1"/>
          </p:cNvPicPr>
          <p:nvPr/>
        </p:nvPicPr>
        <p:blipFill>
          <a:blip r:embed="rId2"/>
          <a:stretch>
            <a:fillRect/>
          </a:stretch>
        </p:blipFill>
        <p:spPr>
          <a:xfrm>
            <a:off x="915806" y="1733550"/>
            <a:ext cx="4416787" cy="3409950"/>
          </a:xfrm>
          <a:prstGeom prst="rect">
            <a:avLst/>
          </a:prstGeom>
        </p:spPr>
      </p:pic>
      <p:sp>
        <p:nvSpPr>
          <p:cNvPr id="6" name="TextBox 5"/>
          <p:cNvSpPr txBox="1"/>
          <p:nvPr/>
        </p:nvSpPr>
        <p:spPr>
          <a:xfrm>
            <a:off x="485775" y="5181600"/>
            <a:ext cx="5276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混合轨迹示例：数据分析、游戏开发、网站运维中命令行与图形界面交替使用 [WeaveBench]</a:t>
            </a:r>
          </a:p>
        </p:txBody>
      </p:sp>
      <p:sp>
        <p:nvSpPr>
          <p:cNvPr id="7" name="Rounded Rectangle 6"/>
          <p:cNvSpPr/>
          <p:nvPr/>
        </p:nvSpPr>
        <p:spPr>
          <a:xfrm>
            <a:off x="5981700" y="16764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10782300" y="18097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753725" y="18097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 能力</a:t>
            </a:r>
          </a:p>
        </p:txBody>
      </p:sp>
      <p:sp>
        <p:nvSpPr>
          <p:cNvPr id="10" name="TextBox 9"/>
          <p:cNvSpPr txBox="1"/>
          <p:nvPr/>
        </p:nvSpPr>
        <p:spPr>
          <a:xfrm>
            <a:off x="6153150" y="18097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命令行操作（Bash）</a:t>
            </a:r>
          </a:p>
        </p:txBody>
      </p:sp>
      <p:sp>
        <p:nvSpPr>
          <p:cNvPr id="11" name="TextBox 10"/>
          <p:cNvSpPr txBox="1"/>
          <p:nvPr/>
        </p:nvSpPr>
        <p:spPr>
          <a:xfrm>
            <a:off x="6153150" y="21145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以 Shell 命令读写文件、管理进程与服务，直接获取系统状态</a:t>
            </a:r>
          </a:p>
        </p:txBody>
      </p:sp>
      <p:sp>
        <p:nvSpPr>
          <p:cNvPr id="12" name="TextBox 11"/>
          <p:cNvSpPr txBox="1"/>
          <p:nvPr/>
        </p:nvSpPr>
        <p:spPr>
          <a:xfrm>
            <a:off x="6153150" y="23812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代表工作：Terminal-Bench · OpenClaw</a:t>
            </a:r>
          </a:p>
        </p:txBody>
      </p:sp>
      <p:sp>
        <p:nvSpPr>
          <p:cNvPr id="13" name="Rounded Rectangle 12"/>
          <p:cNvSpPr/>
          <p:nvPr/>
        </p:nvSpPr>
        <p:spPr>
          <a:xfrm>
            <a:off x="5981700" y="30099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0782300" y="31432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753725" y="31432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 能力</a:t>
            </a:r>
          </a:p>
        </p:txBody>
      </p:sp>
      <p:sp>
        <p:nvSpPr>
          <p:cNvPr id="16" name="TextBox 15"/>
          <p:cNvSpPr txBox="1"/>
          <p:nvPr/>
        </p:nvSpPr>
        <p:spPr>
          <a:xfrm>
            <a:off x="6153150" y="31432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代码构建（Coding）</a:t>
            </a:r>
          </a:p>
        </p:txBody>
      </p:sp>
      <p:sp>
        <p:nvSpPr>
          <p:cNvPr id="17" name="TextBox 16"/>
          <p:cNvSpPr txBox="1"/>
          <p:nvPr/>
        </p:nvSpPr>
        <p:spPr>
          <a:xfrm>
            <a:off x="6153150" y="34480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编写、构建、运行与测试程序，以执行结果作为反馈信号</a:t>
            </a:r>
          </a:p>
        </p:txBody>
      </p:sp>
      <p:sp>
        <p:nvSpPr>
          <p:cNvPr id="18" name="TextBox 17"/>
          <p:cNvSpPr txBox="1"/>
          <p:nvPr/>
        </p:nvSpPr>
        <p:spPr>
          <a:xfrm>
            <a:off x="6153150" y="37147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代表工作：SWE-bench · Claude Code · Codex</a:t>
            </a:r>
          </a:p>
        </p:txBody>
      </p:sp>
      <p:sp>
        <p:nvSpPr>
          <p:cNvPr id="19" name="Rounded Rectangle 18"/>
          <p:cNvSpPr/>
          <p:nvPr/>
        </p:nvSpPr>
        <p:spPr>
          <a:xfrm>
            <a:off x="5981700" y="43434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10782300" y="4476750"/>
            <a:ext cx="8001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753725" y="44767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 能力</a:t>
            </a:r>
          </a:p>
        </p:txBody>
      </p:sp>
      <p:sp>
        <p:nvSpPr>
          <p:cNvPr id="22" name="TextBox 21"/>
          <p:cNvSpPr txBox="1"/>
          <p:nvPr/>
        </p:nvSpPr>
        <p:spPr>
          <a:xfrm>
            <a:off x="6153150" y="44767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图形界面操作（GUI）</a:t>
            </a:r>
          </a:p>
        </p:txBody>
      </p:sp>
      <p:sp>
        <p:nvSpPr>
          <p:cNvPr id="23" name="TextBox 22"/>
          <p:cNvSpPr txBox="1"/>
          <p:nvPr/>
        </p:nvSpPr>
        <p:spPr>
          <a:xfrm>
            <a:off x="6153150" y="47815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基于屏幕截图感知界面状态，以鼠标键盘操作任意软件</a:t>
            </a:r>
          </a:p>
        </p:txBody>
      </p:sp>
      <p:sp>
        <p:nvSpPr>
          <p:cNvPr id="24" name="TextBox 23"/>
          <p:cNvSpPr txBox="1"/>
          <p:nvPr/>
        </p:nvSpPr>
        <p:spPr>
          <a:xfrm>
            <a:off x="6153150" y="50482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代表工作：OSWorld · UI-TARS</a:t>
            </a:r>
          </a:p>
        </p:txBody>
      </p:sp>
      <p:sp>
        <p:nvSpPr>
          <p:cNvPr id="25" name="Rounded Rectangle 24"/>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三种场景能力</a:t>
            </a:r>
            <a:r>
              <a:rPr sz="1350" b="1" i="0">
                <a:solidFill>
                  <a:srgbClr val="F6C8FF"/>
                </a:solidFill>
                <a:latin typeface="Arial"/>
                <a:ea typeface="微软雅黑"/>
                <a:cs typeface="微软雅黑"/>
              </a:rPr>
              <a:t>互补而非互替</a:t>
            </a:r>
            <a:r>
              <a:rPr sz="1350" b="0" i="0">
                <a:solidFill>
                  <a:srgbClr val="FFFFFF"/>
                </a:solidFill>
                <a:latin typeface="Arial"/>
                <a:ea typeface="微软雅黑"/>
                <a:cs typeface="微软雅黑"/>
              </a:rPr>
              <a:t>：真实任务要求智能体在同一轨迹中依需求选择并切换能力</a:t>
            </a:r>
          </a:p>
        </p:txBody>
      </p:sp>
      <p:sp>
        <p:nvSpPr>
          <p:cNvPr id="27" name="TextBox 2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3 / 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52500"/>
            <a:ext cx="11315700" cy="609600"/>
          </a:xfrm>
          <a:prstGeom prst="rect">
            <a:avLst/>
          </a:prstGeom>
          <a:noFill/>
        </p:spPr>
        <p:txBody>
          <a:bodyPr wrap="square" lIns="0" rIns="0" tIns="0" bIns="0" anchor="t">
            <a:noAutofit/>
          </a:bodyPr>
          <a:lstStyle/>
          <a:p>
            <a:pPr algn="ctr">
              <a:lnSpc>
                <a:spcPts val="2400"/>
              </a:lnSpc>
              <a:spcBef>
                <a:spcPts val="0"/>
              </a:spcBef>
              <a:spcAft>
                <a:spcPts val="0"/>
              </a:spcAft>
            </a:pPr>
            <a:r>
              <a:rPr sz="1500" b="1" i="0">
                <a:solidFill>
                  <a:srgbClr val="1F1A22"/>
                </a:solidFill>
                <a:latin typeface="Arial"/>
                <a:ea typeface="微软雅黑"/>
                <a:cs typeface="微软雅黑"/>
              </a:rPr>
              <a:t>通用数字智能体可</a:t>
            </a:r>
            <a:r>
              <a:rPr sz="1500" b="1" i="0">
                <a:solidFill>
                  <a:srgbClr val="C0392B"/>
                </a:solidFill>
                <a:latin typeface="Arial"/>
                <a:ea typeface="微软雅黑"/>
                <a:cs typeface="微软雅黑"/>
              </a:rPr>
              <a:t>应用</a:t>
            </a:r>
            <a:r>
              <a:rPr sz="1500" b="1" i="0">
                <a:solidFill>
                  <a:srgbClr val="1F1A22"/>
                </a:solidFill>
                <a:latin typeface="Arial"/>
                <a:ea typeface="微软雅黑"/>
                <a:cs typeface="微软雅黑"/>
              </a:rPr>
              <a:t>于软件开发、系统运维、内容创作及金融、电商、芯片开发等绝大部分行业业务流程，</a:t>
            </a:r>
          </a:p>
          <a:p>
            <a:pPr algn="ctr">
              <a:lnSpc>
                <a:spcPts val="2400"/>
              </a:lnSpc>
              <a:spcBef>
                <a:spcPts val="0"/>
              </a:spcBef>
              <a:spcAft>
                <a:spcPts val="0"/>
              </a:spcAft>
            </a:pPr>
            <a:r>
              <a:rPr sz="1500" b="1" i="0">
                <a:solidFill>
                  <a:srgbClr val="1F1A22"/>
                </a:solidFill>
                <a:latin typeface="Arial"/>
                <a:ea typeface="微软雅黑"/>
                <a:cs typeface="微软雅黑"/>
              </a:rPr>
              <a:t>是基础模型由对话助手走向</a:t>
            </a:r>
            <a:r>
              <a:rPr sz="1500" b="1" i="0">
                <a:solidFill>
                  <a:srgbClr val="C0392B"/>
                </a:solidFill>
                <a:latin typeface="Arial"/>
                <a:ea typeface="微软雅黑"/>
                <a:cs typeface="微软雅黑"/>
              </a:rPr>
              <a:t>数字生产力</a:t>
            </a:r>
            <a:r>
              <a:rPr sz="1500" b="1" i="0">
                <a:solidFill>
                  <a:srgbClr val="1F1A22"/>
                </a:solidFill>
                <a:latin typeface="Arial"/>
                <a:ea typeface="微软雅黑"/>
                <a:cs typeface="微软雅黑"/>
              </a:rPr>
              <a:t>的关键形态。</a:t>
            </a:r>
          </a:p>
        </p:txBody>
      </p:sp>
      <p:sp>
        <p:nvSpPr>
          <p:cNvPr id="4" name="Rounded Rectangle 3"/>
          <p:cNvSpPr/>
          <p:nvPr/>
        </p:nvSpPr>
        <p:spPr>
          <a:xfrm>
            <a:off x="45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godot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4350" y="1733550"/>
            <a:ext cx="3543300" cy="1962150"/>
          </a:xfrm>
          <a:prstGeom prst="rect">
            <a:avLst/>
          </a:prstGeom>
        </p:spPr>
      </p:pic>
      <p:sp>
        <p:nvSpPr>
          <p:cNvPr id="6" name="TextBox 5"/>
          <p:cNvSpPr txBox="1"/>
          <p:nvPr/>
        </p:nvSpPr>
        <p:spPr>
          <a:xfrm>
            <a:off x="48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软件开发与调试（Godot 游戏，5×）</a:t>
            </a:r>
          </a:p>
        </p:txBody>
      </p:sp>
      <p:sp>
        <p:nvSpPr>
          <p:cNvPr id="7" name="Rounded Rectangle 6"/>
          <p:cNvSpPr/>
          <p:nvPr/>
        </p:nvSpPr>
        <p:spPr>
          <a:xfrm>
            <a:off x="426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4324350" y="1733550"/>
            <a:ext cx="3543300" cy="1962150"/>
          </a:xfrm>
          <a:prstGeom prst="rect">
            <a:avLst/>
          </a:prstGeom>
        </p:spPr>
      </p:pic>
      <p:sp>
        <p:nvSpPr>
          <p:cNvPr id="9" name="TextBox 8"/>
          <p:cNvSpPr txBox="1"/>
          <p:nvPr/>
        </p:nvSpPr>
        <p:spPr>
          <a:xfrm>
            <a:off x="429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系统运维与故障排查（RabbitMQ，5×）</a:t>
            </a:r>
          </a:p>
        </p:txBody>
      </p:sp>
      <p:sp>
        <p:nvSpPr>
          <p:cNvPr id="10" name="Rounded Rectangle 9"/>
          <p:cNvSpPr/>
          <p:nvPr/>
        </p:nvSpPr>
        <p:spPr>
          <a:xfrm>
            <a:off x="807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nkscape_5x.mp4">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10"/>
          <a:stretch>
            <a:fillRect/>
          </a:stretch>
        </p:blipFill>
        <p:spPr>
          <a:xfrm>
            <a:off x="8134350" y="1733550"/>
            <a:ext cx="3543300" cy="1962150"/>
          </a:xfrm>
          <a:prstGeom prst="rect">
            <a:avLst/>
          </a:prstGeom>
        </p:spPr>
      </p:pic>
      <p:sp>
        <p:nvSpPr>
          <p:cNvPr id="12" name="TextBox 11"/>
          <p:cNvSpPr txBox="1"/>
          <p:nvPr/>
        </p:nvSpPr>
        <p:spPr>
          <a:xfrm>
            <a:off x="810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视觉设计与内容创作（Inkscape，5×）</a:t>
            </a:r>
          </a:p>
        </p:txBody>
      </p:sp>
      <p:sp>
        <p:nvSpPr>
          <p:cNvPr id="13" name="Rounded Rectangle 12"/>
          <p:cNvSpPr/>
          <p:nvPr/>
        </p:nvSpPr>
        <p:spPr>
          <a:xfrm>
            <a:off x="457200" y="4229100"/>
            <a:ext cx="28575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a_matrix.png"/>
          <p:cNvPicPr>
            <a:picLocks noChangeAspect="1"/>
          </p:cNvPicPr>
          <p:nvPr/>
        </p:nvPicPr>
        <p:blipFill>
          <a:blip r:embed="rId11"/>
          <a:stretch>
            <a:fillRect/>
          </a:stretch>
        </p:blipFill>
        <p:spPr>
          <a:xfrm>
            <a:off x="814387" y="4286250"/>
            <a:ext cx="2143125" cy="1428750"/>
          </a:xfrm>
          <a:prstGeom prst="rect">
            <a:avLst/>
          </a:prstGeom>
        </p:spPr>
      </p:pic>
      <p:sp>
        <p:nvSpPr>
          <p:cNvPr id="15" name="TextBox 14"/>
          <p:cNvSpPr txBox="1"/>
          <p:nvPr/>
        </p:nvSpPr>
        <p:spPr>
          <a:xfrm>
            <a:off x="485775" y="57531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多职业业务软件环境（示意图）</a:t>
            </a:r>
          </a:p>
        </p:txBody>
      </p:sp>
      <p:sp>
        <p:nvSpPr>
          <p:cNvPr id="16" name="Rounded Rectangle 15"/>
          <p:cNvSpPr/>
          <p:nvPr/>
        </p:nvSpPr>
        <p:spPr>
          <a:xfrm>
            <a:off x="3467100" y="4229100"/>
            <a:ext cx="8267700" cy="1866900"/>
          </a:xfrm>
          <a:prstGeom prst="roundRect">
            <a:avLst>
              <a:gd name="adj" fmla="val 6122"/>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657600" y="4362450"/>
            <a:ext cx="7962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产业趋势：三种能力正在整合于同一智能体</a:t>
            </a:r>
          </a:p>
        </p:txBody>
      </p:sp>
      <p:sp>
        <p:nvSpPr>
          <p:cNvPr id="18" name="TextBox 17"/>
          <p:cNvSpPr txBox="1"/>
          <p:nvPr/>
        </p:nvSpPr>
        <p:spPr>
          <a:xfrm>
            <a:off x="3657600" y="4686300"/>
            <a:ext cx="7943850" cy="1121568"/>
          </a:xfrm>
          <a:prstGeom prst="rect">
            <a:avLst/>
          </a:prstGeom>
          <a:noFill/>
        </p:spPr>
        <p:txBody>
          <a:bodyPr wrap="square" lIns="0" rIns="0" tIns="0" bIns="0" anchor="t">
            <a:noAutofit/>
          </a:bodyPr>
          <a:lstStyle/>
          <a:p>
            <a:pPr algn="l">
              <a:lnSpc>
                <a:spcPts val="2208"/>
              </a:lnSpc>
              <a:spcBef>
                <a:spcPts val="0"/>
              </a:spcBef>
              <a:spcAft>
                <a:spcPts val="0"/>
              </a:spcAft>
            </a:pPr>
            <a:r>
              <a:rPr sz="1162" b="0" i="0">
                <a:solidFill>
                  <a:srgbClr val="1F1A22"/>
                </a:solidFill>
                <a:latin typeface="Arial"/>
                <a:ea typeface="微软雅黑"/>
                <a:cs typeface="微软雅黑"/>
              </a:rPr>
              <a:t>• Claude Cowork、Codex 后台计算机操作、Qwen3.8-Max 等前沿系统均将命令行、代码与图形界面操作纳入统一智能体</a:t>
            </a:r>
          </a:p>
          <a:p>
            <a:pPr algn="l">
              <a:lnSpc>
                <a:spcPts val="2208"/>
              </a:lnSpc>
              <a:spcBef>
                <a:spcPts val="0"/>
              </a:spcBef>
              <a:spcAft>
                <a:spcPts val="0"/>
              </a:spcAft>
            </a:pPr>
            <a:r>
              <a:rPr sz="1162" b="0" i="0">
                <a:solidFill>
                  <a:srgbClr val="1F1A22"/>
                </a:solidFill>
                <a:latin typeface="Arial"/>
                <a:ea typeface="微软雅黑"/>
                <a:cs typeface="微软雅黑"/>
              </a:rPr>
              <a:t>• 大量存量软件（设计工具、行业系统、桌面应用）缺少可编程接口，必须依赖 GUI 能力完成操作</a:t>
            </a:r>
          </a:p>
          <a:p>
            <a:pPr algn="l">
              <a:lnSpc>
                <a:spcPts val="2208"/>
              </a:lnSpc>
              <a:spcBef>
                <a:spcPts val="0"/>
              </a:spcBef>
              <a:spcAft>
                <a:spcPts val="0"/>
              </a:spcAft>
            </a:pPr>
            <a:r>
              <a:rPr sz="1162" b="0" i="0">
                <a:solidFill>
                  <a:srgbClr val="1F1A22"/>
                </a:solidFill>
                <a:latin typeface="Arial"/>
                <a:ea typeface="微软雅黑"/>
                <a:cs typeface="微软雅黑"/>
              </a:rPr>
              <a:t>• 能否高效、可靠地完成混合能力交互，已成为前沿基础模型能力评测与后训练的核心议题</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4 / 26</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video>
              <p:cMediaNode vol="80000">
                <p:cTn id="3" fill="hold" display="0">
                  <p:stCondLst>
                    <p:cond delay="indefinite"/>
                  </p:stCondLst>
                </p:cTn>
                <p:tgtEl>
                  <p:spTgt spid="8"/>
                </p:tgtEl>
              </p:cMediaNode>
            </p:video>
            <p:video>
              <p:cMediaNode vol="80000">
                <p:cTn id="4" fill="hold" display="0">
                  <p:stCondLst>
                    <p:cond delay="indefinite"/>
                  </p:stCondLst>
                </p:cTn>
                <p:tgtEl>
                  <p:spTgt spid="11"/>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5 / 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通用数字智能体方法</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628650" y="3333750"/>
            <a:ext cx="1809750" cy="533400"/>
          </a:xfrm>
          <a:prstGeom prst="roundRect">
            <a:avLst>
              <a:gd name="adj" fmla="val 17857"/>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75" y="3333750"/>
            <a:ext cx="1866900" cy="533400"/>
          </a:xfrm>
          <a:prstGeom prst="rect">
            <a:avLst/>
          </a:prstGeom>
          <a:noFill/>
        </p:spPr>
        <p:txBody>
          <a:bodyPr wrap="none" lIns="0" rIns="0" tIns="0" bIns="0" anchor="ctr">
            <a:noAutofit/>
          </a:bodyPr>
          <a:lstStyle/>
          <a:p>
            <a:pPr algn="ctr">
              <a:lnSpc>
                <a:spcPct val="100000"/>
              </a:lnSpc>
              <a:spcBef>
                <a:spcPts val="0"/>
              </a:spcBef>
              <a:spcAft>
                <a:spcPts val="0"/>
              </a:spcAft>
            </a:pPr>
            <a:r>
              <a:rPr sz="1350" b="1" i="0">
                <a:solidFill>
                  <a:srgbClr val="FFFFFF"/>
                </a:solidFill>
                <a:latin typeface="Arial"/>
                <a:ea typeface="微软雅黑"/>
                <a:cs typeface="微软雅黑"/>
              </a:rPr>
              <a:t>通用数字智能体</a:t>
            </a:r>
          </a:p>
        </p:txBody>
      </p:sp>
      <p:sp>
        <p:nvSpPr>
          <p:cNvPr id="7" name="Rectangle 6"/>
          <p:cNvSpPr/>
          <p:nvPr/>
        </p:nvSpPr>
        <p:spPr>
          <a:xfrm>
            <a:off x="2438400" y="3600450"/>
            <a:ext cx="3238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62250" y="1771650"/>
            <a:ext cx="19050" cy="3448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762250" y="17716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3048000" y="1552575"/>
            <a:ext cx="2000250" cy="438150"/>
          </a:xfrm>
          <a:prstGeom prst="roundRect">
            <a:avLst>
              <a:gd name="adj" fmla="val 21739"/>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019425" y="155257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纯 CLI 能力方法</a:t>
            </a:r>
          </a:p>
        </p:txBody>
      </p:sp>
      <p:sp>
        <p:nvSpPr>
          <p:cNvPr id="12" name="Rectangle 11"/>
          <p:cNvSpPr/>
          <p:nvPr/>
        </p:nvSpPr>
        <p:spPr>
          <a:xfrm>
            <a:off x="5048250" y="17716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334000" y="1600200"/>
            <a:ext cx="19050" cy="3619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334000" y="16002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676900" y="14573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810250" y="14573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命令行智能体（CLI Agent）</a:t>
            </a:r>
            <a:r>
              <a:rPr sz="1012" b="0" i="0">
                <a:solidFill>
                  <a:srgbClr val="4A4450"/>
                </a:solidFill>
                <a:latin typeface="Arial"/>
                <a:ea typeface="微软雅黑"/>
                <a:cs typeface="微软雅黑"/>
              </a:rPr>
              <a:t>　Terminal-Bench [Merrill+, 2026] · Terminus · OpenClaw</a:t>
            </a:r>
          </a:p>
        </p:txBody>
      </p:sp>
      <p:sp>
        <p:nvSpPr>
          <p:cNvPr id="17" name="Rectangle 16"/>
          <p:cNvSpPr/>
          <p:nvPr/>
        </p:nvSpPr>
        <p:spPr>
          <a:xfrm>
            <a:off x="5334000" y="19431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5676900" y="18002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810250" y="18002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代码智能体（Coding Agent）</a:t>
            </a:r>
            <a:r>
              <a:rPr sz="1012" b="0" i="0">
                <a:solidFill>
                  <a:srgbClr val="4A4450"/>
                </a:solidFill>
                <a:latin typeface="Arial"/>
                <a:ea typeface="微软雅黑"/>
                <a:cs typeface="微软雅黑"/>
              </a:rPr>
              <a:t>　SWE-agent [Yang+, NeurIPS 24] · SWE-Gym [Pan+, ICML 25]</a:t>
            </a:r>
          </a:p>
        </p:txBody>
      </p:sp>
      <p:sp>
        <p:nvSpPr>
          <p:cNvPr id="20" name="Rectangle 19"/>
          <p:cNvSpPr/>
          <p:nvPr/>
        </p:nvSpPr>
        <p:spPr>
          <a:xfrm>
            <a:off x="2762250" y="26860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3048000" y="2466975"/>
            <a:ext cx="2000250" cy="438150"/>
          </a:xfrm>
          <a:prstGeom prst="roundRect">
            <a:avLst>
              <a:gd name="adj" fmla="val 21739"/>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019425" y="246697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纯 GUI 能力方法</a:t>
            </a:r>
          </a:p>
        </p:txBody>
      </p:sp>
      <p:sp>
        <p:nvSpPr>
          <p:cNvPr id="23" name="Rectangle 22"/>
          <p:cNvSpPr/>
          <p:nvPr/>
        </p:nvSpPr>
        <p:spPr>
          <a:xfrm>
            <a:off x="5048250" y="26860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334000" y="2514600"/>
            <a:ext cx="19050" cy="3619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5334000" y="25146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76900" y="23717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810250" y="23717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原生 GUI 智能体（GUI Agent）</a:t>
            </a:r>
            <a:r>
              <a:rPr sz="1012" b="0" i="0">
                <a:solidFill>
                  <a:srgbClr val="4A4450"/>
                </a:solidFill>
                <a:latin typeface="Arial"/>
                <a:ea typeface="微软雅黑"/>
                <a:cs typeface="微软雅黑"/>
              </a:rPr>
              <a:t>　OSWorld [Xie+, NeurIPS 24] · UI-TARS-2 [Seed, 2025]</a:t>
            </a:r>
          </a:p>
        </p:txBody>
      </p:sp>
      <p:sp>
        <p:nvSpPr>
          <p:cNvPr id="28" name="Rectangle 27"/>
          <p:cNvSpPr/>
          <p:nvPr/>
        </p:nvSpPr>
        <p:spPr>
          <a:xfrm>
            <a:off x="5334000" y="28575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5676900" y="27146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810250" y="27146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高效视觉推理（Efficient Inference）</a:t>
            </a:r>
            <a:r>
              <a:rPr sz="1012" b="0" i="0">
                <a:solidFill>
                  <a:srgbClr val="4A4450"/>
                </a:solidFill>
                <a:latin typeface="Arial"/>
                <a:ea typeface="微软雅黑"/>
                <a:cs typeface="微软雅黑"/>
              </a:rPr>
              <a:t>　FastV [Chen+, ECCV 24] · SnapKV [Li+, NeurIPS 24]</a:t>
            </a:r>
          </a:p>
        </p:txBody>
      </p:sp>
      <p:sp>
        <p:nvSpPr>
          <p:cNvPr id="31" name="Rectangle 30"/>
          <p:cNvSpPr/>
          <p:nvPr/>
        </p:nvSpPr>
        <p:spPr>
          <a:xfrm>
            <a:off x="2762250" y="37719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3048000" y="3552825"/>
            <a:ext cx="2000250" cy="438150"/>
          </a:xfrm>
          <a:prstGeom prst="roundRect">
            <a:avLst>
              <a:gd name="adj" fmla="val 21739"/>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019425" y="355282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混合能力方法</a:t>
            </a:r>
          </a:p>
        </p:txBody>
      </p:sp>
      <p:sp>
        <p:nvSpPr>
          <p:cNvPr id="34" name="Rectangle 33"/>
          <p:cNvSpPr/>
          <p:nvPr/>
        </p:nvSpPr>
        <p:spPr>
          <a:xfrm>
            <a:off x="5048250" y="37719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5334000" y="3429000"/>
            <a:ext cx="19050" cy="7048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5334000" y="3429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5676900" y="32861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810250" y="32861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多智能体协作（Multi-Agent）</a:t>
            </a:r>
            <a:r>
              <a:rPr sz="1012" b="0" i="0">
                <a:solidFill>
                  <a:srgbClr val="4A4450"/>
                </a:solidFill>
                <a:latin typeface="Arial"/>
                <a:ea typeface="微软雅黑"/>
                <a:cs typeface="微软雅黑"/>
              </a:rPr>
              <a:t>　CoAct-1 [Song+, ICLR 26]</a:t>
            </a:r>
          </a:p>
        </p:txBody>
      </p:sp>
      <p:sp>
        <p:nvSpPr>
          <p:cNvPr id="39" name="Rectangle 38"/>
          <p:cNvSpPr/>
          <p:nvPr/>
        </p:nvSpPr>
        <p:spPr>
          <a:xfrm>
            <a:off x="5334000" y="37719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5676900" y="36290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810250" y="36290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工具增强 GUI（Tool-Augmented）</a:t>
            </a:r>
            <a:r>
              <a:rPr sz="1012" b="0" i="0">
                <a:solidFill>
                  <a:srgbClr val="4A4450"/>
                </a:solidFill>
                <a:latin typeface="Arial"/>
                <a:ea typeface="微软雅黑"/>
                <a:cs typeface="微软雅黑"/>
              </a:rPr>
              <a:t>　OSWorld-MCP [Jia+, 2025]</a:t>
            </a:r>
          </a:p>
        </p:txBody>
      </p:sp>
      <p:sp>
        <p:nvSpPr>
          <p:cNvPr id="42" name="Rectangle 41"/>
          <p:cNvSpPr/>
          <p:nvPr/>
        </p:nvSpPr>
        <p:spPr>
          <a:xfrm>
            <a:off x="5334000" y="41148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ounded Rectangle 42"/>
          <p:cNvSpPr/>
          <p:nvPr/>
        </p:nvSpPr>
        <p:spPr>
          <a:xfrm>
            <a:off x="5676900" y="39719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5810250" y="39719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可验证环境构建（Verifiable Env.）</a:t>
            </a:r>
            <a:r>
              <a:rPr sz="1012" b="0" i="0">
                <a:solidFill>
                  <a:srgbClr val="4A4450"/>
                </a:solidFill>
                <a:latin typeface="Arial"/>
                <a:ea typeface="微软雅黑"/>
                <a:cs typeface="微软雅黑"/>
              </a:rPr>
              <a:t>　GUI-Genesis [Cao+, 2026]</a:t>
            </a:r>
          </a:p>
        </p:txBody>
      </p:sp>
      <p:sp>
        <p:nvSpPr>
          <p:cNvPr id="45" name="Rectangle 44"/>
          <p:cNvSpPr/>
          <p:nvPr/>
        </p:nvSpPr>
        <p:spPr>
          <a:xfrm>
            <a:off x="2762250" y="52197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3048000" y="5000625"/>
            <a:ext cx="2000250" cy="438150"/>
          </a:xfrm>
          <a:prstGeom prst="roundRect">
            <a:avLst>
              <a:gd name="adj" fmla="val 21739"/>
            </a:avLst>
          </a:prstGeom>
          <a:solidFill>
            <a:srgbClr val="1E7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3019425" y="500062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走向真实世界</a:t>
            </a:r>
          </a:p>
        </p:txBody>
      </p:sp>
      <p:sp>
        <p:nvSpPr>
          <p:cNvPr id="48" name="Rectangle 47"/>
          <p:cNvSpPr/>
          <p:nvPr/>
        </p:nvSpPr>
        <p:spPr>
          <a:xfrm>
            <a:off x="5048250" y="52197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5334000" y="4876800"/>
            <a:ext cx="19050" cy="7048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5334000" y="48768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ounded Rectangle 50"/>
          <p:cNvSpPr/>
          <p:nvPr/>
        </p:nvSpPr>
        <p:spPr>
          <a:xfrm>
            <a:off x="5676900" y="47339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5810250" y="47339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个人智能体（Personal Agent）</a:t>
            </a:r>
            <a:r>
              <a:rPr sz="1012" b="0" i="0">
                <a:solidFill>
                  <a:srgbClr val="4A4450"/>
                </a:solidFill>
                <a:latin typeface="Arial"/>
                <a:ea typeface="微软雅黑"/>
                <a:cs typeface="微软雅黑"/>
              </a:rPr>
              <a:t>　OpenAI dots · Meta Muse · Manus · OpenClaw</a:t>
            </a:r>
          </a:p>
        </p:txBody>
      </p:sp>
      <p:sp>
        <p:nvSpPr>
          <p:cNvPr id="53" name="Rectangle 52"/>
          <p:cNvSpPr/>
          <p:nvPr/>
        </p:nvSpPr>
        <p:spPr>
          <a:xfrm>
            <a:off x="5334000" y="52197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ounded Rectangle 53"/>
          <p:cNvSpPr/>
          <p:nvPr/>
        </p:nvSpPr>
        <p:spPr>
          <a:xfrm>
            <a:off x="5676900" y="50768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5810250" y="50768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物理世界生成（Physical World）</a:t>
            </a:r>
            <a:r>
              <a:rPr sz="1012" b="0" i="0">
                <a:solidFill>
                  <a:srgbClr val="4A4450"/>
                </a:solidFill>
                <a:latin typeface="Arial"/>
                <a:ea typeface="微软雅黑"/>
                <a:cs typeface="微软雅黑"/>
              </a:rPr>
              <a:t>　SimWorlds · Text2Sim · 4DCodeBench · WorldSolver</a:t>
            </a:r>
          </a:p>
        </p:txBody>
      </p:sp>
      <p:sp>
        <p:nvSpPr>
          <p:cNvPr id="56" name="Rectangle 55"/>
          <p:cNvSpPr/>
          <p:nvPr/>
        </p:nvSpPr>
        <p:spPr>
          <a:xfrm>
            <a:off x="5334000" y="55626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ounded Rectangle 56"/>
          <p:cNvSpPr/>
          <p:nvPr/>
        </p:nvSpPr>
        <p:spPr>
          <a:xfrm>
            <a:off x="5676900" y="54197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5810250" y="54197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机器人使用（Robot Use）</a:t>
            </a:r>
            <a:r>
              <a:rPr sz="1012" b="0" i="0">
                <a:solidFill>
                  <a:srgbClr val="4A4450"/>
                </a:solidFill>
                <a:latin typeface="Arial"/>
                <a:ea typeface="微软雅黑"/>
                <a:cs typeface="微软雅黑"/>
              </a:rPr>
              <a:t>　RobotWorld [Yang+, 2026] · CaP-X [2026]</a:t>
            </a:r>
          </a:p>
        </p:txBody>
      </p:sp>
      <p:sp>
        <p:nvSpPr>
          <p:cNvPr id="59" name="TextBox 5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6 / 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CLI 能力方法：命令行智能体（Bash Agent）与代码智能体（Coding Agent）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7" name="Rounded Rectangle 6"/>
          <p:cNvSpPr/>
          <p:nvPr/>
        </p:nvSpPr>
        <p:spPr>
          <a:xfrm>
            <a:off x="457200" y="1428750"/>
            <a:ext cx="35433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4350" y="1485900"/>
            <a:ext cx="3429000" cy="2743200"/>
          </a:xfrm>
          <a:prstGeom prst="rect">
            <a:avLst/>
          </a:prstGeom>
        </p:spPr>
      </p:pic>
      <p:sp>
        <p:nvSpPr>
          <p:cNvPr id="9" name="TextBox 8"/>
          <p:cNvSpPr txBox="1"/>
          <p:nvPr/>
        </p:nvSpPr>
        <p:spPr>
          <a:xfrm>
            <a:off x="485775" y="4267200"/>
            <a:ext cx="3486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命令行智能体：读日志、改配置、查服务（5×）</a:t>
            </a:r>
          </a:p>
        </p:txBody>
      </p:sp>
      <p:sp>
        <p:nvSpPr>
          <p:cNvPr id="10" name="Rounded Rectangle 9"/>
          <p:cNvSpPr/>
          <p:nvPr/>
        </p:nvSpPr>
        <p:spPr>
          <a:xfrm>
            <a:off x="4152900" y="1428750"/>
            <a:ext cx="41910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ef_sweagent.png"/>
          <p:cNvPicPr>
            <a:picLocks noChangeAspect="1"/>
          </p:cNvPicPr>
          <p:nvPr/>
        </p:nvPicPr>
        <p:blipFill>
          <a:blip r:embed="rId5"/>
          <a:stretch>
            <a:fillRect/>
          </a:stretch>
        </p:blipFill>
        <p:spPr>
          <a:xfrm>
            <a:off x="4210050" y="2213555"/>
            <a:ext cx="4076700" cy="1287888"/>
          </a:xfrm>
          <a:prstGeom prst="rect">
            <a:avLst/>
          </a:prstGeom>
        </p:spPr>
      </p:pic>
      <p:sp>
        <p:nvSpPr>
          <p:cNvPr id="12" name="TextBox 11"/>
          <p:cNvSpPr txBox="1"/>
          <p:nvPr/>
        </p:nvSpPr>
        <p:spPr>
          <a:xfrm>
            <a:off x="4181475" y="4267200"/>
            <a:ext cx="4133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SWE-agent：面向智能体的计算机接口 [Yang+, NeurIPS 24]</a:t>
            </a:r>
          </a:p>
        </p:txBody>
      </p:sp>
      <p:sp>
        <p:nvSpPr>
          <p:cNvPr id="13" name="Rounded Rectangle 12"/>
          <p:cNvSpPr/>
          <p:nvPr/>
        </p:nvSpPr>
        <p:spPr>
          <a:xfrm>
            <a:off x="8496300" y="1428750"/>
            <a:ext cx="32385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ef_swegym.png"/>
          <p:cNvPicPr>
            <a:picLocks noChangeAspect="1"/>
          </p:cNvPicPr>
          <p:nvPr/>
        </p:nvPicPr>
        <p:blipFill>
          <a:blip r:embed="rId6"/>
          <a:stretch>
            <a:fillRect/>
          </a:stretch>
        </p:blipFill>
        <p:spPr>
          <a:xfrm>
            <a:off x="8743950" y="1485900"/>
            <a:ext cx="2743200" cy="2743200"/>
          </a:xfrm>
          <a:prstGeom prst="rect">
            <a:avLst/>
          </a:prstGeom>
        </p:spPr>
      </p:pic>
      <p:sp>
        <p:nvSpPr>
          <p:cNvPr id="15" name="TextBox 14"/>
          <p:cNvSpPr txBox="1"/>
          <p:nvPr/>
        </p:nvSpPr>
        <p:spPr>
          <a:xfrm>
            <a:off x="8524875" y="4267200"/>
            <a:ext cx="3181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SWE-Gym：可执行环境中训练 [Pan+, ICML 25]</a:t>
            </a:r>
          </a:p>
        </p:txBody>
      </p:sp>
      <p:sp>
        <p:nvSpPr>
          <p:cNvPr id="16" name="Rounded Rectangle 1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CLI 能力</a:t>
            </a:r>
            <a:r>
              <a:rPr sz="1350" b="1" i="0">
                <a:solidFill>
                  <a:srgbClr val="F6C8FF"/>
                </a:solidFill>
                <a:latin typeface="Arial"/>
                <a:ea typeface="微软雅黑"/>
                <a:cs typeface="微软雅黑"/>
              </a:rPr>
              <a:t>看不见界面</a:t>
            </a:r>
            <a:r>
              <a:rPr sz="1350" b="0" i="0">
                <a:solidFill>
                  <a:srgbClr val="FFFFFF"/>
                </a:solidFill>
                <a:latin typeface="Arial"/>
                <a:ea typeface="微软雅黑"/>
                <a:cs typeface="微软雅黑"/>
              </a:rPr>
              <a:t>：凡依赖渲染结果与视觉反馈的任务，必须引入 GUI 能力</a:t>
            </a:r>
          </a:p>
        </p:txBody>
      </p:sp>
      <p:sp>
        <p:nvSpPr>
          <p:cNvPr id="18" name="Rounded Rectangle 17"/>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动作精确、执行高效，系统状态可直接读取；单元测试提供可验证奖励，强化学习已实现规模化训练</a:t>
            </a:r>
          </a:p>
        </p:txBody>
      </p:sp>
      <p:sp>
        <p:nvSpPr>
          <p:cNvPr id="20" name="TextBox 19"/>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无法观测渲染结果（SWE-bench Multimodal 最佳仅约 12%）；适用范围受限于具备命令行或 API 的软件</a:t>
            </a:r>
          </a:p>
        </p:txBody>
      </p:sp>
      <p:sp>
        <p:nvSpPr>
          <p:cNvPr id="21" name="TextBox 2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7 / 26</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GUI 能力方法：原生 GUI 智能体（GUI Agent）与高效视觉推理（Efficient Inference）</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7" name="Rounded Rectangle 6"/>
          <p:cNvSpPr/>
          <p:nvPr/>
        </p:nvSpPr>
        <p:spPr>
          <a:xfrm>
            <a:off x="457200" y="1428750"/>
            <a:ext cx="41910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ref_uitars2_demo.png"/>
          <p:cNvPicPr>
            <a:picLocks noChangeAspect="1"/>
          </p:cNvPicPr>
          <p:nvPr/>
        </p:nvPicPr>
        <p:blipFill>
          <a:blip r:embed="rId2"/>
          <a:stretch>
            <a:fillRect/>
          </a:stretch>
        </p:blipFill>
        <p:spPr>
          <a:xfrm>
            <a:off x="729244" y="1485900"/>
            <a:ext cx="3646910" cy="2743200"/>
          </a:xfrm>
          <a:prstGeom prst="rect">
            <a:avLst/>
          </a:prstGeom>
        </p:spPr>
      </p:pic>
      <p:sp>
        <p:nvSpPr>
          <p:cNvPr id="9" name="TextBox 8"/>
          <p:cNvSpPr txBox="1"/>
          <p:nvPr/>
        </p:nvSpPr>
        <p:spPr>
          <a:xfrm>
            <a:off x="485775" y="4267200"/>
            <a:ext cx="4133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UI-TARS-2：原生 GUI 智能体 + 多轮强化学习 [Seed, 2025]</a:t>
            </a:r>
          </a:p>
        </p:txBody>
      </p:sp>
      <p:sp>
        <p:nvSpPr>
          <p:cNvPr id="10" name="Rounded Rectangle 9"/>
          <p:cNvSpPr/>
          <p:nvPr/>
        </p:nvSpPr>
        <p:spPr>
          <a:xfrm>
            <a:off x="4800600" y="1428750"/>
            <a:ext cx="36195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ef_fastv.png"/>
          <p:cNvPicPr>
            <a:picLocks noChangeAspect="1"/>
          </p:cNvPicPr>
          <p:nvPr/>
        </p:nvPicPr>
        <p:blipFill>
          <a:blip r:embed="rId3"/>
          <a:stretch>
            <a:fillRect/>
          </a:stretch>
        </p:blipFill>
        <p:spPr>
          <a:xfrm>
            <a:off x="4857750" y="1660740"/>
            <a:ext cx="3505200" cy="2393518"/>
          </a:xfrm>
          <a:prstGeom prst="rect">
            <a:avLst/>
          </a:prstGeom>
        </p:spPr>
      </p:pic>
      <p:sp>
        <p:nvSpPr>
          <p:cNvPr id="12" name="TextBox 11"/>
          <p:cNvSpPr txBox="1"/>
          <p:nvPr/>
        </p:nvSpPr>
        <p:spPr>
          <a:xfrm>
            <a:off x="4829175" y="4267200"/>
            <a:ext cx="3562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FastV：视觉 token 剪枝 [Chen+, ECCV 24]</a:t>
            </a:r>
          </a:p>
        </p:txBody>
      </p:sp>
      <p:sp>
        <p:nvSpPr>
          <p:cNvPr id="13" name="Rounded Rectangle 12"/>
          <p:cNvSpPr/>
          <p:nvPr/>
        </p:nvSpPr>
        <p:spPr>
          <a:xfrm>
            <a:off x="8572500" y="1428750"/>
            <a:ext cx="3162300" cy="3181350"/>
          </a:xfrm>
          <a:prstGeom prst="roundRect">
            <a:avLst>
              <a:gd name="adj" fmla="val 240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ef_snapkv.png"/>
          <p:cNvPicPr>
            <a:picLocks noChangeAspect="1"/>
          </p:cNvPicPr>
          <p:nvPr/>
        </p:nvPicPr>
        <p:blipFill>
          <a:blip r:embed="rId4"/>
          <a:stretch>
            <a:fillRect/>
          </a:stretch>
        </p:blipFill>
        <p:spPr>
          <a:xfrm>
            <a:off x="8629650" y="2395383"/>
            <a:ext cx="3048000" cy="924232"/>
          </a:xfrm>
          <a:prstGeom prst="rect">
            <a:avLst/>
          </a:prstGeom>
        </p:spPr>
      </p:pic>
      <p:sp>
        <p:nvSpPr>
          <p:cNvPr id="15" name="TextBox 14"/>
          <p:cNvSpPr txBox="1"/>
          <p:nvPr/>
        </p:nvSpPr>
        <p:spPr>
          <a:xfrm>
            <a:off x="8601075" y="4267200"/>
            <a:ext cx="3105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SnapKV：KV 缓存压缩 [Li+, NeurIPS 24]</a:t>
            </a:r>
          </a:p>
        </p:txBody>
      </p:sp>
      <p:sp>
        <p:nvSpPr>
          <p:cNvPr id="16" name="Rounded Rectangle 1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GUI 能力</a:t>
            </a:r>
            <a:r>
              <a:rPr sz="1350" b="1" i="0">
                <a:solidFill>
                  <a:srgbClr val="F6C8FF"/>
                </a:solidFill>
                <a:latin typeface="Arial"/>
                <a:ea typeface="微软雅黑"/>
                <a:cs typeface="微软雅黑"/>
              </a:rPr>
              <a:t>通用但昂贵</a:t>
            </a:r>
            <a:r>
              <a:rPr sz="1350" b="0" i="0">
                <a:solidFill>
                  <a:srgbClr val="FFFFFF"/>
                </a:solidFill>
                <a:latin typeface="Arial"/>
                <a:ea typeface="微软雅黑"/>
                <a:cs typeface="微软雅黑"/>
              </a:rPr>
              <a:t>：需要面向 GUI 结构的高效感知方法，并与 CLI 能力互补使用</a:t>
            </a:r>
          </a:p>
        </p:txBody>
      </p:sp>
      <p:sp>
        <p:nvSpPr>
          <p:cNvPr id="18" name="Rounded Rectangle 17"/>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以截图与键鼠为通用接口，可操作任意软件并观测交互反馈；OSWorld 成功率两年内由 12% 升至 80% 以上</a:t>
            </a:r>
          </a:p>
        </p:txBody>
      </p:sp>
      <p:sp>
        <p:nvSpPr>
          <p:cNvPr id="20" name="TextBox 19"/>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截图累积致开销高、步数多，且无法感知隐藏状态；通用 token 剪枝与 KV 压缩未利用 GUI 的帧间冗余与二维布局</a:t>
            </a:r>
          </a:p>
        </p:txBody>
      </p:sp>
      <p:sp>
        <p:nvSpPr>
          <p:cNvPr id="21" name="TextBox 2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8 / 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混合能力方法：混合智能体（Hybrid Agent）与可验证训练环境（Verifiable Environment）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7" name="Rounded Rectangle 6"/>
          <p:cNvSpPr/>
          <p:nvPr/>
        </p:nvSpPr>
        <p:spPr>
          <a:xfrm>
            <a:off x="104394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4108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9" name="Rounded Rectangle 8"/>
          <p:cNvSpPr/>
          <p:nvPr/>
        </p:nvSpPr>
        <p:spPr>
          <a:xfrm>
            <a:off x="4572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ref_coact.png"/>
          <p:cNvPicPr>
            <a:picLocks noChangeAspect="1"/>
          </p:cNvPicPr>
          <p:nvPr/>
        </p:nvPicPr>
        <p:blipFill>
          <a:blip r:embed="rId2"/>
          <a:stretch>
            <a:fillRect/>
          </a:stretch>
        </p:blipFill>
        <p:spPr>
          <a:xfrm>
            <a:off x="514350" y="2405848"/>
            <a:ext cx="2743200" cy="903302"/>
          </a:xfrm>
          <a:prstGeom prst="rect">
            <a:avLst/>
          </a:prstGeom>
        </p:spPr>
      </p:pic>
      <p:sp>
        <p:nvSpPr>
          <p:cNvPr id="11" name="TextBox 10"/>
          <p:cNvSpPr txBox="1"/>
          <p:nvPr/>
        </p:nvSpPr>
        <p:spPr>
          <a:xfrm>
            <a:off x="485775" y="42672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CoAct-1：GUI 操作员 + 程序员 [Song+, ICLR 26]</a:t>
            </a:r>
          </a:p>
        </p:txBody>
      </p:sp>
      <p:sp>
        <p:nvSpPr>
          <p:cNvPr id="12" name="Rounded Rectangle 11"/>
          <p:cNvSpPr/>
          <p:nvPr/>
        </p:nvSpPr>
        <p:spPr>
          <a:xfrm>
            <a:off x="34671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ref_osworldmcp.png"/>
          <p:cNvPicPr>
            <a:picLocks noChangeAspect="1"/>
          </p:cNvPicPr>
          <p:nvPr/>
        </p:nvPicPr>
        <p:blipFill>
          <a:blip r:embed="rId3"/>
          <a:stretch>
            <a:fillRect/>
          </a:stretch>
        </p:blipFill>
        <p:spPr>
          <a:xfrm>
            <a:off x="3524250" y="2138680"/>
            <a:ext cx="2743200" cy="1437640"/>
          </a:xfrm>
          <a:prstGeom prst="rect">
            <a:avLst/>
          </a:prstGeom>
        </p:spPr>
      </p:pic>
      <p:sp>
        <p:nvSpPr>
          <p:cNvPr id="14" name="TextBox 13"/>
          <p:cNvSpPr txBox="1"/>
          <p:nvPr/>
        </p:nvSpPr>
        <p:spPr>
          <a:xfrm>
            <a:off x="3495675" y="42672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OSWorld-MCP：GUI 之外提供工具 [Jia+, 2025]</a:t>
            </a:r>
          </a:p>
        </p:txBody>
      </p:sp>
      <p:sp>
        <p:nvSpPr>
          <p:cNvPr id="15" name="Rounded Rectangle 14"/>
          <p:cNvSpPr/>
          <p:nvPr/>
        </p:nvSpPr>
        <p:spPr>
          <a:xfrm>
            <a:off x="64770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ef_guigenesis.png"/>
          <p:cNvPicPr>
            <a:picLocks noChangeAspect="1"/>
          </p:cNvPicPr>
          <p:nvPr/>
        </p:nvPicPr>
        <p:blipFill>
          <a:blip r:embed="rId4"/>
          <a:stretch>
            <a:fillRect/>
          </a:stretch>
        </p:blipFill>
        <p:spPr>
          <a:xfrm>
            <a:off x="6534150" y="2349137"/>
            <a:ext cx="2743200" cy="1016724"/>
          </a:xfrm>
          <a:prstGeom prst="rect">
            <a:avLst/>
          </a:prstGeom>
        </p:spPr>
      </p:pic>
      <p:sp>
        <p:nvSpPr>
          <p:cNvPr id="17" name="TextBox 16"/>
          <p:cNvSpPr txBox="1"/>
          <p:nvPr/>
        </p:nvSpPr>
        <p:spPr>
          <a:xfrm>
            <a:off x="6534150" y="4267200"/>
            <a:ext cx="278130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GUI-Genesis：重建应用为可验证环境 [Cao+, 2026]</a:t>
            </a:r>
          </a:p>
        </p:txBody>
      </p:sp>
      <p:sp>
        <p:nvSpPr>
          <p:cNvPr id="18" name="Rounded Rectangle 17"/>
          <p:cNvSpPr/>
          <p:nvPr/>
        </p:nvSpPr>
        <p:spPr>
          <a:xfrm>
            <a:off x="9486900" y="1428750"/>
            <a:ext cx="2247900" cy="3181350"/>
          </a:xfrm>
          <a:prstGeom prst="roundRect">
            <a:avLst>
              <a:gd name="adj" fmla="val 338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458325" y="1524000"/>
            <a:ext cx="2305050" cy="167133"/>
          </a:xfrm>
          <a:prstGeom prst="rect">
            <a:avLst/>
          </a:prstGeom>
          <a:noFill/>
        </p:spPr>
        <p:txBody>
          <a:bodyPr wrap="none" lIns="0" rIns="0" tIns="0" bIns="0" anchor="ctr">
            <a:noAutofit/>
          </a:bodyPr>
          <a:lstStyle/>
          <a:p>
            <a:pPr algn="ctr">
              <a:lnSpc>
                <a:spcPct val="100000"/>
              </a:lnSpc>
              <a:spcBef>
                <a:spcPts val="0"/>
              </a:spcBef>
              <a:spcAft>
                <a:spcPts val="0"/>
              </a:spcAft>
            </a:pPr>
            <a:r>
              <a:rPr sz="975" b="1" i="0">
                <a:solidFill>
                  <a:srgbClr val="1F1A22"/>
                </a:solidFill>
                <a:latin typeface="Arial"/>
                <a:ea typeface="微软雅黑"/>
                <a:cs typeface="微软雅黑"/>
              </a:rPr>
              <a:t>同一模型 · 同一任务集（OSWorld）</a:t>
            </a:r>
          </a:p>
        </p:txBody>
      </p:sp>
      <p:sp>
        <p:nvSpPr>
          <p:cNvPr id="20" name="Rounded Rectangle 19"/>
          <p:cNvSpPr/>
          <p:nvPr/>
        </p:nvSpPr>
        <p:spPr>
          <a:xfrm>
            <a:off x="9677400" y="2190750"/>
            <a:ext cx="342900" cy="1428750"/>
          </a:xfrm>
          <a:prstGeom prst="roundRect">
            <a:avLst>
              <a:gd name="adj" fmla="val 1111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0077450" y="2219325"/>
            <a:ext cx="342900" cy="1400175"/>
          </a:xfrm>
          <a:prstGeom prst="roundRect">
            <a:avLst>
              <a:gd name="adj" fmla="val 1111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572625" y="2000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79.1</a:t>
            </a:r>
          </a:p>
        </p:txBody>
      </p:sp>
      <p:sp>
        <p:nvSpPr>
          <p:cNvPr id="23" name="TextBox 22"/>
          <p:cNvSpPr txBox="1"/>
          <p:nvPr/>
        </p:nvSpPr>
        <p:spPr>
          <a:xfrm>
            <a:off x="9972675" y="2028825"/>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77.3</a:t>
            </a:r>
          </a:p>
        </p:txBody>
      </p:sp>
      <p:sp>
        <p:nvSpPr>
          <p:cNvPr id="24" name="Rounded Rectangle 23"/>
          <p:cNvSpPr/>
          <p:nvPr/>
        </p:nvSpPr>
        <p:spPr>
          <a:xfrm>
            <a:off x="10763250" y="2952750"/>
            <a:ext cx="342900" cy="666750"/>
          </a:xfrm>
          <a:prstGeom prst="roundRect">
            <a:avLst>
              <a:gd name="adj" fmla="val 1111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11163300" y="2266950"/>
            <a:ext cx="342900" cy="1352550"/>
          </a:xfrm>
          <a:prstGeom prst="roundRect">
            <a:avLst>
              <a:gd name="adj" fmla="val 1111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658475" y="2762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14.3</a:t>
            </a:r>
          </a:p>
        </p:txBody>
      </p:sp>
      <p:sp>
        <p:nvSpPr>
          <p:cNvPr id="27" name="TextBox 26"/>
          <p:cNvSpPr txBox="1"/>
          <p:nvPr/>
        </p:nvSpPr>
        <p:spPr>
          <a:xfrm>
            <a:off x="11058525" y="20764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29.0</a:t>
            </a:r>
          </a:p>
        </p:txBody>
      </p:sp>
      <p:sp>
        <p:nvSpPr>
          <p:cNvPr id="28" name="Rectangle 27"/>
          <p:cNvSpPr/>
          <p:nvPr/>
        </p:nvSpPr>
        <p:spPr>
          <a:xfrm>
            <a:off x="9620250" y="3619500"/>
            <a:ext cx="1962150" cy="95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620250" y="3619500"/>
            <a:ext cx="1962150" cy="9525"/>
          </a:xfrm>
          <a:prstGeom prst="rect">
            <a:avLst/>
          </a:prstGeom>
          <a:solidFill>
            <a:srgbClr val="D9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34525" y="3676650"/>
            <a:ext cx="10668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成功率 %</a:t>
            </a:r>
          </a:p>
        </p:txBody>
      </p:sp>
      <p:sp>
        <p:nvSpPr>
          <p:cNvPr id="31" name="TextBox 30"/>
          <p:cNvSpPr txBox="1"/>
          <p:nvPr/>
        </p:nvSpPr>
        <p:spPr>
          <a:xfrm>
            <a:off x="10601325" y="3676650"/>
            <a:ext cx="10668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平均步数</a:t>
            </a:r>
          </a:p>
        </p:txBody>
      </p:sp>
      <p:sp>
        <p:nvSpPr>
          <p:cNvPr id="32" name="TextBox 31"/>
          <p:cNvSpPr txBox="1"/>
          <p:nvPr/>
        </p:nvSpPr>
        <p:spPr>
          <a:xfrm>
            <a:off x="9525000" y="3924300"/>
            <a:ext cx="2209800" cy="342900"/>
          </a:xfrm>
          <a:prstGeom prst="rect">
            <a:avLst/>
          </a:prstGeom>
          <a:noFill/>
        </p:spPr>
        <p:txBody>
          <a:bodyPr wrap="square" lIns="0" rIns="0" tIns="0" bIns="0" anchor="t">
            <a:noAutofit/>
          </a:bodyPr>
          <a:lstStyle/>
          <a:p>
            <a:pPr algn="ctr">
              <a:lnSpc>
                <a:spcPts val="1350"/>
              </a:lnSpc>
              <a:spcBef>
                <a:spcPts val="0"/>
              </a:spcBef>
              <a:spcAft>
                <a:spcPts val="0"/>
              </a:spcAft>
            </a:pPr>
            <a:r>
              <a:rPr sz="900" b="1" i="0">
                <a:solidFill>
                  <a:srgbClr val="660874"/>
                </a:solidFill>
                <a:latin typeface="Arial"/>
                <a:ea typeface="微软雅黑"/>
                <a:cs typeface="微软雅黑"/>
              </a:rPr>
              <a:t>■</a:t>
            </a:r>
            <a:r>
              <a:rPr sz="900" b="0" i="0">
                <a:solidFill>
                  <a:srgbClr val="4A4450"/>
                </a:solidFill>
                <a:latin typeface="Arial"/>
                <a:ea typeface="微软雅黑"/>
                <a:cs typeface="微软雅黑"/>
              </a:rPr>
              <a:t> 仅 CLI　</a:t>
            </a:r>
            <a:r>
              <a:rPr sz="900" b="1" i="0">
                <a:solidFill>
                  <a:srgbClr val="1F6F8B"/>
                </a:solidFill>
                <a:latin typeface="Arial"/>
                <a:ea typeface="微软雅黑"/>
                <a:cs typeface="微软雅黑"/>
              </a:rPr>
              <a:t>■</a:t>
            </a:r>
            <a:r>
              <a:rPr sz="900" b="0" i="0">
                <a:solidFill>
                  <a:srgbClr val="4A4450"/>
                </a:solidFill>
                <a:latin typeface="Arial"/>
                <a:ea typeface="微软雅黑"/>
                <a:cs typeface="微软雅黑"/>
              </a:rPr>
              <a:t> 仅 GUI</a:t>
            </a:r>
          </a:p>
          <a:p>
            <a:pPr algn="ctr">
              <a:lnSpc>
                <a:spcPts val="1350"/>
              </a:lnSpc>
              <a:spcBef>
                <a:spcPts val="0"/>
              </a:spcBef>
              <a:spcAft>
                <a:spcPts val="0"/>
              </a:spcAft>
            </a:pPr>
            <a:r>
              <a:rPr sz="900" b="0" i="0">
                <a:solidFill>
                  <a:srgbClr val="4A4450"/>
                </a:solidFill>
                <a:latin typeface="Arial"/>
                <a:ea typeface="微软雅黑"/>
                <a:cs typeface="微软雅黑"/>
              </a:rPr>
              <a:t>CLI 以约一半步数取得相当成功率</a:t>
            </a: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混合方向已经出现，但</a:t>
            </a:r>
            <a:r>
              <a:rPr sz="1350" b="1" i="0">
                <a:solidFill>
                  <a:srgbClr val="F6C8FF"/>
                </a:solidFill>
                <a:latin typeface="Arial"/>
                <a:ea typeface="微软雅黑"/>
                <a:cs typeface="微软雅黑"/>
              </a:rPr>
              <a:t>缺少统一范式、可信评测与可验证的训练方法</a:t>
            </a:r>
          </a:p>
        </p:txBody>
      </p:sp>
      <p:sp>
        <p:nvSpPr>
          <p:cNvPr id="35" name="Rounded Rectangle 34"/>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混合动作空间缩短轨迹；以参考应用为 oracle 构建可验证环境的思路开始出现</a:t>
            </a:r>
          </a:p>
        </p:txBody>
      </p:sp>
      <p:sp>
        <p:nvSpPr>
          <p:cNvPr id="37" name="TextBox 36"/>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第二能力多为辅助（增益约 3–5 个百分点），任务未强制协同且仅依据结果判分；可验证环境局限于单一界面</a:t>
            </a:r>
          </a:p>
        </p:txBody>
      </p:sp>
      <p:sp>
        <p:nvSpPr>
          <p:cNvPr id="38" name="TextBox 37"/>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9 / 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走向真实世界：个人智能体（Personal Agent）与物理世界智能体（Physical Agent）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390650"/>
            <a:ext cx="1200150" cy="247650"/>
          </a:xfrm>
          <a:prstGeom prst="roundRect">
            <a:avLst>
              <a:gd name="adj" fmla="val 23076"/>
            </a:avLst>
          </a:prstGeom>
          <a:solidFill>
            <a:srgbClr val="1E7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0550" y="1390650"/>
            <a:ext cx="9906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个人智能体产品</a:t>
            </a:r>
          </a:p>
        </p:txBody>
      </p:sp>
      <p:sp>
        <p:nvSpPr>
          <p:cNvPr id="7" name="Rounded Rectangle 6"/>
          <p:cNvSpPr/>
          <p:nvPr/>
        </p:nvSpPr>
        <p:spPr>
          <a:xfrm>
            <a:off x="45720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p_dots.png"/>
          <p:cNvPicPr>
            <a:picLocks noChangeAspect="1"/>
          </p:cNvPicPr>
          <p:nvPr/>
        </p:nvPicPr>
        <p:blipFill>
          <a:blip r:embed="rId2"/>
          <a:stretch>
            <a:fillRect/>
          </a:stretch>
        </p:blipFill>
        <p:spPr>
          <a:xfrm>
            <a:off x="926747" y="1724025"/>
            <a:ext cx="1823155" cy="1295400"/>
          </a:xfrm>
          <a:prstGeom prst="rect">
            <a:avLst/>
          </a:prstGeom>
        </p:spPr>
      </p:pic>
      <p:sp>
        <p:nvSpPr>
          <p:cNvPr id="9" name="TextBox 8"/>
          <p:cNvSpPr txBox="1"/>
          <p:nvPr/>
        </p:nvSpPr>
        <p:spPr>
          <a:xfrm>
            <a:off x="514350" y="3048000"/>
            <a:ext cx="268605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OpenAI dots（2026.09）：云端机器 + 应用连接器</a:t>
            </a:r>
          </a:p>
        </p:txBody>
      </p:sp>
      <p:sp>
        <p:nvSpPr>
          <p:cNvPr id="10" name="Rounded Rectangle 9"/>
          <p:cNvSpPr/>
          <p:nvPr/>
        </p:nvSpPr>
        <p:spPr>
          <a:xfrm>
            <a:off x="329565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pp_muse.png"/>
          <p:cNvPicPr>
            <a:picLocks noChangeAspect="1"/>
          </p:cNvPicPr>
          <p:nvPr/>
        </p:nvPicPr>
        <p:blipFill>
          <a:blip r:embed="rId3"/>
          <a:stretch>
            <a:fillRect/>
          </a:stretch>
        </p:blipFill>
        <p:spPr>
          <a:xfrm>
            <a:off x="3793547" y="1724025"/>
            <a:ext cx="1766454" cy="1295400"/>
          </a:xfrm>
          <a:prstGeom prst="rect">
            <a:avLst/>
          </a:prstGeom>
        </p:spPr>
      </p:pic>
      <p:sp>
        <p:nvSpPr>
          <p:cNvPr id="12" name="TextBox 11"/>
          <p:cNvSpPr txBox="1"/>
          <p:nvPr/>
        </p:nvSpPr>
        <p:spPr>
          <a:xfrm>
            <a:off x="3324225" y="30480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Meta Muse（2026.09）：云端安全 VM 内执行</a:t>
            </a:r>
          </a:p>
        </p:txBody>
      </p:sp>
      <p:sp>
        <p:nvSpPr>
          <p:cNvPr id="13" name="Rounded Rectangle 12"/>
          <p:cNvSpPr/>
          <p:nvPr/>
        </p:nvSpPr>
        <p:spPr>
          <a:xfrm>
            <a:off x="613410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p_manus.png"/>
          <p:cNvPicPr>
            <a:picLocks noChangeAspect="1"/>
          </p:cNvPicPr>
          <p:nvPr/>
        </p:nvPicPr>
        <p:blipFill>
          <a:blip r:embed="rId4"/>
          <a:stretch>
            <a:fillRect/>
          </a:stretch>
        </p:blipFill>
        <p:spPr>
          <a:xfrm>
            <a:off x="6363758" y="1724025"/>
            <a:ext cx="2302933" cy="1295400"/>
          </a:xfrm>
          <a:prstGeom prst="rect">
            <a:avLst/>
          </a:prstGeom>
        </p:spPr>
      </p:pic>
      <p:sp>
        <p:nvSpPr>
          <p:cNvPr id="15" name="TextBox 14"/>
          <p:cNvSpPr txBox="1"/>
          <p:nvPr/>
        </p:nvSpPr>
        <p:spPr>
          <a:xfrm>
            <a:off x="6162675" y="30480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Manus（2025.03）：云 VM，2026 年起支持本机</a:t>
            </a:r>
          </a:p>
        </p:txBody>
      </p:sp>
      <p:sp>
        <p:nvSpPr>
          <p:cNvPr id="16" name="Rounded Rectangle 15"/>
          <p:cNvSpPr/>
          <p:nvPr/>
        </p:nvSpPr>
        <p:spPr>
          <a:xfrm>
            <a:off x="897255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pp_openclaw.png"/>
          <p:cNvPicPr>
            <a:picLocks noChangeAspect="1"/>
          </p:cNvPicPr>
          <p:nvPr/>
        </p:nvPicPr>
        <p:blipFill>
          <a:blip r:embed="rId5"/>
          <a:stretch>
            <a:fillRect/>
          </a:stretch>
        </p:blipFill>
        <p:spPr>
          <a:xfrm>
            <a:off x="9321403" y="1724025"/>
            <a:ext cx="2064543" cy="1295400"/>
          </a:xfrm>
          <a:prstGeom prst="rect">
            <a:avLst/>
          </a:prstGeom>
        </p:spPr>
      </p:pic>
      <p:sp>
        <p:nvSpPr>
          <p:cNvPr id="18" name="TextBox 17"/>
          <p:cNvSpPr txBox="1"/>
          <p:nvPr/>
        </p:nvSpPr>
        <p:spPr>
          <a:xfrm>
            <a:off x="9001125" y="30480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OpenClaw（2026.01）：运行于用户自己的设备</a:t>
            </a:r>
          </a:p>
        </p:txBody>
      </p:sp>
      <p:sp>
        <p:nvSpPr>
          <p:cNvPr id="19" name="Rounded Rectangle 18"/>
          <p:cNvSpPr/>
          <p:nvPr/>
        </p:nvSpPr>
        <p:spPr>
          <a:xfrm>
            <a:off x="457200" y="3429000"/>
            <a:ext cx="1866900" cy="247650"/>
          </a:xfrm>
          <a:prstGeom prst="roundRect">
            <a:avLst>
              <a:gd name="adj" fmla="val 23076"/>
            </a:avLst>
          </a:prstGeom>
          <a:solidFill>
            <a:srgbClr val="1E7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90550" y="3429000"/>
            <a:ext cx="16573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物理世界生成与机器人使用</a:t>
            </a:r>
          </a:p>
        </p:txBody>
      </p:sp>
      <p:sp>
        <p:nvSpPr>
          <p:cNvPr id="21" name="Rounded Rectangle 20"/>
          <p:cNvSpPr/>
          <p:nvPr/>
        </p:nvSpPr>
        <p:spPr>
          <a:xfrm>
            <a:off x="45720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ph_simworlds.png"/>
          <p:cNvPicPr>
            <a:picLocks noChangeAspect="1"/>
          </p:cNvPicPr>
          <p:nvPr/>
        </p:nvPicPr>
        <p:blipFill>
          <a:blip r:embed="rId6"/>
          <a:stretch>
            <a:fillRect/>
          </a:stretch>
        </p:blipFill>
        <p:spPr>
          <a:xfrm>
            <a:off x="612859" y="3762375"/>
            <a:ext cx="2450931" cy="1047750"/>
          </a:xfrm>
          <a:prstGeom prst="rect">
            <a:avLst/>
          </a:prstGeom>
        </p:spPr>
      </p:pic>
      <p:sp>
        <p:nvSpPr>
          <p:cNvPr id="23" name="TextBox 22"/>
          <p:cNvSpPr txBox="1"/>
          <p:nvPr/>
        </p:nvSpPr>
        <p:spPr>
          <a:xfrm>
            <a:off x="485775" y="48387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SimWorlds [Liu+, 2026]：文本生成物理世界</a:t>
            </a:r>
          </a:p>
        </p:txBody>
      </p:sp>
      <p:sp>
        <p:nvSpPr>
          <p:cNvPr id="24" name="Rounded Rectangle 23"/>
          <p:cNvSpPr/>
          <p:nvPr/>
        </p:nvSpPr>
        <p:spPr>
          <a:xfrm>
            <a:off x="329565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ph_text2sim.png"/>
          <p:cNvPicPr>
            <a:picLocks noChangeAspect="1"/>
          </p:cNvPicPr>
          <p:nvPr/>
        </p:nvPicPr>
        <p:blipFill>
          <a:blip r:embed="rId7"/>
          <a:stretch>
            <a:fillRect/>
          </a:stretch>
        </p:blipFill>
        <p:spPr>
          <a:xfrm>
            <a:off x="3343275" y="3788932"/>
            <a:ext cx="2667000" cy="994634"/>
          </a:xfrm>
          <a:prstGeom prst="rect">
            <a:avLst/>
          </a:prstGeom>
        </p:spPr>
      </p:pic>
      <p:sp>
        <p:nvSpPr>
          <p:cNvPr id="26" name="TextBox 25"/>
          <p:cNvSpPr txBox="1"/>
          <p:nvPr/>
        </p:nvSpPr>
        <p:spPr>
          <a:xfrm>
            <a:off x="3324225" y="48387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Text2Sim [Xiong+, 2026]：生成并修复仿真</a:t>
            </a:r>
          </a:p>
        </p:txBody>
      </p:sp>
      <p:sp>
        <p:nvSpPr>
          <p:cNvPr id="27" name="Rounded Rectangle 26"/>
          <p:cNvSpPr/>
          <p:nvPr/>
        </p:nvSpPr>
        <p:spPr>
          <a:xfrm>
            <a:off x="613410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ph_4dcode.png"/>
          <p:cNvPicPr>
            <a:picLocks noChangeAspect="1"/>
          </p:cNvPicPr>
          <p:nvPr/>
        </p:nvPicPr>
        <p:blipFill>
          <a:blip r:embed="rId8"/>
          <a:stretch>
            <a:fillRect/>
          </a:stretch>
        </p:blipFill>
        <p:spPr>
          <a:xfrm>
            <a:off x="6985496" y="3762375"/>
            <a:ext cx="1059456" cy="1047750"/>
          </a:xfrm>
          <a:prstGeom prst="rect">
            <a:avLst/>
          </a:prstGeom>
        </p:spPr>
      </p:pic>
      <p:sp>
        <p:nvSpPr>
          <p:cNvPr id="29" name="TextBox 28"/>
          <p:cNvSpPr txBox="1"/>
          <p:nvPr/>
        </p:nvSpPr>
        <p:spPr>
          <a:xfrm>
            <a:off x="6191250" y="4838700"/>
            <a:ext cx="268605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4DCodeBench [Shen+, 2026]：以代码复现 4D 运动</a:t>
            </a:r>
          </a:p>
        </p:txBody>
      </p:sp>
      <p:sp>
        <p:nvSpPr>
          <p:cNvPr id="30" name="Rounded Rectangle 29"/>
          <p:cNvSpPr/>
          <p:nvPr/>
        </p:nvSpPr>
        <p:spPr>
          <a:xfrm>
            <a:off x="897255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robot_overview.mp4">
            <a:hlinkClick r:id="" action="ppaction://media"/>
          </p:cNvPr>
          <p:cNvPicPr>
            <a:picLocks noChangeAspect="1"/>
          </p:cNvPicPr>
          <p:nvPr>
            <a:videoFile r:link="rId10"/>
            <p:extLst>
              <p:ext uri="{DAA4B4D4-6D71-4841-9C94-3DE7FCFB9230}">
                <p14:media xmlns:p14="http://schemas.microsoft.com/office/powerpoint/2010/main" r:embed="rId9"/>
              </p:ext>
            </p:extLst>
          </p:nvPr>
        </p:nvPicPr>
        <p:blipFill>
          <a:blip r:embed="rId11"/>
          <a:stretch>
            <a:fillRect/>
          </a:stretch>
        </p:blipFill>
        <p:spPr>
          <a:xfrm>
            <a:off x="9020175" y="3762375"/>
            <a:ext cx="2667000" cy="1047750"/>
          </a:xfrm>
          <a:prstGeom prst="rect">
            <a:avLst/>
          </a:prstGeom>
        </p:spPr>
      </p:pic>
      <p:sp>
        <p:nvSpPr>
          <p:cNvPr id="32" name="TextBox 31"/>
          <p:cNvSpPr txBox="1"/>
          <p:nvPr/>
        </p:nvSpPr>
        <p:spPr>
          <a:xfrm>
            <a:off x="9029700" y="4838700"/>
            <a:ext cx="268605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RobotWorld [Yang+, 2026]：84 个机器人使用任务</a:t>
            </a:r>
          </a:p>
        </p:txBody>
      </p:sp>
      <p:sp>
        <p:nvSpPr>
          <p:cNvPr id="33" name="Rounded Rectangle 32"/>
          <p:cNvSpPr/>
          <p:nvPr/>
        </p:nvSpPr>
        <p:spPr>
          <a:xfrm>
            <a:off x="457200" y="5238750"/>
            <a:ext cx="11277600" cy="781050"/>
          </a:xfrm>
          <a:prstGeom prst="roundRect">
            <a:avLst>
              <a:gd name="adj" fmla="val 14634"/>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314950"/>
            <a:ext cx="11010900" cy="206573"/>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1E7B5A"/>
                </a:solidFill>
                <a:latin typeface="Arial"/>
                <a:ea typeface="微软雅黑"/>
                <a:cs typeface="微软雅黑"/>
              </a:rPr>
              <a:t>优点：</a:t>
            </a:r>
            <a:r>
              <a:rPr sz="1050" b="0" i="0">
                <a:solidFill>
                  <a:srgbClr val="1F1A22"/>
                </a:solidFill>
                <a:latin typeface="Arial"/>
                <a:ea typeface="微软雅黑"/>
                <a:cs typeface="微软雅黑"/>
              </a:rPr>
              <a:t>个人智能体已具备长期记忆与跨应用执行；Coding Agent 已能生成可运行的物理仿真与机器人控制程序</a:t>
            </a:r>
          </a:p>
        </p:txBody>
      </p:sp>
      <p:sp>
        <p:nvSpPr>
          <p:cNvPr id="35" name="TextBox 34"/>
          <p:cNvSpPr txBox="1"/>
          <p:nvPr/>
        </p:nvSpPr>
        <p:spPr>
          <a:xfrm>
            <a:off x="628650" y="5619750"/>
            <a:ext cx="11010900" cy="206573"/>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C0392B"/>
                </a:solidFill>
                <a:latin typeface="Arial"/>
                <a:ea typeface="微软雅黑"/>
                <a:cs typeface="微软雅黑"/>
              </a:rPr>
              <a:t>不足：</a:t>
            </a:r>
            <a:r>
              <a:rPr sz="1050" b="0" i="0">
                <a:solidFill>
                  <a:srgbClr val="1F1A22"/>
                </a:solidFill>
                <a:latin typeface="Arial"/>
                <a:ea typeface="微软雅黑"/>
                <a:cs typeface="微软雅黑"/>
              </a:rPr>
              <a:t>多在云端通用环境中执行，</a:t>
            </a:r>
            <a:r>
              <a:rPr sz="1050" b="1" i="0">
                <a:solidFill>
                  <a:srgbClr val="1F1A22"/>
                </a:solidFill>
                <a:latin typeface="Arial"/>
                <a:ea typeface="微软雅黑"/>
                <a:cs typeface="微软雅黑"/>
              </a:rPr>
              <a:t>职业特质不鲜明</a:t>
            </a:r>
            <a:r>
              <a:rPr sz="1050" b="0" i="0">
                <a:solidFill>
                  <a:srgbClr val="1F1A22"/>
                </a:solidFill>
                <a:latin typeface="Arial"/>
                <a:ea typeface="微软雅黑"/>
                <a:cs typeface="微软雅黑"/>
              </a:rPr>
              <a:t>；物理世界生成以"原条件下看起来对"为准，</a:t>
            </a:r>
            <a:r>
              <a:rPr sz="1050" b="1" i="0">
                <a:solidFill>
                  <a:srgbClr val="1F1A22"/>
                </a:solidFill>
                <a:latin typeface="Arial"/>
                <a:ea typeface="微软雅黑"/>
                <a:cs typeface="微软雅黑"/>
              </a:rPr>
              <a:t>缺少跨条件物理验证</a:t>
            </a:r>
          </a:p>
        </p:txBody>
      </p:sp>
      <p:sp>
        <p:nvSpPr>
          <p:cNvPr id="36" name="TextBox 35"/>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10 / 26</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1"/>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通用数字智能体的评测与训练仍然是一个</a:t>
            </a:r>
            <a:r>
              <a:rPr sz="1500" b="1" i="0">
                <a:solidFill>
                  <a:srgbClr val="C0392B"/>
                </a:solidFill>
                <a:latin typeface="Arial"/>
                <a:ea typeface="微软雅黑"/>
                <a:cs typeface="微软雅黑"/>
              </a:rPr>
              <a:t>极具挑战性</a:t>
            </a:r>
            <a:r>
              <a:rPr sz="1500" b="1" i="0">
                <a:solidFill>
                  <a:srgbClr val="1F1A22"/>
                </a:solidFill>
                <a:latin typeface="Arial"/>
                <a:ea typeface="微软雅黑"/>
                <a:cs typeface="微软雅黑"/>
              </a:rPr>
              <a:t>的课题</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3619500" cy="2571750"/>
          </a:xfrm>
          <a:prstGeom prst="roundRect">
            <a:avLst>
              <a:gd name="adj" fmla="val 296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ig_integrity-1.png"/>
          <p:cNvPicPr>
            <a:picLocks noChangeAspect="1"/>
          </p:cNvPicPr>
          <p:nvPr/>
        </p:nvPicPr>
        <p:blipFill>
          <a:blip r:embed="rId2"/>
          <a:stretch>
            <a:fillRect/>
          </a:stretch>
        </p:blipFill>
        <p:spPr>
          <a:xfrm>
            <a:off x="514350" y="1721749"/>
            <a:ext cx="3505200" cy="1985751"/>
          </a:xfrm>
          <a:prstGeom prst="rect">
            <a:avLst/>
          </a:prstGeom>
        </p:spPr>
      </p:pic>
      <p:sp>
        <p:nvSpPr>
          <p:cNvPr id="7" name="TextBox 6"/>
          <p:cNvSpPr txBox="1"/>
          <p:nvPr/>
        </p:nvSpPr>
        <p:spPr>
          <a:xfrm>
            <a:off x="457200" y="4114800"/>
            <a:ext cx="2628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任务范式与能力度量失配</a:t>
            </a:r>
          </a:p>
        </p:txBody>
      </p:sp>
      <p:sp>
        <p:nvSpPr>
          <p:cNvPr id="8" name="Rounded Rectangle 7"/>
          <p:cNvSpPr/>
          <p:nvPr/>
        </p:nvSpPr>
        <p:spPr>
          <a:xfrm>
            <a:off x="3086100" y="4095750"/>
            <a:ext cx="9906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067050" y="4105275"/>
            <a:ext cx="10287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 研究一 评测</a:t>
            </a:r>
          </a:p>
        </p:txBody>
      </p:sp>
      <p:sp>
        <p:nvSpPr>
          <p:cNvPr id="10" name="TextBox 9"/>
          <p:cNvSpPr txBox="1"/>
          <p:nvPr/>
        </p:nvSpPr>
        <p:spPr>
          <a:xfrm>
            <a:off x="457200" y="4438650"/>
            <a:ext cx="3657600" cy="683567"/>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纯 GUI 范式天然偏重；现有基准割裂评测 CLI 与 GUI，任务可在单一能力内完成；仅依据最终结果判分，通过率虚高 10–20 个百分点。</a:t>
            </a:r>
          </a:p>
        </p:txBody>
      </p:sp>
      <p:sp>
        <p:nvSpPr>
          <p:cNvPr id="11" name="Rounded Rectangle 10"/>
          <p:cNvSpPr/>
          <p:nvPr/>
        </p:nvSpPr>
        <p:spPr>
          <a:xfrm>
            <a:off x="4286250" y="1428750"/>
            <a:ext cx="3619500" cy="2571750"/>
          </a:xfrm>
          <a:prstGeom prst="roundRect">
            <a:avLst>
              <a:gd name="adj" fmla="val 296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w_fig12_hacking.png"/>
          <p:cNvPicPr>
            <a:picLocks noChangeAspect="1"/>
          </p:cNvPicPr>
          <p:nvPr/>
        </p:nvPicPr>
        <p:blipFill>
          <a:blip r:embed="rId3"/>
          <a:stretch>
            <a:fillRect/>
          </a:stretch>
        </p:blipFill>
        <p:spPr>
          <a:xfrm>
            <a:off x="4343400" y="2158056"/>
            <a:ext cx="3505200" cy="1113137"/>
          </a:xfrm>
          <a:prstGeom prst="rect">
            <a:avLst/>
          </a:prstGeom>
        </p:spPr>
      </p:pic>
      <p:sp>
        <p:nvSpPr>
          <p:cNvPr id="13" name="TextBox 12"/>
          <p:cNvSpPr txBox="1"/>
          <p:nvPr/>
        </p:nvSpPr>
        <p:spPr>
          <a:xfrm>
            <a:off x="4286250" y="4114800"/>
            <a:ext cx="2628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混合行为模式难以习得</a:t>
            </a:r>
          </a:p>
        </p:txBody>
      </p:sp>
      <p:sp>
        <p:nvSpPr>
          <p:cNvPr id="14" name="Rounded Rectangle 13"/>
          <p:cNvSpPr/>
          <p:nvPr/>
        </p:nvSpPr>
        <p:spPr>
          <a:xfrm>
            <a:off x="6915150" y="4095750"/>
            <a:ext cx="9906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896100" y="4105275"/>
            <a:ext cx="10287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 研究二 训练</a:t>
            </a:r>
          </a:p>
        </p:txBody>
      </p:sp>
      <p:sp>
        <p:nvSpPr>
          <p:cNvPr id="16" name="TextBox 15"/>
          <p:cNvSpPr txBox="1"/>
          <p:nvPr/>
        </p:nvSpPr>
        <p:spPr>
          <a:xfrm>
            <a:off x="4286250" y="4438650"/>
            <a:ext cx="3657600" cy="683567"/>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GUI 缺少天然的可验证奖励，混合训练环境与数据稀缺；仅依据结果的奖励易被违规取巧（Reward Hacking）利用，自主编排与自我验证难以习得。</a:t>
            </a:r>
          </a:p>
        </p:txBody>
      </p:sp>
      <p:sp>
        <p:nvSpPr>
          <p:cNvPr id="17" name="Rounded Rectangle 16"/>
          <p:cNvSpPr/>
          <p:nvPr/>
        </p:nvSpPr>
        <p:spPr>
          <a:xfrm>
            <a:off x="8115300" y="1428750"/>
            <a:ext cx="3619500" cy="2571750"/>
          </a:xfrm>
          <a:prstGeom prst="roundRect">
            <a:avLst>
              <a:gd name="adj" fmla="val 296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real_world.png"/>
          <p:cNvPicPr>
            <a:picLocks noChangeAspect="1"/>
          </p:cNvPicPr>
          <p:nvPr/>
        </p:nvPicPr>
        <p:blipFill>
          <a:blip r:embed="rId4"/>
          <a:stretch>
            <a:fillRect/>
          </a:stretch>
        </p:blipFill>
        <p:spPr>
          <a:xfrm>
            <a:off x="8172450" y="1904503"/>
            <a:ext cx="3505200" cy="1620242"/>
          </a:xfrm>
          <a:prstGeom prst="rect">
            <a:avLst/>
          </a:prstGeom>
        </p:spPr>
      </p:pic>
      <p:sp>
        <p:nvSpPr>
          <p:cNvPr id="19" name="TextBox 18"/>
          <p:cNvSpPr txBox="1"/>
          <p:nvPr/>
        </p:nvSpPr>
        <p:spPr>
          <a:xfrm>
            <a:off x="8115300" y="4114800"/>
            <a:ext cx="2628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通用能力难以落到真实世界</a:t>
            </a:r>
          </a:p>
        </p:txBody>
      </p:sp>
      <p:sp>
        <p:nvSpPr>
          <p:cNvPr id="20" name="Rounded Rectangle 19"/>
          <p:cNvSpPr/>
          <p:nvPr/>
        </p:nvSpPr>
        <p:spPr>
          <a:xfrm>
            <a:off x="10744200" y="4095750"/>
            <a:ext cx="9906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725150" y="4105275"/>
            <a:ext cx="10287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 研究三 应用</a:t>
            </a:r>
          </a:p>
        </p:txBody>
      </p:sp>
      <p:sp>
        <p:nvSpPr>
          <p:cNvPr id="22" name="TextBox 21"/>
          <p:cNvSpPr txBox="1"/>
          <p:nvPr/>
        </p:nvSpPr>
        <p:spPr>
          <a:xfrm>
            <a:off x="8115300" y="4438650"/>
            <a:ext cx="365760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现有智能体缺少个人电脑环境与职业业务知识；生成的代码与内容不受物理规律约束，"看起来对"不代表机制对。</a:t>
            </a:r>
          </a:p>
        </p:txBody>
      </p:sp>
      <p:sp>
        <p:nvSpPr>
          <p:cNvPr id="23" name="Rounded Rectangle 2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核心问题：如何</a:t>
            </a:r>
            <a:r>
              <a:rPr sz="1350" b="1" i="0">
                <a:solidFill>
                  <a:srgbClr val="F6C8FF"/>
                </a:solidFill>
                <a:latin typeface="Arial"/>
                <a:ea typeface="微软雅黑"/>
                <a:cs typeface="微软雅黑"/>
              </a:rPr>
              <a:t>可扩展地</a:t>
            </a:r>
            <a:r>
              <a:rPr sz="1350" b="0" i="0">
                <a:solidFill>
                  <a:srgbClr val="FFFFFF"/>
                </a:solidFill>
                <a:latin typeface="Arial"/>
                <a:ea typeface="微软雅黑"/>
                <a:cs typeface="微软雅黑"/>
              </a:rPr>
              <a:t>测准、练好通用数字智能体，并使其能力在真实世界中</a:t>
            </a:r>
            <a:r>
              <a:rPr sz="1350" b="1" i="0">
                <a:solidFill>
                  <a:srgbClr val="F6C8FF"/>
                </a:solidFill>
                <a:latin typeface="Arial"/>
                <a:ea typeface="微软雅黑"/>
                <a:cs typeface="微软雅黑"/>
              </a:rPr>
              <a:t>可信落地</a:t>
            </a:r>
            <a:r>
              <a:rPr sz="1350" b="0" i="0">
                <a:solidFill>
                  <a:srgbClr val="FFFFFF"/>
                </a:solidFill>
                <a:latin typeface="Arial"/>
                <a:ea typeface="微软雅黑"/>
                <a:cs typeface="微软雅黑"/>
              </a:rPr>
              <a:t>？</a:t>
            </a:r>
          </a:p>
        </p:txBody>
      </p:sp>
      <p:sp>
        <p:nvSpPr>
          <p:cNvPr id="25" name="TextBox 2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11 / 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12 / 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研究框架：评测 → 训练 → 应用，前一项研究的结论构成后一项研究的动机</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6172200" cy="4114800"/>
          </a:xfrm>
          <a:prstGeom prst="roundRect">
            <a:avLst>
              <a:gd name="adj" fmla="val 185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ramework.png"/>
          <p:cNvPicPr>
            <a:picLocks noChangeAspect="1"/>
          </p:cNvPicPr>
          <p:nvPr/>
        </p:nvPicPr>
        <p:blipFill>
          <a:blip r:embed="rId2"/>
          <a:stretch>
            <a:fillRect/>
          </a:stretch>
        </p:blipFill>
        <p:spPr>
          <a:xfrm>
            <a:off x="514350" y="1510010"/>
            <a:ext cx="6057900" cy="3628429"/>
          </a:xfrm>
          <a:prstGeom prst="rect">
            <a:avLst/>
          </a:prstGeom>
        </p:spPr>
      </p:pic>
      <p:sp>
        <p:nvSpPr>
          <p:cNvPr id="7" name="TextBox 6"/>
          <p:cNvSpPr txBox="1"/>
          <p:nvPr/>
        </p:nvSpPr>
        <p:spPr>
          <a:xfrm>
            <a:off x="485775" y="5200650"/>
            <a:ext cx="61150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可扩展评测与训练框架总览（示意图）</a:t>
            </a:r>
          </a:p>
        </p:txBody>
      </p:sp>
      <p:sp>
        <p:nvSpPr>
          <p:cNvPr id="8" name="Rounded Rectangle 7"/>
          <p:cNvSpPr/>
          <p:nvPr/>
        </p:nvSpPr>
        <p:spPr>
          <a:xfrm>
            <a:off x="6781800" y="1428750"/>
            <a:ext cx="4953000" cy="1295400"/>
          </a:xfrm>
          <a:prstGeom prst="roundRect">
            <a:avLst>
              <a:gd name="adj" fmla="val 8823"/>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781800" y="1428750"/>
            <a:ext cx="76200" cy="1295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6991350" y="1543050"/>
            <a:ext cx="112395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124700" y="1543050"/>
            <a:ext cx="9144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研究一 · 评测</a:t>
            </a:r>
          </a:p>
        </p:txBody>
      </p:sp>
      <p:sp>
        <p:nvSpPr>
          <p:cNvPr id="12" name="TextBox 11"/>
          <p:cNvSpPr txBox="1"/>
          <p:nvPr/>
        </p:nvSpPr>
        <p:spPr>
          <a:xfrm>
            <a:off x="10610850" y="1562100"/>
            <a:ext cx="1009650" cy="178593"/>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已完成</a:t>
            </a:r>
          </a:p>
        </p:txBody>
      </p:sp>
      <p:sp>
        <p:nvSpPr>
          <p:cNvPr id="13" name="TextBox 12"/>
          <p:cNvSpPr txBox="1"/>
          <p:nvPr/>
        </p:nvSpPr>
        <p:spPr>
          <a:xfrm>
            <a:off x="6991350" y="1847850"/>
            <a:ext cx="468630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面向混合能力范式的可信评测</a:t>
            </a:r>
          </a:p>
        </p:txBody>
      </p:sp>
      <p:sp>
        <p:nvSpPr>
          <p:cNvPr id="14" name="TextBox 13"/>
          <p:cNvSpPr txBox="1"/>
          <p:nvPr/>
        </p:nvSpPr>
        <p:spPr>
          <a:xfrm>
            <a:off x="6991350" y="2095500"/>
            <a:ext cx="46863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8A8490"/>
                </a:solidFill>
                <a:latin typeface="Arial"/>
                <a:ea typeface="微软雅黑"/>
                <a:cs typeface="微软雅黑"/>
              </a:rPr>
              <a:t>GUIPruner · ST-Lite → WeaveBench</a:t>
            </a:r>
          </a:p>
        </p:txBody>
      </p:sp>
      <p:sp>
        <p:nvSpPr>
          <p:cNvPr id="15" name="TextBox 14"/>
          <p:cNvSpPr txBox="1"/>
          <p:nvPr/>
        </p:nvSpPr>
        <p:spPr>
          <a:xfrm>
            <a:off x="6991350" y="2324100"/>
            <a:ext cx="468630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B7791F"/>
                </a:solidFill>
                <a:latin typeface="Arial"/>
                <a:ea typeface="微软雅黑"/>
                <a:cs typeface="微软雅黑"/>
              </a:rPr>
              <a:t>结论：瓶颈在自主编排与自我验证 → 需要训练新的行为模式</a:t>
            </a:r>
          </a:p>
        </p:txBody>
      </p:sp>
      <p:sp>
        <p:nvSpPr>
          <p:cNvPr id="16" name="Rounded Rectangle 15"/>
          <p:cNvSpPr/>
          <p:nvPr/>
        </p:nvSpPr>
        <p:spPr>
          <a:xfrm>
            <a:off x="6781800" y="2838450"/>
            <a:ext cx="4953000" cy="1295400"/>
          </a:xfrm>
          <a:prstGeom prst="roundRect">
            <a:avLst>
              <a:gd name="adj" fmla="val 8823"/>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781800" y="2838450"/>
            <a:ext cx="76200" cy="1295400"/>
          </a:xfrm>
          <a:prstGeom prst="roundRect">
            <a:avLst>
              <a:gd name="adj" fmla="val 5000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991350" y="2952750"/>
            <a:ext cx="112395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124700" y="2952750"/>
            <a:ext cx="9144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研究二 · 训练</a:t>
            </a:r>
          </a:p>
        </p:txBody>
      </p:sp>
      <p:sp>
        <p:nvSpPr>
          <p:cNvPr id="20" name="TextBox 19"/>
          <p:cNvSpPr txBox="1"/>
          <p:nvPr/>
        </p:nvSpPr>
        <p:spPr>
          <a:xfrm>
            <a:off x="10610850" y="2971800"/>
            <a:ext cx="1009650" cy="178593"/>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已完成</a:t>
            </a:r>
          </a:p>
        </p:txBody>
      </p:sp>
      <p:sp>
        <p:nvSpPr>
          <p:cNvPr id="21" name="TextBox 20"/>
          <p:cNvSpPr txBox="1"/>
          <p:nvPr/>
        </p:nvSpPr>
        <p:spPr>
          <a:xfrm>
            <a:off x="6991350" y="3257550"/>
            <a:ext cx="468630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基于可验证复刻环境的混合行为训练</a:t>
            </a:r>
          </a:p>
        </p:txBody>
      </p:sp>
      <p:sp>
        <p:nvSpPr>
          <p:cNvPr id="22" name="TextBox 21"/>
          <p:cNvSpPr txBox="1"/>
          <p:nvPr/>
        </p:nvSpPr>
        <p:spPr>
          <a:xfrm>
            <a:off x="6991350" y="3505200"/>
            <a:ext cx="46863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8A8490"/>
                </a:solidFill>
                <a:latin typeface="Arial"/>
                <a:ea typeface="微软雅黑"/>
                <a:cs typeface="微软雅黑"/>
              </a:rPr>
              <a:t>RecreationWorld</a:t>
            </a:r>
          </a:p>
        </p:txBody>
      </p:sp>
      <p:sp>
        <p:nvSpPr>
          <p:cNvPr id="23" name="TextBox 22"/>
          <p:cNvSpPr txBox="1"/>
          <p:nvPr/>
        </p:nvSpPr>
        <p:spPr>
          <a:xfrm>
            <a:off x="6991350" y="3733800"/>
            <a:ext cx="468630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B7791F"/>
                </a:solidFill>
                <a:latin typeface="Arial"/>
                <a:ea typeface="微软雅黑"/>
                <a:cs typeface="微软雅黑"/>
              </a:rPr>
              <a:t>结论：可验证环境中习得的行为可迁移 → 推广到真实世界</a:t>
            </a:r>
          </a:p>
        </p:txBody>
      </p:sp>
      <p:sp>
        <p:nvSpPr>
          <p:cNvPr id="24" name="Rounded Rectangle 23"/>
          <p:cNvSpPr/>
          <p:nvPr/>
        </p:nvSpPr>
        <p:spPr>
          <a:xfrm>
            <a:off x="6781800" y="4248150"/>
            <a:ext cx="4953000" cy="1295400"/>
          </a:xfrm>
          <a:prstGeom prst="roundRect">
            <a:avLst>
              <a:gd name="adj" fmla="val 8823"/>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781800" y="4248150"/>
            <a:ext cx="76200" cy="1295400"/>
          </a:xfrm>
          <a:prstGeom prst="roundRect">
            <a:avLst>
              <a:gd name="adj" fmla="val 5000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991350" y="4362450"/>
            <a:ext cx="1123950" cy="247650"/>
          </a:xfrm>
          <a:prstGeom prst="roundRect">
            <a:avLst>
              <a:gd name="adj" fmla="val 23076"/>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124700" y="4362450"/>
            <a:ext cx="9144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研究三 · 应用</a:t>
            </a:r>
          </a:p>
        </p:txBody>
      </p:sp>
      <p:sp>
        <p:nvSpPr>
          <p:cNvPr id="28" name="TextBox 27"/>
          <p:cNvSpPr txBox="1"/>
          <p:nvPr/>
        </p:nvSpPr>
        <p:spPr>
          <a:xfrm>
            <a:off x="10610850" y="4381500"/>
            <a:ext cx="1009650" cy="178593"/>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待完成</a:t>
            </a:r>
          </a:p>
        </p:txBody>
      </p:sp>
      <p:sp>
        <p:nvSpPr>
          <p:cNvPr id="29" name="TextBox 28"/>
          <p:cNvSpPr txBox="1"/>
          <p:nvPr/>
        </p:nvSpPr>
        <p:spPr>
          <a:xfrm>
            <a:off x="6991350" y="4667250"/>
            <a:ext cx="468630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走向真实世界：职业化个人智能体与物理智能体</a:t>
            </a:r>
          </a:p>
        </p:txBody>
      </p:sp>
      <p:sp>
        <p:nvSpPr>
          <p:cNvPr id="30" name="TextBox 29"/>
          <p:cNvSpPr txBox="1"/>
          <p:nvPr/>
        </p:nvSpPr>
        <p:spPr>
          <a:xfrm>
            <a:off x="6991350" y="4914900"/>
            <a:ext cx="46863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8A8490"/>
                </a:solidFill>
                <a:latin typeface="Arial"/>
                <a:ea typeface="微软雅黑"/>
                <a:cs typeface="微软雅黑"/>
              </a:rPr>
              <a:t>多职业环境扩展 · 物理落地的验证与修复</a:t>
            </a:r>
          </a:p>
        </p:txBody>
      </p:sp>
      <p:sp>
        <p:nvSpPr>
          <p:cNvPr id="31" name="TextBox 30"/>
          <p:cNvSpPr txBox="1"/>
          <p:nvPr/>
        </p:nvSpPr>
        <p:spPr>
          <a:xfrm>
            <a:off x="6991350" y="5143500"/>
            <a:ext cx="468630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B7791F"/>
                </a:solidFill>
                <a:latin typeface="Arial"/>
                <a:ea typeface="微软雅黑"/>
                <a:cs typeface="微软雅黑"/>
              </a:rPr>
              <a:t>复用研究一的评测思想与研究二的训练流程，形成闭环</a:t>
            </a:r>
          </a:p>
        </p:txBody>
      </p:sp>
      <p:sp>
        <p:nvSpPr>
          <p:cNvPr id="32" name="Rounded Rectangle 31"/>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贯穿主线 </a:t>
            </a:r>
            <a:r>
              <a:rPr sz="1350" b="1" i="0">
                <a:solidFill>
                  <a:srgbClr val="F6C8FF"/>
                </a:solidFill>
                <a:latin typeface="Arial"/>
                <a:ea typeface="微软雅黑"/>
                <a:cs typeface="微软雅黑"/>
              </a:rPr>
              <a:t>可扩展（Scalable）</a:t>
            </a:r>
            <a:r>
              <a:rPr sz="1350" b="0" i="0">
                <a:solidFill>
                  <a:srgbClr val="FFFFFF"/>
                </a:solidFill>
                <a:latin typeface="Arial"/>
                <a:ea typeface="微软雅黑"/>
                <a:cs typeface="微软雅黑"/>
              </a:rPr>
              <a:t>：任务、环境与 verifier 均可自动、批量构造，不依赖人工逐题设计</a:t>
            </a:r>
          </a:p>
        </p:txBody>
      </p:sp>
      <p:sp>
        <p:nvSpPr>
          <p:cNvPr id="34" name="TextBox 33"/>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13 / 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课题一：面向混合能力范式的可信评测（已完成）—— 从效率优化到范式反思</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评测</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457200" y="1428750"/>
            <a:ext cx="3619500" cy="2495550"/>
          </a:xfrm>
          <a:prstGeom prst="roundRect">
            <a:avLst>
              <a:gd name="adj" fmla="val 305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gp_fig3_overview.png"/>
          <p:cNvPicPr>
            <a:picLocks noChangeAspect="1"/>
          </p:cNvPicPr>
          <p:nvPr/>
        </p:nvPicPr>
        <p:blipFill>
          <a:blip r:embed="rId2"/>
          <a:stretch>
            <a:fillRect/>
          </a:stretch>
        </p:blipFill>
        <p:spPr>
          <a:xfrm>
            <a:off x="529951" y="1485900"/>
            <a:ext cx="3473997" cy="2057400"/>
          </a:xfrm>
          <a:prstGeom prst="rect">
            <a:avLst/>
          </a:prstGeom>
        </p:spPr>
      </p:pic>
      <p:sp>
        <p:nvSpPr>
          <p:cNvPr id="11" name="TextBox 10"/>
          <p:cNvSpPr txBox="1"/>
          <p:nvPr/>
        </p:nvSpPr>
        <p:spPr>
          <a:xfrm>
            <a:off x="485775" y="3581400"/>
            <a:ext cx="3562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GUIPruner</a:t>
            </a:r>
            <a:r>
              <a:rPr sz="937" b="0" i="0">
                <a:solidFill>
                  <a:srgbClr val="4A4450"/>
                </a:solidFill>
                <a:latin typeface="Arial"/>
                <a:ea typeface="微软雅黑"/>
                <a:cs typeface="微软雅黑"/>
              </a:rPr>
              <a:t>（投稿 KDD 2027）：视觉 token 压缩</a:t>
            </a:r>
          </a:p>
        </p:txBody>
      </p:sp>
      <p:sp>
        <p:nvSpPr>
          <p:cNvPr id="12" name="Rounded Rectangle 11"/>
          <p:cNvSpPr/>
          <p:nvPr/>
        </p:nvSpPr>
        <p:spPr>
          <a:xfrm>
            <a:off x="4191000" y="1428750"/>
            <a:ext cx="3619500" cy="2495550"/>
          </a:xfrm>
          <a:prstGeom prst="roundRect">
            <a:avLst>
              <a:gd name="adj" fmla="val 305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st_fig4_arch.png"/>
          <p:cNvPicPr>
            <a:picLocks noChangeAspect="1"/>
          </p:cNvPicPr>
          <p:nvPr/>
        </p:nvPicPr>
        <p:blipFill>
          <a:blip r:embed="rId3"/>
          <a:stretch>
            <a:fillRect/>
          </a:stretch>
        </p:blipFill>
        <p:spPr>
          <a:xfrm>
            <a:off x="4248150" y="1596397"/>
            <a:ext cx="3505200" cy="1836404"/>
          </a:xfrm>
          <a:prstGeom prst="rect">
            <a:avLst/>
          </a:prstGeom>
        </p:spPr>
      </p:pic>
      <p:sp>
        <p:nvSpPr>
          <p:cNvPr id="14" name="TextBox 13"/>
          <p:cNvSpPr txBox="1"/>
          <p:nvPr/>
        </p:nvSpPr>
        <p:spPr>
          <a:xfrm>
            <a:off x="4219575" y="3581400"/>
            <a:ext cx="3562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ST-Lite</a:t>
            </a:r>
            <a:r>
              <a:rPr sz="937" b="0" i="0">
                <a:solidFill>
                  <a:srgbClr val="4A4450"/>
                </a:solidFill>
                <a:latin typeface="Arial"/>
                <a:ea typeface="微软雅黑"/>
                <a:cs typeface="微软雅黑"/>
              </a:rPr>
              <a:t>（EMNLP 2026）：KV Cache 压缩</a:t>
            </a:r>
          </a:p>
        </p:txBody>
      </p:sp>
      <p:sp>
        <p:nvSpPr>
          <p:cNvPr id="15" name="TextBox 14"/>
          <p:cNvSpPr txBox="1"/>
          <p:nvPr/>
        </p:nvSpPr>
        <p:spPr>
          <a:xfrm>
            <a:off x="457200" y="4038600"/>
            <a:ext cx="186690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3.4×</a:t>
            </a:r>
          </a:p>
        </p:txBody>
      </p:sp>
      <p:sp>
        <p:nvSpPr>
          <p:cNvPr id="16" name="TextBox 15"/>
          <p:cNvSpPr txBox="1"/>
          <p:nvPr/>
        </p:nvSpPr>
        <p:spPr>
          <a:xfrm>
            <a:off x="457200" y="4324350"/>
            <a:ext cx="186690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FLOPs 降低，性能 &gt;94%</a:t>
            </a:r>
          </a:p>
        </p:txBody>
      </p:sp>
      <p:sp>
        <p:nvSpPr>
          <p:cNvPr id="17" name="TextBox 16"/>
          <p:cNvSpPr txBox="1"/>
          <p:nvPr/>
        </p:nvSpPr>
        <p:spPr>
          <a:xfrm>
            <a:off x="2266950" y="4038600"/>
            <a:ext cx="186690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3.3×</a:t>
            </a:r>
          </a:p>
        </p:txBody>
      </p:sp>
      <p:sp>
        <p:nvSpPr>
          <p:cNvPr id="18" name="TextBox 17"/>
          <p:cNvSpPr txBox="1"/>
          <p:nvPr/>
        </p:nvSpPr>
        <p:spPr>
          <a:xfrm>
            <a:off x="2266950" y="4324350"/>
            <a:ext cx="186690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视觉编码加速</a:t>
            </a:r>
          </a:p>
        </p:txBody>
      </p:sp>
      <p:sp>
        <p:nvSpPr>
          <p:cNvPr id="19" name="TextBox 18"/>
          <p:cNvSpPr txBox="1"/>
          <p:nvPr/>
        </p:nvSpPr>
        <p:spPr>
          <a:xfrm>
            <a:off x="4191000" y="4038600"/>
            <a:ext cx="186690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20% KV</a:t>
            </a:r>
          </a:p>
        </p:txBody>
      </p:sp>
      <p:sp>
        <p:nvSpPr>
          <p:cNvPr id="20" name="TextBox 19"/>
          <p:cNvSpPr txBox="1"/>
          <p:nvPr/>
        </p:nvSpPr>
        <p:spPr>
          <a:xfrm>
            <a:off x="4191000" y="4324350"/>
            <a:ext cx="186690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预算下持平完整缓存</a:t>
            </a:r>
          </a:p>
        </p:txBody>
      </p:sp>
      <p:sp>
        <p:nvSpPr>
          <p:cNvPr id="21" name="TextBox 20"/>
          <p:cNvSpPr txBox="1"/>
          <p:nvPr/>
        </p:nvSpPr>
        <p:spPr>
          <a:xfrm>
            <a:off x="6000750" y="4038600"/>
            <a:ext cx="186690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2.35×</a:t>
            </a:r>
          </a:p>
        </p:txBody>
      </p:sp>
      <p:sp>
        <p:nvSpPr>
          <p:cNvPr id="22" name="TextBox 21"/>
          <p:cNvSpPr txBox="1"/>
          <p:nvPr/>
        </p:nvSpPr>
        <p:spPr>
          <a:xfrm>
            <a:off x="6000750" y="4324350"/>
            <a:ext cx="186690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5 倍压缩下解码加速</a:t>
            </a:r>
          </a:p>
        </p:txBody>
      </p:sp>
      <p:sp>
        <p:nvSpPr>
          <p:cNvPr id="23" name="TextBox 22"/>
          <p:cNvSpPr txBox="1"/>
          <p:nvPr/>
        </p:nvSpPr>
        <p:spPr>
          <a:xfrm>
            <a:off x="7839075" y="2495550"/>
            <a:ext cx="342900" cy="371475"/>
          </a:xfrm>
          <a:prstGeom prst="rect">
            <a:avLst/>
          </a:prstGeom>
          <a:noFill/>
        </p:spPr>
        <p:txBody>
          <a:bodyPr wrap="none" lIns="0" rIns="0" tIns="0" bIns="0" anchor="ctr">
            <a:noAutofit/>
          </a:bodyPr>
          <a:lstStyle/>
          <a:p>
            <a:pPr algn="ctr">
              <a:lnSpc>
                <a:spcPct val="100000"/>
              </a:lnSpc>
              <a:spcBef>
                <a:spcPts val="0"/>
              </a:spcBef>
              <a:spcAft>
                <a:spcPts val="0"/>
              </a:spcAft>
            </a:pPr>
            <a:r>
              <a:rPr sz="1950" b="0" i="0">
                <a:solidFill>
                  <a:srgbClr val="81308C"/>
                </a:solidFill>
                <a:latin typeface="Arial"/>
                <a:ea typeface="微软雅黑"/>
                <a:cs typeface="微软雅黑"/>
              </a:rPr>
              <a:t>➜</a:t>
            </a:r>
          </a:p>
        </p:txBody>
      </p:sp>
      <p:sp>
        <p:nvSpPr>
          <p:cNvPr id="24" name="Rounded Rectangle 23"/>
          <p:cNvSpPr/>
          <p:nvPr/>
        </p:nvSpPr>
        <p:spPr>
          <a:xfrm>
            <a:off x="8210550" y="1428750"/>
            <a:ext cx="3524250" cy="2495550"/>
          </a:xfrm>
          <a:prstGeom prst="roundRect">
            <a:avLst>
              <a:gd name="adj" fmla="val 305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181975" y="1524000"/>
            <a:ext cx="3581400" cy="173533"/>
          </a:xfrm>
          <a:prstGeom prst="rect">
            <a:avLst/>
          </a:prstGeom>
          <a:noFill/>
        </p:spPr>
        <p:txBody>
          <a:bodyPr wrap="none" lIns="0" rIns="0" tIns="0" bIns="0" anchor="ctr">
            <a:noAutofit/>
          </a:bodyPr>
          <a:lstStyle/>
          <a:p>
            <a:pPr algn="ctr">
              <a:lnSpc>
                <a:spcPct val="100000"/>
              </a:lnSpc>
              <a:spcBef>
                <a:spcPts val="0"/>
              </a:spcBef>
              <a:spcAft>
                <a:spcPts val="0"/>
              </a:spcAft>
            </a:pPr>
            <a:r>
              <a:rPr sz="1012" b="1" i="0">
                <a:solidFill>
                  <a:srgbClr val="1F1A22"/>
                </a:solidFill>
                <a:latin typeface="Arial"/>
                <a:ea typeface="微软雅黑"/>
                <a:cs typeface="微软雅黑"/>
              </a:rPr>
              <a:t>发现①：纯 GUI 范式天然偏重（同一模型 · OSWorld）</a:t>
            </a:r>
          </a:p>
        </p:txBody>
      </p:sp>
      <p:sp>
        <p:nvSpPr>
          <p:cNvPr id="26" name="Rounded Rectangle 25"/>
          <p:cNvSpPr/>
          <p:nvPr/>
        </p:nvSpPr>
        <p:spPr>
          <a:xfrm>
            <a:off x="8572500" y="2114550"/>
            <a:ext cx="381000" cy="1428750"/>
          </a:xfrm>
          <a:prstGeom prst="roundRect">
            <a:avLst>
              <a:gd name="adj" fmla="val 1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9010650" y="2143125"/>
            <a:ext cx="381000" cy="1400175"/>
          </a:xfrm>
          <a:prstGeom prst="roundRect">
            <a:avLst>
              <a:gd name="adj" fmla="val 1000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486775" y="19240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79.1</a:t>
            </a:r>
          </a:p>
        </p:txBody>
      </p:sp>
      <p:sp>
        <p:nvSpPr>
          <p:cNvPr id="29" name="TextBox 28"/>
          <p:cNvSpPr txBox="1"/>
          <p:nvPr/>
        </p:nvSpPr>
        <p:spPr>
          <a:xfrm>
            <a:off x="8924925" y="1952625"/>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77.3</a:t>
            </a:r>
          </a:p>
        </p:txBody>
      </p:sp>
      <p:sp>
        <p:nvSpPr>
          <p:cNvPr id="30" name="Rounded Rectangle 29"/>
          <p:cNvSpPr/>
          <p:nvPr/>
        </p:nvSpPr>
        <p:spPr>
          <a:xfrm>
            <a:off x="10287000" y="2876550"/>
            <a:ext cx="381000" cy="666750"/>
          </a:xfrm>
          <a:prstGeom prst="roundRect">
            <a:avLst>
              <a:gd name="adj" fmla="val 1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10725150" y="2190750"/>
            <a:ext cx="381000" cy="1352550"/>
          </a:xfrm>
          <a:prstGeom prst="roundRect">
            <a:avLst>
              <a:gd name="adj" fmla="val 1000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201275" y="26860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14.3</a:t>
            </a:r>
          </a:p>
        </p:txBody>
      </p:sp>
      <p:sp>
        <p:nvSpPr>
          <p:cNvPr id="33" name="TextBox 32"/>
          <p:cNvSpPr txBox="1"/>
          <p:nvPr/>
        </p:nvSpPr>
        <p:spPr>
          <a:xfrm>
            <a:off x="10639425" y="2000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29.0</a:t>
            </a:r>
          </a:p>
        </p:txBody>
      </p:sp>
      <p:sp>
        <p:nvSpPr>
          <p:cNvPr id="34" name="Rectangle 33"/>
          <p:cNvSpPr/>
          <p:nvPr/>
        </p:nvSpPr>
        <p:spPr>
          <a:xfrm>
            <a:off x="8458200" y="3543300"/>
            <a:ext cx="3028950" cy="95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8458200" y="3543300"/>
            <a:ext cx="3028950" cy="9525"/>
          </a:xfrm>
          <a:prstGeom prst="rect">
            <a:avLst/>
          </a:prstGeom>
          <a:solidFill>
            <a:srgbClr val="D9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429625" y="3600450"/>
            <a:ext cx="11049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成功率 %</a:t>
            </a:r>
          </a:p>
        </p:txBody>
      </p:sp>
      <p:sp>
        <p:nvSpPr>
          <p:cNvPr id="37" name="TextBox 36"/>
          <p:cNvSpPr txBox="1"/>
          <p:nvPr/>
        </p:nvSpPr>
        <p:spPr>
          <a:xfrm>
            <a:off x="10144125" y="3600450"/>
            <a:ext cx="11049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平均步数</a:t>
            </a:r>
          </a:p>
        </p:txBody>
      </p:sp>
      <p:sp>
        <p:nvSpPr>
          <p:cNvPr id="38" name="TextBox 37"/>
          <p:cNvSpPr txBox="1"/>
          <p:nvPr/>
        </p:nvSpPr>
        <p:spPr>
          <a:xfrm>
            <a:off x="8181975" y="4038600"/>
            <a:ext cx="3581400" cy="178593"/>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660874"/>
                </a:solidFill>
                <a:latin typeface="Arial"/>
                <a:ea typeface="微软雅黑"/>
                <a:cs typeface="微软雅黑"/>
              </a:rPr>
              <a:t>■</a:t>
            </a:r>
            <a:r>
              <a:rPr sz="937" b="0" i="0">
                <a:solidFill>
                  <a:srgbClr val="4A4450"/>
                </a:solidFill>
                <a:latin typeface="Arial"/>
                <a:ea typeface="微软雅黑"/>
                <a:cs typeface="微软雅黑"/>
              </a:rPr>
              <a:t> 仅 CLI　</a:t>
            </a:r>
            <a:r>
              <a:rPr sz="937" b="1" i="0">
                <a:solidFill>
                  <a:srgbClr val="1F6F8B"/>
                </a:solidFill>
                <a:latin typeface="Arial"/>
                <a:ea typeface="微软雅黑"/>
                <a:cs typeface="微软雅黑"/>
              </a:rPr>
              <a:t>■</a:t>
            </a:r>
            <a:r>
              <a:rPr sz="937" b="0" i="0">
                <a:solidFill>
                  <a:srgbClr val="4A4450"/>
                </a:solidFill>
                <a:latin typeface="Arial"/>
                <a:ea typeface="微软雅黑"/>
                <a:cs typeface="微软雅黑"/>
              </a:rPr>
              <a:t> 仅 GUI：CLI 以一半步数取得相当成功率</a:t>
            </a:r>
          </a:p>
        </p:txBody>
      </p:sp>
      <p:sp>
        <p:nvSpPr>
          <p:cNvPr id="39" name="Rounded Rectangle 38"/>
          <p:cNvSpPr/>
          <p:nvPr/>
        </p:nvSpPr>
        <p:spPr>
          <a:xfrm>
            <a:off x="457200" y="4629150"/>
            <a:ext cx="11277600" cy="876300"/>
          </a:xfrm>
          <a:prstGeom prst="roundRect">
            <a:avLst>
              <a:gd name="adj" fmla="val 13043"/>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8650" y="4724400"/>
            <a:ext cx="10991850" cy="469403"/>
          </a:xfrm>
          <a:prstGeom prst="rect">
            <a:avLst/>
          </a:prstGeom>
          <a:noFill/>
        </p:spPr>
        <p:txBody>
          <a:bodyPr wrap="square" lIns="0" rIns="0" tIns="0" bIns="0" anchor="t">
            <a:noAutofit/>
          </a:bodyPr>
          <a:lstStyle/>
          <a:p>
            <a:pPr algn="l">
              <a:lnSpc>
                <a:spcPts val="1848"/>
              </a:lnSpc>
              <a:spcBef>
                <a:spcPts val="0"/>
              </a:spcBef>
              <a:spcAft>
                <a:spcPts val="0"/>
              </a:spcAft>
            </a:pPr>
            <a:r>
              <a:rPr sz="1087" b="1" i="0">
                <a:solidFill>
                  <a:srgbClr val="B7791F"/>
                </a:solidFill>
                <a:latin typeface="Arial"/>
                <a:ea typeface="微软雅黑"/>
                <a:cs typeface="微软雅黑"/>
              </a:rPr>
              <a:t>发现②：OpenClaw 的启发（2026 年初）</a:t>
            </a:r>
            <a:r>
              <a:rPr sz="1087" b="0" i="0">
                <a:solidFill>
                  <a:srgbClr val="1F1A22"/>
                </a:solidFill>
                <a:latin typeface="Arial"/>
                <a:ea typeface="微软雅黑"/>
                <a:cs typeface="微软雅黑"/>
              </a:rPr>
              <a:t>　以 CLI 为主、运行在用户个人电脑上的开源智能体迅速普及，大量真实数字工作无需逐帧看屏即可完成。</a:t>
            </a:r>
          </a:p>
          <a:p>
            <a:pPr algn="l">
              <a:lnSpc>
                <a:spcPts val="1848"/>
              </a:lnSpc>
              <a:spcBef>
                <a:spcPts val="0"/>
              </a:spcBef>
              <a:spcAft>
                <a:spcPts val="0"/>
              </a:spcAft>
            </a:pPr>
            <a:r>
              <a:rPr sz="1087" b="0" i="0">
                <a:solidFill>
                  <a:srgbClr val="1F1A22"/>
                </a:solidFill>
                <a:latin typeface="Arial"/>
                <a:ea typeface="微软雅黑"/>
                <a:cs typeface="微软雅黑"/>
              </a:rPr>
              <a:t>→ 压缩只能缓解开销，</a:t>
            </a:r>
            <a:r>
              <a:rPr sz="1087" b="1" i="0">
                <a:solidFill>
                  <a:srgbClr val="1F1A22"/>
                </a:solidFill>
                <a:latin typeface="Arial"/>
                <a:ea typeface="微软雅黑"/>
                <a:cs typeface="微软雅黑"/>
              </a:rPr>
              <a:t>纯 GUI 范式本身并非天然合理</a:t>
            </a:r>
            <a:r>
              <a:rPr sz="1087" b="0" i="0">
                <a:solidFill>
                  <a:srgbClr val="1F1A22"/>
                </a:solidFill>
                <a:latin typeface="Arial"/>
                <a:ea typeface="微软雅黑"/>
                <a:cs typeface="微软雅黑"/>
              </a:rPr>
              <a:t>；真实工作需要 CLI 与 GUI 按需交织。</a:t>
            </a:r>
          </a:p>
        </p:txBody>
      </p:sp>
      <p:sp>
        <p:nvSpPr>
          <p:cNvPr id="41" name="Rounded Rectangle 40"/>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结论：效率优化只能缓解开销，关键在于</a:t>
            </a:r>
            <a:r>
              <a:rPr sz="1350" b="1" i="0">
                <a:solidFill>
                  <a:srgbClr val="F6C8FF"/>
                </a:solidFill>
                <a:latin typeface="Arial"/>
                <a:ea typeface="微软雅黑"/>
                <a:cs typeface="微软雅黑"/>
              </a:rPr>
              <a:t>任务范式与能力度量</a:t>
            </a:r>
            <a:r>
              <a:rPr sz="1350" b="0" i="0">
                <a:solidFill>
                  <a:srgbClr val="FFFFFF"/>
                </a:solidFill>
                <a:latin typeface="Arial"/>
                <a:ea typeface="微软雅黑"/>
                <a:cs typeface="微软雅黑"/>
              </a:rPr>
              <a:t> → 定义 CLI 与 GUI 交织的综合数字智能体范式并可信评测</a:t>
            </a:r>
          </a:p>
        </p:txBody>
      </p:sp>
      <p:sp>
        <p:nvSpPr>
          <p:cNvPr id="43" name="TextBox 42"/>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14 / 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课题一（续）：WeaveBench —— 综合数字智能体范式与轨迹感知的可信评测</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评测</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现有基准将 CLI 与 GUI 割裂评测，任务可在单一能力内完成；仅依据最终结果判分，难以度量能力协同</a:t>
            </a:r>
          </a:p>
        </p:txBody>
      </p:sp>
      <p:sp>
        <p:nvSpPr>
          <p:cNvPr id="12" name="TextBox 11"/>
          <p:cNvSpPr txBox="1"/>
          <p:nvPr/>
        </p:nvSpPr>
        <p:spPr>
          <a:xfrm>
            <a:off x="457200" y="16764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解决方法：</a:t>
            </a:r>
            <a:r>
              <a:rPr sz="1125" b="0" i="0">
                <a:solidFill>
                  <a:srgbClr val="1F1A22"/>
                </a:solidFill>
                <a:latin typeface="Arial"/>
                <a:ea typeface="微软雅黑"/>
                <a:cs typeface="微软雅黑"/>
              </a:rPr>
              <a:t>以已部署的 CLI 智能体运行时为底座、加入最小桌面控制插件；只收录 CLI 与 GUI </a:t>
            </a:r>
            <a:r>
              <a:rPr sz="1125" b="1" i="0">
                <a:solidFill>
                  <a:srgbClr val="1F1A22"/>
                </a:solidFill>
                <a:latin typeface="Arial"/>
                <a:ea typeface="微软雅黑"/>
                <a:cs typeface="微软雅黑"/>
              </a:rPr>
              <a:t>缺一不可</a:t>
            </a:r>
            <a:r>
              <a:rPr sz="1125" b="0" i="0">
                <a:solidFill>
                  <a:srgbClr val="1F1A22"/>
                </a:solidFill>
                <a:latin typeface="Arial"/>
                <a:ea typeface="微软雅黑"/>
                <a:cs typeface="微软雅黑"/>
              </a:rPr>
              <a:t>的长程任务；轨迹感知判官审计全过程</a:t>
            </a:r>
          </a:p>
        </p:txBody>
      </p:sp>
      <p:sp>
        <p:nvSpPr>
          <p:cNvPr id="13" name="Rounded Rectangle 12"/>
          <p:cNvSpPr/>
          <p:nvPr/>
        </p:nvSpPr>
        <p:spPr>
          <a:xfrm>
            <a:off x="457200" y="2038350"/>
            <a:ext cx="6096000" cy="3505200"/>
          </a:xfrm>
          <a:prstGeom prst="roundRect">
            <a:avLst>
              <a:gd name="adj" fmla="val 217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fig_overview_new-1.png"/>
          <p:cNvPicPr>
            <a:picLocks noChangeAspect="1"/>
          </p:cNvPicPr>
          <p:nvPr/>
        </p:nvPicPr>
        <p:blipFill>
          <a:blip r:embed="rId2"/>
          <a:stretch>
            <a:fillRect/>
          </a:stretch>
        </p:blipFill>
        <p:spPr>
          <a:xfrm>
            <a:off x="514350" y="2439891"/>
            <a:ext cx="5981700" cy="2378266"/>
          </a:xfrm>
          <a:prstGeom prst="rect">
            <a:avLst/>
          </a:prstGeom>
        </p:spPr>
      </p:pic>
      <p:sp>
        <p:nvSpPr>
          <p:cNvPr id="15" name="TextBox 14"/>
          <p:cNvSpPr txBox="1"/>
          <p:nvPr/>
        </p:nvSpPr>
        <p:spPr>
          <a:xfrm>
            <a:off x="485775" y="5200650"/>
            <a:ext cx="6038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WeaveBench</a:t>
            </a:r>
            <a:r>
              <a:rPr sz="937" b="0" i="0">
                <a:solidFill>
                  <a:srgbClr val="4A4450"/>
                </a:solidFill>
                <a:latin typeface="Arial"/>
                <a:ea typeface="微软雅黑"/>
                <a:cs typeface="微软雅黑"/>
              </a:rPr>
              <a:t>（EMNLP 2026）：任务构造 → 真实运行时 → 轨迹感知判官</a:t>
            </a:r>
          </a:p>
        </p:txBody>
      </p:sp>
      <p:sp>
        <p:nvSpPr>
          <p:cNvPr id="16" name="Rounded Rectangle 15"/>
          <p:cNvSpPr/>
          <p:nvPr/>
        </p:nvSpPr>
        <p:spPr>
          <a:xfrm>
            <a:off x="6705600" y="2038350"/>
            <a:ext cx="5029200" cy="2190750"/>
          </a:xfrm>
          <a:prstGeom prst="roundRect">
            <a:avLst>
              <a:gd name="adj" fmla="val 347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fig_failure_mechanism-1.png"/>
          <p:cNvPicPr>
            <a:picLocks noChangeAspect="1"/>
          </p:cNvPicPr>
          <p:nvPr/>
        </p:nvPicPr>
        <p:blipFill>
          <a:blip r:embed="rId3"/>
          <a:stretch>
            <a:fillRect/>
          </a:stretch>
        </p:blipFill>
        <p:spPr>
          <a:xfrm>
            <a:off x="6775214" y="2095500"/>
            <a:ext cx="4889970" cy="1752600"/>
          </a:xfrm>
          <a:prstGeom prst="rect">
            <a:avLst/>
          </a:prstGeom>
        </p:spPr>
      </p:pic>
      <p:sp>
        <p:nvSpPr>
          <p:cNvPr id="18" name="TextBox 17"/>
          <p:cNvSpPr txBox="1"/>
          <p:nvPr/>
        </p:nvSpPr>
        <p:spPr>
          <a:xfrm>
            <a:off x="6734175" y="3886200"/>
            <a:ext cx="49720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1,735 个失败的归因分析</a:t>
            </a:r>
          </a:p>
        </p:txBody>
      </p:sp>
      <p:sp>
        <p:nvSpPr>
          <p:cNvPr id="19" name="TextBox 18"/>
          <p:cNvSpPr txBox="1"/>
          <p:nvPr/>
        </p:nvSpPr>
        <p:spPr>
          <a:xfrm>
            <a:off x="6705600" y="43434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41.2%</a:t>
            </a:r>
          </a:p>
        </p:txBody>
      </p:sp>
      <p:sp>
        <p:nvSpPr>
          <p:cNvPr id="20" name="TextBox 19"/>
          <p:cNvSpPr txBox="1"/>
          <p:nvPr/>
        </p:nvSpPr>
        <p:spPr>
          <a:xfrm>
            <a:off x="6705600" y="46482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最强组合成功率（OSWorld &gt;78%）</a:t>
            </a:r>
          </a:p>
        </p:txBody>
      </p:sp>
      <p:sp>
        <p:nvSpPr>
          <p:cNvPr id="21" name="TextBox 20"/>
          <p:cNvSpPr txBox="1"/>
          <p:nvPr/>
        </p:nvSpPr>
        <p:spPr>
          <a:xfrm>
            <a:off x="9258300" y="43434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≤3.5%</a:t>
            </a:r>
          </a:p>
        </p:txBody>
      </p:sp>
      <p:sp>
        <p:nvSpPr>
          <p:cNvPr id="22" name="TextBox 21"/>
          <p:cNvSpPr txBox="1"/>
          <p:nvPr/>
        </p:nvSpPr>
        <p:spPr>
          <a:xfrm>
            <a:off x="9258300" y="46482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仅 GUI 或仅 CLI；混合增益 +31.6 pp</a:t>
            </a:r>
          </a:p>
        </p:txBody>
      </p:sp>
      <p:sp>
        <p:nvSpPr>
          <p:cNvPr id="23" name="TextBox 22"/>
          <p:cNvSpPr txBox="1"/>
          <p:nvPr/>
        </p:nvSpPr>
        <p:spPr>
          <a:xfrm>
            <a:off x="6705600" y="49530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C0392B"/>
                </a:solidFill>
                <a:latin typeface="Arial"/>
                <a:ea typeface="微软雅黑"/>
                <a:cs typeface="微软雅黑"/>
              </a:rPr>
              <a:t>−20 pp</a:t>
            </a:r>
          </a:p>
        </p:txBody>
      </p:sp>
      <p:sp>
        <p:nvSpPr>
          <p:cNvPr id="24" name="TextBox 23"/>
          <p:cNvSpPr txBox="1"/>
          <p:nvPr/>
        </p:nvSpPr>
        <p:spPr>
          <a:xfrm>
            <a:off x="6705600" y="52578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过程审计修正结果判分虚高</a:t>
            </a:r>
          </a:p>
        </p:txBody>
      </p:sp>
      <p:sp>
        <p:nvSpPr>
          <p:cNvPr id="25" name="TextBox 24"/>
          <p:cNvSpPr txBox="1"/>
          <p:nvPr/>
        </p:nvSpPr>
        <p:spPr>
          <a:xfrm>
            <a:off x="9258300" y="49530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C0392B"/>
                </a:solidFill>
                <a:latin typeface="Arial"/>
                <a:ea typeface="微软雅黑"/>
                <a:cs typeface="微软雅黑"/>
              </a:rPr>
              <a:t>65.6%</a:t>
            </a:r>
          </a:p>
        </p:txBody>
      </p:sp>
      <p:sp>
        <p:nvSpPr>
          <p:cNvPr id="26" name="TextBox 25"/>
          <p:cNvSpPr txBox="1"/>
          <p:nvPr/>
        </p:nvSpPr>
        <p:spPr>
          <a:xfrm>
            <a:off x="9258300" y="52578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违规取巧与长程失控</a:t>
            </a:r>
          </a:p>
        </p:txBody>
      </p:sp>
      <p:sp>
        <p:nvSpPr>
          <p:cNvPr id="27" name="Rounded Rectangle 2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结论：瓶颈不在视觉感知，而在</a:t>
            </a:r>
            <a:r>
              <a:rPr sz="1350" b="1" i="0">
                <a:solidFill>
                  <a:srgbClr val="F6C8FF"/>
                </a:solidFill>
                <a:latin typeface="Arial"/>
                <a:ea typeface="微软雅黑"/>
                <a:cs typeface="微软雅黑"/>
              </a:rPr>
              <a:t>自主编排（Orchestration）与自我验证（Self-verification）</a:t>
            </a:r>
            <a:r>
              <a:rPr sz="1350" b="0" i="0">
                <a:solidFill>
                  <a:srgbClr val="FFFFFF"/>
                </a:solidFill>
                <a:latin typeface="Arial"/>
                <a:ea typeface="微软雅黑"/>
                <a:cs typeface="微软雅黑"/>
              </a:rPr>
              <a:t>→ 研究二训练该行为模式</a:t>
            </a:r>
          </a:p>
        </p:txBody>
      </p:sp>
      <p:sp>
        <p:nvSpPr>
          <p:cNvPr id="29" name="TextBox 2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15 / 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课题二：基于可验证复刻环境的混合行为训练（已完成）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训练</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Rounded Rectangle 10"/>
          <p:cNvSpPr/>
          <p:nvPr/>
        </p:nvSpPr>
        <p:spPr>
          <a:xfrm>
            <a:off x="457200" y="1428750"/>
            <a:ext cx="67818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w_fig2_recreation.png"/>
          <p:cNvPicPr>
            <a:picLocks noChangeAspect="1"/>
          </p:cNvPicPr>
          <p:nvPr/>
        </p:nvPicPr>
        <p:blipFill>
          <a:blip r:embed="rId2"/>
          <a:stretch>
            <a:fillRect/>
          </a:stretch>
        </p:blipFill>
        <p:spPr>
          <a:xfrm>
            <a:off x="866630" y="1485900"/>
            <a:ext cx="5962939" cy="1428750"/>
          </a:xfrm>
          <a:prstGeom prst="rect">
            <a:avLst/>
          </a:prstGeom>
        </p:spPr>
      </p:pic>
      <p:sp>
        <p:nvSpPr>
          <p:cNvPr id="13" name="TextBox 12"/>
          <p:cNvSpPr txBox="1"/>
          <p:nvPr/>
        </p:nvSpPr>
        <p:spPr>
          <a:xfrm>
            <a:off x="485775" y="2952750"/>
            <a:ext cx="67246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RecreationWorld</a:t>
            </a:r>
            <a:r>
              <a:rPr sz="937" b="0" i="0">
                <a:solidFill>
                  <a:srgbClr val="4A4450"/>
                </a:solidFill>
                <a:latin typeface="Arial"/>
                <a:ea typeface="微软雅黑"/>
                <a:cs typeface="微软雅黑"/>
              </a:rPr>
              <a:t>：探索原版 → 实现 → 运行 → 视觉核验</a:t>
            </a:r>
          </a:p>
        </p:txBody>
      </p:sp>
      <p:sp>
        <p:nvSpPr>
          <p:cNvPr id="14" name="Rounded Rectangle 13"/>
          <p:cNvSpPr/>
          <p:nvPr/>
        </p:nvSpPr>
        <p:spPr>
          <a:xfrm>
            <a:off x="457200" y="3409950"/>
            <a:ext cx="6781800" cy="2686050"/>
          </a:xfrm>
          <a:prstGeom prst="roundRect">
            <a:avLst>
              <a:gd name="adj" fmla="val 283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rw_fig4_construct.png"/>
          <p:cNvPicPr>
            <a:picLocks noChangeAspect="1"/>
          </p:cNvPicPr>
          <p:nvPr/>
        </p:nvPicPr>
        <p:blipFill>
          <a:blip r:embed="rId3"/>
          <a:stretch>
            <a:fillRect/>
          </a:stretch>
        </p:blipFill>
        <p:spPr>
          <a:xfrm>
            <a:off x="1089834" y="3467100"/>
            <a:ext cx="5516530" cy="2247900"/>
          </a:xfrm>
          <a:prstGeom prst="rect">
            <a:avLst/>
          </a:prstGeom>
        </p:spPr>
      </p:pic>
      <p:sp>
        <p:nvSpPr>
          <p:cNvPr id="16" name="TextBox 15"/>
          <p:cNvSpPr txBox="1"/>
          <p:nvPr/>
        </p:nvSpPr>
        <p:spPr>
          <a:xfrm>
            <a:off x="485775" y="5753100"/>
            <a:ext cx="67246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环境构建：开源应用 → 行为探查 → 测试合成 → 参考回放校验 → 冻结隐藏测试集</a:t>
            </a:r>
          </a:p>
        </p:txBody>
      </p:sp>
      <p:sp>
        <p:nvSpPr>
          <p:cNvPr id="17" name="TextBox 16"/>
          <p:cNvSpPr txBox="1"/>
          <p:nvPr/>
        </p:nvSpPr>
        <p:spPr>
          <a:xfrm>
            <a:off x="7429500" y="1428750"/>
            <a:ext cx="4343400" cy="662582"/>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C0392B"/>
                </a:solidFill>
                <a:latin typeface="Arial"/>
                <a:ea typeface="微软雅黑"/>
                <a:cs typeface="微软雅黑"/>
              </a:rPr>
              <a:t>■ 问题：</a:t>
            </a:r>
            <a:r>
              <a:rPr sz="1087" b="0" i="0">
                <a:solidFill>
                  <a:srgbClr val="1F1A22"/>
                </a:solidFill>
                <a:latin typeface="Arial"/>
                <a:ea typeface="微软雅黑"/>
                <a:cs typeface="微软雅黑"/>
              </a:rPr>
              <a:t>自主编排（Orchestration）与自我验证（Self-verification）需在</a:t>
            </a:r>
            <a:r>
              <a:rPr sz="1087" b="1" i="0">
                <a:solidFill>
                  <a:srgbClr val="1F1A22"/>
                </a:solidFill>
                <a:latin typeface="Arial"/>
                <a:ea typeface="微软雅黑"/>
                <a:cs typeface="微软雅黑"/>
              </a:rPr>
              <a:t>能力交织、结果可验证</a:t>
            </a:r>
            <a:r>
              <a:rPr sz="1087" b="0" i="0">
                <a:solidFill>
                  <a:srgbClr val="1F1A22"/>
                </a:solidFill>
                <a:latin typeface="Arial"/>
                <a:ea typeface="微软雅黑"/>
                <a:cs typeface="微软雅黑"/>
              </a:rPr>
              <a:t>的场景中习得；图形界面缺少天然奖励，现有环境局限于单一界面</a:t>
            </a:r>
          </a:p>
        </p:txBody>
      </p:sp>
      <p:sp>
        <p:nvSpPr>
          <p:cNvPr id="18" name="TextBox 17"/>
          <p:cNvSpPr txBox="1"/>
          <p:nvPr/>
        </p:nvSpPr>
        <p:spPr>
          <a:xfrm>
            <a:off x="7429500" y="2381250"/>
            <a:ext cx="4343400" cy="883443"/>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C0392B"/>
                </a:solidFill>
                <a:latin typeface="Arial"/>
                <a:ea typeface="微软雅黑"/>
                <a:cs typeface="微软雅黑"/>
              </a:rPr>
              <a:t>■ 解决方法：</a:t>
            </a:r>
            <a:r>
              <a:rPr sz="1087" b="0" i="0">
                <a:solidFill>
                  <a:srgbClr val="1F1A22"/>
                </a:solidFill>
                <a:latin typeface="Arial"/>
                <a:ea typeface="微软雅黑"/>
                <a:cs typeface="微软雅黑"/>
              </a:rPr>
              <a:t>以</a:t>
            </a:r>
            <a:r>
              <a:rPr sz="1087" b="1" i="0">
                <a:solidFill>
                  <a:srgbClr val="1F1A22"/>
                </a:solidFill>
                <a:latin typeface="Arial"/>
                <a:ea typeface="微软雅黑"/>
                <a:cs typeface="微软雅黑"/>
              </a:rPr>
              <a:t>应用复刻（App Recreation）</a:t>
            </a:r>
            <a:r>
              <a:rPr sz="1087" b="0" i="0">
                <a:solidFill>
                  <a:srgbClr val="1F1A22"/>
                </a:solidFill>
                <a:latin typeface="Arial"/>
                <a:ea typeface="微软雅黑"/>
                <a:cs typeface="微软雅黑"/>
              </a:rPr>
              <a:t>为训练场景：规格存在于界面中、交付物为代码、正确性需运行后视觉核验，天然要求 CLI 与 GUI 交织；</a:t>
            </a:r>
            <a:r>
              <a:rPr sz="1087" b="1" i="0">
                <a:solidFill>
                  <a:srgbClr val="1F1A22"/>
                </a:solidFill>
                <a:latin typeface="Arial"/>
                <a:ea typeface="微软雅黑"/>
                <a:cs typeface="微软雅黑"/>
              </a:rPr>
              <a:t>原版应用即 oracle</a:t>
            </a:r>
            <a:r>
              <a:rPr sz="1087" b="0" i="0">
                <a:solidFill>
                  <a:srgbClr val="1F1A22"/>
                </a:solidFill>
                <a:latin typeface="Arial"/>
                <a:ea typeface="微软雅黑"/>
                <a:cs typeface="微软雅黑"/>
              </a:rPr>
              <a:t>，自动合成隐藏行为测试作为可验证奖励（Verifiable Reward）</a:t>
            </a:r>
          </a:p>
        </p:txBody>
      </p:sp>
      <p:sp>
        <p:nvSpPr>
          <p:cNvPr id="19" name="Rounded Rectangle 18"/>
          <p:cNvSpPr/>
          <p:nvPr/>
        </p:nvSpPr>
        <p:spPr>
          <a:xfrm>
            <a:off x="7429500" y="4114800"/>
            <a:ext cx="4305300" cy="1981200"/>
          </a:xfrm>
          <a:prstGeom prst="roundRect">
            <a:avLst>
              <a:gd name="adj" fmla="val 384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rw_fig3_horizon.png"/>
          <p:cNvPicPr>
            <a:picLocks noChangeAspect="1"/>
          </p:cNvPicPr>
          <p:nvPr/>
        </p:nvPicPr>
        <p:blipFill>
          <a:blip r:embed="rId4"/>
          <a:stretch>
            <a:fillRect/>
          </a:stretch>
        </p:blipFill>
        <p:spPr>
          <a:xfrm>
            <a:off x="8361973" y="4171950"/>
            <a:ext cx="2440353" cy="1543050"/>
          </a:xfrm>
          <a:prstGeom prst="rect">
            <a:avLst/>
          </a:prstGeom>
        </p:spPr>
      </p:pic>
      <p:sp>
        <p:nvSpPr>
          <p:cNvPr id="21" name="TextBox 20"/>
          <p:cNvSpPr txBox="1"/>
          <p:nvPr/>
        </p:nvSpPr>
        <p:spPr>
          <a:xfrm>
            <a:off x="7458075" y="5753100"/>
            <a:ext cx="4248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每百次调用的 GUI↔代码切换：复刻任务远高于现有基准</a:t>
            </a:r>
          </a:p>
        </p:txBody>
      </p:sp>
      <p:sp>
        <p:nvSpPr>
          <p:cNvPr id="22" name="TextBox 21"/>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16 / 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课题二（续）：训练流程与实验结果</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0550"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① 复刻任务构造</a:t>
            </a:r>
          </a:p>
        </p:txBody>
      </p:sp>
      <p:sp>
        <p:nvSpPr>
          <p:cNvPr id="7" name="TextBox 6"/>
          <p:cNvSpPr txBox="1"/>
          <p:nvPr/>
        </p:nvSpPr>
        <p:spPr>
          <a:xfrm>
            <a:off x="590550"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GitHub 高质量开源 GUI 应用，覆盖 Ubuntu / macOS / Windows / Android / Web，与评测集去重</a:t>
            </a:r>
          </a:p>
        </p:txBody>
      </p:sp>
      <p:sp>
        <p:nvSpPr>
          <p:cNvPr id="8" name="Rounded Rectangle 7"/>
          <p:cNvSpPr/>
          <p:nvPr/>
        </p:nvSpPr>
        <p:spPr>
          <a:xfrm>
            <a:off x="3324225"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457575"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② 轨迹生成</a:t>
            </a:r>
          </a:p>
        </p:txBody>
      </p:sp>
      <p:sp>
        <p:nvSpPr>
          <p:cNvPr id="10" name="TextBox 9"/>
          <p:cNvSpPr txBox="1"/>
          <p:nvPr/>
        </p:nvSpPr>
        <p:spPr>
          <a:xfrm>
            <a:off x="3457575" y="1771650"/>
            <a:ext cx="2457450" cy="357187"/>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Qwen3.8-Max 在隔离虚拟机池中并发执行"探索—实现—构建运行—核验修正"</a:t>
            </a:r>
          </a:p>
        </p:txBody>
      </p:sp>
      <p:sp>
        <p:nvSpPr>
          <p:cNvPr id="11" name="Rounded Rectangle 10"/>
          <p:cNvSpPr/>
          <p:nvPr/>
        </p:nvSpPr>
        <p:spPr>
          <a:xfrm>
            <a:off x="6191250"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24600"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③ 可验证筛选</a:t>
            </a:r>
          </a:p>
        </p:txBody>
      </p:sp>
      <p:sp>
        <p:nvSpPr>
          <p:cNvPr id="13" name="TextBox 12"/>
          <p:cNvSpPr txBox="1"/>
          <p:nvPr/>
        </p:nvSpPr>
        <p:spPr>
          <a:xfrm>
            <a:off x="6324600"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以任务级行为 verifier 拒绝采样（Rejection Sampling），每平台取 7,000 条，共 3.5 万条轨迹</a:t>
            </a:r>
          </a:p>
        </p:txBody>
      </p:sp>
      <p:sp>
        <p:nvSpPr>
          <p:cNvPr id="14" name="Rounded Rectangle 13"/>
          <p:cNvSpPr/>
          <p:nvPr/>
        </p:nvSpPr>
        <p:spPr>
          <a:xfrm>
            <a:off x="9058275"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91625"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④ 模型后训练</a:t>
            </a:r>
          </a:p>
        </p:txBody>
      </p:sp>
      <p:sp>
        <p:nvSpPr>
          <p:cNvPr id="16" name="TextBox 15"/>
          <p:cNvSpPr txBox="1"/>
          <p:nvPr/>
        </p:nvSpPr>
        <p:spPr>
          <a:xfrm>
            <a:off x="9191625"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同一数据分别监督微调（SFT）Qwen3.7-Plus 与持续预训练（CPT）后的 Qwen-Flash</a:t>
            </a:r>
          </a:p>
        </p:txBody>
      </p:sp>
      <p:sp>
        <p:nvSpPr>
          <p:cNvPr id="17" name="TextBox 16"/>
          <p:cNvSpPr txBox="1"/>
          <p:nvPr/>
        </p:nvSpPr>
        <p:spPr>
          <a:xfrm>
            <a:off x="3076575"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18" name="TextBox 17"/>
          <p:cNvSpPr txBox="1"/>
          <p:nvPr/>
        </p:nvSpPr>
        <p:spPr>
          <a:xfrm>
            <a:off x="5943600"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19" name="TextBox 18"/>
          <p:cNvSpPr txBox="1"/>
          <p:nvPr/>
        </p:nvSpPr>
        <p:spPr>
          <a:xfrm>
            <a:off x="8810625"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20" name="Rounded Rectangle 19"/>
          <p:cNvSpPr/>
          <p:nvPr/>
        </p:nvSpPr>
        <p:spPr>
          <a:xfrm>
            <a:off x="457200" y="2514600"/>
            <a:ext cx="7810500" cy="3028950"/>
          </a:xfrm>
          <a:prstGeom prst="roundRect">
            <a:avLst>
              <a:gd name="adj" fmla="val 251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rw_fig5_transfer.png"/>
          <p:cNvPicPr>
            <a:picLocks noChangeAspect="1"/>
          </p:cNvPicPr>
          <p:nvPr/>
        </p:nvPicPr>
        <p:blipFill>
          <a:blip r:embed="rId2"/>
          <a:stretch>
            <a:fillRect/>
          </a:stretch>
        </p:blipFill>
        <p:spPr>
          <a:xfrm>
            <a:off x="514350" y="2653118"/>
            <a:ext cx="7696200" cy="2428063"/>
          </a:xfrm>
          <a:prstGeom prst="rect">
            <a:avLst/>
          </a:prstGeom>
        </p:spPr>
      </p:pic>
      <p:sp>
        <p:nvSpPr>
          <p:cNvPr id="22" name="TextBox 21"/>
          <p:cNvSpPr txBox="1"/>
          <p:nvPr/>
        </p:nvSpPr>
        <p:spPr>
          <a:xfrm>
            <a:off x="485775" y="5200650"/>
            <a:ext cx="7753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迁移到 5 个分布外（OOD）基准（代码、视觉代码、混合计算机操作）：两种初始化均一致提升</a:t>
            </a:r>
          </a:p>
        </p:txBody>
      </p:sp>
      <p:sp>
        <p:nvSpPr>
          <p:cNvPr id="23" name="TextBox 22"/>
          <p:cNvSpPr txBox="1"/>
          <p:nvPr/>
        </p:nvSpPr>
        <p:spPr>
          <a:xfrm>
            <a:off x="8496300" y="257175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250 题 · 5 平台</a:t>
            </a:r>
          </a:p>
        </p:txBody>
      </p:sp>
      <p:sp>
        <p:nvSpPr>
          <p:cNvPr id="24" name="TextBox 23"/>
          <p:cNvSpPr txBox="1"/>
          <p:nvPr/>
        </p:nvSpPr>
        <p:spPr>
          <a:xfrm>
            <a:off x="8496300" y="285750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RecreationBench 评测集</a:t>
            </a:r>
          </a:p>
        </p:txBody>
      </p:sp>
      <p:sp>
        <p:nvSpPr>
          <p:cNvPr id="25" name="TextBox 24"/>
          <p:cNvSpPr txBox="1"/>
          <p:nvPr/>
        </p:nvSpPr>
        <p:spPr>
          <a:xfrm>
            <a:off x="8496300" y="331470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C0392B"/>
                </a:solidFill>
                <a:latin typeface="Arial"/>
                <a:ea typeface="微软雅黑"/>
                <a:cs typeface="微软雅黑"/>
              </a:rPr>
              <a:t>2.8%</a:t>
            </a:r>
          </a:p>
        </p:txBody>
      </p:sp>
      <p:sp>
        <p:nvSpPr>
          <p:cNvPr id="26" name="TextBox 25"/>
          <p:cNvSpPr txBox="1"/>
          <p:nvPr/>
        </p:nvSpPr>
        <p:spPr>
          <a:xfrm>
            <a:off x="8496300" y="360045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最强模型全部通过的题目比例</a:t>
            </a:r>
          </a:p>
        </p:txBody>
      </p:sp>
      <p:sp>
        <p:nvSpPr>
          <p:cNvPr id="27" name="TextBox 26"/>
          <p:cNvSpPr txBox="1"/>
          <p:nvPr/>
        </p:nvSpPr>
        <p:spPr>
          <a:xfrm>
            <a:off x="8496300" y="405765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+17.9 pp</a:t>
            </a:r>
          </a:p>
        </p:txBody>
      </p:sp>
      <p:sp>
        <p:nvSpPr>
          <p:cNvPr id="28" name="TextBox 27"/>
          <p:cNvSpPr txBox="1"/>
          <p:nvPr/>
        </p:nvSpPr>
        <p:spPr>
          <a:xfrm>
            <a:off x="8496300" y="434340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分布外（OOD）基准最大提升</a:t>
            </a:r>
          </a:p>
        </p:txBody>
      </p:sp>
      <p:sp>
        <p:nvSpPr>
          <p:cNvPr id="29" name="TextBox 28"/>
          <p:cNvSpPr txBox="1"/>
          <p:nvPr/>
        </p:nvSpPr>
        <p:spPr>
          <a:xfrm>
            <a:off x="8496300" y="480060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35.7 → 48.2</a:t>
            </a:r>
          </a:p>
        </p:txBody>
      </p:sp>
      <p:sp>
        <p:nvSpPr>
          <p:cNvPr id="30" name="TextBox 29"/>
          <p:cNvSpPr txBox="1"/>
          <p:nvPr/>
        </p:nvSpPr>
        <p:spPr>
          <a:xfrm>
            <a:off x="8496300" y="508635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WeaveBench（研究一）上的提升</a:t>
            </a:r>
          </a:p>
        </p:txBody>
      </p:sp>
      <p:sp>
        <p:nvSpPr>
          <p:cNvPr id="31" name="Rounded Rectangle 30"/>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结论：可验证环境中习得的混合行为模式可迁移至分布外任务 → </a:t>
            </a:r>
            <a:r>
              <a:rPr sz="1350" b="1" i="0">
                <a:solidFill>
                  <a:srgbClr val="F6C8FF"/>
                </a:solidFill>
                <a:latin typeface="Arial"/>
                <a:ea typeface="微软雅黑"/>
                <a:cs typeface="微软雅黑"/>
              </a:rPr>
              <a:t>研究三推广到真实世界</a:t>
            </a:r>
          </a:p>
        </p:txBody>
      </p:sp>
      <p:sp>
        <p:nvSpPr>
          <p:cNvPr id="33" name="TextBox 32"/>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17 / 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课题三（一）：职业化个人智能体（Professional Personal Agent）（待完成）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现有个人智能体的"个人化"主要体现在记忆与对话人设，多在云端通用环境中执行；缺少个人电脑环境、职业业务知识与专业软件技能</a:t>
            </a:r>
          </a:p>
        </p:txBody>
      </p:sp>
      <p:sp>
        <p:nvSpPr>
          <p:cNvPr id="12" name="Rounded Rectangle 11"/>
          <p:cNvSpPr/>
          <p:nvPr/>
        </p:nvSpPr>
        <p:spPr>
          <a:xfrm>
            <a:off x="457200" y="1809750"/>
            <a:ext cx="5905500" cy="3733800"/>
          </a:xfrm>
          <a:prstGeom prst="roundRect">
            <a:avLst>
              <a:gd name="adj" fmla="val 3061"/>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8650" y="1924050"/>
            <a:ext cx="55816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真正的个人智能体应当具备：</a:t>
            </a:r>
          </a:p>
        </p:txBody>
      </p:sp>
      <p:sp>
        <p:nvSpPr>
          <p:cNvPr id="14" name="TextBox 13"/>
          <p:cNvSpPr txBox="1"/>
          <p:nvPr/>
        </p:nvSpPr>
        <p:spPr>
          <a:xfrm>
            <a:off x="628650" y="2247900"/>
            <a:ext cx="53340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01</a:t>
            </a:r>
          </a:p>
        </p:txBody>
      </p:sp>
      <p:sp>
        <p:nvSpPr>
          <p:cNvPr id="15" name="TextBox 14"/>
          <p:cNvSpPr txBox="1"/>
          <p:nvPr/>
        </p:nvSpPr>
        <p:spPr>
          <a:xfrm>
            <a:off x="1104900" y="2266950"/>
            <a:ext cx="50101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在用户自己的电脑环境中工作</a:t>
            </a:r>
          </a:p>
        </p:txBody>
      </p:sp>
      <p:sp>
        <p:nvSpPr>
          <p:cNvPr id="16" name="TextBox 15"/>
          <p:cNvSpPr txBox="1"/>
          <p:nvPr/>
        </p:nvSpPr>
        <p:spPr>
          <a:xfrm>
            <a:off x="1104900" y="2514600"/>
            <a:ext cx="5181600" cy="398561"/>
          </a:xfrm>
          <a:prstGeom prst="rect">
            <a:avLst/>
          </a:prstGeom>
          <a:noFill/>
        </p:spPr>
        <p:txBody>
          <a:bodyPr wrap="square" lIns="0" rIns="0" tIns="0" bIns="0" anchor="t">
            <a:noAutofit/>
          </a:bodyPr>
          <a:lstStyle/>
          <a:p>
            <a:pPr algn="l">
              <a:lnSpc>
                <a:spcPts val="1569"/>
              </a:lnSpc>
              <a:spcBef>
                <a:spcPts val="0"/>
              </a:spcBef>
              <a:spcAft>
                <a:spcPts val="0"/>
              </a:spcAft>
            </a:pPr>
            <a:r>
              <a:rPr sz="1012" b="0" i="0">
                <a:solidFill>
                  <a:srgbClr val="1F1A22"/>
                </a:solidFill>
                <a:latin typeface="Arial"/>
                <a:ea typeface="微软雅黑"/>
                <a:cs typeface="微软雅黑"/>
              </a:rPr>
              <a:t>本地文件、已登录的应用、历史记录与个人偏好都是任务上下文；云端通用沙箱无法复现这些状态</a:t>
            </a:r>
          </a:p>
        </p:txBody>
      </p:sp>
      <p:sp>
        <p:nvSpPr>
          <p:cNvPr id="17" name="TextBox 16"/>
          <p:cNvSpPr txBox="1"/>
          <p:nvPr/>
        </p:nvSpPr>
        <p:spPr>
          <a:xfrm>
            <a:off x="628650" y="3105150"/>
            <a:ext cx="53340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02</a:t>
            </a:r>
          </a:p>
        </p:txBody>
      </p:sp>
      <p:sp>
        <p:nvSpPr>
          <p:cNvPr id="18" name="TextBox 17"/>
          <p:cNvSpPr txBox="1"/>
          <p:nvPr/>
        </p:nvSpPr>
        <p:spPr>
          <a:xfrm>
            <a:off x="1104900" y="3124200"/>
            <a:ext cx="50101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具备职业业务世界知识</a:t>
            </a:r>
          </a:p>
        </p:txBody>
      </p:sp>
      <p:sp>
        <p:nvSpPr>
          <p:cNvPr id="19" name="TextBox 18"/>
          <p:cNvSpPr txBox="1"/>
          <p:nvPr/>
        </p:nvSpPr>
        <p:spPr>
          <a:xfrm>
            <a:off x="1104900" y="3371850"/>
            <a:ext cx="5200650" cy="199280"/>
          </a:xfrm>
          <a:prstGeom prst="rect">
            <a:avLst/>
          </a:prstGeom>
          <a:noFill/>
        </p:spPr>
        <p:txBody>
          <a:bodyPr wrap="none" lIns="0" rIns="0" tIns="0" bIns="0" anchor="ctr">
            <a:noAutofit/>
          </a:bodyPr>
          <a:lstStyle/>
          <a:p>
            <a:pPr algn="l">
              <a:lnSpc>
                <a:spcPct val="100000"/>
              </a:lnSpc>
              <a:spcBef>
                <a:spcPts val="0"/>
              </a:spcBef>
              <a:spcAft>
                <a:spcPts val="0"/>
              </a:spcAft>
            </a:pPr>
            <a:r>
              <a:rPr sz="1012" b="0" i="0">
                <a:solidFill>
                  <a:srgbClr val="1F1A22"/>
                </a:solidFill>
                <a:latin typeface="Arial"/>
                <a:ea typeface="微软雅黑"/>
                <a:cs typeface="微软雅黑"/>
              </a:rPr>
              <a:t>会计的账务规则、律师的条款与判例、电商的定价与库存……决定"做什么才算对"</a:t>
            </a:r>
          </a:p>
        </p:txBody>
      </p:sp>
      <p:sp>
        <p:nvSpPr>
          <p:cNvPr id="20" name="TextBox 19"/>
          <p:cNvSpPr txBox="1"/>
          <p:nvPr/>
        </p:nvSpPr>
        <p:spPr>
          <a:xfrm>
            <a:off x="628650" y="3962400"/>
            <a:ext cx="53340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03</a:t>
            </a:r>
          </a:p>
        </p:txBody>
      </p:sp>
      <p:sp>
        <p:nvSpPr>
          <p:cNvPr id="21" name="TextBox 20"/>
          <p:cNvSpPr txBox="1"/>
          <p:nvPr/>
        </p:nvSpPr>
        <p:spPr>
          <a:xfrm>
            <a:off x="1104900" y="3981450"/>
            <a:ext cx="50101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掌握职业专业软件的使用能力</a:t>
            </a:r>
          </a:p>
        </p:txBody>
      </p:sp>
      <p:sp>
        <p:nvSpPr>
          <p:cNvPr id="22" name="TextBox 21"/>
          <p:cNvSpPr txBox="1"/>
          <p:nvPr/>
        </p:nvSpPr>
        <p:spPr>
          <a:xfrm>
            <a:off x="1104900" y="4229100"/>
            <a:ext cx="5200650" cy="199280"/>
          </a:xfrm>
          <a:prstGeom prst="rect">
            <a:avLst/>
          </a:prstGeom>
          <a:noFill/>
        </p:spPr>
        <p:txBody>
          <a:bodyPr wrap="none" lIns="0" rIns="0" tIns="0" bIns="0" anchor="ctr">
            <a:noAutofit/>
          </a:bodyPr>
          <a:lstStyle/>
          <a:p>
            <a:pPr algn="l">
              <a:lnSpc>
                <a:spcPct val="100000"/>
              </a:lnSpc>
              <a:spcBef>
                <a:spcPts val="0"/>
              </a:spcBef>
              <a:spcAft>
                <a:spcPts val="0"/>
              </a:spcAft>
            </a:pPr>
            <a:r>
              <a:rPr sz="1012" b="0" i="0">
                <a:solidFill>
                  <a:srgbClr val="1F1A22"/>
                </a:solidFill>
                <a:latin typeface="Arial"/>
                <a:ea typeface="微软雅黑"/>
                <a:cs typeface="微软雅黑"/>
              </a:rPr>
              <a:t>ERP、合同审阅、EDA、设计工具等长程操作，需要 CLI 与 GUI 按需交织</a:t>
            </a:r>
          </a:p>
        </p:txBody>
      </p:sp>
      <p:sp>
        <p:nvSpPr>
          <p:cNvPr id="23" name="TextBox 22"/>
          <p:cNvSpPr txBox="1"/>
          <p:nvPr/>
        </p:nvSpPr>
        <p:spPr>
          <a:xfrm>
            <a:off x="628650" y="4914900"/>
            <a:ext cx="5676900" cy="22086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660874"/>
                </a:solidFill>
                <a:latin typeface="Arial"/>
                <a:ea typeface="微软雅黑"/>
                <a:cs typeface="微软雅黑"/>
              </a:rPr>
              <a:t>→ 成为面向不同职业的</a:t>
            </a:r>
            <a:r>
              <a:rPr sz="1087" b="1" i="0">
                <a:solidFill>
                  <a:srgbClr val="1F1A22"/>
                </a:solidFill>
                <a:latin typeface="Arial"/>
                <a:ea typeface="微软雅黑"/>
                <a:cs typeface="微软雅黑"/>
              </a:rPr>
              <a:t>数字员工</a:t>
            </a:r>
            <a:r>
              <a:rPr sz="1087" b="1" i="0">
                <a:solidFill>
                  <a:srgbClr val="660874"/>
                </a:solidFill>
                <a:latin typeface="Arial"/>
                <a:ea typeface="微软雅黑"/>
                <a:cs typeface="微软雅黑"/>
              </a:rPr>
              <a:t>，切实提升各行业从业者的生产力</a:t>
            </a:r>
          </a:p>
        </p:txBody>
      </p:sp>
      <p:sp>
        <p:nvSpPr>
          <p:cNvPr id="24" name="Rounded Rectangle 23"/>
          <p:cNvSpPr/>
          <p:nvPr/>
        </p:nvSpPr>
        <p:spPr>
          <a:xfrm>
            <a:off x="6515100" y="1809750"/>
            <a:ext cx="5219700" cy="3733800"/>
          </a:xfrm>
          <a:prstGeom prst="roundRect">
            <a:avLst>
              <a:gd name="adj" fmla="val 204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pa_overview2.png"/>
          <p:cNvPicPr>
            <a:picLocks noChangeAspect="1"/>
          </p:cNvPicPr>
          <p:nvPr/>
        </p:nvPicPr>
        <p:blipFill>
          <a:blip r:embed="rId2"/>
          <a:stretch>
            <a:fillRect/>
          </a:stretch>
        </p:blipFill>
        <p:spPr>
          <a:xfrm>
            <a:off x="6572250" y="2185193"/>
            <a:ext cx="5105400" cy="2659062"/>
          </a:xfrm>
          <a:prstGeom prst="rect">
            <a:avLst/>
          </a:prstGeom>
        </p:spPr>
      </p:pic>
      <p:sp>
        <p:nvSpPr>
          <p:cNvPr id="26" name="TextBox 25"/>
          <p:cNvSpPr txBox="1"/>
          <p:nvPr/>
        </p:nvSpPr>
        <p:spPr>
          <a:xfrm>
            <a:off x="6543675" y="5200650"/>
            <a:ext cx="51625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职业化个人智能体：个人电脑环境 × 职业知识 × 软件技能（示意图）</a:t>
            </a:r>
          </a:p>
        </p:txBody>
      </p:sp>
      <p:sp>
        <p:nvSpPr>
          <p:cNvPr id="27" name="Rounded Rectangle 2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研究三沿用研究一的评测思想与研究二的训练流程，把</a:t>
            </a:r>
            <a:r>
              <a:rPr sz="1350" b="1" i="0">
                <a:solidFill>
                  <a:srgbClr val="F6C8FF"/>
                </a:solidFill>
                <a:latin typeface="Arial"/>
                <a:ea typeface="微软雅黑"/>
                <a:cs typeface="微软雅黑"/>
              </a:rPr>
              <a:t>可扩展的评测与训练框架</a:t>
            </a:r>
            <a:r>
              <a:rPr sz="1350" b="0" i="0">
                <a:solidFill>
                  <a:srgbClr val="FFFFFF"/>
                </a:solidFill>
                <a:latin typeface="Arial"/>
                <a:ea typeface="微软雅黑"/>
                <a:cs typeface="微软雅黑"/>
              </a:rPr>
              <a:t>推广到职业化个人环境</a:t>
            </a:r>
          </a:p>
        </p:txBody>
      </p:sp>
      <p:sp>
        <p:nvSpPr>
          <p:cNvPr id="29" name="TextBox 2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18 / 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课题三（一·续）：多职业可验证环境扩展（Env Scaling）</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Rounded Rectangle 10"/>
          <p:cNvSpPr/>
          <p:nvPr/>
        </p:nvSpPr>
        <p:spPr>
          <a:xfrm>
            <a:off x="457200" y="1428750"/>
            <a:ext cx="6096000" cy="4114800"/>
          </a:xfrm>
          <a:prstGeom prst="roundRect">
            <a:avLst>
              <a:gd name="adj" fmla="val 185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a_matrix.png"/>
          <p:cNvPicPr>
            <a:picLocks noChangeAspect="1"/>
          </p:cNvPicPr>
          <p:nvPr/>
        </p:nvPicPr>
        <p:blipFill>
          <a:blip r:embed="rId2"/>
          <a:stretch>
            <a:fillRect/>
          </a:stretch>
        </p:blipFill>
        <p:spPr>
          <a:xfrm>
            <a:off x="747712" y="1485900"/>
            <a:ext cx="5514975" cy="3676650"/>
          </a:xfrm>
          <a:prstGeom prst="rect">
            <a:avLst/>
          </a:prstGeom>
        </p:spPr>
      </p:pic>
      <p:sp>
        <p:nvSpPr>
          <p:cNvPr id="13" name="TextBox 12"/>
          <p:cNvSpPr txBox="1"/>
          <p:nvPr/>
        </p:nvSpPr>
        <p:spPr>
          <a:xfrm>
            <a:off x="485775" y="5200650"/>
            <a:ext cx="6038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多职业个人电脑环境：会计 · 律师 · 设计师 · 电商运营 · 医生 · 芯片工程师（示意图）</a:t>
            </a:r>
          </a:p>
        </p:txBody>
      </p:sp>
      <p:sp>
        <p:nvSpPr>
          <p:cNvPr id="14" name="Rounded Rectangle 13"/>
          <p:cNvSpPr/>
          <p:nvPr/>
        </p:nvSpPr>
        <p:spPr>
          <a:xfrm>
            <a:off x="6705600" y="1428750"/>
            <a:ext cx="50292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858000" y="1524000"/>
            <a:ext cx="47815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① App Mock：职业业务系统仿真</a:t>
            </a:r>
          </a:p>
        </p:txBody>
      </p:sp>
      <p:sp>
        <p:nvSpPr>
          <p:cNvPr id="16" name="TextBox 15"/>
          <p:cNvSpPr txBox="1"/>
          <p:nvPr/>
        </p:nvSpPr>
        <p:spPr>
          <a:xfrm>
            <a:off x="6858000" y="1790700"/>
            <a:ext cx="4762500" cy="383678"/>
          </a:xfrm>
          <a:prstGeom prst="rect">
            <a:avLst/>
          </a:prstGeom>
          <a:noFill/>
        </p:spPr>
        <p:txBody>
          <a:bodyPr wrap="square" lIns="0" rIns="0" tIns="0" bIns="0" anchor="t">
            <a:noAutofit/>
          </a:bodyPr>
          <a:lstStyle/>
          <a:p>
            <a:pPr algn="l">
              <a:lnSpc>
                <a:spcPts val="1511"/>
              </a:lnSpc>
              <a:spcBef>
                <a:spcPts val="0"/>
              </a:spcBef>
              <a:spcAft>
                <a:spcPts val="0"/>
              </a:spcAft>
            </a:pPr>
            <a:r>
              <a:rPr sz="975" b="0" i="0">
                <a:solidFill>
                  <a:srgbClr val="1F1A22"/>
                </a:solidFill>
                <a:latin typeface="Arial"/>
                <a:ea typeface="微软雅黑"/>
                <a:cs typeface="微软雅黑"/>
              </a:rPr>
              <a:t>以研究二的复刻能力，将 ERP、合同审阅、电商后台、病历系统等业务软件构建为可交互、可重置的仿真应用，并组装为个人电脑环境</a:t>
            </a:r>
          </a:p>
        </p:txBody>
      </p:sp>
      <p:sp>
        <p:nvSpPr>
          <p:cNvPr id="17" name="Rounded Rectangle 16"/>
          <p:cNvSpPr/>
          <p:nvPr/>
        </p:nvSpPr>
        <p:spPr>
          <a:xfrm>
            <a:off x="6705600" y="2495550"/>
            <a:ext cx="50292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0" y="2590800"/>
            <a:ext cx="47815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② 真实数据驱动的环境模拟</a:t>
            </a:r>
          </a:p>
        </p:txBody>
      </p:sp>
      <p:sp>
        <p:nvSpPr>
          <p:cNvPr id="19" name="TextBox 18"/>
          <p:cNvSpPr txBox="1"/>
          <p:nvPr/>
        </p:nvSpPr>
        <p:spPr>
          <a:xfrm>
            <a:off x="6858000" y="2857500"/>
            <a:ext cx="4762500" cy="383678"/>
          </a:xfrm>
          <a:prstGeom prst="rect">
            <a:avLst/>
          </a:prstGeom>
          <a:noFill/>
        </p:spPr>
        <p:txBody>
          <a:bodyPr wrap="square" lIns="0" rIns="0" tIns="0" bIns="0" anchor="t">
            <a:noAutofit/>
          </a:bodyPr>
          <a:lstStyle/>
          <a:p>
            <a:pPr algn="l">
              <a:lnSpc>
                <a:spcPts val="1511"/>
              </a:lnSpc>
              <a:spcBef>
                <a:spcPts val="0"/>
              </a:spcBef>
              <a:spcAft>
                <a:spcPts val="0"/>
              </a:spcAft>
            </a:pPr>
            <a:r>
              <a:rPr sz="975" b="0" i="0">
                <a:solidFill>
                  <a:srgbClr val="1F1A22"/>
                </a:solidFill>
                <a:latin typeface="Arial"/>
                <a:ea typeface="微软雅黑"/>
                <a:cs typeface="微软雅黑"/>
              </a:rPr>
              <a:t>以脱敏真实业务数据驱动状态与事件演化；事件依附业务动作，支持需求变更与跨应用协作的长程任务</a:t>
            </a:r>
          </a:p>
        </p:txBody>
      </p:sp>
      <p:sp>
        <p:nvSpPr>
          <p:cNvPr id="20" name="Rounded Rectangle 19"/>
          <p:cNvSpPr/>
          <p:nvPr/>
        </p:nvSpPr>
        <p:spPr>
          <a:xfrm>
            <a:off x="6705600" y="3562350"/>
            <a:ext cx="50292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0" y="3657600"/>
            <a:ext cx="47815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③ SFT &amp; RL 任务构造流水线</a:t>
            </a:r>
          </a:p>
        </p:txBody>
      </p:sp>
      <p:sp>
        <p:nvSpPr>
          <p:cNvPr id="22" name="TextBox 21"/>
          <p:cNvSpPr txBox="1"/>
          <p:nvPr/>
        </p:nvSpPr>
        <p:spPr>
          <a:xfrm>
            <a:off x="6858000" y="3924300"/>
            <a:ext cx="4762500" cy="383678"/>
          </a:xfrm>
          <a:prstGeom prst="rect">
            <a:avLst/>
          </a:prstGeom>
          <a:noFill/>
        </p:spPr>
        <p:txBody>
          <a:bodyPr wrap="square" lIns="0" rIns="0" tIns="0" bIns="0" anchor="t">
            <a:noAutofit/>
          </a:bodyPr>
          <a:lstStyle/>
          <a:p>
            <a:pPr algn="l">
              <a:lnSpc>
                <a:spcPts val="1511"/>
              </a:lnSpc>
              <a:spcBef>
                <a:spcPts val="0"/>
              </a:spcBef>
              <a:spcAft>
                <a:spcPts val="0"/>
              </a:spcAft>
            </a:pPr>
            <a:r>
              <a:rPr sz="975" b="0" i="0">
                <a:solidFill>
                  <a:srgbClr val="1F1A22"/>
                </a:solidFill>
                <a:latin typeface="Arial"/>
                <a:ea typeface="微软雅黑"/>
                <a:cs typeface="微软雅黑"/>
              </a:rPr>
              <a:t>任务生成 → 轨迹采样 → 状态优先的 verifier（以数据库状态校验结果，抑制奖励利用）→ SFT 数据 / RL 奖励</a:t>
            </a:r>
          </a:p>
        </p:txBody>
      </p:sp>
      <p:sp>
        <p:nvSpPr>
          <p:cNvPr id="23" name="Rounded Rectangle 22"/>
          <p:cNvSpPr/>
          <p:nvPr/>
        </p:nvSpPr>
        <p:spPr>
          <a:xfrm>
            <a:off x="6705600" y="4629150"/>
            <a:ext cx="5029200" cy="914400"/>
          </a:xfrm>
          <a:prstGeom prst="roundRect">
            <a:avLst>
              <a:gd name="adj" fmla="val 12500"/>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0" y="4705350"/>
            <a:ext cx="4800600" cy="411360"/>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B7791F"/>
                </a:solidFill>
                <a:latin typeface="Arial"/>
                <a:ea typeface="微软雅黑"/>
                <a:cs typeface="微软雅黑"/>
              </a:rPr>
              <a:t>闭环复用</a:t>
            </a:r>
            <a:r>
              <a:rPr sz="1012" b="0" i="0">
                <a:solidFill>
                  <a:srgbClr val="1F1A22"/>
                </a:solidFill>
                <a:latin typeface="Arial"/>
                <a:ea typeface="微软雅黑"/>
                <a:cs typeface="微软雅黑"/>
              </a:rPr>
              <a:t>：研究一的轨迹感知评测用于度量；研究二的拒绝采样训练流程用于学习；研究一的压缩方法降低 RL rollout 开销</a:t>
            </a:r>
          </a:p>
        </p:txBody>
      </p:sp>
      <p:sp>
        <p:nvSpPr>
          <p:cNvPr id="25" name="TextBox 2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19 / 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课题三（二）：物理世界智能体（Physical Agent，初步构想）——"看起来对"不代表"物理机制对"</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9" name="Rounded Rectangle 8"/>
          <p:cNvSpPr/>
          <p:nvPr/>
        </p:nvSpPr>
        <p:spPr>
          <a:xfrm>
            <a:off x="457200" y="1428750"/>
            <a:ext cx="6667500" cy="4476750"/>
          </a:xfrm>
          <a:prstGeom prst="roundRect">
            <a:avLst>
              <a:gd name="adj" fmla="val 170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phys_cf.png"/>
          <p:cNvPicPr>
            <a:picLocks noChangeAspect="1"/>
          </p:cNvPicPr>
          <p:nvPr/>
        </p:nvPicPr>
        <p:blipFill>
          <a:blip r:embed="rId2"/>
          <a:stretch>
            <a:fillRect/>
          </a:stretch>
        </p:blipFill>
        <p:spPr>
          <a:xfrm>
            <a:off x="762000" y="1485900"/>
            <a:ext cx="6057900" cy="4038600"/>
          </a:xfrm>
          <a:prstGeom prst="rect">
            <a:avLst/>
          </a:prstGeom>
        </p:spPr>
      </p:pic>
      <p:sp>
        <p:nvSpPr>
          <p:cNvPr id="11" name="TextBox 10"/>
          <p:cNvSpPr txBox="1"/>
          <p:nvPr/>
        </p:nvSpPr>
        <p:spPr>
          <a:xfrm>
            <a:off x="514350" y="5562600"/>
            <a:ext cx="659130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反事实干预（Counterfactual Intervention）：拉大第 10、11 块骨牌间距后，关键帧动画仍"全部倒下"，物理仿真在间隙处正确中断</a:t>
            </a:r>
          </a:p>
        </p:txBody>
      </p:sp>
      <p:sp>
        <p:nvSpPr>
          <p:cNvPr id="12" name="Rounded Rectangle 11"/>
          <p:cNvSpPr/>
          <p:nvPr/>
        </p:nvSpPr>
        <p:spPr>
          <a:xfrm>
            <a:off x="7277100" y="1428750"/>
            <a:ext cx="4457700" cy="1143000"/>
          </a:xfrm>
          <a:prstGeom prst="roundRect">
            <a:avLst>
              <a:gd name="adj" fmla="val 10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429500" y="1504950"/>
            <a:ext cx="4229100" cy="617041"/>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660874"/>
                </a:solidFill>
                <a:latin typeface="Arial"/>
                <a:ea typeface="微软雅黑"/>
                <a:cs typeface="微软雅黑"/>
              </a:rPr>
              <a:t>核心问题</a:t>
            </a:r>
            <a:r>
              <a:rPr sz="1012" b="0" i="0">
                <a:solidFill>
                  <a:srgbClr val="1F1A22"/>
                </a:solidFill>
                <a:latin typeface="Arial"/>
                <a:ea typeface="微软雅黑"/>
                <a:cs typeface="微软雅黑"/>
              </a:rPr>
              <a:t>：Coding Agent 已能自动生成"会动的 3D 世界"，但它构建的是</a:t>
            </a:r>
            <a:r>
              <a:rPr sz="1012" b="1" i="0">
                <a:solidFill>
                  <a:srgbClr val="1F1A22"/>
                </a:solidFill>
                <a:latin typeface="Arial"/>
                <a:ea typeface="微软雅黑"/>
                <a:cs typeface="微软雅黑"/>
              </a:rPr>
              <a:t>遵守物理机制、可跨条件泛化</a:t>
            </a:r>
            <a:r>
              <a:rPr sz="1012" b="0" i="0">
                <a:solidFill>
                  <a:srgbClr val="1F1A22"/>
                </a:solidFill>
                <a:latin typeface="Arial"/>
                <a:ea typeface="微软雅黑"/>
                <a:cs typeface="微软雅黑"/>
              </a:rPr>
              <a:t>的世界，还是只在当前条件下看起来正确的运动程序？出错时能否依据执行反馈</a:t>
            </a:r>
            <a:r>
              <a:rPr sz="1012" b="1" i="0">
                <a:solidFill>
                  <a:srgbClr val="1F1A22"/>
                </a:solidFill>
                <a:latin typeface="Arial"/>
                <a:ea typeface="微软雅黑"/>
                <a:cs typeface="微软雅黑"/>
              </a:rPr>
              <a:t>定位并修复</a:t>
            </a:r>
            <a:r>
              <a:rPr sz="1012" b="0" i="0">
                <a:solidFill>
                  <a:srgbClr val="1F1A22"/>
                </a:solidFill>
                <a:latin typeface="Arial"/>
                <a:ea typeface="微软雅黑"/>
                <a:cs typeface="微软雅黑"/>
              </a:rPr>
              <a:t>？</a:t>
            </a:r>
          </a:p>
        </p:txBody>
      </p:sp>
      <p:sp>
        <p:nvSpPr>
          <p:cNvPr id="14" name="TextBox 13"/>
          <p:cNvSpPr txBox="1"/>
          <p:nvPr/>
        </p:nvSpPr>
        <p:spPr>
          <a:xfrm>
            <a:off x="7353300" y="2686050"/>
            <a:ext cx="1181100" cy="171450"/>
          </a:xfrm>
          <a:prstGeom prst="rect">
            <a:avLst/>
          </a:prstGeom>
          <a:noFill/>
        </p:spPr>
        <p:txBody>
          <a:bodyPr wrap="none" lIns="0" rIns="0" tIns="0" bIns="0" anchor="ctr">
            <a:noAutofit/>
          </a:bodyPr>
          <a:lstStyle/>
          <a:p>
            <a:pPr algn="l">
              <a:lnSpc>
                <a:spcPct val="100000"/>
              </a:lnSpc>
              <a:spcBef>
                <a:spcPts val="0"/>
              </a:spcBef>
              <a:spcAft>
                <a:spcPts val="0"/>
              </a:spcAft>
            </a:pPr>
            <a:r>
              <a:rPr sz="900" b="1" i="0">
                <a:solidFill>
                  <a:srgbClr val="8A8490"/>
                </a:solidFill>
                <a:latin typeface="Arial"/>
                <a:ea typeface="微软雅黑"/>
                <a:cs typeface="微软雅黑"/>
              </a:rPr>
              <a:t>相关工作</a:t>
            </a:r>
          </a:p>
        </p:txBody>
      </p:sp>
      <p:sp>
        <p:nvSpPr>
          <p:cNvPr id="15" name="TextBox 14"/>
          <p:cNvSpPr txBox="1"/>
          <p:nvPr/>
        </p:nvSpPr>
        <p:spPr>
          <a:xfrm>
            <a:off x="8477250" y="2686050"/>
            <a:ext cx="1581150" cy="171450"/>
          </a:xfrm>
          <a:prstGeom prst="rect">
            <a:avLst/>
          </a:prstGeom>
          <a:noFill/>
        </p:spPr>
        <p:txBody>
          <a:bodyPr wrap="none" lIns="0" rIns="0" tIns="0" bIns="0" anchor="ctr">
            <a:noAutofit/>
          </a:bodyPr>
          <a:lstStyle/>
          <a:p>
            <a:pPr algn="l">
              <a:lnSpc>
                <a:spcPct val="100000"/>
              </a:lnSpc>
              <a:spcBef>
                <a:spcPts val="0"/>
              </a:spcBef>
              <a:spcAft>
                <a:spcPts val="0"/>
              </a:spcAft>
            </a:pPr>
            <a:r>
              <a:rPr sz="900" b="1" i="0">
                <a:solidFill>
                  <a:srgbClr val="8A8490"/>
                </a:solidFill>
                <a:latin typeface="Arial"/>
                <a:ea typeface="微软雅黑"/>
                <a:cs typeface="微软雅黑"/>
              </a:rPr>
              <a:t>已考察</a:t>
            </a:r>
          </a:p>
        </p:txBody>
      </p:sp>
      <p:sp>
        <p:nvSpPr>
          <p:cNvPr id="16" name="TextBox 15"/>
          <p:cNvSpPr txBox="1"/>
          <p:nvPr/>
        </p:nvSpPr>
        <p:spPr>
          <a:xfrm>
            <a:off x="10058400" y="2686050"/>
            <a:ext cx="1695450" cy="171450"/>
          </a:xfrm>
          <a:prstGeom prst="rect">
            <a:avLst/>
          </a:prstGeom>
          <a:noFill/>
        </p:spPr>
        <p:txBody>
          <a:bodyPr wrap="none" lIns="0" rIns="0" tIns="0" bIns="0" anchor="ctr">
            <a:noAutofit/>
          </a:bodyPr>
          <a:lstStyle/>
          <a:p>
            <a:pPr algn="l">
              <a:lnSpc>
                <a:spcPct val="100000"/>
              </a:lnSpc>
              <a:spcBef>
                <a:spcPts val="0"/>
              </a:spcBef>
              <a:spcAft>
                <a:spcPts val="0"/>
              </a:spcAft>
            </a:pPr>
            <a:r>
              <a:rPr sz="900" b="1" i="0">
                <a:solidFill>
                  <a:srgbClr val="C0392B"/>
                </a:solidFill>
                <a:latin typeface="Arial"/>
                <a:ea typeface="微软雅黑"/>
                <a:cs typeface="微软雅黑"/>
              </a:rPr>
              <a:t>尚未充分考察</a:t>
            </a:r>
          </a:p>
        </p:txBody>
      </p:sp>
      <p:sp>
        <p:nvSpPr>
          <p:cNvPr id="17" name="Rectangle 16"/>
          <p:cNvSpPr/>
          <p:nvPr/>
        </p:nvSpPr>
        <p:spPr>
          <a:xfrm>
            <a:off x="7277100" y="2895600"/>
            <a:ext cx="4457700" cy="381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53300" y="289560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LEGO-Anything</a:t>
            </a:r>
          </a:p>
        </p:txBody>
      </p:sp>
      <p:sp>
        <p:nvSpPr>
          <p:cNvPr id="19" name="TextBox 18"/>
          <p:cNvSpPr txBox="1"/>
          <p:nvPr/>
        </p:nvSpPr>
        <p:spPr>
          <a:xfrm>
            <a:off x="8477250" y="292417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重建静态 3D 场景</a:t>
            </a:r>
          </a:p>
        </p:txBody>
      </p:sp>
      <p:sp>
        <p:nvSpPr>
          <p:cNvPr id="20" name="TextBox 19"/>
          <p:cNvSpPr txBox="1"/>
          <p:nvPr/>
        </p:nvSpPr>
        <p:spPr>
          <a:xfrm>
            <a:off x="10058400" y="292417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能否按物理规律运动</a:t>
            </a:r>
          </a:p>
        </p:txBody>
      </p:sp>
      <p:sp>
        <p:nvSpPr>
          <p:cNvPr id="21" name="Rectangle 20"/>
          <p:cNvSpPr/>
          <p:nvPr/>
        </p:nvSpPr>
        <p:spPr>
          <a:xfrm>
            <a:off x="7277100" y="3295650"/>
            <a:ext cx="4457700" cy="381000"/>
          </a:xfrm>
          <a:prstGeom prst="rect">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353300" y="329565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Code4Scene</a:t>
            </a:r>
          </a:p>
        </p:txBody>
      </p:sp>
      <p:sp>
        <p:nvSpPr>
          <p:cNvPr id="23" name="TextBox 22"/>
          <p:cNvSpPr txBox="1"/>
          <p:nvPr/>
        </p:nvSpPr>
        <p:spPr>
          <a:xfrm>
            <a:off x="8477250" y="332422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精确构建 / 编辑 3D 环境</a:t>
            </a:r>
          </a:p>
        </p:txBody>
      </p:sp>
      <p:sp>
        <p:nvSpPr>
          <p:cNvPr id="24" name="TextBox 23"/>
          <p:cNvSpPr txBox="1"/>
          <p:nvPr/>
        </p:nvSpPr>
        <p:spPr>
          <a:xfrm>
            <a:off x="10058400" y="332422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动态行为是否正确</a:t>
            </a:r>
          </a:p>
        </p:txBody>
      </p:sp>
      <p:sp>
        <p:nvSpPr>
          <p:cNvPr id="25" name="Rectangle 24"/>
          <p:cNvSpPr/>
          <p:nvPr/>
        </p:nvSpPr>
        <p:spPr>
          <a:xfrm>
            <a:off x="7277100" y="3695700"/>
            <a:ext cx="4457700" cy="381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53300" y="369570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4DCodeBench</a:t>
            </a:r>
          </a:p>
        </p:txBody>
      </p:sp>
      <p:sp>
        <p:nvSpPr>
          <p:cNvPr id="27" name="TextBox 26"/>
          <p:cNvSpPr txBox="1"/>
          <p:nvPr/>
        </p:nvSpPr>
        <p:spPr>
          <a:xfrm>
            <a:off x="8477250" y="372427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复现参考视频的运动</a:t>
            </a:r>
          </a:p>
        </p:txBody>
      </p:sp>
      <p:sp>
        <p:nvSpPr>
          <p:cNvPr id="28" name="TextBox 27"/>
          <p:cNvSpPr txBox="1"/>
          <p:nvPr/>
        </p:nvSpPr>
        <p:spPr>
          <a:xfrm>
            <a:off x="10058400" y="372427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换初始条件是否仍正确</a:t>
            </a:r>
          </a:p>
        </p:txBody>
      </p:sp>
      <p:sp>
        <p:nvSpPr>
          <p:cNvPr id="29" name="Rectangle 28"/>
          <p:cNvSpPr/>
          <p:nvPr/>
        </p:nvSpPr>
        <p:spPr>
          <a:xfrm>
            <a:off x="7277100" y="4095750"/>
            <a:ext cx="4457700" cy="381000"/>
          </a:xfrm>
          <a:prstGeom prst="rect">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353300" y="409575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SimWorlds</a:t>
            </a:r>
          </a:p>
        </p:txBody>
      </p:sp>
      <p:sp>
        <p:nvSpPr>
          <p:cNvPr id="31" name="TextBox 30"/>
          <p:cNvSpPr txBox="1"/>
          <p:nvPr/>
        </p:nvSpPr>
        <p:spPr>
          <a:xfrm>
            <a:off x="8477250" y="412432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建立并验证物理机制</a:t>
            </a:r>
          </a:p>
        </p:txBody>
      </p:sp>
      <p:sp>
        <p:nvSpPr>
          <p:cNvPr id="32" name="TextBox 31"/>
          <p:cNvSpPr txBox="1"/>
          <p:nvPr/>
        </p:nvSpPr>
        <p:spPr>
          <a:xfrm>
            <a:off x="10058400" y="412432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参数与跨条件行为</a:t>
            </a:r>
          </a:p>
        </p:txBody>
      </p:sp>
      <p:sp>
        <p:nvSpPr>
          <p:cNvPr id="33" name="Rectangle 32"/>
          <p:cNvSpPr/>
          <p:nvPr/>
        </p:nvSpPr>
        <p:spPr>
          <a:xfrm>
            <a:off x="7277100" y="4495800"/>
            <a:ext cx="4457700" cy="381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353300" y="449580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Text2Sim</a:t>
            </a:r>
          </a:p>
        </p:txBody>
      </p:sp>
      <p:sp>
        <p:nvSpPr>
          <p:cNvPr id="35" name="TextBox 34"/>
          <p:cNvSpPr txBox="1"/>
          <p:nvPr/>
        </p:nvSpPr>
        <p:spPr>
          <a:xfrm>
            <a:off x="8477250" y="452437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生成、运行并修复仿真</a:t>
            </a:r>
          </a:p>
        </p:txBody>
      </p:sp>
      <p:sp>
        <p:nvSpPr>
          <p:cNvPr id="36" name="TextBox 35"/>
          <p:cNvSpPr txBox="1"/>
          <p:nvPr/>
        </p:nvSpPr>
        <p:spPr>
          <a:xfrm>
            <a:off x="10058400" y="452437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未见干预下是否可靠</a:t>
            </a:r>
          </a:p>
        </p:txBody>
      </p:sp>
      <p:sp>
        <p:nvSpPr>
          <p:cNvPr id="37" name="Rectangle 36"/>
          <p:cNvSpPr/>
          <p:nvPr/>
        </p:nvSpPr>
        <p:spPr>
          <a:xfrm>
            <a:off x="7277100" y="4895850"/>
            <a:ext cx="4457700" cy="381000"/>
          </a:xfrm>
          <a:prstGeom prst="rect">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353300" y="489585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WorldSolver</a:t>
            </a:r>
          </a:p>
        </p:txBody>
      </p:sp>
      <p:sp>
        <p:nvSpPr>
          <p:cNvPr id="39" name="TextBox 38"/>
          <p:cNvSpPr txBox="1"/>
          <p:nvPr/>
        </p:nvSpPr>
        <p:spPr>
          <a:xfrm>
            <a:off x="8477250" y="492442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实现物理求解器</a:t>
            </a:r>
          </a:p>
        </p:txBody>
      </p:sp>
      <p:sp>
        <p:nvSpPr>
          <p:cNvPr id="40" name="TextBox 39"/>
          <p:cNvSpPr txBox="1"/>
          <p:nvPr/>
        </p:nvSpPr>
        <p:spPr>
          <a:xfrm>
            <a:off x="10058400" y="492442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复杂场景中自主诊断</a:t>
            </a:r>
          </a:p>
        </p:txBody>
      </p:sp>
      <p:sp>
        <p:nvSpPr>
          <p:cNvPr id="41" name="TextBox 40"/>
          <p:cNvSpPr txBox="1"/>
          <p:nvPr/>
        </p:nvSpPr>
        <p:spPr>
          <a:xfrm>
            <a:off x="7277100" y="5353050"/>
            <a:ext cx="4495800" cy="398561"/>
          </a:xfrm>
          <a:prstGeom prst="rect">
            <a:avLst/>
          </a:prstGeom>
          <a:noFill/>
        </p:spPr>
        <p:txBody>
          <a:bodyPr wrap="square" lIns="0" rIns="0" tIns="0" bIns="0" anchor="t">
            <a:noAutofit/>
          </a:bodyPr>
          <a:lstStyle/>
          <a:p>
            <a:pPr algn="l">
              <a:lnSpc>
                <a:spcPts val="1569"/>
              </a:lnSpc>
              <a:spcBef>
                <a:spcPts val="0"/>
              </a:spcBef>
              <a:spcAft>
                <a:spcPts val="0"/>
              </a:spcAft>
            </a:pPr>
            <a:r>
              <a:rPr sz="1012" b="0" i="0">
                <a:solidFill>
                  <a:srgbClr val="C0392B"/>
                </a:solidFill>
                <a:latin typeface="Arial"/>
                <a:ea typeface="微软雅黑"/>
                <a:cs typeface="微软雅黑"/>
              </a:rPr>
              <a:t>研究空白：尚未统一考察</a:t>
            </a:r>
            <a:r>
              <a:rPr sz="1012" b="1" i="0">
                <a:solidFill>
                  <a:srgbClr val="1F1A22"/>
                </a:solidFill>
                <a:latin typeface="Arial"/>
                <a:ea typeface="微软雅黑"/>
                <a:cs typeface="微软雅黑"/>
              </a:rPr>
              <a:t>跨条件物理泛化、错误因果定位、修复后不破坏既有行为</a:t>
            </a:r>
            <a:r>
              <a:rPr sz="1012" b="0" i="0">
                <a:solidFill>
                  <a:srgbClr val="C0392B"/>
                </a:solidFill>
                <a:latin typeface="Arial"/>
                <a:ea typeface="微软雅黑"/>
                <a:cs typeface="微软雅黑"/>
              </a:rPr>
              <a:t>三件事</a:t>
            </a:r>
          </a:p>
        </p:txBody>
      </p:sp>
      <p:sp>
        <p:nvSpPr>
          <p:cNvPr id="42" name="TextBox 41"/>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20 / 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课题三（二·续）：物理落地的验证与因果修复（Physics-Grounded Verification + Causal Repair）</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9" name="Rounded Rectangle 8"/>
          <p:cNvSpPr/>
          <p:nvPr/>
        </p:nvSpPr>
        <p:spPr>
          <a:xfrm>
            <a:off x="457200" y="1428750"/>
            <a:ext cx="5715000" cy="4095750"/>
          </a:xfrm>
          <a:prstGeom prst="roundRect">
            <a:avLst>
              <a:gd name="adj" fmla="val 186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phys_loop.png"/>
          <p:cNvPicPr>
            <a:picLocks noChangeAspect="1"/>
          </p:cNvPicPr>
          <p:nvPr/>
        </p:nvPicPr>
        <p:blipFill>
          <a:blip r:embed="rId2"/>
          <a:stretch>
            <a:fillRect/>
          </a:stretch>
        </p:blipFill>
        <p:spPr>
          <a:xfrm>
            <a:off x="571500" y="1485900"/>
            <a:ext cx="5486400" cy="3657600"/>
          </a:xfrm>
          <a:prstGeom prst="rect">
            <a:avLst/>
          </a:prstGeom>
        </p:spPr>
      </p:pic>
      <p:sp>
        <p:nvSpPr>
          <p:cNvPr id="11" name="TextBox 10"/>
          <p:cNvSpPr txBox="1"/>
          <p:nvPr/>
        </p:nvSpPr>
        <p:spPr>
          <a:xfrm>
            <a:off x="485775" y="5181600"/>
            <a:ext cx="5657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方法框架：构建物理世界 → 执行仿真 → 干预验证 → 落地诊断 → 定向修复与回归测试</a:t>
            </a:r>
          </a:p>
        </p:txBody>
      </p:sp>
      <p:sp>
        <p:nvSpPr>
          <p:cNvPr id="12" name="Rounded Rectangle 11"/>
          <p:cNvSpPr/>
          <p:nvPr/>
        </p:nvSpPr>
        <p:spPr>
          <a:xfrm>
            <a:off x="6362700" y="1447800"/>
            <a:ext cx="12668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96050" y="1447800"/>
            <a:ext cx="10572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RQ1 · 物理泛化</a:t>
            </a:r>
          </a:p>
        </p:txBody>
      </p:sp>
      <p:sp>
        <p:nvSpPr>
          <p:cNvPr id="14" name="TextBox 13"/>
          <p:cNvSpPr txBox="1"/>
          <p:nvPr/>
        </p:nvSpPr>
        <p:spPr>
          <a:xfrm>
            <a:off x="7810500" y="1447800"/>
            <a:ext cx="3981450" cy="192881"/>
          </a:xfrm>
          <a:prstGeom prst="rect">
            <a:avLst/>
          </a:prstGeom>
          <a:noFill/>
        </p:spPr>
        <p:txBody>
          <a:bodyPr wrap="none" lIns="0" rIns="0" tIns="0" bIns="0" anchor="ctr">
            <a:noAutofit/>
          </a:bodyPr>
          <a:lstStyle/>
          <a:p>
            <a:pPr algn="l">
              <a:lnSpc>
                <a:spcPct val="100000"/>
              </a:lnSpc>
              <a:spcBef>
                <a:spcPts val="0"/>
              </a:spcBef>
              <a:spcAft>
                <a:spcPts val="0"/>
              </a:spcAft>
            </a:pPr>
            <a:r>
              <a:rPr sz="1012" b="0" i="0">
                <a:solidFill>
                  <a:srgbClr val="1F1A22"/>
                </a:solidFill>
                <a:latin typeface="Arial"/>
                <a:ea typeface="微软雅黑"/>
                <a:cs typeface="微软雅黑"/>
              </a:rPr>
              <a:t>未见过的质量、摩擦、碰撞参数、初速度、外力下仿真是否仍正确</a:t>
            </a:r>
          </a:p>
        </p:txBody>
      </p:sp>
      <p:sp>
        <p:nvSpPr>
          <p:cNvPr id="15" name="Rounded Rectangle 14"/>
          <p:cNvSpPr/>
          <p:nvPr/>
        </p:nvSpPr>
        <p:spPr>
          <a:xfrm>
            <a:off x="6362700" y="1924050"/>
            <a:ext cx="12668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96050" y="1924050"/>
            <a:ext cx="10572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RQ2 · 错误诊断</a:t>
            </a:r>
          </a:p>
        </p:txBody>
      </p:sp>
      <p:sp>
        <p:nvSpPr>
          <p:cNvPr id="17" name="TextBox 16"/>
          <p:cNvSpPr txBox="1"/>
          <p:nvPr/>
        </p:nvSpPr>
        <p:spPr>
          <a:xfrm>
            <a:off x="7810500" y="1924050"/>
            <a:ext cx="3962400" cy="385762"/>
          </a:xfrm>
          <a:prstGeom prst="rect">
            <a:avLst/>
          </a:prstGeom>
          <a:noFill/>
        </p:spPr>
        <p:txBody>
          <a:bodyPr wrap="square" lIns="0" rIns="0" tIns="0" bIns="0" anchor="t">
            <a:noAutofit/>
          </a:bodyPr>
          <a:lstStyle/>
          <a:p>
            <a:pPr algn="l">
              <a:lnSpc>
                <a:spcPts val="1518"/>
              </a:lnSpc>
              <a:spcBef>
                <a:spcPts val="0"/>
              </a:spcBef>
              <a:spcAft>
                <a:spcPts val="0"/>
              </a:spcAft>
            </a:pPr>
            <a:r>
              <a:rPr sz="1012" b="0" i="0">
                <a:solidFill>
                  <a:srgbClr val="1F1A22"/>
                </a:solidFill>
                <a:latin typeface="Arial"/>
                <a:ea typeface="微软雅黑"/>
                <a:cs typeface="微软雅黑"/>
              </a:rPr>
              <a:t>能否区分碰撞体、摩擦设置、数值积分不稳定等原因，而非随机调参</a:t>
            </a:r>
          </a:p>
        </p:txBody>
      </p:sp>
      <p:sp>
        <p:nvSpPr>
          <p:cNvPr id="18" name="Rounded Rectangle 17"/>
          <p:cNvSpPr/>
          <p:nvPr/>
        </p:nvSpPr>
        <p:spPr>
          <a:xfrm>
            <a:off x="6362700" y="2400300"/>
            <a:ext cx="12668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96050" y="2400300"/>
            <a:ext cx="10572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RQ3 · 可靠修复</a:t>
            </a:r>
          </a:p>
        </p:txBody>
      </p:sp>
      <p:sp>
        <p:nvSpPr>
          <p:cNvPr id="20" name="TextBox 19"/>
          <p:cNvSpPr txBox="1"/>
          <p:nvPr/>
        </p:nvSpPr>
        <p:spPr>
          <a:xfrm>
            <a:off x="7810500" y="2400300"/>
            <a:ext cx="3962400" cy="385762"/>
          </a:xfrm>
          <a:prstGeom prst="rect">
            <a:avLst/>
          </a:prstGeom>
          <a:noFill/>
        </p:spPr>
        <p:txBody>
          <a:bodyPr wrap="square" lIns="0" rIns="0" tIns="0" bIns="0" anchor="t">
            <a:noAutofit/>
          </a:bodyPr>
          <a:lstStyle/>
          <a:p>
            <a:pPr algn="l">
              <a:lnSpc>
                <a:spcPts val="1518"/>
              </a:lnSpc>
              <a:spcBef>
                <a:spcPts val="0"/>
              </a:spcBef>
              <a:spcAft>
                <a:spcPts val="0"/>
              </a:spcAft>
            </a:pPr>
            <a:r>
              <a:rPr sz="1012" b="0" i="0">
                <a:solidFill>
                  <a:srgbClr val="1F1A22"/>
                </a:solidFill>
                <a:latin typeface="Arial"/>
                <a:ea typeface="微软雅黑"/>
                <a:cs typeface="微软雅黑"/>
              </a:rPr>
              <a:t>利用物理状态与视觉证据修复，并通过回归测试（Regression Tests）</a:t>
            </a:r>
          </a:p>
        </p:txBody>
      </p:sp>
      <p:sp>
        <p:nvSpPr>
          <p:cNvPr id="21" name="Rounded Rectangle 20"/>
          <p:cNvSpPr/>
          <p:nvPr/>
        </p:nvSpPr>
        <p:spPr>
          <a:xfrm>
            <a:off x="6362700" y="2952750"/>
            <a:ext cx="5372100" cy="2571750"/>
          </a:xfrm>
          <a:prstGeom prst="roundRect">
            <a:avLst>
              <a:gd name="adj" fmla="val 444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515100" y="3048000"/>
            <a:ext cx="5105400" cy="192881"/>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660874"/>
                </a:solidFill>
                <a:latin typeface="Arial"/>
                <a:ea typeface="微软雅黑"/>
                <a:cs typeface="微软雅黑"/>
              </a:rPr>
              <a:t>核心消融（同一模型、工具权限与计算预算）</a:t>
            </a:r>
          </a:p>
        </p:txBody>
      </p:sp>
      <p:sp>
        <p:nvSpPr>
          <p:cNvPr id="23" name="Rounded Rectangle 22"/>
          <p:cNvSpPr/>
          <p:nvPr/>
        </p:nvSpPr>
        <p:spPr>
          <a:xfrm>
            <a:off x="6515100" y="33528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629400" y="33528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One-shot</a:t>
            </a:r>
          </a:p>
        </p:txBody>
      </p:sp>
      <p:sp>
        <p:nvSpPr>
          <p:cNvPr id="25" name="TextBox 24"/>
          <p:cNvSpPr txBox="1"/>
          <p:nvPr/>
        </p:nvSpPr>
        <p:spPr>
          <a:xfrm>
            <a:off x="8572500" y="33528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不提供反馈</a:t>
            </a:r>
          </a:p>
        </p:txBody>
      </p:sp>
      <p:sp>
        <p:nvSpPr>
          <p:cNvPr id="26" name="Rounded Rectangle 25"/>
          <p:cNvSpPr/>
          <p:nvPr/>
        </p:nvSpPr>
        <p:spPr>
          <a:xfrm>
            <a:off x="6515100" y="36957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29400" y="36957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Execution Feedback</a:t>
            </a:r>
          </a:p>
        </p:txBody>
      </p:sp>
      <p:sp>
        <p:nvSpPr>
          <p:cNvPr id="28" name="TextBox 27"/>
          <p:cNvSpPr txBox="1"/>
          <p:nvPr/>
        </p:nvSpPr>
        <p:spPr>
          <a:xfrm>
            <a:off x="8572500" y="36957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运行错误与报错日志</a:t>
            </a:r>
          </a:p>
        </p:txBody>
      </p:sp>
      <p:sp>
        <p:nvSpPr>
          <p:cNvPr id="29" name="Rounded Rectangle 28"/>
          <p:cNvSpPr/>
          <p:nvPr/>
        </p:nvSpPr>
        <p:spPr>
          <a:xfrm>
            <a:off x="6515100" y="40386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629400" y="40386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Visual Feedback</a:t>
            </a:r>
          </a:p>
        </p:txBody>
      </p:sp>
      <p:sp>
        <p:nvSpPr>
          <p:cNvPr id="31" name="TextBox 30"/>
          <p:cNvSpPr txBox="1"/>
          <p:nvPr/>
        </p:nvSpPr>
        <p:spPr>
          <a:xfrm>
            <a:off x="8572500" y="40386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渲染图与动画</a:t>
            </a:r>
          </a:p>
        </p:txBody>
      </p:sp>
      <p:sp>
        <p:nvSpPr>
          <p:cNvPr id="32" name="Rounded Rectangle 31"/>
          <p:cNvSpPr/>
          <p:nvPr/>
        </p:nvSpPr>
        <p:spPr>
          <a:xfrm>
            <a:off x="6515100" y="43815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629400" y="43815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Physical State Feedback</a:t>
            </a:r>
          </a:p>
        </p:txBody>
      </p:sp>
      <p:sp>
        <p:nvSpPr>
          <p:cNvPr id="34" name="TextBox 33"/>
          <p:cNvSpPr txBox="1"/>
          <p:nvPr/>
        </p:nvSpPr>
        <p:spPr>
          <a:xfrm>
            <a:off x="8572500" y="43815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位置、速度、接触、能量</a:t>
            </a:r>
          </a:p>
        </p:txBody>
      </p:sp>
      <p:sp>
        <p:nvSpPr>
          <p:cNvPr id="35" name="Rounded Rectangle 34"/>
          <p:cNvSpPr/>
          <p:nvPr/>
        </p:nvSpPr>
        <p:spPr>
          <a:xfrm>
            <a:off x="6515100" y="4724400"/>
            <a:ext cx="5067300" cy="304800"/>
          </a:xfrm>
          <a:prstGeom prst="roundRect">
            <a:avLst>
              <a:gd name="adj" fmla="val 18750"/>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629400" y="47244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Ours</a:t>
            </a:r>
          </a:p>
        </p:txBody>
      </p:sp>
      <p:sp>
        <p:nvSpPr>
          <p:cNvPr id="37" name="TextBox 36"/>
          <p:cNvSpPr txBox="1"/>
          <p:nvPr/>
        </p:nvSpPr>
        <p:spPr>
          <a:xfrm>
            <a:off x="8572500" y="47244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状态 + 干预测试 + 因果修复</a:t>
            </a:r>
          </a:p>
        </p:txBody>
      </p:sp>
      <p:sp>
        <p:nvSpPr>
          <p:cNvPr id="38" name="TextBox 37"/>
          <p:cNvSpPr txBox="1"/>
          <p:nvPr/>
        </p:nvSpPr>
        <p:spPr>
          <a:xfrm>
            <a:off x="6515100" y="5124450"/>
            <a:ext cx="51244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指标：反事实通过率 · 修复成功率 · 回归率 · 成本</a:t>
            </a:r>
          </a:p>
        </p:txBody>
      </p:sp>
      <p:sp>
        <p:nvSpPr>
          <p:cNvPr id="39" name="Rounded Rectangle 38"/>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目标：从评测"能否生成会动的世界"推进到评测"能否构建</a:t>
            </a:r>
            <a:r>
              <a:rPr sz="1350" b="1" i="0">
                <a:solidFill>
                  <a:srgbClr val="F6C8FF"/>
                </a:solidFill>
                <a:latin typeface="Arial"/>
                <a:ea typeface="微软雅黑"/>
                <a:cs typeface="微软雅黑"/>
              </a:rPr>
              <a:t>条件变化下仍遵守物理规律</a:t>
            </a:r>
            <a:r>
              <a:rPr sz="1350" b="0" i="0">
                <a:solidFill>
                  <a:srgbClr val="FFFFFF"/>
                </a:solidFill>
                <a:latin typeface="Arial"/>
                <a:ea typeface="微软雅黑"/>
                <a:cs typeface="微软雅黑"/>
              </a:rPr>
              <a:t>的世界"</a:t>
            </a:r>
          </a:p>
        </p:txBody>
      </p:sp>
      <p:sp>
        <p:nvSpPr>
          <p:cNvPr id="41" name="TextBox 4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21 / 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22 / 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已完成工作</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irst_guipruner.png"/>
          <p:cNvPicPr>
            <a:picLocks noChangeAspect="1"/>
          </p:cNvPicPr>
          <p:nvPr/>
        </p:nvPicPr>
        <p:blipFill>
          <a:blip r:embed="rId2"/>
          <a:stretch>
            <a:fillRect/>
          </a:stretch>
        </p:blipFill>
        <p:spPr>
          <a:xfrm>
            <a:off x="1032596" y="1504950"/>
            <a:ext cx="1516206" cy="1962150"/>
          </a:xfrm>
          <a:prstGeom prst="rect">
            <a:avLst/>
          </a:prstGeom>
        </p:spPr>
      </p:pic>
      <p:sp>
        <p:nvSpPr>
          <p:cNvPr id="7" name="Rounded Rectangle 6"/>
          <p:cNvSpPr/>
          <p:nvPr/>
        </p:nvSpPr>
        <p:spPr>
          <a:xfrm>
            <a:off x="571500" y="3562350"/>
            <a:ext cx="12001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4375" y="3571875"/>
            <a:ext cx="971550"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投稿 KDD 2027</a:t>
            </a:r>
          </a:p>
        </p:txBody>
      </p:sp>
      <p:sp>
        <p:nvSpPr>
          <p:cNvPr id="9" name="TextBox 8"/>
          <p:cNvSpPr txBox="1"/>
          <p:nvPr/>
        </p:nvSpPr>
        <p:spPr>
          <a:xfrm>
            <a:off x="571500" y="3857625"/>
            <a:ext cx="7048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GUIPruner</a:t>
            </a:r>
          </a:p>
        </p:txBody>
      </p:sp>
      <p:sp>
        <p:nvSpPr>
          <p:cNvPr id="10" name="TextBox 9"/>
          <p:cNvSpPr txBox="1"/>
          <p:nvPr/>
        </p:nvSpPr>
        <p:spPr>
          <a:xfrm>
            <a:off x="571500"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 · 评测</a:t>
            </a:r>
          </a:p>
        </p:txBody>
      </p:sp>
      <p:sp>
        <p:nvSpPr>
          <p:cNvPr id="11" name="Rounded Rectangle 10"/>
          <p:cNvSpPr/>
          <p:nvPr/>
        </p:nvSpPr>
        <p:spPr>
          <a:xfrm>
            <a:off x="332422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first_stlite.png"/>
          <p:cNvPicPr>
            <a:picLocks noChangeAspect="1"/>
          </p:cNvPicPr>
          <p:nvPr/>
        </p:nvPicPr>
        <p:blipFill>
          <a:blip r:embed="rId3"/>
          <a:stretch>
            <a:fillRect/>
          </a:stretch>
        </p:blipFill>
        <p:spPr>
          <a:xfrm>
            <a:off x="3964035" y="1504950"/>
            <a:ext cx="1387378" cy="1962150"/>
          </a:xfrm>
          <a:prstGeom prst="rect">
            <a:avLst/>
          </a:prstGeom>
        </p:spPr>
      </p:pic>
      <p:sp>
        <p:nvSpPr>
          <p:cNvPr id="13" name="Rounded Rectangle 12"/>
          <p:cNvSpPr/>
          <p:nvPr/>
        </p:nvSpPr>
        <p:spPr>
          <a:xfrm>
            <a:off x="3438525"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71875" y="3562350"/>
            <a:ext cx="8477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EMNLP 2026</a:t>
            </a:r>
          </a:p>
        </p:txBody>
      </p:sp>
      <p:sp>
        <p:nvSpPr>
          <p:cNvPr id="15" name="TextBox 14"/>
          <p:cNvSpPr txBox="1"/>
          <p:nvPr/>
        </p:nvSpPr>
        <p:spPr>
          <a:xfrm>
            <a:off x="3438525" y="3857625"/>
            <a:ext cx="4857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ST-Lite</a:t>
            </a:r>
          </a:p>
        </p:txBody>
      </p:sp>
      <p:sp>
        <p:nvSpPr>
          <p:cNvPr id="16" name="TextBox 15"/>
          <p:cNvSpPr txBox="1"/>
          <p:nvPr/>
        </p:nvSpPr>
        <p:spPr>
          <a:xfrm>
            <a:off x="3438525"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 · 评测</a:t>
            </a:r>
          </a:p>
        </p:txBody>
      </p:sp>
      <p:sp>
        <p:nvSpPr>
          <p:cNvPr id="17" name="Rounded Rectangle 16"/>
          <p:cNvSpPr/>
          <p:nvPr/>
        </p:nvSpPr>
        <p:spPr>
          <a:xfrm>
            <a:off x="619125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first_weavebench.png"/>
          <p:cNvPicPr>
            <a:picLocks noChangeAspect="1"/>
          </p:cNvPicPr>
          <p:nvPr/>
        </p:nvPicPr>
        <p:blipFill>
          <a:blip r:embed="rId4"/>
          <a:stretch>
            <a:fillRect/>
          </a:stretch>
        </p:blipFill>
        <p:spPr>
          <a:xfrm>
            <a:off x="6831060" y="1504950"/>
            <a:ext cx="1387378" cy="1962150"/>
          </a:xfrm>
          <a:prstGeom prst="rect">
            <a:avLst/>
          </a:prstGeom>
        </p:spPr>
      </p:pic>
      <p:sp>
        <p:nvSpPr>
          <p:cNvPr id="19" name="Rounded Rectangle 18"/>
          <p:cNvSpPr/>
          <p:nvPr/>
        </p:nvSpPr>
        <p:spPr>
          <a:xfrm>
            <a:off x="6305550"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38900" y="3562350"/>
            <a:ext cx="8477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EMNLP 2026</a:t>
            </a:r>
          </a:p>
        </p:txBody>
      </p:sp>
      <p:sp>
        <p:nvSpPr>
          <p:cNvPr id="21" name="TextBox 20"/>
          <p:cNvSpPr txBox="1"/>
          <p:nvPr/>
        </p:nvSpPr>
        <p:spPr>
          <a:xfrm>
            <a:off x="6305550" y="3857625"/>
            <a:ext cx="8477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WeaveBench</a:t>
            </a:r>
          </a:p>
        </p:txBody>
      </p:sp>
      <p:sp>
        <p:nvSpPr>
          <p:cNvPr id="22" name="TextBox 21"/>
          <p:cNvSpPr txBox="1"/>
          <p:nvPr/>
        </p:nvSpPr>
        <p:spPr>
          <a:xfrm>
            <a:off x="6305550"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 · 评测</a:t>
            </a:r>
          </a:p>
        </p:txBody>
      </p:sp>
      <p:sp>
        <p:nvSpPr>
          <p:cNvPr id="23" name="Rounded Rectangle 22"/>
          <p:cNvSpPr/>
          <p:nvPr/>
        </p:nvSpPr>
        <p:spPr>
          <a:xfrm>
            <a:off x="905827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first_recreation.png"/>
          <p:cNvPicPr>
            <a:picLocks noChangeAspect="1"/>
          </p:cNvPicPr>
          <p:nvPr/>
        </p:nvPicPr>
        <p:blipFill>
          <a:blip r:embed="rId5"/>
          <a:stretch>
            <a:fillRect/>
          </a:stretch>
        </p:blipFill>
        <p:spPr>
          <a:xfrm>
            <a:off x="9698085" y="1504950"/>
            <a:ext cx="1387378" cy="1962150"/>
          </a:xfrm>
          <a:prstGeom prst="rect">
            <a:avLst/>
          </a:prstGeom>
        </p:spPr>
      </p:pic>
      <p:sp>
        <p:nvSpPr>
          <p:cNvPr id="25" name="Rounded Rectangle 24"/>
          <p:cNvSpPr/>
          <p:nvPr/>
        </p:nvSpPr>
        <p:spPr>
          <a:xfrm>
            <a:off x="9172575" y="3562350"/>
            <a:ext cx="1152525"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315450" y="3571875"/>
            <a:ext cx="923925"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技术报告 2026</a:t>
            </a:r>
          </a:p>
        </p:txBody>
      </p:sp>
      <p:sp>
        <p:nvSpPr>
          <p:cNvPr id="27" name="TextBox 26"/>
          <p:cNvSpPr txBox="1"/>
          <p:nvPr/>
        </p:nvSpPr>
        <p:spPr>
          <a:xfrm>
            <a:off x="9172575" y="3857625"/>
            <a:ext cx="10953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RecreationWorld</a:t>
            </a:r>
          </a:p>
        </p:txBody>
      </p:sp>
      <p:sp>
        <p:nvSpPr>
          <p:cNvPr id="28" name="TextBox 27"/>
          <p:cNvSpPr txBox="1"/>
          <p:nvPr/>
        </p:nvSpPr>
        <p:spPr>
          <a:xfrm>
            <a:off x="9172575"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研究二 · 训练</a:t>
            </a:r>
          </a:p>
        </p:txBody>
      </p:sp>
      <p:sp>
        <p:nvSpPr>
          <p:cNvPr id="29" name="Rounded Rectangle 28"/>
          <p:cNvSpPr/>
          <p:nvPr/>
        </p:nvSpPr>
        <p:spPr>
          <a:xfrm>
            <a:off x="457200" y="4400550"/>
            <a:ext cx="11277600" cy="1104900"/>
          </a:xfrm>
          <a:prstGeom prst="roundRect">
            <a:avLst>
              <a:gd name="adj" fmla="val 10344"/>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28650" y="4572000"/>
            <a:ext cx="18002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2000" y="4572000"/>
            <a:ext cx="15906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Qwen 团队 · 研究型实习</a:t>
            </a:r>
          </a:p>
        </p:txBody>
      </p:sp>
      <p:sp>
        <p:nvSpPr>
          <p:cNvPr id="32" name="TextBox 31"/>
          <p:cNvSpPr txBox="1"/>
          <p:nvPr/>
        </p:nvSpPr>
        <p:spPr>
          <a:xfrm>
            <a:off x="628650" y="4895850"/>
            <a:ext cx="1099185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研究一、二的评测环境与训练数据已应用于模型优化，参与 </a:t>
            </a:r>
            <a:r>
              <a:rPr sz="1087" b="1" i="0">
                <a:solidFill>
                  <a:srgbClr val="1F1A22"/>
                </a:solidFill>
                <a:latin typeface="Arial"/>
                <a:ea typeface="微软雅黑"/>
                <a:cs typeface="微软雅黑"/>
              </a:rPr>
              <a:t>Qwen3.8-Max</a:t>
            </a:r>
            <a:r>
              <a:rPr sz="1087" b="0" i="0">
                <a:solidFill>
                  <a:srgbClr val="1F1A22"/>
                </a:solidFill>
                <a:latin typeface="Arial"/>
                <a:ea typeface="微软雅黑"/>
                <a:cs typeface="微软雅黑"/>
              </a:rPr>
              <a:t> 研发，深入接触前沿基础模型在计算机操作与长程智能体任务中的</a:t>
            </a:r>
            <a:r>
              <a:rPr sz="1087" b="1" i="0">
                <a:solidFill>
                  <a:srgbClr val="1F1A22"/>
                </a:solidFill>
                <a:latin typeface="Arial"/>
                <a:ea typeface="微软雅黑"/>
                <a:cs typeface="微软雅黑"/>
              </a:rPr>
              <a:t>关键痛点</a:t>
            </a:r>
            <a:r>
              <a:rPr sz="1087" b="0" i="0">
                <a:solidFill>
                  <a:srgbClr val="1F1A22"/>
                </a:solidFill>
                <a:latin typeface="Arial"/>
                <a:ea typeface="微软雅黑"/>
                <a:cs typeface="微软雅黑"/>
              </a:rPr>
              <a:t>；本课题的研究问题源于一线训练与评测需求，所构建的评测、环境与数据可直接服务于基础模型后训练。</a:t>
            </a: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研究一（评测）与研究二（训练）已完成，形成可扩展评测与训练框架的基础；后续聚焦</a:t>
            </a:r>
            <a:r>
              <a:rPr sz="1350" b="1" i="0">
                <a:solidFill>
                  <a:srgbClr val="F6C8FF"/>
                </a:solidFill>
                <a:latin typeface="Arial"/>
                <a:ea typeface="微软雅黑"/>
                <a:cs typeface="微软雅黑"/>
              </a:rPr>
              <a:t>研究三（应用）</a:t>
            </a:r>
          </a:p>
        </p:txBody>
      </p:sp>
      <p:sp>
        <p:nvSpPr>
          <p:cNvPr id="35" name="TextBox 3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23 / 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预期创新点</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3619500" cy="4095750"/>
          </a:xfrm>
          <a:prstGeom prst="roundRect">
            <a:avLst>
              <a:gd name="adj" fmla="val 315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28650" y="1524000"/>
            <a:ext cx="819150" cy="356145"/>
          </a:xfrm>
          <a:prstGeom prst="rect">
            <a:avLst/>
          </a:prstGeom>
          <a:noFill/>
        </p:spPr>
        <p:txBody>
          <a:bodyPr wrap="none" lIns="0" rIns="0" tIns="0" bIns="0" anchor="ctr">
            <a:noAutofit/>
          </a:bodyPr>
          <a:lstStyle/>
          <a:p>
            <a:pPr algn="l">
              <a:lnSpc>
                <a:spcPct val="100000"/>
              </a:lnSpc>
              <a:spcBef>
                <a:spcPts val="0"/>
              </a:spcBef>
              <a:spcAft>
                <a:spcPts val="0"/>
              </a:spcAft>
            </a:pPr>
            <a:r>
              <a:rPr sz="2550" b="1" i="0">
                <a:solidFill>
                  <a:srgbClr val="660874"/>
                </a:solidFill>
                <a:latin typeface="Arial"/>
                <a:ea typeface="微软雅黑"/>
                <a:cs typeface="微软雅黑"/>
              </a:rPr>
              <a:t>01</a:t>
            </a:r>
          </a:p>
        </p:txBody>
      </p:sp>
      <p:sp>
        <p:nvSpPr>
          <p:cNvPr id="7" name="TextBox 6"/>
          <p:cNvSpPr txBox="1"/>
          <p:nvPr/>
        </p:nvSpPr>
        <p:spPr>
          <a:xfrm>
            <a:off x="628650" y="1962150"/>
            <a:ext cx="33337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综合数字智能体范式与轨迹感知评测</a:t>
            </a:r>
          </a:p>
        </p:txBody>
      </p:sp>
      <p:pic>
        <p:nvPicPr>
          <p:cNvPr id="8" name="Picture 7" descr="fig_overview_new-1.png"/>
          <p:cNvPicPr>
            <a:picLocks noChangeAspect="1"/>
          </p:cNvPicPr>
          <p:nvPr/>
        </p:nvPicPr>
        <p:blipFill>
          <a:blip r:embed="rId2"/>
          <a:stretch>
            <a:fillRect/>
          </a:stretch>
        </p:blipFill>
        <p:spPr>
          <a:xfrm>
            <a:off x="571500" y="2602505"/>
            <a:ext cx="3390900" cy="1348189"/>
          </a:xfrm>
          <a:prstGeom prst="rect">
            <a:avLst/>
          </a:prstGeom>
        </p:spPr>
      </p:pic>
      <p:sp>
        <p:nvSpPr>
          <p:cNvPr id="9" name="TextBox 8"/>
          <p:cNvSpPr txBox="1"/>
          <p:nvPr/>
        </p:nvSpPr>
        <p:spPr>
          <a:xfrm>
            <a:off x="628650" y="4343400"/>
            <a:ext cx="3314700" cy="63624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形式化 CLI 与 GUI 交织的混合能力范式；只收录能力缺一不可的长程任务，以轨迹审计替代仅依据结果的判分，揭示自主编排与自我验证瓶颈。</a:t>
            </a:r>
          </a:p>
        </p:txBody>
      </p:sp>
      <p:sp>
        <p:nvSpPr>
          <p:cNvPr id="10" name="Rounded Rectangle 9"/>
          <p:cNvSpPr/>
          <p:nvPr/>
        </p:nvSpPr>
        <p:spPr>
          <a:xfrm>
            <a:off x="4286250" y="1428750"/>
            <a:ext cx="3619500" cy="4095750"/>
          </a:xfrm>
          <a:prstGeom prst="roundRect">
            <a:avLst>
              <a:gd name="adj" fmla="val 315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457700" y="1524000"/>
            <a:ext cx="819150" cy="356145"/>
          </a:xfrm>
          <a:prstGeom prst="rect">
            <a:avLst/>
          </a:prstGeom>
          <a:noFill/>
        </p:spPr>
        <p:txBody>
          <a:bodyPr wrap="none" lIns="0" rIns="0" tIns="0" bIns="0" anchor="ctr">
            <a:noAutofit/>
          </a:bodyPr>
          <a:lstStyle/>
          <a:p>
            <a:pPr algn="l">
              <a:lnSpc>
                <a:spcPct val="100000"/>
              </a:lnSpc>
              <a:spcBef>
                <a:spcPts val="0"/>
              </a:spcBef>
              <a:spcAft>
                <a:spcPts val="0"/>
              </a:spcAft>
            </a:pPr>
            <a:r>
              <a:rPr sz="2550" b="1" i="0">
                <a:solidFill>
                  <a:srgbClr val="660874"/>
                </a:solidFill>
                <a:latin typeface="Arial"/>
                <a:ea typeface="微软雅黑"/>
                <a:cs typeface="微软雅黑"/>
              </a:rPr>
              <a:t>02</a:t>
            </a:r>
          </a:p>
        </p:txBody>
      </p:sp>
      <p:sp>
        <p:nvSpPr>
          <p:cNvPr id="12" name="TextBox 11"/>
          <p:cNvSpPr txBox="1"/>
          <p:nvPr/>
        </p:nvSpPr>
        <p:spPr>
          <a:xfrm>
            <a:off x="4457700" y="1962150"/>
            <a:ext cx="33337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以复刻为 oracle 的可扩展可验证训练</a:t>
            </a:r>
          </a:p>
        </p:txBody>
      </p:sp>
      <p:pic>
        <p:nvPicPr>
          <p:cNvPr id="13" name="Picture 12" descr="rw_fig2_recreation.png"/>
          <p:cNvPicPr>
            <a:picLocks noChangeAspect="1"/>
          </p:cNvPicPr>
          <p:nvPr/>
        </p:nvPicPr>
        <p:blipFill>
          <a:blip r:embed="rId3"/>
          <a:stretch>
            <a:fillRect/>
          </a:stretch>
        </p:blipFill>
        <p:spPr>
          <a:xfrm>
            <a:off x="4400550" y="2870361"/>
            <a:ext cx="3390900" cy="812476"/>
          </a:xfrm>
          <a:prstGeom prst="rect">
            <a:avLst/>
          </a:prstGeom>
        </p:spPr>
      </p:pic>
      <p:sp>
        <p:nvSpPr>
          <p:cNvPr id="14" name="TextBox 13"/>
          <p:cNvSpPr txBox="1"/>
          <p:nvPr/>
        </p:nvSpPr>
        <p:spPr>
          <a:xfrm>
            <a:off x="4457700" y="4343400"/>
            <a:ext cx="3314700" cy="63624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任意开源应用即可转化为"环境 + 隐藏行为测试"，为混合行为提供可验证奖励；验证习得行为可迁移至分布外任务。</a:t>
            </a:r>
          </a:p>
        </p:txBody>
      </p:sp>
      <p:sp>
        <p:nvSpPr>
          <p:cNvPr id="15" name="Rounded Rectangle 14"/>
          <p:cNvSpPr/>
          <p:nvPr/>
        </p:nvSpPr>
        <p:spPr>
          <a:xfrm>
            <a:off x="8115300" y="1428750"/>
            <a:ext cx="3619500" cy="4095750"/>
          </a:xfrm>
          <a:prstGeom prst="roundRect">
            <a:avLst>
              <a:gd name="adj" fmla="val 315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86750" y="1524000"/>
            <a:ext cx="819150" cy="356145"/>
          </a:xfrm>
          <a:prstGeom prst="rect">
            <a:avLst/>
          </a:prstGeom>
          <a:noFill/>
        </p:spPr>
        <p:txBody>
          <a:bodyPr wrap="none" lIns="0" rIns="0" tIns="0" bIns="0" anchor="ctr">
            <a:noAutofit/>
          </a:bodyPr>
          <a:lstStyle/>
          <a:p>
            <a:pPr algn="l">
              <a:lnSpc>
                <a:spcPct val="100000"/>
              </a:lnSpc>
              <a:spcBef>
                <a:spcPts val="0"/>
              </a:spcBef>
              <a:spcAft>
                <a:spcPts val="0"/>
              </a:spcAft>
            </a:pPr>
            <a:r>
              <a:rPr sz="2550" b="1" i="0">
                <a:solidFill>
                  <a:srgbClr val="660874"/>
                </a:solidFill>
                <a:latin typeface="Arial"/>
                <a:ea typeface="微软雅黑"/>
                <a:cs typeface="微软雅黑"/>
              </a:rPr>
              <a:t>03</a:t>
            </a:r>
          </a:p>
        </p:txBody>
      </p:sp>
      <p:sp>
        <p:nvSpPr>
          <p:cNvPr id="17" name="TextBox 16"/>
          <p:cNvSpPr txBox="1"/>
          <p:nvPr/>
        </p:nvSpPr>
        <p:spPr>
          <a:xfrm>
            <a:off x="8286750" y="1962150"/>
            <a:ext cx="33337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面向真实世界的环境扩展与物理落地验证</a:t>
            </a:r>
          </a:p>
        </p:txBody>
      </p:sp>
      <p:pic>
        <p:nvPicPr>
          <p:cNvPr id="18" name="Picture 17" descr="phys_cf.png"/>
          <p:cNvPicPr>
            <a:picLocks noChangeAspect="1"/>
          </p:cNvPicPr>
          <p:nvPr/>
        </p:nvPicPr>
        <p:blipFill>
          <a:blip r:embed="rId4"/>
          <a:stretch>
            <a:fillRect/>
          </a:stretch>
        </p:blipFill>
        <p:spPr>
          <a:xfrm>
            <a:off x="8496300" y="2324100"/>
            <a:ext cx="2857500" cy="1905000"/>
          </a:xfrm>
          <a:prstGeom prst="rect">
            <a:avLst/>
          </a:prstGeom>
        </p:spPr>
      </p:pic>
      <p:sp>
        <p:nvSpPr>
          <p:cNvPr id="19" name="TextBox 18"/>
          <p:cNvSpPr txBox="1"/>
          <p:nvPr/>
        </p:nvSpPr>
        <p:spPr>
          <a:xfrm>
            <a:off x="8286750" y="4343400"/>
            <a:ext cx="3314700" cy="63624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构建职业化个人电脑环境与真实数据驱动的任务流水线；以反事实干预检验生成内容的物理机制，并以因果修复闭环提升可靠性。</a:t>
            </a:r>
          </a:p>
        </p:txBody>
      </p:sp>
      <p:sp>
        <p:nvSpPr>
          <p:cNvPr id="20" name="Rounded Rectangle 19"/>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三点创新共享同一原则：</a:t>
            </a:r>
            <a:r>
              <a:rPr sz="1350" b="1" i="0">
                <a:solidFill>
                  <a:srgbClr val="F6C8FF"/>
                </a:solidFill>
                <a:latin typeface="Arial"/>
                <a:ea typeface="微软雅黑"/>
                <a:cs typeface="微软雅黑"/>
              </a:rPr>
              <a:t>以可执行、可验证的证据</a:t>
            </a:r>
            <a:r>
              <a:rPr sz="1350" b="0" i="0">
                <a:solidFill>
                  <a:srgbClr val="FFFFFF"/>
                </a:solidFill>
                <a:latin typeface="Arial"/>
                <a:ea typeface="微软雅黑"/>
                <a:cs typeface="微软雅黑"/>
              </a:rPr>
              <a:t>度量与训练智能体，而非依赖结果表象</a:t>
            </a:r>
          </a:p>
        </p:txBody>
      </p:sp>
      <p:sp>
        <p:nvSpPr>
          <p:cNvPr id="22" name="TextBox 21"/>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24 / 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研究计划：研究三（应用）的推进安排</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09600" y="1619250"/>
            <a:ext cx="10953750" cy="28575"/>
          </a:xfrm>
          <a:prstGeom prst="rect">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609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382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2026.10 – 2027.01</a:t>
            </a:r>
          </a:p>
        </p:txBody>
      </p:sp>
      <p:sp>
        <p:nvSpPr>
          <p:cNvPr id="8" name="Rounded Rectangle 7"/>
          <p:cNvSpPr/>
          <p:nvPr/>
        </p:nvSpPr>
        <p:spPr>
          <a:xfrm>
            <a:off x="457200" y="1828800"/>
            <a:ext cx="2705100" cy="1809750"/>
          </a:xfrm>
          <a:prstGeom prst="roundRect">
            <a:avLst>
              <a:gd name="adj" fmla="val 631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6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职业化个人电脑环境构建</a:t>
            </a:r>
          </a:p>
        </p:txBody>
      </p:sp>
      <p:sp>
        <p:nvSpPr>
          <p:cNvPr id="10" name="TextBox 9"/>
          <p:cNvSpPr txBox="1"/>
          <p:nvPr/>
        </p:nvSpPr>
        <p:spPr>
          <a:xfrm>
            <a:off x="609600" y="2266950"/>
            <a:ext cx="2438400" cy="1166812"/>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会计 / 法律 / 电商 / 医疗 / 设计 / 芯片等职业调研</a:t>
            </a:r>
          </a:p>
          <a:p>
            <a:pPr algn="l">
              <a:lnSpc>
                <a:spcPts val="1837"/>
              </a:lnSpc>
              <a:spcBef>
                <a:spcPts val="0"/>
              </a:spcBef>
              <a:spcAft>
                <a:spcPts val="0"/>
              </a:spcAft>
            </a:pPr>
            <a:r>
              <a:rPr sz="1050" b="0" i="0">
                <a:solidFill>
                  <a:srgbClr val="4A4450"/>
                </a:solidFill>
                <a:latin typeface="Arial"/>
                <a:ea typeface="微软雅黑"/>
                <a:cs typeface="微软雅黑"/>
              </a:rPr>
              <a:t>• App Mock：基于复刻能力仿真业务系统</a:t>
            </a:r>
          </a:p>
          <a:p>
            <a:pPr algn="l">
              <a:lnSpc>
                <a:spcPts val="1837"/>
              </a:lnSpc>
              <a:spcBef>
                <a:spcPts val="0"/>
              </a:spcBef>
              <a:spcAft>
                <a:spcPts val="0"/>
              </a:spcAft>
            </a:pPr>
            <a:r>
              <a:rPr sz="1050" b="0" i="0">
                <a:solidFill>
                  <a:srgbClr val="4A4450"/>
                </a:solidFill>
                <a:latin typeface="Arial"/>
                <a:ea typeface="微软雅黑"/>
                <a:cs typeface="微软雅黑"/>
              </a:rPr>
              <a:t>• 个人文件、账户与状态数据库</a:t>
            </a:r>
          </a:p>
        </p:txBody>
      </p:sp>
      <p:sp>
        <p:nvSpPr>
          <p:cNvPr id="11" name="Rounded Rectangle 10"/>
          <p:cNvSpPr/>
          <p:nvPr/>
        </p:nvSpPr>
        <p:spPr>
          <a:xfrm>
            <a:off x="3467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957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2027.02 – 2027.05</a:t>
            </a:r>
          </a:p>
        </p:txBody>
      </p:sp>
      <p:sp>
        <p:nvSpPr>
          <p:cNvPr id="13" name="Rounded Rectangle 12"/>
          <p:cNvSpPr/>
          <p:nvPr/>
        </p:nvSpPr>
        <p:spPr>
          <a:xfrm>
            <a:off x="3314700" y="1828800"/>
            <a:ext cx="2705100" cy="1809750"/>
          </a:xfrm>
          <a:prstGeom prst="roundRect">
            <a:avLst>
              <a:gd name="adj" fmla="val 631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4671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真实数据驱动与任务流水线</a:t>
            </a:r>
          </a:p>
        </p:txBody>
      </p:sp>
      <p:sp>
        <p:nvSpPr>
          <p:cNvPr id="15" name="TextBox 14"/>
          <p:cNvSpPr txBox="1"/>
          <p:nvPr/>
        </p:nvSpPr>
        <p:spPr>
          <a:xfrm>
            <a:off x="34671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脱敏真实数据驱动状态与事件</a:t>
            </a:r>
          </a:p>
          <a:p>
            <a:pPr algn="l">
              <a:lnSpc>
                <a:spcPts val="1837"/>
              </a:lnSpc>
              <a:spcBef>
                <a:spcPts val="0"/>
              </a:spcBef>
              <a:spcAft>
                <a:spcPts val="0"/>
              </a:spcAft>
            </a:pPr>
            <a:r>
              <a:rPr sz="1050" b="0" i="0">
                <a:solidFill>
                  <a:srgbClr val="4A4450"/>
                </a:solidFill>
                <a:latin typeface="Arial"/>
                <a:ea typeface="微软雅黑"/>
                <a:cs typeface="微软雅黑"/>
              </a:rPr>
              <a:t>• 任务生成 → 轨迹 → 状态优先 verifier</a:t>
            </a:r>
          </a:p>
          <a:p>
            <a:pPr algn="l">
              <a:lnSpc>
                <a:spcPts val="1837"/>
              </a:lnSpc>
              <a:spcBef>
                <a:spcPts val="0"/>
              </a:spcBef>
              <a:spcAft>
                <a:spcPts val="0"/>
              </a:spcAft>
            </a:pPr>
            <a:r>
              <a:rPr sz="1050" b="0" i="0">
                <a:solidFill>
                  <a:srgbClr val="4A4450"/>
                </a:solidFill>
                <a:latin typeface="Arial"/>
                <a:ea typeface="微软雅黑"/>
                <a:cs typeface="微软雅黑"/>
              </a:rPr>
              <a:t>• 拒绝采样 SFT + 可验证奖励 RL</a:t>
            </a:r>
          </a:p>
        </p:txBody>
      </p:sp>
      <p:sp>
        <p:nvSpPr>
          <p:cNvPr id="16" name="Rounded Rectangle 15"/>
          <p:cNvSpPr/>
          <p:nvPr/>
        </p:nvSpPr>
        <p:spPr>
          <a:xfrm>
            <a:off x="6324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532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2027.06 – 2027.09</a:t>
            </a:r>
          </a:p>
        </p:txBody>
      </p:sp>
      <p:sp>
        <p:nvSpPr>
          <p:cNvPr id="18" name="Rounded Rectangle 17"/>
          <p:cNvSpPr/>
          <p:nvPr/>
        </p:nvSpPr>
        <p:spPr>
          <a:xfrm>
            <a:off x="6172200" y="1828800"/>
            <a:ext cx="2705100" cy="1809750"/>
          </a:xfrm>
          <a:prstGeom prst="roundRect">
            <a:avLst>
              <a:gd name="adj" fmla="val 631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3246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物理世界智能体</a:t>
            </a:r>
          </a:p>
        </p:txBody>
      </p:sp>
      <p:sp>
        <p:nvSpPr>
          <p:cNvPr id="20" name="TextBox 19"/>
          <p:cNvSpPr txBox="1"/>
          <p:nvPr/>
        </p:nvSpPr>
        <p:spPr>
          <a:xfrm>
            <a:off x="63246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反事实干预基准（RQ1–RQ3）</a:t>
            </a:r>
          </a:p>
          <a:p>
            <a:pPr algn="l">
              <a:lnSpc>
                <a:spcPts val="1837"/>
              </a:lnSpc>
              <a:spcBef>
                <a:spcPts val="0"/>
              </a:spcBef>
              <a:spcAft>
                <a:spcPts val="0"/>
              </a:spcAft>
            </a:pPr>
            <a:r>
              <a:rPr sz="1050" b="0" i="0">
                <a:solidFill>
                  <a:srgbClr val="4A4450"/>
                </a:solidFill>
                <a:latin typeface="Arial"/>
                <a:ea typeface="微软雅黑"/>
                <a:cs typeface="微软雅黑"/>
              </a:rPr>
              <a:t>• 物理落地的验证与因果修复</a:t>
            </a:r>
          </a:p>
          <a:p>
            <a:pPr algn="l">
              <a:lnSpc>
                <a:spcPts val="1837"/>
              </a:lnSpc>
              <a:spcBef>
                <a:spcPts val="0"/>
              </a:spcBef>
              <a:spcAft>
                <a:spcPts val="0"/>
              </a:spcAft>
            </a:pPr>
            <a:r>
              <a:rPr sz="1050" b="0" i="0">
                <a:solidFill>
                  <a:srgbClr val="4A4450"/>
                </a:solidFill>
                <a:latin typeface="Arial"/>
                <a:ea typeface="微软雅黑"/>
                <a:cs typeface="微软雅黑"/>
              </a:rPr>
              <a:t>• 核心消融；中期检查</a:t>
            </a:r>
          </a:p>
        </p:txBody>
      </p:sp>
      <p:sp>
        <p:nvSpPr>
          <p:cNvPr id="21" name="Rounded Rectangle 20"/>
          <p:cNvSpPr/>
          <p:nvPr/>
        </p:nvSpPr>
        <p:spPr>
          <a:xfrm>
            <a:off x="9182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107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2027.10 起</a:t>
            </a:r>
          </a:p>
        </p:txBody>
      </p:sp>
      <p:sp>
        <p:nvSpPr>
          <p:cNvPr id="23" name="Rounded Rectangle 22"/>
          <p:cNvSpPr/>
          <p:nvPr/>
        </p:nvSpPr>
        <p:spPr>
          <a:xfrm>
            <a:off x="9029700" y="1828800"/>
            <a:ext cx="2705100" cy="1809750"/>
          </a:xfrm>
          <a:prstGeom prst="roundRect">
            <a:avLst>
              <a:gd name="adj" fmla="val 6315"/>
            </a:avLst>
          </a:prstGeom>
          <a:solidFill>
            <a:srgbClr val="660874"/>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1821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FFFFFF"/>
                </a:solidFill>
                <a:latin typeface="Arial"/>
                <a:ea typeface="微软雅黑"/>
                <a:cs typeface="微软雅黑"/>
              </a:rPr>
              <a:t>整合与论文撰写</a:t>
            </a:r>
          </a:p>
        </p:txBody>
      </p:sp>
      <p:sp>
        <p:nvSpPr>
          <p:cNvPr id="25" name="TextBox 24"/>
          <p:cNvSpPr txBox="1"/>
          <p:nvPr/>
        </p:nvSpPr>
        <p:spPr>
          <a:xfrm>
            <a:off x="91821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EADCEE"/>
                </a:solidFill>
                <a:latin typeface="Arial"/>
                <a:ea typeface="微软雅黑"/>
                <a:cs typeface="微软雅黑"/>
              </a:rPr>
              <a:t>• 评测—训练—应用整合为统一框架</a:t>
            </a:r>
          </a:p>
          <a:p>
            <a:pPr algn="l">
              <a:lnSpc>
                <a:spcPts val="1837"/>
              </a:lnSpc>
              <a:spcBef>
                <a:spcPts val="0"/>
              </a:spcBef>
              <a:spcAft>
                <a:spcPts val="0"/>
              </a:spcAft>
            </a:pPr>
            <a:r>
              <a:rPr sz="1050" b="0" i="0">
                <a:solidFill>
                  <a:srgbClr val="EADCEE"/>
                </a:solidFill>
                <a:latin typeface="Arial"/>
                <a:ea typeface="微软雅黑"/>
                <a:cs typeface="微软雅黑"/>
              </a:rPr>
              <a:t>• 补充实验、开源整理</a:t>
            </a:r>
          </a:p>
          <a:p>
            <a:pPr algn="l">
              <a:lnSpc>
                <a:spcPts val="1837"/>
              </a:lnSpc>
              <a:spcBef>
                <a:spcPts val="0"/>
              </a:spcBef>
              <a:spcAft>
                <a:spcPts val="0"/>
              </a:spcAft>
            </a:pPr>
            <a:r>
              <a:rPr sz="1050" b="0" i="0">
                <a:solidFill>
                  <a:srgbClr val="EADCEE"/>
                </a:solidFill>
                <a:latin typeface="Arial"/>
                <a:ea typeface="微软雅黑"/>
                <a:cs typeface="微软雅黑"/>
              </a:rPr>
              <a:t>• 学位论文撰写</a:t>
            </a:r>
          </a:p>
        </p:txBody>
      </p:sp>
      <p:sp>
        <p:nvSpPr>
          <p:cNvPr id="26" name="Rounded Rectangle 25"/>
          <p:cNvSpPr/>
          <p:nvPr/>
        </p:nvSpPr>
        <p:spPr>
          <a:xfrm>
            <a:off x="457200" y="3790950"/>
            <a:ext cx="11277600" cy="1428750"/>
          </a:xfrm>
          <a:prstGeom prst="roundRect">
            <a:avLst>
              <a:gd name="adj" fmla="val 800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8650" y="3905250"/>
            <a:ext cx="29146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E7B5A"/>
                </a:solidFill>
                <a:latin typeface="Arial"/>
                <a:ea typeface="微软雅黑"/>
                <a:cs typeface="微软雅黑"/>
              </a:rPr>
              <a:t>预期达到目标</a:t>
            </a:r>
          </a:p>
        </p:txBody>
      </p:sp>
      <p:sp>
        <p:nvSpPr>
          <p:cNvPr id="28" name="TextBox 27"/>
          <p:cNvSpPr txBox="1"/>
          <p:nvPr/>
        </p:nvSpPr>
        <p:spPr>
          <a:xfrm>
            <a:off x="628650" y="4210050"/>
            <a:ext cx="10991850" cy="771525"/>
          </a:xfrm>
          <a:prstGeom prst="rect">
            <a:avLst/>
          </a:prstGeom>
          <a:noFill/>
        </p:spPr>
        <p:txBody>
          <a:bodyPr wrap="square" lIns="0" rIns="0" tIns="0" bIns="0" anchor="t">
            <a:noAutofit/>
          </a:bodyPr>
          <a:lstStyle/>
          <a:p>
            <a:pPr algn="l">
              <a:lnSpc>
                <a:spcPts val="2025"/>
              </a:lnSpc>
              <a:spcBef>
                <a:spcPts val="0"/>
              </a:spcBef>
              <a:spcAft>
                <a:spcPts val="0"/>
              </a:spcAft>
            </a:pPr>
            <a:r>
              <a:rPr sz="1125" b="0" i="0">
                <a:solidFill>
                  <a:srgbClr val="1F1A22"/>
                </a:solidFill>
                <a:latin typeface="Arial"/>
                <a:ea typeface="微软雅黑"/>
                <a:cs typeface="微软雅黑"/>
              </a:rPr>
              <a:t>• 构建覆盖多个职业的个人电脑可验证环境与 SFT / RL 任务流水线，验证其对职业化个人智能体能力的提升</a:t>
            </a:r>
          </a:p>
          <a:p>
            <a:pPr algn="l">
              <a:lnSpc>
                <a:spcPts val="2025"/>
              </a:lnSpc>
              <a:spcBef>
                <a:spcPts val="0"/>
              </a:spcBef>
              <a:spcAft>
                <a:spcPts val="0"/>
              </a:spcAft>
            </a:pPr>
            <a:r>
              <a:rPr sz="1125" b="0" i="0">
                <a:solidFill>
                  <a:srgbClr val="1F1A22"/>
                </a:solidFill>
                <a:latin typeface="Arial"/>
                <a:ea typeface="微软雅黑"/>
                <a:cs typeface="微软雅黑"/>
              </a:rPr>
              <a:t>• 建立物理世界生成的反事实干预基准与因果修复方法，验证其对跨条件物理泛化的提升</a:t>
            </a:r>
          </a:p>
          <a:p>
            <a:pPr algn="l">
              <a:lnSpc>
                <a:spcPts val="2025"/>
              </a:lnSpc>
              <a:spcBef>
                <a:spcPts val="0"/>
              </a:spcBef>
              <a:spcAft>
                <a:spcPts val="0"/>
              </a:spcAft>
            </a:pPr>
            <a:r>
              <a:rPr sz="1125" b="0" i="0">
                <a:solidFill>
                  <a:srgbClr val="1F1A22"/>
                </a:solidFill>
                <a:latin typeface="Arial"/>
                <a:ea typeface="微软雅黑"/>
                <a:cs typeface="微软雅黑"/>
              </a:rPr>
              <a:t>• 形成"评测—训练—应用"的可扩展框架，产出高水平论文并开源基准、环境与代码；完成学位论文</a:t>
            </a:r>
          </a:p>
        </p:txBody>
      </p:sp>
      <p:sp>
        <p:nvSpPr>
          <p:cNvPr id="29" name="Rounded Rectangle 28"/>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预期成果：研究三形成 1–2 篇高水平论文（职业化个人智能体；物理世界智能体），开源环境、基准与代码</a:t>
            </a:r>
          </a:p>
        </p:txBody>
      </p:sp>
      <p:sp>
        <p:nvSpPr>
          <p:cNvPr id="31" name="TextBox 3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25 / 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190750"/>
            <a:ext cx="7277100" cy="1234380"/>
          </a:xfrm>
          <a:prstGeom prst="rect">
            <a:avLst/>
          </a:prstGeom>
          <a:noFill/>
        </p:spPr>
        <p:txBody>
          <a:bodyPr wrap="square" lIns="0" rIns="0" tIns="0" bIns="0" anchor="t">
            <a:noAutofit/>
          </a:bodyPr>
          <a:lstStyle/>
          <a:p>
            <a:pPr algn="l">
              <a:lnSpc>
                <a:spcPts val="4859"/>
              </a:lnSpc>
              <a:spcBef>
                <a:spcPts val="0"/>
              </a:spcBef>
              <a:spcAft>
                <a:spcPts val="0"/>
              </a:spcAft>
            </a:pPr>
            <a:r>
              <a:rPr sz="4050" b="1" i="0">
                <a:solidFill>
                  <a:srgbClr val="660874"/>
                </a:solidFill>
                <a:latin typeface="Arial"/>
                <a:ea typeface="微软雅黑"/>
                <a:cs typeface="微软雅黑"/>
              </a:rPr>
              <a:t>汇报结束</a:t>
            </a:r>
          </a:p>
          <a:p>
            <a:pPr algn="l">
              <a:lnSpc>
                <a:spcPts val="4859"/>
              </a:lnSpc>
              <a:spcBef>
                <a:spcPts val="0"/>
              </a:spcBef>
              <a:spcAft>
                <a:spcPts val="0"/>
              </a:spcAft>
            </a:pPr>
            <a:r>
              <a:rPr sz="4050" b="1" i="0">
                <a:solidFill>
                  <a:srgbClr val="660874"/>
                </a:solidFill>
                <a:latin typeface="Arial"/>
                <a:ea typeface="微软雅黑"/>
                <a:cs typeface="微软雅黑"/>
              </a:rPr>
              <a:t>恳请各位老师批评指正</a:t>
            </a:r>
          </a:p>
        </p:txBody>
      </p:sp>
      <p:sp>
        <p:nvSpPr>
          <p:cNvPr id="3" name="Rounded Rectangle 2"/>
          <p:cNvSpPr/>
          <p:nvPr/>
        </p:nvSpPr>
        <p:spPr>
          <a:xfrm>
            <a:off x="914400" y="36766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3924300"/>
            <a:ext cx="7296150" cy="325635"/>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1F1A22"/>
                </a:solidFill>
                <a:latin typeface="Arial"/>
                <a:ea typeface="微软雅黑"/>
                <a:cs typeface="微软雅黑"/>
              </a:rPr>
              <a:t>研究生：周博文　｜　导师：王好谦 教授</a:t>
            </a:r>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BEAUTIFY_FLAG" val=""/>
</p:tagLst>
</file>

<file path=ppt/tags/tag4.xml><?xml version="1.0" encoding="utf-8"?>
<p:tagLst xmlns:p="http://schemas.openxmlformats.org/presentationml/2006/main">
  <p:tag name="KSO_WM_BEAUTIFY_FLAG" val=""/>
</p:tagLst>
</file>

<file path=ppt/tags/tag5.xml><?xml version="1.0" encoding="utf-8"?>
<p:tagLst xmlns:p="http://schemas.openxmlformats.org/presentationml/2006/main">
  <p:tag name="KSO_WM_BEAUTIFY_FLAG" val=""/>
</p:tagLst>
</file>

<file path=ppt/tags/tag6.xml><?xml version="1.0" encoding="utf-8"?>
<p:tagLst xmlns:p="http://schemas.openxmlformats.org/presentationml/2006/main">
  <p:tag name="KSO_WM_BEAUTIFY_FLAG" val=""/>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0.xml><?xml version="1.0" encoding="utf-8"?>
<p:tagLst xmlns:p="http://schemas.openxmlformats.org/presentationml/2006/main">
  <p:tag name="KSO_WM_BEAUTIFY_FLAG" val=""/>
</p:tagLst>
</file>

<file path=ppt/tags/tag11.xml><?xml version="1.0" encoding="utf-8"?>
<p:tagLst xmlns:p="http://schemas.openxmlformats.org/presentationml/2006/main">
  <p:tag name="KSO_WM_BEAUTIFY_FLAG" val=""/>
</p:tagLst>
</file>

<file path=ppt/tags/tag12.xml><?xml version="1.0" encoding="utf-8"?>
<p:tagLst xmlns:p="http://schemas.openxmlformats.org/presentationml/2006/main">
  <p:tag name="KSO_WM_BEAUTIFY_FLAG" val=""/>
</p:tagLst>
</file>

<file path=ppt/tags/tag13.xml><?xml version="1.0" encoding="utf-8"?>
<p:tagLst xmlns:p="http://schemas.openxmlformats.org/presentationml/2006/main">
  <p:tag name="KSO_WM_BEAUTIFY_FLAG" val=""/>
</p:tagLst>
</file>

<file path=ppt/tags/tag14.xml><?xml version="1.0" encoding="utf-8"?>
<p:tagLst xmlns:p="http://schemas.openxmlformats.org/presentationml/2006/main">
  <p:tag name="KSO_WM_BEAUTIFY_FLAG" val=""/>
</p:tagLst>
</file>

<file path=ppt/tags/tag15.xml><?xml version="1.0" encoding="utf-8"?>
<p:tagLst xmlns:p="http://schemas.openxmlformats.org/presentationml/2006/main">
  <p:tag name="KSO_WM_BEAUTIFY_FLAG" val=""/>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6.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61.xml><?xml version="1.0" encoding="utf-8"?>
<p:tagLst xmlns:p="http://schemas.openxmlformats.org/presentationml/2006/main">
  <p:tag name="COMMONDATA" val="eyJoZGlkIjoiZjVhNGJiMWVmZTg4ZjFhYWZhYWFiMzBkODkwYWRkZmUifQ=="/>
  <p:tag name="resource_record_key" val="{&quot;10&quot;:[21555167,21545204,21575396,21552757,21550399]}"/>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Arial"/>
        <a:ea typeface="微软雅黑"/>
        <a:cs typeface=""/>
      </a:majorFont>
      <a:minorFont>
        <a:latin typeface="Arial"/>
        <a:ea typeface="微软雅黑"/>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22</Words>
  <Application>WPS 演示</Application>
  <PresentationFormat>宽屏</PresentationFormat>
  <Paragraphs>4</Paragraphs>
  <Slides>8</Slides>
  <Notes>10</Notes>
  <HiddenSlides>1</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8</vt:i4>
      </vt:variant>
    </vt:vector>
  </HeadingPairs>
  <TitlesOfParts>
    <vt:vector size="24" baseType="lpstr">
      <vt:lpstr>Arial</vt:lpstr>
      <vt:lpstr>宋体</vt:lpstr>
      <vt:lpstr>Wingdings</vt:lpstr>
      <vt:lpstr>Wingdings</vt:lpstr>
      <vt:lpstr>Arial</vt:lpstr>
      <vt:lpstr>微软雅黑 Light</vt:lpstr>
      <vt:lpstr>方正小标宋简体</vt:lpstr>
      <vt:lpstr>Times New Roman Bold</vt:lpstr>
      <vt:lpstr>Times New Roman</vt:lpstr>
      <vt:lpstr>Noto Sans SC</vt:lpstr>
      <vt:lpstr>Noto Sans SC</vt:lpstr>
      <vt:lpstr>Times New Roman Regular</vt:lpstr>
      <vt:lpstr>微软雅黑</vt:lpstr>
      <vt:lpstr>Arial Unicode MS</vt:lpstr>
      <vt:lpstr>Calibri</vt:lpstr>
      <vt:lpstr>WPS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86189</dc:creator>
  <cp:lastModifiedBy>文</cp:lastModifiedBy>
  <cp:revision>764</cp:revision>
  <dcterms:created xsi:type="dcterms:W3CDTF">2026-03-22T08:21:00Z</dcterms:created>
  <dcterms:modified xsi:type="dcterms:W3CDTF">2026-03-22T08:59:47Z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2052-12.1.0.25225</vt:lpwstr>
  </property>
  <property fmtid="{D5CDD505-2E9C-101B-9397-08002B2CF9AE}" pid="3" name="ICV">
    <vt:lpwstr>436FDA4FD1FAADFA3B57116922FA7F82_43</vt:lpwstr>
  </property>
</Properties>
</file>