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界面操作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界面计算机操作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题意义。左图对比两种范式：现有指令闭环范式中，任务在文本通道内闭环，界面从未被观察；视觉在环范式让渲染结果进入决策闭环。现有路线存在两难：文本模态精确但看不见渲染，视觉模态通用但开销高、缺少可验证奖励。因此本课题的意义在三方面：理论上构建综合数字智能体范式（研究二）；方法上揭示效率规律与行为可学习性（研究一、三）；应用上服务基础模型后训练与产业落地（研究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国内外研究按模态可分为三类：文本模态方法，包括命令行智能体与代码智能体；视觉模态方法，包括原生 GUI 智能体与高效视觉推理；以及新兴的混合模态方法，包括多智能体协作、工具增强 GUI 与可验证环境构建。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面临的难题：文本模态方法看不见渲染结果；视觉模态方法长程开销高，通用压缩不适配 GUI；混合模态方法缺少强制协同、审计过程的评测范式，也缺少可验证的混合训练环境。由此归纳关键技术问题：统一文本与视觉模态，构建高效、可信度量、可训练且可规模化的混合界面计算机操作框架，分解为四个子问题，对应四项研究。</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2026）；研究二对应 WeaveBench（EMNLP 2026）；研究三对应 RecreationWorld 技术报告（Core Contributor）。在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4287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4287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1905000"/>
            <a:ext cx="8229600" cy="1005780"/>
          </a:xfrm>
          <a:prstGeom prst="rect">
            <a:avLst/>
          </a:prstGeom>
          <a:noFill/>
        </p:spPr>
        <p:txBody>
          <a:bodyPr wrap="square" lIns="0" rIns="0" tIns="0" bIns="0" anchor="t">
            <a:noAutofit/>
          </a:bodyPr>
          <a:lstStyle/>
          <a:p>
            <a:pPr algn="l">
              <a:lnSpc>
                <a:spcPts val="3959"/>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3959"/>
              </a:lnSpc>
              <a:spcBef>
                <a:spcPts val="0"/>
              </a:spcBef>
              <a:spcAft>
                <a:spcPts val="0"/>
              </a:spcAft>
            </a:pPr>
            <a:r>
              <a:rPr sz="3000" b="1" i="0">
                <a:solidFill>
                  <a:srgbClr val="660874"/>
                </a:solidFill>
                <a:latin typeface="Arial"/>
                <a:ea typeface="微软雅黑"/>
                <a:cs typeface="微软雅黑"/>
              </a:rPr>
              <a:t>混合界面计算机操作关键技术研究</a:t>
            </a:r>
          </a:p>
        </p:txBody>
      </p:sp>
      <p:sp>
        <p:nvSpPr>
          <p:cNvPr id="5" name="TextBox 4"/>
          <p:cNvSpPr txBox="1"/>
          <p:nvPr/>
        </p:nvSpPr>
        <p:spPr>
          <a:xfrm>
            <a:off x="914400" y="3009900"/>
            <a:ext cx="8248650" cy="226665"/>
          </a:xfrm>
          <a:prstGeom prst="rect">
            <a:avLst/>
          </a:prstGeom>
          <a:noFill/>
        </p:spPr>
        <p:txBody>
          <a:bodyPr wrap="none" lIns="0" rIns="0" tIns="0" bIns="0" anchor="ctr">
            <a:noAutofit/>
          </a:bodyPr>
          <a:lstStyle/>
          <a:p>
            <a:pPr algn="l">
              <a:lnSpc>
                <a:spcPct val="100000"/>
              </a:lnSpc>
              <a:spcBef>
                <a:spcPts val="0"/>
              </a:spcBef>
              <a:spcAft>
                <a:spcPts val="0"/>
              </a:spcAft>
            </a:pPr>
            <a:r>
              <a:rPr sz="1275" b="0" i="0">
                <a:solidFill>
                  <a:srgbClr val="8A8490"/>
                </a:solidFill>
                <a:latin typeface="Arial"/>
                <a:ea typeface="微软雅黑"/>
                <a:cs typeface="微软雅黑"/>
              </a:rPr>
              <a:t>Toward Universal Digital Agents: Key Techniques for Hybrid-Interface Computer Use</a:t>
            </a:r>
          </a:p>
        </p:txBody>
      </p:sp>
      <p:sp>
        <p:nvSpPr>
          <p:cNvPr id="6" name="Rounded Rectangle 5"/>
          <p:cNvSpPr/>
          <p:nvPr/>
        </p:nvSpPr>
        <p:spPr>
          <a:xfrm>
            <a:off x="914400" y="34861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3752850"/>
            <a:ext cx="6705600" cy="1085850"/>
          </a:xfrm>
          <a:prstGeom prst="rect">
            <a:avLst/>
          </a:prstGeom>
          <a:noFill/>
        </p:spPr>
        <p:txBody>
          <a:bodyPr wrap="square" lIns="0" rIns="0" tIns="0" bIns="0" anchor="t">
            <a:noAutofit/>
          </a:bodyPr>
          <a:lstStyle/>
          <a:p>
            <a:pPr algn="l">
              <a:lnSpc>
                <a:spcPts val="2850"/>
              </a:lnSpc>
              <a:spcBef>
                <a:spcPts val="0"/>
              </a:spcBef>
              <a:spcAft>
                <a:spcPts val="0"/>
              </a:spcAft>
            </a:pPr>
            <a:r>
              <a:rPr sz="1500" b="0" i="0">
                <a:solidFill>
                  <a:srgbClr val="1F1A22"/>
                </a:solidFill>
                <a:latin typeface="Arial"/>
                <a:ea typeface="微软雅黑"/>
                <a:cs typeface="微软雅黑"/>
              </a:rPr>
              <a:t>研 究 生：周博文（2025213960）</a:t>
            </a:r>
          </a:p>
          <a:p>
            <a:pPr algn="l">
              <a:lnSpc>
                <a:spcPts val="2850"/>
              </a:lnSpc>
              <a:spcBef>
                <a:spcPts val="0"/>
              </a:spcBef>
              <a:spcAft>
                <a:spcPts val="0"/>
              </a:spcAft>
            </a:pPr>
            <a:r>
              <a:rPr sz="1500" b="0" i="0">
                <a:solidFill>
                  <a:srgbClr val="1F1A22"/>
                </a:solidFill>
                <a:latin typeface="Arial"/>
                <a:ea typeface="微软雅黑"/>
                <a:cs typeface="微软雅黑"/>
              </a:rPr>
              <a:t>指导教师：王好谦 教授</a:t>
            </a:r>
          </a:p>
          <a:p>
            <a:pPr algn="l">
              <a:lnSpc>
                <a:spcPts val="2850"/>
              </a:lnSpc>
              <a:spcBef>
                <a:spcPts val="0"/>
              </a:spcBef>
              <a:spcAft>
                <a:spcPts val="0"/>
              </a:spcAft>
            </a:pPr>
            <a:r>
              <a:rPr sz="1500" b="0" i="0">
                <a:solidFill>
                  <a:srgbClr val="1F1A22"/>
                </a:solidFill>
                <a:latin typeface="Arial"/>
                <a:ea typeface="微软雅黑"/>
                <a:cs typeface="微软雅黑"/>
              </a:rPr>
              <a:t>培养单位：清华大学深圳国际研究生院 · 人工智能</a:t>
            </a:r>
          </a:p>
        </p:txBody>
      </p:sp>
      <p:sp>
        <p:nvSpPr>
          <p:cNvPr id="8" name="TextBox 7"/>
          <p:cNvSpPr txBox="1"/>
          <p:nvPr/>
        </p:nvSpPr>
        <p:spPr>
          <a:xfrm>
            <a:off x="914400" y="5143500"/>
            <a:ext cx="3867150" cy="228600"/>
          </a:xfrm>
          <a:prstGeom prst="rect">
            <a:avLst/>
          </a:prstGeom>
          <a:noFill/>
        </p:spPr>
        <p:txBody>
          <a:bodyPr wrap="none" lIns="0" rIns="0" tIns="0" bIns="0" anchor="ctr">
            <a:noAutofit/>
          </a:bodyPr>
          <a:lstStyle/>
          <a:p>
            <a:pPr algn="l">
              <a:lnSpc>
                <a:spcPct val="100000"/>
              </a:lnSpc>
              <a:spcBef>
                <a:spcPts val="0"/>
              </a:spcBef>
              <a:spcAft>
                <a:spcPts val="0"/>
              </a:spcAft>
            </a:pPr>
            <a:r>
              <a:rPr sz="1200" b="0" i="0">
                <a:solidFill>
                  <a:srgbClr val="8A8490"/>
                </a:solidFill>
                <a:latin typeface="Arial"/>
                <a:ea typeface="微软雅黑"/>
                <a:cs typeface="微软雅黑"/>
              </a:rPr>
              <a:t>2026 年 10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文本模态</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视觉模态</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命令行操作（CLI）</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视觉模态</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：真实任务要求智能体在同一轨迹中依需求选择并切换模态</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行业业务流程（示意图）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大量存量软件（设计工具、行业系统、桌面应用）缺少可编程接口，必须依赖视觉模态完成操作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能否高效、可靠地完成混合界面操作，已成为前沿基础模型能力评测与后训练的核心议题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混合界面计算机操作仍然是一个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nvPicPr>
        <p:blipFill>
          <a:blip r:embed="rId2"/>
          <a:stretch>
            <a:fillRect/>
          </a:stretch>
        </p:blipFill>
        <p:spPr>
          <a:xfrm>
            <a:off x="514350" y="1667179"/>
            <a:ext cx="3505200" cy="2285390"/>
          </a:xfrm>
          <a:prstGeom prst="rect">
            <a:avLst/>
          </a:prstGeom>
        </p:spPr>
      </p:pic>
      <p:sp>
        <p:nvSpPr>
          <p:cNvPr id="7" name="TextBox 6"/>
          <p:cNvSpPr txBox="1"/>
          <p:nvPr/>
        </p:nvSpPr>
        <p:spPr>
          <a:xfrm>
            <a:off x="4572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长程视觉感知开销高</a:t>
            </a:r>
          </a:p>
        </p:txBody>
      </p:sp>
      <p:sp>
        <p:nvSpPr>
          <p:cNvPr id="8" name="TextBox 7"/>
          <p:cNvSpPr txBox="1"/>
          <p:nvPr/>
        </p:nvSpPr>
        <p:spPr>
          <a:xfrm>
            <a:off x="45720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高分辨率截图随交互步数持续累积，视觉 token 与 KV 缓存线性膨胀，推理延迟与显存开销制约长程任务的执行。</a:t>
            </a:r>
          </a:p>
        </p:txBody>
      </p:sp>
      <p:sp>
        <p:nvSpPr>
          <p:cNvPr id="9" name="Rounded Rectangle 8"/>
          <p:cNvSpPr/>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nvPicPr>
        <p:blipFill>
          <a:blip r:embed="rId3"/>
          <a:stretch>
            <a:fillRect/>
          </a:stretch>
        </p:blipFill>
        <p:spPr>
          <a:xfrm>
            <a:off x="4343400" y="1816999"/>
            <a:ext cx="3505200" cy="1985751"/>
          </a:xfrm>
          <a:prstGeom prst="rect">
            <a:avLst/>
          </a:prstGeom>
        </p:spPr>
      </p:pic>
      <p:sp>
        <p:nvSpPr>
          <p:cNvPr id="11" name="TextBox 10"/>
          <p:cNvSpPr txBox="1"/>
          <p:nvPr/>
        </p:nvSpPr>
        <p:spPr>
          <a:xfrm>
            <a:off x="428625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12" name="TextBox 11"/>
          <p:cNvSpPr txBox="1"/>
          <p:nvPr/>
        </p:nvSpPr>
        <p:spPr>
          <a:xfrm>
            <a:off x="428625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现有基准将文本与视觉割裂评测，任务可在单一模态内完成；仅依据最终结果判分，通过率虚高 10–20 个百分点。</a:t>
            </a:r>
          </a:p>
        </p:txBody>
      </p:sp>
      <p:sp>
        <p:nvSpPr>
          <p:cNvPr id="13" name="Rounded Rectangle 12"/>
          <p:cNvSpPr/>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nvPicPr>
        <p:blipFill>
          <a:blip r:embed="rId4"/>
          <a:stretch>
            <a:fillRect/>
          </a:stretch>
        </p:blipFill>
        <p:spPr>
          <a:xfrm>
            <a:off x="8172450" y="2253306"/>
            <a:ext cx="3505200" cy="1113137"/>
          </a:xfrm>
          <a:prstGeom prst="rect">
            <a:avLst/>
          </a:prstGeom>
        </p:spPr>
      </p:pic>
      <p:sp>
        <p:nvSpPr>
          <p:cNvPr id="15" name="TextBox 14"/>
          <p:cNvSpPr txBox="1"/>
          <p:nvPr/>
        </p:nvSpPr>
        <p:spPr>
          <a:xfrm>
            <a:off x="81153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6" name="TextBox 15"/>
          <p:cNvSpPr txBox="1"/>
          <p:nvPr/>
        </p:nvSpPr>
        <p:spPr>
          <a:xfrm>
            <a:off x="81153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图形界面缺少天然的可验证奖励，混合训练环境与数据稀缺；仅依据结果的奖励易被违规取巧利用（上图），自主编排与自我验证行为难以习得。</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核心问题：如何使智能体在文本与视觉模态间</a:t>
            </a:r>
            <a:r>
              <a:rPr sz="1350" b="1" i="0">
                <a:solidFill>
                  <a:srgbClr val="F6C8FF"/>
                </a:solidFill>
                <a:latin typeface="Arial"/>
                <a:ea typeface="微软雅黑"/>
                <a:cs typeface="微软雅黑"/>
              </a:rPr>
              <a:t>高效感知、合理编排、可信验证</a:t>
            </a:r>
            <a:r>
              <a:rPr sz="1350" b="0" i="0">
                <a:solidFill>
                  <a:srgbClr val="FFFFFF"/>
                </a:solidFill>
                <a:latin typeface="Arial"/>
                <a:ea typeface="微软雅黑"/>
                <a:cs typeface="微软雅黑"/>
              </a:rPr>
              <a:t>，并获得可规模化的训练途径？</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选题意义</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286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paradigm-1.png"/>
          <p:cNvPicPr>
            <a:picLocks noChangeAspect="1"/>
          </p:cNvPicPr>
          <p:nvPr/>
        </p:nvPicPr>
        <p:blipFill>
          <a:blip r:embed="rId2"/>
          <a:stretch>
            <a:fillRect/>
          </a:stretch>
        </p:blipFill>
        <p:spPr>
          <a:xfrm>
            <a:off x="1083482" y="1485900"/>
            <a:ext cx="5033934" cy="2133600"/>
          </a:xfrm>
          <a:prstGeom prst="rect">
            <a:avLst/>
          </a:prstGeom>
        </p:spPr>
      </p:pic>
      <p:sp>
        <p:nvSpPr>
          <p:cNvPr id="7" name="TextBox 6"/>
          <p:cNvSpPr txBox="1"/>
          <p:nvPr/>
        </p:nvSpPr>
        <p:spPr>
          <a:xfrm>
            <a:off x="485775" y="3657600"/>
            <a:ext cx="6229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左：指令闭环范式——任务在文本通道内闭环，界面从未被观察；右：视觉在环范式——渲染结果进入决策闭环</a:t>
            </a:r>
          </a:p>
        </p:txBody>
      </p:sp>
      <p:sp>
        <p:nvSpPr>
          <p:cNvPr id="8" name="Rounded Rectangle 7"/>
          <p:cNvSpPr/>
          <p:nvPr/>
        </p:nvSpPr>
        <p:spPr>
          <a:xfrm>
            <a:off x="6896100" y="1428750"/>
            <a:ext cx="4838700" cy="2571750"/>
          </a:xfrm>
          <a:prstGeom prst="roundRect">
            <a:avLst>
              <a:gd name="adj" fmla="val 44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562100"/>
            <a:ext cx="4533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现有技术路线的两难</a:t>
            </a:r>
          </a:p>
        </p:txBody>
      </p:sp>
      <p:sp>
        <p:nvSpPr>
          <p:cNvPr id="10" name="TextBox 9"/>
          <p:cNvSpPr txBox="1"/>
          <p:nvPr/>
        </p:nvSpPr>
        <p:spPr>
          <a:xfrm>
            <a:off x="7086600" y="188595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660874"/>
                </a:solidFill>
                <a:latin typeface="Arial"/>
                <a:ea typeface="微软雅黑"/>
                <a:cs typeface="微软雅黑"/>
              </a:rPr>
              <a:t>文本模态</a:t>
            </a:r>
            <a:r>
              <a:rPr sz="1087" b="0" i="0">
                <a:solidFill>
                  <a:srgbClr val="1F1A22"/>
                </a:solidFill>
                <a:latin typeface="Arial"/>
                <a:ea typeface="微软雅黑"/>
                <a:cs typeface="微软雅黑"/>
              </a:rPr>
              <a:t>：精确高效、可验证，但仅覆盖具备接口的软件，</a:t>
            </a:r>
            <a:r>
              <a:rPr sz="1087" b="1" i="0">
                <a:solidFill>
                  <a:srgbClr val="C0392B"/>
                </a:solidFill>
                <a:latin typeface="Arial"/>
                <a:ea typeface="微软雅黑"/>
                <a:cs typeface="微软雅黑"/>
              </a:rPr>
              <a:t>无法观测渲染结果</a:t>
            </a:r>
          </a:p>
        </p:txBody>
      </p:sp>
      <p:sp>
        <p:nvSpPr>
          <p:cNvPr id="11" name="TextBox 10"/>
          <p:cNvSpPr txBox="1"/>
          <p:nvPr/>
        </p:nvSpPr>
        <p:spPr>
          <a:xfrm>
            <a:off x="7086600" y="247650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1F6F8B"/>
                </a:solidFill>
                <a:latin typeface="Arial"/>
                <a:ea typeface="微软雅黑"/>
                <a:cs typeface="微软雅黑"/>
              </a:rPr>
              <a:t>视觉模态</a:t>
            </a:r>
            <a:r>
              <a:rPr sz="1087" b="0" i="0">
                <a:solidFill>
                  <a:srgbClr val="1F1A22"/>
                </a:solidFill>
                <a:latin typeface="Arial"/>
                <a:ea typeface="微软雅黑"/>
                <a:cs typeface="微软雅黑"/>
              </a:rPr>
              <a:t>：通用、可观测界面，但</a:t>
            </a:r>
            <a:r>
              <a:rPr sz="1087" b="1" i="0">
                <a:solidFill>
                  <a:srgbClr val="C0392B"/>
                </a:solidFill>
                <a:latin typeface="Arial"/>
                <a:ea typeface="微软雅黑"/>
                <a:cs typeface="微软雅黑"/>
              </a:rPr>
              <a:t>开销高、步数多</a:t>
            </a:r>
            <a:r>
              <a:rPr sz="1087" b="0" i="0">
                <a:solidFill>
                  <a:srgbClr val="1F1A22"/>
                </a:solidFill>
                <a:latin typeface="Arial"/>
                <a:ea typeface="微软雅黑"/>
                <a:cs typeface="微软雅黑"/>
              </a:rPr>
              <a:t>，且缺少可验证的奖励信号</a:t>
            </a:r>
          </a:p>
        </p:txBody>
      </p:sp>
      <p:sp>
        <p:nvSpPr>
          <p:cNvPr id="12" name="Rectangle 11"/>
          <p:cNvSpPr/>
          <p:nvPr/>
        </p:nvSpPr>
        <p:spPr>
          <a:xfrm>
            <a:off x="7086600" y="3105150"/>
            <a:ext cx="4476750" cy="19050"/>
          </a:xfrm>
          <a:prstGeom prst="rect">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86600" y="3219450"/>
            <a:ext cx="453390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 需要在统一范式下融合两类模态，并解决其</a:t>
            </a:r>
            <a:r>
              <a:rPr sz="1125" b="1" i="0">
                <a:solidFill>
                  <a:srgbClr val="1F1A22"/>
                </a:solidFill>
                <a:latin typeface="Arial"/>
                <a:ea typeface="微软雅黑"/>
                <a:cs typeface="微软雅黑"/>
              </a:rPr>
              <a:t>效率、度量与训练</a:t>
            </a:r>
            <a:r>
              <a:rPr sz="1125" b="1" i="0">
                <a:solidFill>
                  <a:srgbClr val="660874"/>
                </a:solidFill>
                <a:latin typeface="Arial"/>
                <a:ea typeface="微软雅黑"/>
                <a:cs typeface="微软雅黑"/>
              </a:rPr>
              <a:t>问题</a:t>
            </a:r>
          </a:p>
        </p:txBody>
      </p:sp>
      <p:sp>
        <p:nvSpPr>
          <p:cNvPr id="14" name="Rounded Rectangle 13"/>
          <p:cNvSpPr/>
          <p:nvPr/>
        </p:nvSpPr>
        <p:spPr>
          <a:xfrm>
            <a:off x="45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0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理论意义</a:t>
            </a:r>
          </a:p>
        </p:txBody>
      </p:sp>
      <p:sp>
        <p:nvSpPr>
          <p:cNvPr id="17" name="TextBox 16"/>
          <p:cNvSpPr txBox="1"/>
          <p:nvPr/>
        </p:nvSpPr>
        <p:spPr>
          <a:xfrm>
            <a:off x="60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构建综合数字智能体范式</a:t>
            </a:r>
          </a:p>
        </p:txBody>
      </p:sp>
      <p:sp>
        <p:nvSpPr>
          <p:cNvPr id="18" name="TextBox 17"/>
          <p:cNvSpPr txBox="1"/>
          <p:nvPr/>
        </p:nvSpPr>
        <p:spPr>
          <a:xfrm>
            <a:off x="60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将文本与视觉模态统一于同一决策过程，形式化定义混合界面操作范式，建立面向过程的可信能力度量</a:t>
            </a:r>
          </a:p>
        </p:txBody>
      </p:sp>
      <p:sp>
        <p:nvSpPr>
          <p:cNvPr id="19" name="Rounded Rectangle 18"/>
          <p:cNvSpPr/>
          <p:nvPr/>
        </p:nvSpPr>
        <p:spPr>
          <a:xfrm>
            <a:off x="291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89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a:t>
            </a:r>
          </a:p>
        </p:txBody>
      </p:sp>
      <p:sp>
        <p:nvSpPr>
          <p:cNvPr id="21" name="Rounded Rectangle 20"/>
          <p:cNvSpPr/>
          <p:nvPr/>
        </p:nvSpPr>
        <p:spPr>
          <a:xfrm>
            <a:off x="426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5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方法意义</a:t>
            </a:r>
          </a:p>
        </p:txBody>
      </p:sp>
      <p:sp>
        <p:nvSpPr>
          <p:cNvPr id="24" name="TextBox 23"/>
          <p:cNvSpPr txBox="1"/>
          <p:nvPr/>
        </p:nvSpPr>
        <p:spPr>
          <a:xfrm>
            <a:off x="441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揭示效率与行为的可学习性</a:t>
            </a:r>
          </a:p>
        </p:txBody>
      </p:sp>
      <p:sp>
        <p:nvSpPr>
          <p:cNvPr id="25" name="TextBox 24"/>
          <p:cNvSpPr txBox="1"/>
          <p:nvPr/>
        </p:nvSpPr>
        <p:spPr>
          <a:xfrm>
            <a:off x="441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刻画长程 GUI 轨迹的时空冗余规律以降低推理开销；验证自主编排与自我验证行为可在可验证环境中习得</a:t>
            </a:r>
          </a:p>
        </p:txBody>
      </p:sp>
      <p:sp>
        <p:nvSpPr>
          <p:cNvPr id="26" name="Rounded Rectangle 25"/>
          <p:cNvSpPr/>
          <p:nvPr/>
        </p:nvSpPr>
        <p:spPr>
          <a:xfrm>
            <a:off x="672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三</a:t>
            </a:r>
          </a:p>
        </p:txBody>
      </p:sp>
      <p:sp>
        <p:nvSpPr>
          <p:cNvPr id="28" name="Rounded Rectangle 27"/>
          <p:cNvSpPr/>
          <p:nvPr/>
        </p:nvSpPr>
        <p:spPr>
          <a:xfrm>
            <a:off x="807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2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6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应用意义</a:t>
            </a:r>
          </a:p>
        </p:txBody>
      </p:sp>
      <p:sp>
        <p:nvSpPr>
          <p:cNvPr id="31" name="TextBox 30"/>
          <p:cNvSpPr txBox="1"/>
          <p:nvPr/>
        </p:nvSpPr>
        <p:spPr>
          <a:xfrm>
            <a:off x="822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服务基础模型与产业落地</a:t>
            </a:r>
          </a:p>
        </p:txBody>
      </p:sp>
      <p:sp>
        <p:nvSpPr>
          <p:cNvPr id="32" name="TextBox 31"/>
          <p:cNvSpPr txBox="1"/>
          <p:nvPr/>
        </p:nvSpPr>
        <p:spPr>
          <a:xfrm>
            <a:off x="822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使智能体覆盖缺少接口的存量软件；可验证环境与训练数据直接服务前沿基础模型后训练及行业流程自动化</a:t>
            </a:r>
          </a:p>
        </p:txBody>
      </p:sp>
      <p:sp>
        <p:nvSpPr>
          <p:cNvPr id="33" name="Rounded Rectangle 32"/>
          <p:cNvSpPr/>
          <p:nvPr/>
        </p:nvSpPr>
        <p:spPr>
          <a:xfrm>
            <a:off x="1053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51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选题价值：</a:t>
            </a:r>
            <a:r>
              <a:rPr sz="1350" b="1" i="0">
                <a:solidFill>
                  <a:srgbClr val="F6C8FF"/>
                </a:solidFill>
                <a:latin typeface="Arial"/>
                <a:ea typeface="微软雅黑"/>
                <a:cs typeface="微软雅黑"/>
              </a:rPr>
              <a:t>统一文本与视觉两类模态</a:t>
            </a:r>
            <a:r>
              <a:rPr sz="1350" b="0" i="0">
                <a:solidFill>
                  <a:srgbClr val="FFFFFF"/>
                </a:solidFill>
                <a:latin typeface="Arial"/>
                <a:ea typeface="微软雅黑"/>
                <a:cs typeface="微软雅黑"/>
              </a:rPr>
              <a:t>，使通用数字智能体高效、可信、可训练地完成真实数字工作</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文本模态方法</a:t>
            </a: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命令行智能体</a:t>
            </a:r>
            <a:r>
              <a:rPr sz="1087"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代码智能体</a:t>
            </a:r>
            <a:r>
              <a:rPr sz="1087" b="0" i="0">
                <a:solidFill>
                  <a:srgbClr val="4A4450"/>
                </a:solidFill>
                <a:latin typeface="Arial"/>
                <a:ea typeface="微软雅黑"/>
                <a:cs typeface="微软雅黑"/>
              </a:rPr>
              <a:t>　SWE-agent [Yang+, NeurIPS 24] · OpenHands · SWE-Gym [Pan+, ICML 25]</a:t>
            </a: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视觉模态方法</a:t>
            </a: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原生 GUI 智能体</a:t>
            </a:r>
            <a:r>
              <a:rPr sz="1087" b="0" i="0">
                <a:solidFill>
                  <a:srgbClr val="4A4450"/>
                </a:solidFill>
                <a:latin typeface="Arial"/>
                <a:ea typeface="微软雅黑"/>
                <a:cs typeface="微软雅黑"/>
              </a:rPr>
              <a:t>　OSWorld [Xie+, NeurIPS 24] · UI-TARS-2 [Seed, 2025] · OpenCUA</a:t>
            </a: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高效视觉推理</a:t>
            </a:r>
            <a:r>
              <a:rPr sz="1087" b="0" i="0">
                <a:solidFill>
                  <a:srgbClr val="4A4450"/>
                </a:solidFill>
                <a:latin typeface="Arial"/>
                <a:ea typeface="微软雅黑"/>
                <a:cs typeface="微软雅黑"/>
              </a:rPr>
              <a:t>　FastV [Chen+, ECCV 24] · SnapKV [Li+, NeurIPS 24]</a:t>
            </a: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混合模态方法</a:t>
            </a: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多智能体协作</a:t>
            </a:r>
            <a:r>
              <a:rPr sz="1087" b="0" i="0">
                <a:solidFill>
                  <a:srgbClr val="4A4450"/>
                </a:solidFill>
                <a:latin typeface="Arial"/>
                <a:ea typeface="微软雅黑"/>
                <a:cs typeface="微软雅黑"/>
              </a:rPr>
              <a:t>　CoAct-1：GUI 操作员 + 程序员 [Song+, ICLR 26]</a:t>
            </a: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工具增强 GUI</a:t>
            </a:r>
            <a:r>
              <a:rPr sz="1087" b="0" i="0">
                <a:solidFill>
                  <a:srgbClr val="4A4450"/>
                </a:solidFill>
                <a:latin typeface="Arial"/>
                <a:ea typeface="微软雅黑"/>
                <a:cs typeface="微软雅黑"/>
              </a:rPr>
              <a:t>　OSWorld-MCP：GUI 之外提供 MCP 工具 [Jia+, 2025]</a:t>
            </a: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可验证环境构建</a:t>
            </a:r>
            <a:r>
              <a:rPr sz="1087" b="0" i="0">
                <a:solidFill>
                  <a:srgbClr val="4A4450"/>
                </a:solidFill>
                <a:latin typeface="Arial"/>
                <a:ea typeface="微软雅黑"/>
                <a:cs typeface="微软雅黑"/>
              </a:rPr>
              <a:t>　GUI-Genesis：重建应用为可验证环境 [Cao+, 2026]</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文本模态方法：命令行智能体与代码智能体</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文本模态</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：凡依赖渲染结果与视觉反馈的任务，必须引入视觉模态</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视觉模态方法：原生 GUI 智能体与高效视觉推理</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视觉模态</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结构的高效感知方法，并与文本模态互补使用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混合模态方法：混合智能体与可验证训练环境</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仅文本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仅视觉</a:t>
            </a:r>
          </a:p>
          <a:p>
            <a:pPr algn="ctr">
              <a:lnSpc>
                <a:spcPts val="1350"/>
              </a:lnSpc>
              <a:spcBef>
                <a:spcPts val="0"/>
              </a:spcBef>
              <a:spcAft>
                <a:spcPts val="0"/>
              </a:spcAft>
            </a:pPr>
            <a:r>
              <a:rPr sz="900" b="0" i="0">
                <a:solidFill>
                  <a:srgbClr val="4A4450"/>
                </a:solidFill>
                <a:latin typeface="Arial"/>
                <a:ea typeface="微软雅黑"/>
                <a:cs typeface="微软雅黑"/>
              </a:rPr>
              <a:t>文本通道以约一半步数取得相当成功率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第二模态多为辅助（增益约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面临的</a:t>
            </a:r>
            <a:r>
              <a:rPr sz="1500" b="1" i="0">
                <a:solidFill>
                  <a:srgbClr val="C0392B"/>
                </a:solidFill>
                <a:latin typeface="Arial"/>
                <a:ea typeface="微软雅黑"/>
                <a:cs typeface="微软雅黑"/>
              </a:rPr>
              <a:t>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4287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文本模态方法：</a:t>
            </a:r>
            <a:r>
              <a:rPr sz="1125" b="0" i="0">
                <a:solidFill>
                  <a:srgbClr val="1F1A22"/>
                </a:solidFill>
                <a:latin typeface="Arial"/>
                <a:ea typeface="微软雅黑"/>
                <a:cs typeface="微软雅黑"/>
              </a:rPr>
              <a:t>感知局限于可编程接口，无法观测渲染结果，难以完成依赖视觉反馈的任务</a:t>
            </a:r>
          </a:p>
        </p:txBody>
      </p:sp>
      <p:sp>
        <p:nvSpPr>
          <p:cNvPr id="7" name="Rounded Rectangle 6"/>
          <p:cNvSpPr/>
          <p:nvPr/>
        </p:nvSpPr>
        <p:spPr>
          <a:xfrm>
            <a:off x="457200" y="19621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0550" y="19621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F6F8B"/>
                </a:solidFill>
                <a:latin typeface="Arial"/>
                <a:ea typeface="微软雅黑"/>
                <a:cs typeface="微软雅黑"/>
              </a:rPr>
              <a:t>视觉模态方法：</a:t>
            </a:r>
            <a:r>
              <a:rPr sz="1125" b="0" i="0">
                <a:solidFill>
                  <a:srgbClr val="1F1A22"/>
                </a:solidFill>
                <a:latin typeface="Arial"/>
                <a:ea typeface="微软雅黑"/>
                <a:cs typeface="微软雅黑"/>
              </a:rPr>
              <a:t>长程截图引入大量时空冗余，推理开销随步数增长；通用压缩方法未适配 GUI 的结构特性</a:t>
            </a:r>
          </a:p>
        </p:txBody>
      </p:sp>
      <p:sp>
        <p:nvSpPr>
          <p:cNvPr id="9" name="Rounded Rectangle 8"/>
          <p:cNvSpPr/>
          <p:nvPr/>
        </p:nvSpPr>
        <p:spPr>
          <a:xfrm>
            <a:off x="457200" y="24955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0550" y="24955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B7791F"/>
                </a:solidFill>
                <a:latin typeface="Arial"/>
                <a:ea typeface="微软雅黑"/>
                <a:cs typeface="微软雅黑"/>
              </a:rPr>
              <a:t>混合模态方法：</a:t>
            </a:r>
            <a:r>
              <a:rPr sz="1125" b="0" i="0">
                <a:solidFill>
                  <a:srgbClr val="1F1A22"/>
                </a:solidFill>
                <a:latin typeface="Arial"/>
                <a:ea typeface="微软雅黑"/>
                <a:cs typeface="微软雅黑"/>
              </a:rPr>
              <a:t>缺少强制模态协同、审计执行过程的评测范式；缺少可验证的混合训练环境与行为训练方法</a:t>
            </a:r>
          </a:p>
        </p:txBody>
      </p:sp>
      <p:sp>
        <p:nvSpPr>
          <p:cNvPr id="11" name="TextBox 10"/>
          <p:cNvSpPr txBox="1"/>
          <p:nvPr/>
        </p:nvSpPr>
        <p:spPr>
          <a:xfrm>
            <a:off x="457200" y="310515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关键技术</a:t>
            </a:r>
            <a:r>
              <a:rPr sz="1500" b="1" i="0">
                <a:solidFill>
                  <a:srgbClr val="C0392B"/>
                </a:solidFill>
                <a:latin typeface="Arial"/>
                <a:ea typeface="微软雅黑"/>
                <a:cs typeface="微软雅黑"/>
              </a:rPr>
              <a:t>问题</a:t>
            </a:r>
          </a:p>
        </p:txBody>
      </p:sp>
      <p:sp>
        <p:nvSpPr>
          <p:cNvPr id="12" name="Rectangle 11"/>
          <p:cNvSpPr/>
          <p:nvPr/>
        </p:nvSpPr>
        <p:spPr>
          <a:xfrm>
            <a:off x="457200" y="342900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562350"/>
            <a:ext cx="11334750" cy="25896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1A22"/>
                </a:solidFill>
                <a:latin typeface="Arial"/>
                <a:ea typeface="微软雅黑"/>
                <a:cs typeface="微软雅黑"/>
              </a:rPr>
              <a:t>统一文本与视觉模态，构建</a:t>
            </a:r>
            <a:r>
              <a:rPr sz="1275" b="1" i="0">
                <a:solidFill>
                  <a:srgbClr val="660874"/>
                </a:solidFill>
                <a:latin typeface="Arial"/>
                <a:ea typeface="微软雅黑"/>
                <a:cs typeface="微软雅黑"/>
              </a:rPr>
              <a:t>高效、可信度量、可训练且可规模化</a:t>
            </a:r>
            <a:r>
              <a:rPr sz="1275" b="1" i="0">
                <a:solidFill>
                  <a:srgbClr val="1F1A22"/>
                </a:solidFill>
                <a:latin typeface="Arial"/>
                <a:ea typeface="微软雅黑"/>
                <a:cs typeface="微软雅黑"/>
              </a:rPr>
              <a:t>的混合界面计算机操作框架</a:t>
            </a:r>
          </a:p>
        </p:txBody>
      </p:sp>
      <p:sp>
        <p:nvSpPr>
          <p:cNvPr id="14" name="TextBox 13"/>
          <p:cNvSpPr txBox="1"/>
          <p:nvPr/>
        </p:nvSpPr>
        <p:spPr>
          <a:xfrm>
            <a:off x="685800" y="40386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长程 GUI 轨迹的高效视觉感知与推理</a:t>
            </a:r>
          </a:p>
        </p:txBody>
      </p:sp>
      <p:sp>
        <p:nvSpPr>
          <p:cNvPr id="15" name="Rounded Rectangle 14"/>
          <p:cNvSpPr/>
          <p:nvPr/>
        </p:nvSpPr>
        <p:spPr>
          <a:xfrm>
            <a:off x="8686800" y="40767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67750" y="40862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效率优化</a:t>
            </a:r>
          </a:p>
        </p:txBody>
      </p:sp>
      <p:sp>
        <p:nvSpPr>
          <p:cNvPr id="17" name="TextBox 16"/>
          <p:cNvSpPr txBox="1"/>
          <p:nvPr/>
        </p:nvSpPr>
        <p:spPr>
          <a:xfrm>
            <a:off x="685800" y="44958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综合数字智能体范式的构建与可信评测</a:t>
            </a:r>
          </a:p>
        </p:txBody>
      </p:sp>
      <p:sp>
        <p:nvSpPr>
          <p:cNvPr id="18" name="Rounded Rectangle 17"/>
          <p:cNvSpPr/>
          <p:nvPr/>
        </p:nvSpPr>
        <p:spPr>
          <a:xfrm>
            <a:off x="8686800" y="45339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67750" y="45434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 · 范式构建</a:t>
            </a:r>
          </a:p>
        </p:txBody>
      </p:sp>
      <p:sp>
        <p:nvSpPr>
          <p:cNvPr id="20" name="TextBox 19"/>
          <p:cNvSpPr txBox="1"/>
          <p:nvPr/>
        </p:nvSpPr>
        <p:spPr>
          <a:xfrm>
            <a:off x="685800" y="49530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混合行为模式（自主编排与自我验证）的可验证训练</a:t>
            </a:r>
          </a:p>
        </p:txBody>
      </p:sp>
      <p:sp>
        <p:nvSpPr>
          <p:cNvPr id="21" name="Rounded Rectangle 20"/>
          <p:cNvSpPr/>
          <p:nvPr/>
        </p:nvSpPr>
        <p:spPr>
          <a:xfrm>
            <a:off x="8686800" y="49911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67750" y="50006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研究三 · 行为训练</a:t>
            </a:r>
          </a:p>
        </p:txBody>
      </p:sp>
      <p:sp>
        <p:nvSpPr>
          <p:cNvPr id="23" name="TextBox 22"/>
          <p:cNvSpPr txBox="1"/>
          <p:nvPr/>
        </p:nvSpPr>
        <p:spPr>
          <a:xfrm>
            <a:off x="685800" y="54102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面向多领域的可验证交互环境规模化构建</a:t>
            </a:r>
          </a:p>
        </p:txBody>
      </p:sp>
      <p:sp>
        <p:nvSpPr>
          <p:cNvPr id="24" name="Rounded Rectangle 23"/>
          <p:cNvSpPr/>
          <p:nvPr/>
        </p:nvSpPr>
        <p:spPr>
          <a:xfrm>
            <a:off x="8686800" y="54483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7750" y="54578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 · 环境扩展</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研究框架：以关键技术问题为牵引，前一项研究的结论构成后一项研究的动机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a:t>
            </a: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10" name="TextBox 9"/>
          <p:cNvSpPr txBox="1"/>
          <p:nvPr/>
        </p:nvSpPr>
        <p:spPr>
          <a:xfrm>
            <a:off x="590550"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长程 GUI 轨迹的高效视觉感知与推理</a:t>
            </a:r>
          </a:p>
        </p:txBody>
      </p:sp>
      <p:sp>
        <p:nvSpPr>
          <p:cNvPr id="11" name="TextBox 10"/>
          <p:cNvSpPr txBox="1"/>
          <p:nvPr/>
        </p:nvSpPr>
        <p:spPr>
          <a:xfrm>
            <a:off x="59055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GUIPruner · ST-Lite（已完成）</a:t>
            </a:r>
          </a:p>
        </p:txBody>
      </p:sp>
      <p:pic>
        <p:nvPicPr>
          <p:cNvPr id="12" name="Picture 11" descr="guipruner.png"/>
          <p:cNvPicPr>
            <a:picLocks noChangeAspect="1"/>
          </p:cNvPicPr>
          <p:nvPr/>
        </p:nvPicPr>
        <p:blipFill>
          <a:blip r:embed="rId2"/>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a:t>
            </a: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18" name="TextBox 17"/>
          <p:cNvSpPr txBox="1"/>
          <p:nvPr/>
        </p:nvSpPr>
        <p:spPr>
          <a:xfrm>
            <a:off x="345757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综合数字智能体范式的构建与可信评测</a:t>
            </a:r>
          </a:p>
        </p:txBody>
      </p:sp>
      <p:sp>
        <p:nvSpPr>
          <p:cNvPr id="19" name="TextBox 18"/>
          <p:cNvSpPr txBox="1"/>
          <p:nvPr/>
        </p:nvSpPr>
        <p:spPr>
          <a:xfrm>
            <a:off x="345757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WeaveBench（已完成）</a:t>
            </a:r>
          </a:p>
        </p:txBody>
      </p:sp>
      <p:pic>
        <p:nvPicPr>
          <p:cNvPr id="20" name="Picture 19" descr="fig_overview_new-1.png"/>
          <p:cNvPicPr>
            <a:picLocks noChangeAspect="1"/>
          </p:cNvPicPr>
          <p:nvPr/>
        </p:nvPicPr>
        <p:blipFill>
          <a:blip r:embed="rId3"/>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a:t>
            </a: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26" name="TextBox 25"/>
          <p:cNvSpPr txBox="1"/>
          <p:nvPr/>
        </p:nvSpPr>
        <p:spPr>
          <a:xfrm>
            <a:off x="6324600" y="1866900"/>
            <a:ext cx="2476500" cy="206573"/>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混合行为模式的可验证训练方法</a:t>
            </a:r>
          </a:p>
        </p:txBody>
      </p:sp>
      <p:sp>
        <p:nvSpPr>
          <p:cNvPr id="27" name="TextBox 26"/>
          <p:cNvSpPr txBox="1"/>
          <p:nvPr/>
        </p:nvSpPr>
        <p:spPr>
          <a:xfrm>
            <a:off x="632460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RecreationWorld（已完成）</a:t>
            </a:r>
          </a:p>
        </p:txBody>
      </p:sp>
      <p:pic>
        <p:nvPicPr>
          <p:cNvPr id="28" name="Picture 27" descr="rw_fig2_recreation.png"/>
          <p:cNvPicPr>
            <a:picLocks noChangeAspect="1"/>
          </p:cNvPicPr>
          <p:nvPr/>
        </p:nvPicPr>
        <p:blipFill>
          <a:blip r:embed="rId4"/>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34" name="TextBox 33"/>
          <p:cNvSpPr txBox="1"/>
          <p:nvPr/>
        </p:nvSpPr>
        <p:spPr>
          <a:xfrm>
            <a:off x="919162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面向多领域的可验证交互环境规模化构建</a:t>
            </a:r>
          </a:p>
        </p:txBody>
      </p:sp>
      <p:sp>
        <p:nvSpPr>
          <p:cNvPr id="35" name="TextBox 34"/>
          <p:cNvSpPr txBox="1"/>
          <p:nvPr/>
        </p:nvSpPr>
        <p:spPr>
          <a:xfrm>
            <a:off x="919162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App Mock · 真实数据 · SFT/RL（待完成）</a:t>
            </a:r>
          </a:p>
        </p:txBody>
      </p:sp>
      <p:pic>
        <p:nvPicPr>
          <p:cNvPr id="36" name="Picture 35" descr="ac_scaling_framework.png"/>
          <p:cNvPicPr>
            <a:picLocks noChangeAspect="1"/>
          </p:cNvPicPr>
          <p:nvPr/>
        </p:nvPicPr>
        <p:blipFill>
          <a:blip r:embed="rId5"/>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8" name="TextBox 37"/>
          <p:cNvSpPr txBox="1"/>
          <p:nvPr/>
        </p:nvSpPr>
        <p:spPr>
          <a:xfrm>
            <a:off x="5943600"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9" name="TextBox 38"/>
          <p:cNvSpPr txBox="1"/>
          <p:nvPr/>
        </p:nvSpPr>
        <p:spPr>
          <a:xfrm>
            <a:off x="881062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40" name="TextBox 39"/>
          <p:cNvSpPr txBox="1"/>
          <p:nvPr/>
        </p:nvSpPr>
        <p:spPr>
          <a:xfrm>
            <a:off x="457200" y="4419600"/>
            <a:ext cx="11334750" cy="200025"/>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B7791F"/>
                </a:solidFill>
                <a:latin typeface="Arial"/>
                <a:ea typeface="微软雅黑"/>
                <a:cs typeface="微软雅黑"/>
              </a:rPr>
              <a:t>研究结论与衔接</a:t>
            </a: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研究一 → 二</a:t>
            </a:r>
            <a:r>
              <a:rPr sz="1012" b="0" i="0">
                <a:solidFill>
                  <a:srgbClr val="1F1A22"/>
                </a:solidFill>
                <a:latin typeface="Arial"/>
                <a:ea typeface="微软雅黑"/>
                <a:cs typeface="微软雅黑"/>
              </a:rPr>
              <a:t>　效率优化受限于纯视觉范式：同一模型仅用文本通道成功率 79.1%，与纯视觉 77.3% 相当而步数减半，应统一两类模态</a:t>
            </a: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研究二 → 三</a:t>
            </a:r>
            <a:r>
              <a:rPr sz="1012" b="0" i="0">
                <a:solidFill>
                  <a:srgbClr val="1F1A22"/>
                </a:solidFill>
                <a:latin typeface="Arial"/>
                <a:ea typeface="微软雅黑"/>
                <a:cs typeface="微软雅黑"/>
              </a:rPr>
              <a:t>　瓶颈在于自主编排与自我验证：65.6% 的失败源于违规取巧与长程失控，视觉感知错误不足 4%，需训练新的行为模式</a:t>
            </a: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研究三 → 四</a:t>
            </a:r>
            <a:r>
              <a:rPr sz="1012" b="0" i="0">
                <a:solidFill>
                  <a:srgbClr val="1F1A22"/>
                </a:solidFill>
                <a:latin typeface="Arial"/>
                <a:ea typeface="微软雅黑"/>
                <a:cs typeface="微软雅黑"/>
              </a:rPr>
              <a:t>　可验证环境中习得的行为可迁移：5 个分布外基准一致提升，应扩展环境的领域覆盖与规模</a:t>
            </a:r>
          </a:p>
        </p:txBody>
      </p:sp>
      <p:sp>
        <p:nvSpPr>
          <p:cNvPr id="47" name="TextBox 4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课题一：长程 GUI 轨迹的高效视觉感知与推理（已完成）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长程轨迹中高分辨率截图持续累积，视觉 token 与 KV 缓存线性膨胀；通用压缩方法忽视帧间冗余与界面二维结构</a:t>
            </a:r>
          </a:p>
        </p:txBody>
      </p:sp>
      <p:sp>
        <p:nvSpPr>
          <p:cNvPr id="10" name="TextBox 9"/>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编码端提出 </a:t>
            </a:r>
            <a:r>
              <a:rPr sz="1125" b="1" i="0">
                <a:solidFill>
                  <a:srgbClr val="1F1A22"/>
                </a:solidFill>
                <a:latin typeface="Arial"/>
                <a:ea typeface="微软雅黑"/>
                <a:cs typeface="微软雅黑"/>
              </a:rPr>
              <a:t>GUIPruner</a:t>
            </a:r>
            <a:r>
              <a:rPr sz="1125" b="0" i="0">
                <a:solidFill>
                  <a:srgbClr val="1F1A22"/>
                </a:solidFill>
                <a:latin typeface="Arial"/>
                <a:ea typeface="微软雅黑"/>
                <a:cs typeface="微软雅黑"/>
              </a:rPr>
              <a:t>：时间自适应分辨率 + 结构感知剪枝；解码端提出 </a:t>
            </a:r>
            <a:r>
              <a:rPr sz="1125" b="1" i="0">
                <a:solidFill>
                  <a:srgbClr val="1F1A22"/>
                </a:solidFill>
                <a:latin typeface="Arial"/>
                <a:ea typeface="微软雅黑"/>
                <a:cs typeface="微软雅黑"/>
              </a:rPr>
              <a:t>ST-Lite</a:t>
            </a:r>
            <a:r>
              <a:rPr sz="1125" b="0" i="0">
                <a:solidFill>
                  <a:srgbClr val="1F1A22"/>
                </a:solidFill>
                <a:latin typeface="Arial"/>
                <a:ea typeface="微软雅黑"/>
                <a:cs typeface="微软雅黑"/>
              </a:rPr>
              <a:t>：轨迹门控 + 组件显著性 KV 压缩</a:t>
            </a: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2"/>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a:t>
            </a: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3"/>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a:t>
            </a:r>
          </a:p>
        </p:txBody>
      </p:sp>
      <p:sp>
        <p:nvSpPr>
          <p:cNvPr id="17" name="TextBox 16"/>
          <p:cNvSpPr txBox="1"/>
          <p:nvPr/>
        </p:nvSpPr>
        <p:spPr>
          <a:xfrm>
            <a:off x="9715500" y="20955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3.4×</a:t>
            </a:r>
          </a:p>
        </p:txBody>
      </p:sp>
      <p:sp>
        <p:nvSpPr>
          <p:cNvPr id="18" name="TextBox 17"/>
          <p:cNvSpPr txBox="1"/>
          <p:nvPr/>
        </p:nvSpPr>
        <p:spPr>
          <a:xfrm>
            <a:off x="9715500" y="24003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9" name="TextBox 18"/>
          <p:cNvSpPr txBox="1"/>
          <p:nvPr/>
        </p:nvSpPr>
        <p:spPr>
          <a:xfrm>
            <a:off x="9715500" y="29527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3.3×</a:t>
            </a:r>
          </a:p>
        </p:txBody>
      </p:sp>
      <p:sp>
        <p:nvSpPr>
          <p:cNvPr id="20" name="TextBox 19"/>
          <p:cNvSpPr txBox="1"/>
          <p:nvPr/>
        </p:nvSpPr>
        <p:spPr>
          <a:xfrm>
            <a:off x="9715500" y="32575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1" name="TextBox 20"/>
          <p:cNvSpPr txBox="1"/>
          <p:nvPr/>
        </p:nvSpPr>
        <p:spPr>
          <a:xfrm>
            <a:off x="9715500" y="38100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1E7B5A"/>
                </a:solidFill>
                <a:latin typeface="Arial"/>
                <a:ea typeface="微软雅黑"/>
                <a:cs typeface="微软雅黑"/>
              </a:rPr>
              <a:t>20% KV</a:t>
            </a:r>
          </a:p>
        </p:txBody>
      </p:sp>
      <p:sp>
        <p:nvSpPr>
          <p:cNvPr id="22" name="TextBox 21"/>
          <p:cNvSpPr txBox="1"/>
          <p:nvPr/>
        </p:nvSpPr>
        <p:spPr>
          <a:xfrm>
            <a:off x="9715500" y="41148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3" name="TextBox 22"/>
          <p:cNvSpPr txBox="1"/>
          <p:nvPr/>
        </p:nvSpPr>
        <p:spPr>
          <a:xfrm>
            <a:off x="9715500" y="46672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2.35×</a:t>
            </a:r>
          </a:p>
        </p:txBody>
      </p:sp>
      <p:sp>
        <p:nvSpPr>
          <p:cNvPr id="24" name="TextBox 23"/>
          <p:cNvSpPr txBox="1"/>
          <p:nvPr/>
        </p:nvSpPr>
        <p:spPr>
          <a:xfrm>
            <a:off x="9715500" y="49720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结论：两端协同显著降低开销，但效率优化受限于纯视觉范式本身 → </a:t>
            </a:r>
            <a:r>
              <a:rPr sz="1350" b="1" i="0">
                <a:solidFill>
                  <a:srgbClr val="F6C8FF"/>
                </a:solidFill>
                <a:latin typeface="Arial"/>
                <a:ea typeface="微软雅黑"/>
                <a:cs typeface="微软雅黑"/>
              </a:rPr>
              <a:t>研究二重新审视任务范式</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课题二：综合数字智能体范式的构建与可信评测（已完成）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现有基准将文本与视觉割裂评测，任务可在单一模态内完成；仅依据最终结果判分，难以度量模态协同能力</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提出 </a:t>
            </a:r>
            <a:r>
              <a:rPr sz="1125" b="1" i="0">
                <a:solidFill>
                  <a:srgbClr val="1F1A22"/>
                </a:solidFill>
                <a:latin typeface="Arial"/>
                <a:ea typeface="微软雅黑"/>
                <a:cs typeface="微软雅黑"/>
              </a:rPr>
              <a:t>WeaveBench</a:t>
            </a:r>
            <a:r>
              <a:rPr sz="1125" b="0" i="0">
                <a:solidFill>
                  <a:srgbClr val="1F1A22"/>
                </a:solidFill>
                <a:latin typeface="Arial"/>
                <a:ea typeface="微软雅黑"/>
                <a:cs typeface="微软雅黑"/>
              </a:rPr>
              <a:t>，形式化定义融合两类模态的综合数字智能体范式：真实运行时 + 模态必需的长程任务 + 轨迹审计判分</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2026）：任务构造、运行时与轨迹感知判官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失败源于违规取巧与长程失控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自主编排与自我验证</a:t>
            </a:r>
            <a:r>
              <a:rPr sz="1350" b="0" i="0">
                <a:solidFill>
                  <a:srgbClr val="FFFFFF"/>
                </a:solidFill>
                <a:latin typeface="Arial"/>
                <a:ea typeface="微软雅黑"/>
                <a:cs typeface="微软雅黑"/>
              </a:rPr>
              <a:t>；仅依据结果的奖励易被利用 → </a:t>
            </a:r>
            <a:r>
              <a:rPr sz="1350" b="1" i="0">
                <a:solidFill>
                  <a:srgbClr val="F6C8FF"/>
                </a:solidFill>
                <a:latin typeface="Arial"/>
                <a:ea typeface="微软雅黑"/>
                <a:cs typeface="微软雅黑"/>
              </a:rPr>
              <a:t>研究三</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课题三：混合行为模式的可验证训练方法（已完成）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（Core Contributor · Qwen 团队）：探索原版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自主编排与自我验证需在</a:t>
            </a:r>
            <a:r>
              <a:rPr sz="1087" b="1" i="0">
                <a:solidFill>
                  <a:srgbClr val="1F1A22"/>
                </a:solidFill>
                <a:latin typeface="Arial"/>
                <a:ea typeface="微软雅黑"/>
                <a:cs typeface="微软雅黑"/>
              </a:rPr>
              <a:t>模态交织、结果可验证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t>
            </a:r>
            <a:r>
              <a:rPr sz="1087" b="0" i="0">
                <a:solidFill>
                  <a:srgbClr val="1F1A22"/>
                </a:solidFill>
                <a:latin typeface="Arial"/>
                <a:ea typeface="微软雅黑"/>
                <a:cs typeface="微软雅黑"/>
              </a:rPr>
              <a:t>为训练场景：规格存在于界面中、交付物为代码、正确性需运行后视觉核验，天然要求两类模态交织；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a:t>
            </a:r>
          </a:p>
        </p:txBody>
      </p:sp>
      <p:sp>
        <p:nvSpPr>
          <p:cNvPr id="19" name="Rounded Rectangle 18"/>
          <p:cNvSpPr/>
          <p:nvPr/>
        </p:nvSpPr>
        <p:spPr>
          <a:xfrm>
            <a:off x="7429500" y="3810000"/>
            <a:ext cx="4305300" cy="2286000"/>
          </a:xfrm>
          <a:prstGeom prst="roundRect">
            <a:avLst>
              <a:gd name="adj" fmla="val 3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120950" y="3867150"/>
            <a:ext cx="2922398" cy="18478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 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WeaveBench（研究二）上的提升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研究四扩展环境的领域与规模</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课题四：面向多领域的可验证交互环境规模化构建（待完成）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复刻环境覆盖的软件类型有限；金融、法律、电商、医疗等行业流程依赖私有系统与真实业务数据，缺少可交互、可验证的训练环境</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① </a:t>
            </a:r>
            <a:r>
              <a:rPr sz="1125" b="1" i="0">
                <a:solidFill>
                  <a:srgbClr val="1F1A22"/>
                </a:solidFill>
                <a:latin typeface="Arial"/>
                <a:ea typeface="微软雅黑"/>
                <a:cs typeface="微软雅黑"/>
              </a:rPr>
              <a:t>App Mock</a:t>
            </a:r>
            <a:r>
              <a:rPr sz="1125" b="0" i="0">
                <a:solidFill>
                  <a:srgbClr val="1F1A22"/>
                </a:solidFill>
                <a:latin typeface="Arial"/>
                <a:ea typeface="微软雅黑"/>
                <a:cs typeface="微软雅黑"/>
              </a:rPr>
              <a:t>：仿真行业业务系统；② </a:t>
            </a:r>
            <a:r>
              <a:rPr sz="1125" b="1" i="0">
                <a:solidFill>
                  <a:srgbClr val="1F1A22"/>
                </a:solidFill>
                <a:latin typeface="Arial"/>
                <a:ea typeface="微软雅黑"/>
                <a:cs typeface="微软雅黑"/>
              </a:rPr>
              <a:t>真实数据驱动</a:t>
            </a:r>
            <a:r>
              <a:rPr sz="1125" b="0" i="0">
                <a:solidFill>
                  <a:srgbClr val="1F1A22"/>
                </a:solidFill>
                <a:latin typeface="Arial"/>
                <a:ea typeface="微软雅黑"/>
                <a:cs typeface="微软雅黑"/>
              </a:rPr>
              <a:t>：以脱敏数据驱动状态与事件演化；③ </a:t>
            </a:r>
            <a:r>
              <a:rPr sz="1125" b="1" i="0">
                <a:solidFill>
                  <a:srgbClr val="1F1A22"/>
                </a:solidFill>
                <a:latin typeface="Arial"/>
                <a:ea typeface="微软雅黑"/>
                <a:cs typeface="微软雅黑"/>
              </a:rPr>
              <a:t>SFT &amp; RL 任务构造流水线</a:t>
            </a: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2"/>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可验证环境规模化构建流程（示意图）</a:t>
            </a: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3"/>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目标领域：金融 · 法律 · 电商 · 医疗健康 · 办公协作 · 工程（示意图）</a:t>
            </a:r>
          </a:p>
        </p:txBody>
      </p:sp>
      <p:sp>
        <p:nvSpPr>
          <p:cNvPr id="19" name="TextBox 18"/>
          <p:cNvSpPr txBox="1"/>
          <p:nvPr/>
        </p:nvSpPr>
        <p:spPr>
          <a:xfrm>
            <a:off x="7277100" y="5010150"/>
            <a:ext cx="44958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 状态优先的 verifier：以数据库状态校验结果，抑制奖励利用</a:t>
            </a:r>
          </a:p>
          <a:p>
            <a:pPr algn="l">
              <a:lnSpc>
                <a:spcPts val="1670"/>
              </a:lnSpc>
              <a:spcBef>
                <a:spcPts val="0"/>
              </a:spcBef>
              <a:spcAft>
                <a:spcPts val="0"/>
              </a:spcAft>
            </a:pPr>
            <a:r>
              <a:rPr sz="1012" b="0" i="0">
                <a:solidFill>
                  <a:srgbClr val="1F1A22"/>
                </a:solidFill>
                <a:latin typeface="Arial"/>
                <a:ea typeface="微软雅黑"/>
                <a:cs typeface="微软雅黑"/>
              </a:rPr>
              <a:t>• 事件依附业务动作，支持长程、跨应用的协作任务</a:t>
            </a:r>
          </a:p>
          <a:p>
            <a:pPr algn="l">
              <a:lnSpc>
                <a:spcPts val="1670"/>
              </a:lnSpc>
              <a:spcBef>
                <a:spcPts val="0"/>
              </a:spcBef>
              <a:spcAft>
                <a:spcPts val="0"/>
              </a:spcAft>
            </a:pPr>
            <a:r>
              <a:rPr sz="1012" b="0" i="0">
                <a:solidFill>
                  <a:srgbClr val="1F1A22"/>
                </a:solidFill>
                <a:latin typeface="Arial"/>
                <a:ea typeface="微软雅黑"/>
                <a:cs typeface="微软雅黑"/>
              </a:rPr>
              <a:t>• 研究一的压缩方法用于降低强化学习 rollout 开销</a:t>
            </a:r>
          </a:p>
        </p:txBody>
      </p:sp>
      <p:sp>
        <p:nvSpPr>
          <p:cNvPr id="20" name="TextBox 1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15906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Core Contributor · 研究三</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研究一至研究三已完成，形成</a:t>
            </a:r>
            <a:r>
              <a:rPr sz="1350" b="1" i="0">
                <a:solidFill>
                  <a:srgbClr val="F6C8FF"/>
                </a:solidFill>
                <a:latin typeface="Arial"/>
                <a:ea typeface="微软雅黑"/>
                <a:cs typeface="微软雅黑"/>
              </a:rPr>
              <a:t>效率优化—范式构建—行为训练</a:t>
            </a:r>
            <a:r>
              <a:rPr sz="1350" b="0" i="0">
                <a:solidFill>
                  <a:srgbClr val="FFFFFF"/>
                </a:solidFill>
                <a:latin typeface="Arial"/>
                <a:ea typeface="微软雅黑"/>
                <a:cs typeface="微软雅黑"/>
              </a:rPr>
              <a:t>的研究基础；后续聚焦研究四</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研究计划：面向多领域的可验证交互环境规模化构建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App Mock</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金融 / 法律 / 电商 / 医疗等业务系统调研</a:t>
            </a:r>
          </a:p>
          <a:p>
            <a:pPr algn="l">
              <a:lnSpc>
                <a:spcPts val="1837"/>
              </a:lnSpc>
              <a:spcBef>
                <a:spcPts val="0"/>
              </a:spcBef>
              <a:spcAft>
                <a:spcPts val="0"/>
              </a:spcAft>
            </a:pPr>
            <a:r>
              <a:rPr sz="1050" b="0" i="0">
                <a:solidFill>
                  <a:srgbClr val="4A4450"/>
                </a:solidFill>
                <a:latin typeface="Arial"/>
                <a:ea typeface="微软雅黑"/>
                <a:cs typeface="微软雅黑"/>
              </a:rPr>
              <a:t>• 基于复刻能力构建可交互仿真应用</a:t>
            </a:r>
          </a:p>
          <a:p>
            <a:pPr algn="l">
              <a:lnSpc>
                <a:spcPts val="1837"/>
              </a:lnSpc>
              <a:spcBef>
                <a:spcPts val="0"/>
              </a:spcBef>
              <a:spcAft>
                <a:spcPts val="0"/>
              </a:spcAft>
            </a:pPr>
            <a:r>
              <a:rPr sz="1050" b="0" i="0">
                <a:solidFill>
                  <a:srgbClr val="4A4450"/>
                </a:solidFill>
                <a:latin typeface="Arial"/>
                <a:ea typeface="微软雅黑"/>
                <a:cs typeface="微软雅黑"/>
              </a:rPr>
              <a:t>• 多应用互通与统一状态数据库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真实数据驱动的环境模拟</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长程事件：需求变更、跨应用协作</a:t>
            </a:r>
          </a:p>
          <a:p>
            <a:pPr algn="l">
              <a:lnSpc>
                <a:spcPts val="1837"/>
              </a:lnSpc>
              <a:spcBef>
                <a:spcPts val="0"/>
              </a:spcBef>
              <a:spcAft>
                <a:spcPts val="0"/>
              </a:spcAft>
            </a:pPr>
            <a:r>
              <a:rPr sz="1050" b="0" i="0">
                <a:solidFill>
                  <a:srgbClr val="4A4450"/>
                </a:solidFill>
                <a:latin typeface="Arial"/>
                <a:ea typeface="微软雅黑"/>
                <a:cs typeface="微软雅黑"/>
              </a:rPr>
              <a:t>• 状态优先的 verifier 与防奖励利用</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SFT &amp; RL 任务构造与训练</a:t>
            </a:r>
          </a:p>
        </p:txBody>
      </p:sp>
      <p:sp>
        <p:nvSpPr>
          <p:cNvPr id="20" name="TextBox 19"/>
          <p:cNvSpPr txBox="1"/>
          <p:nvPr/>
        </p:nvSpPr>
        <p:spPr>
          <a:xfrm>
            <a:off x="6324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任务生成 → 轨迹 → verifier 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a:p>
            <a:pPr algn="l">
              <a:lnSpc>
                <a:spcPts val="1837"/>
              </a:lnSpc>
              <a:spcBef>
                <a:spcPts val="0"/>
              </a:spcBef>
              <a:spcAft>
                <a:spcPts val="0"/>
              </a:spcAft>
            </a:pPr>
            <a:r>
              <a:rPr sz="1050" b="0" i="0">
                <a:solidFill>
                  <a:srgbClr val="4A4450"/>
                </a:solidFill>
                <a:latin typeface="Arial"/>
                <a:ea typeface="微软雅黑"/>
                <a:cs typeface="微软雅黑"/>
              </a:rPr>
              <a:t>• 研究一的方法降低 rollout 开销；中期检查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四项研究整合为统一框架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495800"/>
            <a:ext cx="10991850" cy="819298"/>
          </a:xfrm>
          <a:prstGeom prst="rect">
            <a:avLst/>
          </a:prstGeom>
          <a:noFill/>
        </p:spPr>
        <p:txBody>
          <a:bodyPr wrap="square" lIns="0" rIns="0" tIns="0" bIns="0" anchor="t">
            <a:noAutofit/>
          </a:bodyPr>
          <a:lstStyle/>
          <a:p>
            <a:pPr algn="l">
              <a:lnSpc>
                <a:spcPts val="2150"/>
              </a:lnSpc>
              <a:spcBef>
                <a:spcPts val="0"/>
              </a:spcBef>
              <a:spcAft>
                <a:spcPts val="0"/>
              </a:spcAft>
            </a:pPr>
            <a:r>
              <a:rPr sz="1162" b="0" i="0">
                <a:solidFill>
                  <a:srgbClr val="1F1A22"/>
                </a:solidFill>
                <a:latin typeface="Arial"/>
                <a:ea typeface="微软雅黑"/>
                <a:cs typeface="微软雅黑"/>
              </a:rPr>
              <a:t>• 构建覆盖多个行业领域的可验证交互环境与 SFT / RL 任务构造流水线，验证其对混合界面智能体能力的提升</a:t>
            </a:r>
          </a:p>
          <a:p>
            <a:pPr algn="l">
              <a:lnSpc>
                <a:spcPts val="2150"/>
              </a:lnSpc>
              <a:spcBef>
                <a:spcPts val="0"/>
              </a:spcBef>
              <a:spcAft>
                <a:spcPts val="0"/>
              </a:spcAft>
            </a:pPr>
            <a:r>
              <a:rPr sz="1162" b="0" i="0">
                <a:solidFill>
                  <a:srgbClr val="1F1A22"/>
                </a:solidFill>
                <a:latin typeface="Arial"/>
                <a:ea typeface="微软雅黑"/>
                <a:cs typeface="微软雅黑"/>
              </a:rPr>
              <a:t>• 形成"效率优化—范式构建—行为训练—环境扩展"的完整技术体系，产出高水平论文并开源基准、环境与代码</a:t>
            </a:r>
          </a:p>
          <a:p>
            <a:pPr algn="l">
              <a:lnSpc>
                <a:spcPts val="2150"/>
              </a:lnSpc>
              <a:spcBef>
                <a:spcPts val="0"/>
              </a:spcBef>
              <a:spcAft>
                <a:spcPts val="0"/>
              </a:spcAft>
            </a:pPr>
            <a:r>
              <a:rPr sz="1162" b="0" i="0">
                <a:solidFill>
                  <a:srgbClr val="1F1A22"/>
                </a:solidFill>
                <a:latin typeface="Arial"/>
                <a:ea typeface="微软雅黑"/>
                <a:cs typeface="微软雅黑"/>
              </a:rPr>
              <a:t>• 完成学位论文</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周博文　｜　指导教师：王好谦 教授</a:t>
            </a:r>
          </a:p>
        </p:txBody>
      </p:sp>
      <p:sp>
        <p:nvSpPr>
          <p:cNvPr id="5" name="TextBox 4"/>
          <p:cNvSpPr txBox="1"/>
          <p:nvPr/>
        </p:nvSpPr>
        <p:spPr>
          <a:xfrm>
            <a:off x="914400" y="4305300"/>
            <a:ext cx="7296150" cy="257175"/>
          </a:xfrm>
          <a:prstGeom prst="rect">
            <a:avLst/>
          </a:prstGeom>
          <a:noFill/>
        </p:spPr>
        <p:txBody>
          <a:bodyPr wrap="none" lIns="0" rIns="0" tIns="0" bIns="0" anchor="ctr">
            <a:noAutofit/>
          </a:bodyPr>
          <a:lstStyle/>
          <a:p>
            <a:pPr algn="l">
              <a:lnSpc>
                <a:spcPct val="100000"/>
              </a:lnSpc>
              <a:spcBef>
                <a:spcPts val="0"/>
              </a:spcBef>
              <a:spcAft>
                <a:spcPts val="0"/>
              </a:spcAft>
            </a:pPr>
            <a:r>
              <a:rPr sz="1125" b="0" i="0">
                <a:solidFill>
                  <a:srgbClr val="8A8490"/>
                </a:solidFill>
                <a:latin typeface="Arial"/>
                <a:ea typeface="微软雅黑"/>
                <a:cs typeface="微软雅黑"/>
              </a:rPr>
              <a:t>zhoubw25@mails.tsinghua.edu.cn　·　bouwenzhou.github.io</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