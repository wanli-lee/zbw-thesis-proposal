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通用数字智能体的目标是在真实计算机环境中自主完成长程数字工作。它具备三种场景能力：命令行操作（Bash）和代码构建（Coding）属于 CLI 能力，图形界面操作属于 GUI 能力。左图是真实任务中的混合轨迹：数据分析、游戏开发、网站运维都需要在命令行与图形界面之间交替。三种能力互补而非互替。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 GUI 能力；混合能力交互已成为前沿基础模型的核心议题。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国内外研究可分为四类：纯 CLI 能力方法，包括命令行智能体与代码智能体；纯 GUI 能力方法，包括原生 GUI 智能体与高效视觉推理；混合能力方法，包括多智能体协作、工具增强 GUI 与可验证环境构建；以及新兴的走向真实世界的智能体，包括个人智能体产品、物理世界生成与机器人使用。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CLI 能力方法：动作精确、执行高效，单元测试提供可验证奖励，强化学习已规模化。不足在于无法观测渲染结果，只能处理有接口的软件。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GUI 能力方法：以截图和键鼠为通用接口，OSWorld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混合能力方法：CoAct-1 让 GUI 操作员与程序员协作，OSWorld-MCP 在 GUI 之外提供工具，GUI-Genesis 将应用重建为可验证环境。右侧对照说明，在以 GUI 为主的 OSWorld 上，同一模型仅用 CLI 即可以约一半步数取得相当的成功率，说明两类能力各有优势。不足在于第二种能力多为辅助，任务未强制协同、只看结果判分；可验证环境局限于单一界面。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第四类是走向真实世界的智能体。个人智能体产品方面，OpenAI dots、Meta Muse 都在云端机器或安全虚拟机中执行，Manus 起初完全在云 VM，2026 年起支持在本机运行；OpenClaw 则运行在用户自己的设备上，Muse 据报道正是以 OpenClaw 为蓝本。物理世界方面，SimWorlds、Text2Sim、4DCodeBench 让 Coding Agent 生成物理世界或复现运动，RobotWorld 评测多模态智能体使用机器人，最强模型成功率仅 19%。不足：个人智能体多在云端通用环境执行，个人化主要体现在记忆，职业特质不鲜明；物理世界生成多以原条件下看起来正确为准，缺少跨条件的物理验证。</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三个挑战分别对应三项研究。第一，任务范式与能力度量失配：纯 GUI 范式偏重，基准割裂评测且只看结果判分。第二，混合行为模式难以习得：缺少可验证奖励与训练环境。第三，通用能力难以落到真实世界：缺少个人环境与职业知识，生成内容不受物理规律约束。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研究框架分三段：研究一做评测，研究二做训练，研究三做应用。前一项研究的结论构成后一项研究的动机。贯穿三项研究的是可扩展：任务、环境和 verifier 都能自动批量构造。</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研究一是评测。我最初的两项工作是在纯 GUI 范式下做推理效率优化：GUIPruner 在编码端做视觉 token 压缩，ST-Lite 在解码端做 KV Cache 压缩，开销显著下降。但做完之后我们意识到，压缩并没有改变纯 GUI 范式每一步都要处理整屏截图的本质，于是反过来问：这个范式本身是否合理？</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 年初，以 CLI 为主、运行在用户个人电脑上的开源智能体 OpenClaw 迅速普及，给了我们启发。我们把这个观察做成受控实验：在 OSWorld 上固定模型、指令和判官，只把纯视觉智能体换成不观察像素的标准 OpenClaw CLI 智能体，成功率 79.1% 对 77.3%，步数只有一半。这说明纯 GUI 范式并非天然合理。但 CLI 也看不到渲染结果，所以合理的范式是混合：以 CLI 为主干，在需要观察和核验时使用 GUI。问题的关键因此从压缩转向任务范式与能力度量，这就引出了 WeaveBench。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WeaveBench 以已部署的 CLI 智能体运行时为底座，加入最小桌面控制插件，形成真实的混合运行时；114 个长程任务覆盖 8 个真实工作领域，每个任务 CLI 与 GUI 需协同；轨迹感知判官审计交付物、文件、截图、日志与动作轨迹。最强组合仅 41.2%，单一能力不超过 3.5%；过程审计修正约 20 个百分点的偏高；65.6% 的失败源于违规取巧与长程失控。结论：瓶颈在自主编排与自我验证，需要训练这种新的行为模式。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研究二回答如何训练这种新的行为模式。自主编排与自我验证需要在能力交织、结果可验证的场景中习得。我们找到的场景是应用复刻：规格在界面里、交付物是代码、对错要运行后看界面，天然要求 CLI 与 GUI 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个百分点；在研究一的 WeaveBench 上从 35.7 提升到 48.2，评测与训练形成闭环。结论是可验证环境中习得的行为可以迁移，引出研究三：推广到真实世界。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研究三的第一个方向是职业化个人智能体。OpenAI dots、Meta Muse、Manus 等产品的个人化主要体现在记忆与对话人设上，任务多在云端通用环境中执行，职业特质并不鲜明。我们认为真正的个人智能体应当满足三点：在用户自己的电脑环境中工作，具备不同职业的业务世界知识，掌握专业软件的使用能力。三者兼备，才能真正作为数字员工帮助不同职业的人提高生产力。</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方法上做多职业可验证环境扩展：第一，App Mock，用研究二的复刻能力把各行业业务软件构建为可交互、可重置的仿真应用，并组装为个人电脑环境；第二，用脱敏的真实业务数据驱动状态与事件演化；第三，构造 SFT 与 RL 任务流水线，verifier 以数据库状态为准。研究一的评测、研究二的训练流程与研究一的压缩方法都在这里复用。</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研究三的第二个方向是物理世界智能体，本质是把 CLI 能力、尤其是 Coding 能力外扩到物理世界，要求产出的代码与内容遵循现实物理规律。以多米诺为例：关键帧动画与物理仿真在原始条件下看起来完全一样；但拉大第 10、11 块骨牌间距后，关键帧动画仍然全部倒下，物理仿真则在间隙处正确中断。只看原任务的视觉效果，无法判断智能体是否真正构建了正确的动力学模型。需要说明，解析式公式不一定错，物理引擎也不保证正确，判断标准是物理行为能否在不同条件下通过独立验证。现有工作分别考察了场景重建、运动复现、机制验证与仿真修复，但尚未统一考察跨条件泛化、错误因果定位和修复后的回归三件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据此提出三个研究问题：RQ1 物理泛化，RQ2 错误诊断，RQ3 可靠修复。方法是物理落地的验证与定向修复：智能体构建物理世界，执行仿真并记录状态轨迹，由基于干预的 verifier 改变参数与初始条件，结合轨迹、接触状态、物理约束与渲染图定位错误，再定向修复并对原始与干预条件做回归测试。核心消融比较 One-shot、执行反馈、视觉反馈、物理状态反馈和我们的方法。主要科学问题是 Coding Agent 能否构建物理上可泛化的世界；方法贡献是基于干预的反馈能否提升仿真修复。这与主线一致：反事实干预就是一种可扩展的 verifier，修复闭环可以作为训练环境。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2026）；WeaveBench（EMNLP 2026）同属研究一；研究二对应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预期创新点有三：一是综合数字智能体范式与轨迹感知评测；二是以原版应用为 oracle 的可扩展可验证训练；三是面向真实世界的环境扩展与物理落地验证。三者共享同一原则：以可执行、可验证的证据度量和训练智能体。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后续计划聚焦研究三：先构建职业化个人电脑环境，再以真实数据驱动环境并构造 SFT 与 RL 任务流水线，然后推进物理世界智能体的反事实干预基准与定向修复方法，最后整合评测、训练与应用三部分完成学位论文。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microsoft.com/office/2007/relationships/media" Target="../media/media4.mp4"/><Relationship Id="rId10" Type="http://schemas.openxmlformats.org/officeDocument/2006/relationships/video" Target="../media/media4.mp4"/><Relationship Id="rId11" Type="http://schemas.openxmlformats.org/officeDocument/2006/relationships/image" Target="../media/image33.jpg"/><Relationship Id="rId1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6.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7.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8.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1.png"/><Relationship Id="rId3" Type="http://schemas.openxmlformats.org/officeDocument/2006/relationships/image" Target="../media/image43.png"/><Relationship Id="rId4" Type="http://schemas.openxmlformats.org/officeDocument/2006/relationships/image" Target="../media/image48.png"/><Relationship Id="rId5"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610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4200"/>
              </a:lnSpc>
              <a:spcBef>
                <a:spcPts val="0"/>
              </a:spcBef>
              <a:spcAft>
                <a:spcPts val="0"/>
              </a:spcAft>
            </a:pPr>
            <a:r>
              <a:rPr sz="3000" b="1" i="0">
                <a:solidFill>
                  <a:srgbClr val="660874"/>
                </a:solidFill>
                <a:latin typeface="Arial"/>
                <a:ea typeface="微软雅黑"/>
                <a:cs typeface="微软雅黑"/>
              </a:rPr>
              <a:t>可扩展评测与训练框架研究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CLI 能力</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GUI 能力</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命令行操作（Bash）</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 能力</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：真实任务要求智能体在同一轨迹中依需求选择并切换能力</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于软件开发、系统运维、内容创作及金融、电商、芯片开发等绝大部分行业业务流程，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 · Godot 游戏 · 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 · RabbitMQ · 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 · Inkscape · 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a_matrix.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多职业业务软件环境</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 GUI 能力完成操作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能否高效、可靠地完成混合能力交互，已成为前沿基础模型能力评测与后训练的核心议题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28650" y="3333750"/>
            <a:ext cx="1809750" cy="533400"/>
          </a:xfrm>
          <a:prstGeom prst="roundRect">
            <a:avLst>
              <a:gd name="adj" fmla="val 17857"/>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75" y="3333750"/>
            <a:ext cx="1866900" cy="5334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38400" y="3600450"/>
            <a:ext cx="3238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771650"/>
            <a:ext cx="19050" cy="3448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552575"/>
            <a:ext cx="2000250" cy="438150"/>
          </a:xfrm>
          <a:prstGeom prst="roundRect">
            <a:avLst>
              <a:gd name="adj" fmla="val 21739"/>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5525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CLI 能力方法</a:t>
            </a:r>
          </a:p>
        </p:txBody>
      </p:sp>
      <p:sp>
        <p:nvSpPr>
          <p:cNvPr id="12" name="Rectangle 11"/>
          <p:cNvSpPr/>
          <p:nvPr/>
        </p:nvSpPr>
        <p:spPr>
          <a:xfrm>
            <a:off x="5048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002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002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4573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10250" y="14573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命令行智能体（CLI Agent）</a:t>
            </a:r>
            <a:r>
              <a:rPr sz="1012"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19431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8002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10250" y="18002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代码智能体（Coding Agent）</a:t>
            </a:r>
            <a:r>
              <a:rPr sz="1012"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2466975"/>
            <a:ext cx="2000250" cy="438150"/>
          </a:xfrm>
          <a:prstGeom prst="roundRect">
            <a:avLst>
              <a:gd name="adj" fmla="val 21739"/>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24669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GUI 能力方法</a:t>
            </a:r>
          </a:p>
        </p:txBody>
      </p:sp>
      <p:sp>
        <p:nvSpPr>
          <p:cNvPr id="23" name="Rectangle 22"/>
          <p:cNvSpPr/>
          <p:nvPr/>
        </p:nvSpPr>
        <p:spPr>
          <a:xfrm>
            <a:off x="5048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25146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2514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2371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10250" y="2371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原生 GUI 智能体（GUI Agent）</a:t>
            </a:r>
            <a:r>
              <a:rPr sz="1012"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2857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27146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10250" y="27146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高效视觉推理（Efficient Inference）</a:t>
            </a:r>
            <a:r>
              <a:rPr sz="1012" b="0" i="0">
                <a:solidFill>
                  <a:srgbClr val="4A4450"/>
                </a:solidFill>
                <a:latin typeface="Arial"/>
                <a:ea typeface="微软雅黑"/>
                <a:cs typeface="微软雅黑"/>
              </a:rPr>
              <a:t>　FastV [Chen+, ECCV 24] · SnapKV [Li+, NeurIPS 24]</a:t>
            </a:r>
          </a:p>
        </p:txBody>
      </p:sp>
      <p:sp>
        <p:nvSpPr>
          <p:cNvPr id="31" name="Rectangle 30"/>
          <p:cNvSpPr/>
          <p:nvPr/>
        </p:nvSpPr>
        <p:spPr>
          <a:xfrm>
            <a:off x="2762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3552825"/>
            <a:ext cx="2000250" cy="438150"/>
          </a:xfrm>
          <a:prstGeom prst="roundRect">
            <a:avLst>
              <a:gd name="adj" fmla="val 21739"/>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35528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混合能力方法</a:t>
            </a:r>
          </a:p>
        </p:txBody>
      </p:sp>
      <p:sp>
        <p:nvSpPr>
          <p:cNvPr id="34" name="Rectangle 33"/>
          <p:cNvSpPr/>
          <p:nvPr/>
        </p:nvSpPr>
        <p:spPr>
          <a:xfrm>
            <a:off x="5048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34290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32861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10250" y="32861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多智能体协作（Multi-Agent）</a:t>
            </a:r>
            <a:r>
              <a:rPr sz="1012" b="0" i="0">
                <a:solidFill>
                  <a:srgbClr val="4A4450"/>
                </a:solidFill>
                <a:latin typeface="Arial"/>
                <a:ea typeface="微软雅黑"/>
                <a:cs typeface="微软雅黑"/>
              </a:rPr>
              <a:t>　CoAct-1 [Song+, ICLR 26]</a:t>
            </a:r>
          </a:p>
        </p:txBody>
      </p:sp>
      <p:sp>
        <p:nvSpPr>
          <p:cNvPr id="39" name="Rectangle 38"/>
          <p:cNvSpPr/>
          <p:nvPr/>
        </p:nvSpPr>
        <p:spPr>
          <a:xfrm>
            <a:off x="533400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36290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10250" y="36290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工具增强 GUI（Tool-Augmented）</a:t>
            </a:r>
            <a:r>
              <a:rPr sz="1012" b="0" i="0">
                <a:solidFill>
                  <a:srgbClr val="4A4450"/>
                </a:solidFill>
                <a:latin typeface="Arial"/>
                <a:ea typeface="微软雅黑"/>
                <a:cs typeface="微软雅黑"/>
              </a:rPr>
              <a:t>　OSWorld-MCP [Jia+, 2025]</a:t>
            </a:r>
          </a:p>
        </p:txBody>
      </p:sp>
      <p:sp>
        <p:nvSpPr>
          <p:cNvPr id="42" name="Rectangle 41"/>
          <p:cNvSpPr/>
          <p:nvPr/>
        </p:nvSpPr>
        <p:spPr>
          <a:xfrm>
            <a:off x="5334000" y="4114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3971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10250" y="3971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可验证环境构建（Verifiable Env.）</a:t>
            </a:r>
            <a:r>
              <a:rPr sz="1012" b="0" i="0">
                <a:solidFill>
                  <a:srgbClr val="4A4450"/>
                </a:solidFill>
                <a:latin typeface="Arial"/>
                <a:ea typeface="微软雅黑"/>
                <a:cs typeface="微软雅黑"/>
              </a:rPr>
              <a:t>　GUI-Genesis [Cao+, 2026]</a:t>
            </a:r>
          </a:p>
        </p:txBody>
      </p:sp>
      <p:sp>
        <p:nvSpPr>
          <p:cNvPr id="45" name="Rectangle 44"/>
          <p:cNvSpPr/>
          <p:nvPr/>
        </p:nvSpPr>
        <p:spPr>
          <a:xfrm>
            <a:off x="2762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3048000" y="5000625"/>
            <a:ext cx="2000250" cy="438150"/>
          </a:xfrm>
          <a:prstGeom prst="roundRect">
            <a:avLst>
              <a:gd name="adj" fmla="val 21739"/>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019425" y="50006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走向真实世界</a:t>
            </a:r>
          </a:p>
        </p:txBody>
      </p:sp>
      <p:sp>
        <p:nvSpPr>
          <p:cNvPr id="48" name="Rectangle 47"/>
          <p:cNvSpPr/>
          <p:nvPr/>
        </p:nvSpPr>
        <p:spPr>
          <a:xfrm>
            <a:off x="5048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334000" y="48768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334000" y="4876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5676900" y="4733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810250" y="4733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个人智能体（Personal Agent）</a:t>
            </a:r>
            <a:r>
              <a:rPr sz="1012" b="0" i="0">
                <a:solidFill>
                  <a:srgbClr val="4A4450"/>
                </a:solidFill>
                <a:latin typeface="Arial"/>
                <a:ea typeface="微软雅黑"/>
                <a:cs typeface="微软雅黑"/>
              </a:rPr>
              <a:t>　OpenAI dots · Meta Muse · Manus · OpenClaw</a:t>
            </a:r>
          </a:p>
        </p:txBody>
      </p:sp>
      <p:sp>
        <p:nvSpPr>
          <p:cNvPr id="53" name="Rectangle 52"/>
          <p:cNvSpPr/>
          <p:nvPr/>
        </p:nvSpPr>
        <p:spPr>
          <a:xfrm>
            <a:off x="533400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676900" y="50768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810250" y="50768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物理世界生成（Physical World）</a:t>
            </a:r>
            <a:r>
              <a:rPr sz="1012" b="0" i="0">
                <a:solidFill>
                  <a:srgbClr val="4A4450"/>
                </a:solidFill>
                <a:latin typeface="Arial"/>
                <a:ea typeface="微软雅黑"/>
                <a:cs typeface="微软雅黑"/>
              </a:rPr>
              <a:t>　SimWorlds · Text2Sim · 4DCodeBench · WorldSolver</a:t>
            </a:r>
          </a:p>
        </p:txBody>
      </p:sp>
      <p:sp>
        <p:nvSpPr>
          <p:cNvPr id="56" name="Rectangle 55"/>
          <p:cNvSpPr/>
          <p:nvPr/>
        </p:nvSpPr>
        <p:spPr>
          <a:xfrm>
            <a:off x="5334000" y="5562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5676900" y="5419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810250" y="5419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机器人使用（Robot Use）</a:t>
            </a:r>
            <a:r>
              <a:rPr sz="1012" b="0" i="0">
                <a:solidFill>
                  <a:srgbClr val="4A4450"/>
                </a:solidFill>
                <a:latin typeface="Arial"/>
                <a:ea typeface="微软雅黑"/>
                <a:cs typeface="微软雅黑"/>
              </a:rPr>
              <a:t>　RobotWorld [Yang+, 2026] · CaP-X [2026]</a:t>
            </a:r>
          </a:p>
        </p:txBody>
      </p:sp>
      <p:sp>
        <p:nvSpPr>
          <p:cNvPr id="59" name="TextBox 5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CLI 能力方法：命令行智能体（Bash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 · 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CLI 能力</a:t>
            </a:r>
            <a:r>
              <a:rPr sz="1350" b="1" i="0">
                <a:solidFill>
                  <a:srgbClr val="F6C8FF"/>
                </a:solidFill>
                <a:latin typeface="Arial"/>
                <a:ea typeface="微软雅黑"/>
                <a:cs typeface="微软雅黑"/>
              </a:rPr>
              <a:t>无法观测界面</a:t>
            </a:r>
            <a:r>
              <a:rPr sz="1350" b="0" i="0">
                <a:solidFill>
                  <a:srgbClr val="FFFFFF"/>
                </a:solidFill>
                <a:latin typeface="Arial"/>
                <a:ea typeface="微软雅黑"/>
                <a:cs typeface="微软雅黑"/>
              </a:rPr>
              <a:t>：凡依赖渲染结果与视觉反馈的任务，必须引入 GUI 能力</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GUI 能力方法：原生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GUI 能力</a:t>
            </a:r>
            <a:r>
              <a:rPr sz="1350" b="1" i="0">
                <a:solidFill>
                  <a:srgbClr val="F6C8FF"/>
                </a:solidFill>
                <a:latin typeface="Arial"/>
                <a:ea typeface="微软雅黑"/>
                <a:cs typeface="微软雅黑"/>
              </a:rPr>
              <a:t>通用但开销高</a:t>
            </a:r>
            <a:r>
              <a:rPr sz="1350" b="0" i="0">
                <a:solidFill>
                  <a:srgbClr val="FFFFFF"/>
                </a:solidFill>
                <a:latin typeface="Arial"/>
                <a:ea typeface="微软雅黑"/>
                <a:cs typeface="微软雅黑"/>
              </a:rPr>
              <a:t>：需要面向 GUI 结构的高效感知方法，并与 CLI 能力互补使用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混合能力方法：混合智能体（Hybrid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OSWorld · WeaveBench 附录 E</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 CLI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 GUI</a:t>
            </a:r>
          </a:p>
          <a:p>
            <a:pPr algn="ctr">
              <a:lnSpc>
                <a:spcPts val="1350"/>
              </a:lnSpc>
              <a:spcBef>
                <a:spcPts val="0"/>
              </a:spcBef>
              <a:spcAft>
                <a:spcPts val="0"/>
              </a:spcAft>
            </a:pPr>
            <a:r>
              <a:rPr sz="900" b="0" i="0">
                <a:solidFill>
                  <a:srgbClr val="4A4450"/>
                </a:solidFill>
                <a:latin typeface="Arial"/>
                <a:ea typeface="微软雅黑"/>
                <a:cs typeface="微软雅黑"/>
              </a:rPr>
              <a:t>成功率相当；步数口径不同，仅供参考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第二能力多为辅助（增益约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走向真实世界：个人智能体（Personal Agent）与物理世界智能体（Physical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90650"/>
            <a:ext cx="120015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390650"/>
            <a:ext cx="9906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个人智能体产品</a:t>
            </a:r>
          </a:p>
        </p:txBody>
      </p:sp>
      <p:sp>
        <p:nvSpPr>
          <p:cNvPr id="7" name="Rounded Rectangle 6"/>
          <p:cNvSpPr/>
          <p:nvPr/>
        </p:nvSpPr>
        <p:spPr>
          <a:xfrm>
            <a:off x="4572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p_dots.png"/>
          <p:cNvPicPr>
            <a:picLocks noChangeAspect="1"/>
          </p:cNvPicPr>
          <p:nvPr/>
        </p:nvPicPr>
        <p:blipFill>
          <a:blip r:embed="rId2"/>
          <a:stretch>
            <a:fillRect/>
          </a:stretch>
        </p:blipFill>
        <p:spPr>
          <a:xfrm>
            <a:off x="926747" y="1724025"/>
            <a:ext cx="1823155" cy="1295400"/>
          </a:xfrm>
          <a:prstGeom prst="rect">
            <a:avLst/>
          </a:prstGeom>
        </p:spPr>
      </p:pic>
      <p:sp>
        <p:nvSpPr>
          <p:cNvPr id="9" name="TextBox 8"/>
          <p:cNvSpPr txBox="1"/>
          <p:nvPr/>
        </p:nvSpPr>
        <p:spPr>
          <a:xfrm>
            <a:off x="514350" y="30480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OpenAI dots · 2026.09：云端机器 + 应用连接器</a:t>
            </a:r>
          </a:p>
        </p:txBody>
      </p:sp>
      <p:sp>
        <p:nvSpPr>
          <p:cNvPr id="10" name="Rounded Rectangle 9"/>
          <p:cNvSpPr/>
          <p:nvPr/>
        </p:nvSpPr>
        <p:spPr>
          <a:xfrm>
            <a:off x="32956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p_muse.png"/>
          <p:cNvPicPr>
            <a:picLocks noChangeAspect="1"/>
          </p:cNvPicPr>
          <p:nvPr/>
        </p:nvPicPr>
        <p:blipFill>
          <a:blip r:embed="rId3"/>
          <a:stretch>
            <a:fillRect/>
          </a:stretch>
        </p:blipFill>
        <p:spPr>
          <a:xfrm>
            <a:off x="3793547" y="1724025"/>
            <a:ext cx="1766454" cy="1295400"/>
          </a:xfrm>
          <a:prstGeom prst="rect">
            <a:avLst/>
          </a:prstGeom>
        </p:spPr>
      </p:pic>
      <p:sp>
        <p:nvSpPr>
          <p:cNvPr id="12" name="TextBox 11"/>
          <p:cNvSpPr txBox="1"/>
          <p:nvPr/>
        </p:nvSpPr>
        <p:spPr>
          <a:xfrm>
            <a:off x="33242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Meta Muse · 2026.09：云端安全 VM 内执行</a:t>
            </a:r>
          </a:p>
        </p:txBody>
      </p:sp>
      <p:sp>
        <p:nvSpPr>
          <p:cNvPr id="13" name="Rounded Rectangle 12"/>
          <p:cNvSpPr/>
          <p:nvPr/>
        </p:nvSpPr>
        <p:spPr>
          <a:xfrm>
            <a:off x="61341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p_manus.png"/>
          <p:cNvPicPr>
            <a:picLocks noChangeAspect="1"/>
          </p:cNvPicPr>
          <p:nvPr/>
        </p:nvPicPr>
        <p:blipFill>
          <a:blip r:embed="rId4"/>
          <a:stretch>
            <a:fillRect/>
          </a:stretch>
        </p:blipFill>
        <p:spPr>
          <a:xfrm>
            <a:off x="6363758" y="1724025"/>
            <a:ext cx="2302933" cy="1295400"/>
          </a:xfrm>
          <a:prstGeom prst="rect">
            <a:avLst/>
          </a:prstGeom>
        </p:spPr>
      </p:pic>
      <p:sp>
        <p:nvSpPr>
          <p:cNvPr id="15" name="TextBox 14"/>
          <p:cNvSpPr txBox="1"/>
          <p:nvPr/>
        </p:nvSpPr>
        <p:spPr>
          <a:xfrm>
            <a:off x="616267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Manus · 2025.03：云 VM，2026 年起支持本机</a:t>
            </a:r>
          </a:p>
        </p:txBody>
      </p:sp>
      <p:sp>
        <p:nvSpPr>
          <p:cNvPr id="16" name="Rounded Rectangle 15"/>
          <p:cNvSpPr/>
          <p:nvPr/>
        </p:nvSpPr>
        <p:spPr>
          <a:xfrm>
            <a:off x="89725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pp_openclaw.png"/>
          <p:cNvPicPr>
            <a:picLocks noChangeAspect="1"/>
          </p:cNvPicPr>
          <p:nvPr/>
        </p:nvPicPr>
        <p:blipFill>
          <a:blip r:embed="rId5"/>
          <a:stretch>
            <a:fillRect/>
          </a:stretch>
        </p:blipFill>
        <p:spPr>
          <a:xfrm>
            <a:off x="9321403" y="1724025"/>
            <a:ext cx="2064543" cy="1295400"/>
          </a:xfrm>
          <a:prstGeom prst="rect">
            <a:avLst/>
          </a:prstGeom>
        </p:spPr>
      </p:pic>
      <p:sp>
        <p:nvSpPr>
          <p:cNvPr id="18" name="TextBox 17"/>
          <p:cNvSpPr txBox="1"/>
          <p:nvPr/>
        </p:nvSpPr>
        <p:spPr>
          <a:xfrm>
            <a:off x="90011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OpenClaw · 2026.01：运行于用户自己的设备</a:t>
            </a:r>
          </a:p>
        </p:txBody>
      </p:sp>
      <p:sp>
        <p:nvSpPr>
          <p:cNvPr id="19" name="Rounded Rectangle 18"/>
          <p:cNvSpPr/>
          <p:nvPr/>
        </p:nvSpPr>
        <p:spPr>
          <a:xfrm>
            <a:off x="457200" y="3429000"/>
            <a:ext cx="186690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0550" y="3429000"/>
            <a:ext cx="1657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物理世界生成与机器人使用</a:t>
            </a:r>
          </a:p>
        </p:txBody>
      </p:sp>
      <p:sp>
        <p:nvSpPr>
          <p:cNvPr id="21" name="Rounded Rectangle 20"/>
          <p:cNvSpPr/>
          <p:nvPr/>
        </p:nvSpPr>
        <p:spPr>
          <a:xfrm>
            <a:off x="4572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h_simworlds.png"/>
          <p:cNvPicPr>
            <a:picLocks noChangeAspect="1"/>
          </p:cNvPicPr>
          <p:nvPr/>
        </p:nvPicPr>
        <p:blipFill>
          <a:blip r:embed="rId6"/>
          <a:stretch>
            <a:fillRect/>
          </a:stretch>
        </p:blipFill>
        <p:spPr>
          <a:xfrm>
            <a:off x="612859" y="3762375"/>
            <a:ext cx="2450931" cy="1047750"/>
          </a:xfrm>
          <a:prstGeom prst="rect">
            <a:avLst/>
          </a:prstGeom>
        </p:spPr>
      </p:pic>
      <p:sp>
        <p:nvSpPr>
          <p:cNvPr id="23" name="TextBox 22"/>
          <p:cNvSpPr txBox="1"/>
          <p:nvPr/>
        </p:nvSpPr>
        <p:spPr>
          <a:xfrm>
            <a:off x="48577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SimWorlds [Liu+, 2026]：文本生成物理世界</a:t>
            </a:r>
          </a:p>
        </p:txBody>
      </p:sp>
      <p:sp>
        <p:nvSpPr>
          <p:cNvPr id="24" name="Rounded Rectangle 23"/>
          <p:cNvSpPr/>
          <p:nvPr/>
        </p:nvSpPr>
        <p:spPr>
          <a:xfrm>
            <a:off x="32956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h_text2sim.png"/>
          <p:cNvPicPr>
            <a:picLocks noChangeAspect="1"/>
          </p:cNvPicPr>
          <p:nvPr/>
        </p:nvPicPr>
        <p:blipFill>
          <a:blip r:embed="rId7"/>
          <a:stretch>
            <a:fillRect/>
          </a:stretch>
        </p:blipFill>
        <p:spPr>
          <a:xfrm>
            <a:off x="3343275" y="3788932"/>
            <a:ext cx="2667000" cy="994634"/>
          </a:xfrm>
          <a:prstGeom prst="rect">
            <a:avLst/>
          </a:prstGeom>
        </p:spPr>
      </p:pic>
      <p:sp>
        <p:nvSpPr>
          <p:cNvPr id="26" name="TextBox 25"/>
          <p:cNvSpPr txBox="1"/>
          <p:nvPr/>
        </p:nvSpPr>
        <p:spPr>
          <a:xfrm>
            <a:off x="332422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Text2Sim [Xiong+, 2026]：生成并修复仿真</a:t>
            </a:r>
          </a:p>
        </p:txBody>
      </p:sp>
      <p:sp>
        <p:nvSpPr>
          <p:cNvPr id="27" name="Rounded Rectangle 26"/>
          <p:cNvSpPr/>
          <p:nvPr/>
        </p:nvSpPr>
        <p:spPr>
          <a:xfrm>
            <a:off x="61341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ph_4dcode.png"/>
          <p:cNvPicPr>
            <a:picLocks noChangeAspect="1"/>
          </p:cNvPicPr>
          <p:nvPr/>
        </p:nvPicPr>
        <p:blipFill>
          <a:blip r:embed="rId8"/>
          <a:stretch>
            <a:fillRect/>
          </a:stretch>
        </p:blipFill>
        <p:spPr>
          <a:xfrm>
            <a:off x="6985496" y="3762375"/>
            <a:ext cx="1059456" cy="1047750"/>
          </a:xfrm>
          <a:prstGeom prst="rect">
            <a:avLst/>
          </a:prstGeom>
        </p:spPr>
      </p:pic>
      <p:sp>
        <p:nvSpPr>
          <p:cNvPr id="29" name="TextBox 28"/>
          <p:cNvSpPr txBox="1"/>
          <p:nvPr/>
        </p:nvSpPr>
        <p:spPr>
          <a:xfrm>
            <a:off x="619125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4DCodeBench [Shen+, 2026]：以代码复现 4D 运动</a:t>
            </a:r>
          </a:p>
        </p:txBody>
      </p:sp>
      <p:sp>
        <p:nvSpPr>
          <p:cNvPr id="30" name="Rounded Rectangle 29"/>
          <p:cNvSpPr/>
          <p:nvPr/>
        </p:nvSpPr>
        <p:spPr>
          <a:xfrm>
            <a:off x="89725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robot_overview.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9020175" y="3762375"/>
            <a:ext cx="2667000" cy="1047750"/>
          </a:xfrm>
          <a:prstGeom prst="rect">
            <a:avLst/>
          </a:prstGeom>
        </p:spPr>
      </p:pic>
      <p:sp>
        <p:nvSpPr>
          <p:cNvPr id="32" name="TextBox 31"/>
          <p:cNvSpPr txBox="1"/>
          <p:nvPr/>
        </p:nvSpPr>
        <p:spPr>
          <a:xfrm>
            <a:off x="902970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RobotWorld [Yang+, 2026]：84 个机器人使用任务</a:t>
            </a:r>
          </a:p>
        </p:txBody>
      </p:sp>
      <p:sp>
        <p:nvSpPr>
          <p:cNvPr id="33" name="Rounded Rectangle 32"/>
          <p:cNvSpPr/>
          <p:nvPr/>
        </p:nvSpPr>
        <p:spPr>
          <a:xfrm>
            <a:off x="457200" y="5238750"/>
            <a:ext cx="11277600" cy="781050"/>
          </a:xfrm>
          <a:prstGeom prst="roundRect">
            <a:avLst>
              <a:gd name="adj" fmla="val 14634"/>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3149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1E7B5A"/>
                </a:solidFill>
                <a:latin typeface="Arial"/>
                <a:ea typeface="微软雅黑"/>
                <a:cs typeface="微软雅黑"/>
              </a:rPr>
              <a:t>优点：</a:t>
            </a:r>
            <a:r>
              <a:rPr sz="1050" b="0" i="0">
                <a:solidFill>
                  <a:srgbClr val="1F1A22"/>
                </a:solidFill>
                <a:latin typeface="Arial"/>
                <a:ea typeface="微软雅黑"/>
                <a:cs typeface="微软雅黑"/>
              </a:rPr>
              <a:t>个人智能体已具备长期记忆与跨应用执行；Coding Agent 已能生成可运行的物理仿真与机器人控制程序</a:t>
            </a:r>
          </a:p>
        </p:txBody>
      </p:sp>
      <p:sp>
        <p:nvSpPr>
          <p:cNvPr id="35" name="TextBox 34"/>
          <p:cNvSpPr txBox="1"/>
          <p:nvPr/>
        </p:nvSpPr>
        <p:spPr>
          <a:xfrm>
            <a:off x="628650" y="56197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C0392B"/>
                </a:solidFill>
                <a:latin typeface="Arial"/>
                <a:ea typeface="微软雅黑"/>
                <a:cs typeface="微软雅黑"/>
              </a:rPr>
              <a:t>不足：</a:t>
            </a:r>
            <a:r>
              <a:rPr sz="1050" b="0" i="0">
                <a:solidFill>
                  <a:srgbClr val="1F1A22"/>
                </a:solidFill>
                <a:latin typeface="Arial"/>
                <a:ea typeface="微软雅黑"/>
                <a:cs typeface="微软雅黑"/>
              </a:rPr>
              <a:t>多在云端通用环境中执行，</a:t>
            </a:r>
            <a:r>
              <a:rPr sz="1050" b="1" i="0">
                <a:solidFill>
                  <a:srgbClr val="1F1A22"/>
                </a:solidFill>
                <a:latin typeface="Arial"/>
                <a:ea typeface="微软雅黑"/>
                <a:cs typeface="微软雅黑"/>
              </a:rPr>
              <a:t>职业特质不鲜明</a:t>
            </a:r>
            <a:r>
              <a:rPr sz="1050" b="0" i="0">
                <a:solidFill>
                  <a:srgbClr val="1F1A22"/>
                </a:solidFill>
                <a:latin typeface="Arial"/>
                <a:ea typeface="微软雅黑"/>
                <a:cs typeface="微软雅黑"/>
              </a:rPr>
              <a:t>；物理世界生成仅在原始条件下检验表象，</a:t>
            </a:r>
            <a:r>
              <a:rPr sz="1050" b="1" i="0">
                <a:solidFill>
                  <a:srgbClr val="1F1A22"/>
                </a:solidFill>
                <a:latin typeface="Arial"/>
                <a:ea typeface="微软雅黑"/>
                <a:cs typeface="微软雅黑"/>
              </a:rPr>
              <a:t>缺少跨条件物理验证</a:t>
            </a:r>
          </a:p>
        </p:txBody>
      </p:sp>
      <p:sp>
        <p:nvSpPr>
          <p:cNvPr id="36" name="TextBox 3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1"/>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通用数字智能体的评测与训练仍然是一个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integrity-1.png"/>
          <p:cNvPicPr>
            <a:picLocks noChangeAspect="1"/>
          </p:cNvPicPr>
          <p:nvPr/>
        </p:nvPicPr>
        <p:blipFill>
          <a:blip r:embed="rId2"/>
          <a:stretch>
            <a:fillRect/>
          </a:stretch>
        </p:blipFill>
        <p:spPr>
          <a:xfrm>
            <a:off x="514350" y="1845574"/>
            <a:ext cx="3505200" cy="1985751"/>
          </a:xfrm>
          <a:prstGeom prst="rect">
            <a:avLst/>
          </a:prstGeom>
        </p:spPr>
      </p:pic>
      <p:sp>
        <p:nvSpPr>
          <p:cNvPr id="7" name="TextBox 6"/>
          <p:cNvSpPr txBox="1"/>
          <p:nvPr/>
        </p:nvSpPr>
        <p:spPr>
          <a:xfrm>
            <a:off x="4572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8" name="Rounded Rectangle 7"/>
          <p:cNvSpPr/>
          <p:nvPr/>
        </p:nvSpPr>
        <p:spPr>
          <a:xfrm>
            <a:off x="30861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670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研究一 评测</a:t>
            </a:r>
          </a:p>
        </p:txBody>
      </p:sp>
      <p:sp>
        <p:nvSpPr>
          <p:cNvPr id="10" name="TextBox 9"/>
          <p:cNvSpPr txBox="1"/>
          <p:nvPr/>
        </p:nvSpPr>
        <p:spPr>
          <a:xfrm>
            <a:off x="457200" y="46863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纯 GUI 范式天然偏重；现有基准割裂评测 CLI 与 GUI，任务可在单一能力内完成；仅依据最终结果判分，比轨迹审计口径高 10–20 个百分点。</a:t>
            </a:r>
          </a:p>
        </p:txBody>
      </p:sp>
      <p:sp>
        <p:nvSpPr>
          <p:cNvPr id="11" name="Rounded Rectangle 10"/>
          <p:cNvSpPr/>
          <p:nvPr/>
        </p:nvSpPr>
        <p:spPr>
          <a:xfrm>
            <a:off x="428625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12_hacking.png"/>
          <p:cNvPicPr>
            <a:picLocks noChangeAspect="1"/>
          </p:cNvPicPr>
          <p:nvPr/>
        </p:nvPicPr>
        <p:blipFill>
          <a:blip r:embed="rId3"/>
          <a:stretch>
            <a:fillRect/>
          </a:stretch>
        </p:blipFill>
        <p:spPr>
          <a:xfrm>
            <a:off x="4343400" y="2281881"/>
            <a:ext cx="3505200" cy="1113137"/>
          </a:xfrm>
          <a:prstGeom prst="rect">
            <a:avLst/>
          </a:prstGeom>
        </p:spPr>
      </p:pic>
      <p:sp>
        <p:nvSpPr>
          <p:cNvPr id="13" name="TextBox 12"/>
          <p:cNvSpPr txBox="1"/>
          <p:nvPr/>
        </p:nvSpPr>
        <p:spPr>
          <a:xfrm>
            <a:off x="428625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4" name="Rounded Rectangle 13"/>
          <p:cNvSpPr/>
          <p:nvPr/>
        </p:nvSpPr>
        <p:spPr>
          <a:xfrm>
            <a:off x="691515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9610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研究二 训练</a:t>
            </a:r>
          </a:p>
        </p:txBody>
      </p:sp>
      <p:sp>
        <p:nvSpPr>
          <p:cNvPr id="16" name="TextBox 15"/>
          <p:cNvSpPr txBox="1"/>
          <p:nvPr/>
        </p:nvSpPr>
        <p:spPr>
          <a:xfrm>
            <a:off x="4286250" y="46863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GUI 缺少天然的可验证奖励，混合训练环境与数据稀缺；仅依据结果的奖励易被违规取巧（Reward Hacking）利用，自主编排与自我验证难以习得。</a:t>
            </a:r>
          </a:p>
        </p:txBody>
      </p:sp>
      <p:sp>
        <p:nvSpPr>
          <p:cNvPr id="17" name="Rounded Rectangle 16"/>
          <p:cNvSpPr/>
          <p:nvPr/>
        </p:nvSpPr>
        <p:spPr>
          <a:xfrm>
            <a:off x="81153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eal_world.png"/>
          <p:cNvPicPr>
            <a:picLocks noChangeAspect="1"/>
          </p:cNvPicPr>
          <p:nvPr/>
        </p:nvPicPr>
        <p:blipFill>
          <a:blip r:embed="rId4"/>
          <a:stretch>
            <a:fillRect/>
          </a:stretch>
        </p:blipFill>
        <p:spPr>
          <a:xfrm>
            <a:off x="8172450" y="1705502"/>
            <a:ext cx="3505200" cy="2265894"/>
          </a:xfrm>
          <a:prstGeom prst="rect">
            <a:avLst/>
          </a:prstGeom>
        </p:spPr>
      </p:pic>
      <p:sp>
        <p:nvSpPr>
          <p:cNvPr id="19" name="TextBox 18"/>
          <p:cNvSpPr txBox="1"/>
          <p:nvPr/>
        </p:nvSpPr>
        <p:spPr>
          <a:xfrm>
            <a:off x="81153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通用能力难以落到真实世界</a:t>
            </a:r>
          </a:p>
        </p:txBody>
      </p:sp>
      <p:sp>
        <p:nvSpPr>
          <p:cNvPr id="20" name="Rounded Rectangle 19"/>
          <p:cNvSpPr/>
          <p:nvPr/>
        </p:nvSpPr>
        <p:spPr>
          <a:xfrm>
            <a:off x="107442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1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研究三 应用</a:t>
            </a:r>
          </a:p>
        </p:txBody>
      </p:sp>
      <p:sp>
        <p:nvSpPr>
          <p:cNvPr id="22" name="TextBox 21"/>
          <p:cNvSpPr txBox="1"/>
          <p:nvPr/>
        </p:nvSpPr>
        <p:spPr>
          <a:xfrm>
            <a:off x="8115300" y="46863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现有智能体缺少个人电脑环境与职业业务知识；生成的代码与内容不受物理规律约束，表象正确不等于机制正确。</a:t>
            </a:r>
          </a:p>
        </p:txBody>
      </p:sp>
      <p:sp>
        <p:nvSpPr>
          <p:cNvPr id="23" name="Rounded Rectangle 2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a:t>
            </a:r>
            <a:r>
              <a:rPr sz="1350" b="1" i="0">
                <a:solidFill>
                  <a:srgbClr val="F6C8FF"/>
                </a:solidFill>
                <a:latin typeface="Arial"/>
                <a:ea typeface="微软雅黑"/>
                <a:cs typeface="微软雅黑"/>
              </a:rPr>
              <a:t>可扩展地</a:t>
            </a:r>
            <a:r>
              <a:rPr sz="1350" b="0" i="0">
                <a:solidFill>
                  <a:srgbClr val="FFFFFF"/>
                </a:solidFill>
                <a:latin typeface="Arial"/>
                <a:ea typeface="微软雅黑"/>
                <a:cs typeface="微软雅黑"/>
              </a:rPr>
              <a:t>测准、练好通用数字智能体，并使其能力在真实世界中</a:t>
            </a:r>
            <a:r>
              <a:rPr sz="1350" b="1" i="0">
                <a:solidFill>
                  <a:srgbClr val="F6C8FF"/>
                </a:solidFill>
                <a:latin typeface="Arial"/>
                <a:ea typeface="微软雅黑"/>
                <a:cs typeface="微软雅黑"/>
              </a:rPr>
              <a:t>可信落地</a:t>
            </a:r>
            <a:r>
              <a:rPr sz="1350" b="0" i="0">
                <a:solidFill>
                  <a:srgbClr val="FFFFFF"/>
                </a:solidFill>
                <a:latin typeface="Arial"/>
                <a:ea typeface="微软雅黑"/>
                <a:cs typeface="微软雅黑"/>
              </a:rPr>
              <a:t>？</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研究框架：评测 → 训练 → 应用，前一项研究的结论构成后一项研究的动机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1722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ramework.png"/>
          <p:cNvPicPr>
            <a:picLocks noChangeAspect="1"/>
          </p:cNvPicPr>
          <p:nvPr/>
        </p:nvPicPr>
        <p:blipFill>
          <a:blip r:embed="rId2"/>
          <a:stretch>
            <a:fillRect/>
          </a:stretch>
        </p:blipFill>
        <p:spPr>
          <a:xfrm>
            <a:off x="514350" y="1667922"/>
            <a:ext cx="6057900" cy="3312604"/>
          </a:xfrm>
          <a:prstGeom prst="rect">
            <a:avLst/>
          </a:prstGeom>
        </p:spPr>
      </p:pic>
      <p:sp>
        <p:nvSpPr>
          <p:cNvPr id="7" name="TextBox 6"/>
          <p:cNvSpPr txBox="1"/>
          <p:nvPr/>
        </p:nvSpPr>
        <p:spPr>
          <a:xfrm>
            <a:off x="485775" y="5200650"/>
            <a:ext cx="6115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可扩展评测与训练框架总览</a:t>
            </a:r>
          </a:p>
        </p:txBody>
      </p:sp>
      <p:sp>
        <p:nvSpPr>
          <p:cNvPr id="8" name="Rounded Rectangle 7"/>
          <p:cNvSpPr/>
          <p:nvPr/>
        </p:nvSpPr>
        <p:spPr>
          <a:xfrm>
            <a:off x="6781800" y="14287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81800" y="1428750"/>
            <a:ext cx="76200" cy="1295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991350" y="1543050"/>
            <a:ext cx="11239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124700" y="15430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 · 评测</a:t>
            </a:r>
          </a:p>
        </p:txBody>
      </p:sp>
      <p:sp>
        <p:nvSpPr>
          <p:cNvPr id="12" name="TextBox 11"/>
          <p:cNvSpPr txBox="1"/>
          <p:nvPr/>
        </p:nvSpPr>
        <p:spPr>
          <a:xfrm>
            <a:off x="10610850" y="15621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13" name="TextBox 12"/>
          <p:cNvSpPr txBox="1"/>
          <p:nvPr/>
        </p:nvSpPr>
        <p:spPr>
          <a:xfrm>
            <a:off x="6991350" y="18478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面向混合能力范式的可信评测</a:t>
            </a:r>
          </a:p>
        </p:txBody>
      </p:sp>
      <p:sp>
        <p:nvSpPr>
          <p:cNvPr id="14" name="TextBox 13"/>
          <p:cNvSpPr txBox="1"/>
          <p:nvPr/>
        </p:nvSpPr>
        <p:spPr>
          <a:xfrm>
            <a:off x="6991350" y="20955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GUIPruner · ST-Lite → WeaveBench</a:t>
            </a:r>
          </a:p>
        </p:txBody>
      </p:sp>
      <p:sp>
        <p:nvSpPr>
          <p:cNvPr id="15" name="TextBox 14"/>
          <p:cNvSpPr txBox="1"/>
          <p:nvPr/>
        </p:nvSpPr>
        <p:spPr>
          <a:xfrm>
            <a:off x="6991350" y="23241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结论：瓶颈在自主编排与自我验证 → 需要训练新的行为模式</a:t>
            </a:r>
          </a:p>
        </p:txBody>
      </p:sp>
      <p:sp>
        <p:nvSpPr>
          <p:cNvPr id="16" name="Rounded Rectangle 15"/>
          <p:cNvSpPr/>
          <p:nvPr/>
        </p:nvSpPr>
        <p:spPr>
          <a:xfrm>
            <a:off x="6781800" y="28384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781800" y="2838450"/>
            <a:ext cx="76200" cy="1295400"/>
          </a:xfrm>
          <a:prstGeom prst="roundRect">
            <a:avLst>
              <a:gd name="adj" fmla="val 5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991350" y="2952750"/>
            <a:ext cx="112395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24700" y="29527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 · 训练</a:t>
            </a:r>
          </a:p>
        </p:txBody>
      </p:sp>
      <p:sp>
        <p:nvSpPr>
          <p:cNvPr id="20" name="TextBox 19"/>
          <p:cNvSpPr txBox="1"/>
          <p:nvPr/>
        </p:nvSpPr>
        <p:spPr>
          <a:xfrm>
            <a:off x="10610850" y="29718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21" name="TextBox 20"/>
          <p:cNvSpPr txBox="1"/>
          <p:nvPr/>
        </p:nvSpPr>
        <p:spPr>
          <a:xfrm>
            <a:off x="6991350" y="32575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基于可验证复刻环境的混合行为训练</a:t>
            </a:r>
          </a:p>
        </p:txBody>
      </p:sp>
      <p:sp>
        <p:nvSpPr>
          <p:cNvPr id="22" name="TextBox 21"/>
          <p:cNvSpPr txBox="1"/>
          <p:nvPr/>
        </p:nvSpPr>
        <p:spPr>
          <a:xfrm>
            <a:off x="6991350" y="35052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RecreationWorld</a:t>
            </a:r>
          </a:p>
        </p:txBody>
      </p:sp>
      <p:sp>
        <p:nvSpPr>
          <p:cNvPr id="23" name="TextBox 22"/>
          <p:cNvSpPr txBox="1"/>
          <p:nvPr/>
        </p:nvSpPr>
        <p:spPr>
          <a:xfrm>
            <a:off x="6991350" y="37338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结论：复刻训练在分布外基准上带来提升 → 推广到真实世界</a:t>
            </a:r>
          </a:p>
        </p:txBody>
      </p:sp>
      <p:sp>
        <p:nvSpPr>
          <p:cNvPr id="24" name="Rounded Rectangle 23"/>
          <p:cNvSpPr/>
          <p:nvPr/>
        </p:nvSpPr>
        <p:spPr>
          <a:xfrm>
            <a:off x="6781800" y="42481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781800" y="4248150"/>
            <a:ext cx="76200" cy="1295400"/>
          </a:xfrm>
          <a:prstGeom prst="roundRect">
            <a:avLst>
              <a:gd name="adj" fmla="val 5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991350" y="4362450"/>
            <a:ext cx="1123950" cy="247650"/>
          </a:xfrm>
          <a:prstGeom prst="roundRect">
            <a:avLst>
              <a:gd name="adj" fmla="val 23076"/>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24700" y="43624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 · 应用</a:t>
            </a:r>
          </a:p>
        </p:txBody>
      </p:sp>
      <p:sp>
        <p:nvSpPr>
          <p:cNvPr id="28" name="TextBox 27"/>
          <p:cNvSpPr txBox="1"/>
          <p:nvPr/>
        </p:nvSpPr>
        <p:spPr>
          <a:xfrm>
            <a:off x="10610850" y="43815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待完成</a:t>
            </a:r>
          </a:p>
        </p:txBody>
      </p:sp>
      <p:sp>
        <p:nvSpPr>
          <p:cNvPr id="29" name="TextBox 28"/>
          <p:cNvSpPr txBox="1"/>
          <p:nvPr/>
        </p:nvSpPr>
        <p:spPr>
          <a:xfrm>
            <a:off x="6991350" y="46672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通用数字智能体走向真实世界</a:t>
            </a:r>
          </a:p>
        </p:txBody>
      </p:sp>
      <p:sp>
        <p:nvSpPr>
          <p:cNvPr id="30" name="TextBox 29"/>
          <p:cNvSpPr txBox="1"/>
          <p:nvPr/>
        </p:nvSpPr>
        <p:spPr>
          <a:xfrm>
            <a:off x="6991350" y="49149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职业化个人智能体 · 物理世界智能体</a:t>
            </a:r>
          </a:p>
        </p:txBody>
      </p:sp>
      <p:sp>
        <p:nvSpPr>
          <p:cNvPr id="31" name="TextBox 30"/>
          <p:cNvSpPr txBox="1"/>
          <p:nvPr/>
        </p:nvSpPr>
        <p:spPr>
          <a:xfrm>
            <a:off x="6991350" y="51435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复用研究一的评测思想与研究二的训练流程，形成闭环</a:t>
            </a:r>
          </a:p>
        </p:txBody>
      </p:sp>
      <p:sp>
        <p:nvSpPr>
          <p:cNvPr id="32" name="Rounded Rectangle 3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贯穿主线 </a:t>
            </a:r>
            <a:r>
              <a:rPr sz="1350" b="1" i="0">
                <a:solidFill>
                  <a:srgbClr val="F6C8FF"/>
                </a:solidFill>
                <a:latin typeface="Arial"/>
                <a:ea typeface="微软雅黑"/>
                <a:cs typeface="微软雅黑"/>
              </a:rPr>
              <a:t>可扩展（Scalable）</a:t>
            </a:r>
            <a:r>
              <a:rPr sz="1350" b="0" i="0">
                <a:solidFill>
                  <a:srgbClr val="FFFFFF"/>
                </a:solidFill>
                <a:latin typeface="Arial"/>
                <a:ea typeface="微软雅黑"/>
                <a:cs typeface="微软雅黑"/>
              </a:rPr>
              <a:t>：任务、环境与 verifier 均可自动、批量构造，不依赖人工逐题设计</a:t>
            </a:r>
          </a:p>
        </p:txBody>
      </p:sp>
      <p:sp>
        <p:nvSpPr>
          <p:cNvPr id="34" name="TextBox 3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研究一：面向混合能力范式的可信评测（已完成）—— 前期探索：纯 GUI 范式下的推理效率优化</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 GUI 轨迹中高分辨率截图持续累积，视觉 token 与 KV 缓存（KV Cache）线性膨胀；通用压缩方法忽视帧间冗余与界面二维结构</a:t>
            </a:r>
          </a:p>
        </p:txBody>
      </p:sp>
      <p:sp>
        <p:nvSpPr>
          <p:cNvPr id="10" name="Rounded Rectangle 9"/>
          <p:cNvSpPr/>
          <p:nvPr/>
        </p:nvSpPr>
        <p:spPr>
          <a:xfrm>
            <a:off x="457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p_fig3_overview.png"/>
          <p:cNvPicPr>
            <a:picLocks noChangeAspect="1"/>
          </p:cNvPicPr>
          <p:nvPr/>
        </p:nvPicPr>
        <p:blipFill>
          <a:blip r:embed="rId2"/>
          <a:stretch>
            <a:fillRect/>
          </a:stretch>
        </p:blipFill>
        <p:spPr>
          <a:xfrm>
            <a:off x="954668" y="1828800"/>
            <a:ext cx="4567662" cy="2705100"/>
          </a:xfrm>
          <a:prstGeom prst="rect">
            <a:avLst/>
          </a:prstGeom>
        </p:spPr>
      </p:pic>
      <p:sp>
        <p:nvSpPr>
          <p:cNvPr id="12" name="TextBox 11"/>
          <p:cNvSpPr txBox="1"/>
          <p:nvPr/>
        </p:nvSpPr>
        <p:spPr>
          <a:xfrm>
            <a:off x="485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 · KDD 2027 在投：视觉 token 压缩 —— 时间自适应分辨率 + 结构感知剪枝</a:t>
            </a:r>
            <a:r>
              <a:rPr sz="937" b="0" i="0">
                <a:solidFill>
                  <a:srgbClr val="4A4450"/>
                </a:solidFill>
                <a:latin typeface="Arial"/>
                <a:ea typeface="微软雅黑"/>
                <a:cs typeface="微软雅黑"/>
              </a:rPr>
              <a:t/>
            </a:r>
          </a:p>
        </p:txBody>
      </p:sp>
      <p:sp>
        <p:nvSpPr>
          <p:cNvPr id="13" name="Rounded Rectangle 12"/>
          <p:cNvSpPr/>
          <p:nvPr/>
        </p:nvSpPr>
        <p:spPr>
          <a:xfrm>
            <a:off x="6172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t_fig4_arch.png"/>
          <p:cNvPicPr>
            <a:picLocks noChangeAspect="1"/>
          </p:cNvPicPr>
          <p:nvPr/>
        </p:nvPicPr>
        <p:blipFill>
          <a:blip r:embed="rId3"/>
          <a:stretch>
            <a:fillRect/>
          </a:stretch>
        </p:blipFill>
        <p:spPr>
          <a:xfrm>
            <a:off x="6371847" y="1828800"/>
            <a:ext cx="5163305" cy="2705100"/>
          </a:xfrm>
          <a:prstGeom prst="rect">
            <a:avLst/>
          </a:prstGeom>
        </p:spPr>
      </p:pic>
      <p:sp>
        <p:nvSpPr>
          <p:cNvPr id="15" name="TextBox 14"/>
          <p:cNvSpPr txBox="1"/>
          <p:nvPr/>
        </p:nvSpPr>
        <p:spPr>
          <a:xfrm>
            <a:off x="6200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 · EMNLP 2026：KV Cache 压缩 —— 轨迹门控 + 组件显著性</a:t>
            </a:r>
            <a:r>
              <a:rPr sz="937" b="0" i="0">
                <a:solidFill>
                  <a:srgbClr val="4A4450"/>
                </a:solidFill>
                <a:latin typeface="Arial"/>
                <a:ea typeface="微软雅黑"/>
                <a:cs typeface="微软雅黑"/>
              </a:rPr>
              <a:t/>
            </a:r>
          </a:p>
        </p:txBody>
      </p:sp>
      <p:sp>
        <p:nvSpPr>
          <p:cNvPr id="16" name="TextBox 15"/>
          <p:cNvSpPr txBox="1"/>
          <p:nvPr/>
        </p:nvSpPr>
        <p:spPr>
          <a:xfrm>
            <a:off x="457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3.4×</a:t>
            </a:r>
          </a:p>
        </p:txBody>
      </p:sp>
      <p:sp>
        <p:nvSpPr>
          <p:cNvPr id="17" name="TextBox 16"/>
          <p:cNvSpPr txBox="1"/>
          <p:nvPr/>
        </p:nvSpPr>
        <p:spPr>
          <a:xfrm>
            <a:off x="457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8" name="TextBox 17"/>
          <p:cNvSpPr txBox="1"/>
          <p:nvPr/>
        </p:nvSpPr>
        <p:spPr>
          <a:xfrm>
            <a:off x="3276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3.3×</a:t>
            </a:r>
          </a:p>
        </p:txBody>
      </p:sp>
      <p:sp>
        <p:nvSpPr>
          <p:cNvPr id="19" name="TextBox 18"/>
          <p:cNvSpPr txBox="1"/>
          <p:nvPr/>
        </p:nvSpPr>
        <p:spPr>
          <a:xfrm>
            <a:off x="3276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0" name="TextBox 19"/>
          <p:cNvSpPr txBox="1"/>
          <p:nvPr/>
        </p:nvSpPr>
        <p:spPr>
          <a:xfrm>
            <a:off x="6172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20% KV</a:t>
            </a:r>
          </a:p>
        </p:txBody>
      </p:sp>
      <p:sp>
        <p:nvSpPr>
          <p:cNvPr id="21" name="TextBox 20"/>
          <p:cNvSpPr txBox="1"/>
          <p:nvPr/>
        </p:nvSpPr>
        <p:spPr>
          <a:xfrm>
            <a:off x="6172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预算下与完整缓存持平</a:t>
            </a:r>
          </a:p>
        </p:txBody>
      </p:sp>
      <p:sp>
        <p:nvSpPr>
          <p:cNvPr id="22" name="TextBox 21"/>
          <p:cNvSpPr txBox="1"/>
          <p:nvPr/>
        </p:nvSpPr>
        <p:spPr>
          <a:xfrm>
            <a:off x="8991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2.35×</a:t>
            </a:r>
          </a:p>
        </p:txBody>
      </p:sp>
      <p:sp>
        <p:nvSpPr>
          <p:cNvPr id="23" name="TextBox 22"/>
          <p:cNvSpPr txBox="1"/>
          <p:nvPr/>
        </p:nvSpPr>
        <p:spPr>
          <a:xfrm>
            <a:off x="8991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4" name="Rounded Rectangle 23"/>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开销可以显著压缩，但纯 GUI 范式"每一步都处理整屏截图"的本质未变 → </a:t>
            </a:r>
            <a:r>
              <a:rPr sz="1350" b="1" i="0">
                <a:solidFill>
                  <a:srgbClr val="F6C8FF"/>
                </a:solidFill>
                <a:latin typeface="Arial"/>
                <a:ea typeface="微软雅黑"/>
                <a:cs typeface="微软雅黑"/>
              </a:rPr>
              <a:t>范式本身是否合理？</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研究一（续）：范式反思 —— 纯 GUI 范式并非天然合理</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6675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aradigm3.png"/>
          <p:cNvPicPr>
            <a:picLocks noChangeAspect="1"/>
          </p:cNvPicPr>
          <p:nvPr/>
        </p:nvPicPr>
        <p:blipFill>
          <a:blip r:embed="rId2"/>
          <a:stretch>
            <a:fillRect/>
          </a:stretch>
        </p:blipFill>
        <p:spPr>
          <a:xfrm>
            <a:off x="880587" y="1485900"/>
            <a:ext cx="5820725" cy="3676650"/>
          </a:xfrm>
          <a:prstGeom prst="rect">
            <a:avLst/>
          </a:prstGeom>
        </p:spPr>
      </p:pic>
      <p:sp>
        <p:nvSpPr>
          <p:cNvPr id="13" name="TextBox 12"/>
          <p:cNvSpPr txBox="1"/>
          <p:nvPr/>
        </p:nvSpPr>
        <p:spPr>
          <a:xfrm>
            <a:off x="485775" y="52006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三种范式对比：纯 GUI 逐步截图；CLI 优先、不观察像素；混合范式以 CLI 为主干、GUI 观察与核验</a:t>
            </a:r>
          </a:p>
        </p:txBody>
      </p:sp>
      <p:sp>
        <p:nvSpPr>
          <p:cNvPr id="14" name="Rounded Rectangle 13"/>
          <p:cNvSpPr/>
          <p:nvPr/>
        </p:nvSpPr>
        <p:spPr>
          <a:xfrm>
            <a:off x="7277100" y="1428750"/>
            <a:ext cx="445770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48525" y="1524000"/>
            <a:ext cx="451485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受控对照：OSWorld · 同一模型 · 同一判官 [WeaveBench 附录 E]</a:t>
            </a:r>
          </a:p>
        </p:txBody>
      </p:sp>
      <p:sp>
        <p:nvSpPr>
          <p:cNvPr id="16" name="Rounded Rectangle 15"/>
          <p:cNvSpPr/>
          <p:nvPr/>
        </p:nvSpPr>
        <p:spPr>
          <a:xfrm>
            <a:off x="7905750" y="2114550"/>
            <a:ext cx="419100" cy="1428750"/>
          </a:xfrm>
          <a:prstGeom prst="roundRect">
            <a:avLst>
              <a:gd name="adj" fmla="val 909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382000" y="2143125"/>
            <a:ext cx="419100" cy="1400175"/>
          </a:xfrm>
          <a:prstGeom prst="roundRect">
            <a:avLst>
              <a:gd name="adj" fmla="val 909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839075" y="19240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79.1</a:t>
            </a:r>
          </a:p>
        </p:txBody>
      </p:sp>
      <p:sp>
        <p:nvSpPr>
          <p:cNvPr id="19" name="TextBox 18"/>
          <p:cNvSpPr txBox="1"/>
          <p:nvPr/>
        </p:nvSpPr>
        <p:spPr>
          <a:xfrm>
            <a:off x="8315325" y="1952625"/>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77.3</a:t>
            </a:r>
          </a:p>
        </p:txBody>
      </p:sp>
      <p:sp>
        <p:nvSpPr>
          <p:cNvPr id="20" name="Rounded Rectangle 19"/>
          <p:cNvSpPr/>
          <p:nvPr/>
        </p:nvSpPr>
        <p:spPr>
          <a:xfrm>
            <a:off x="10191750" y="2876550"/>
            <a:ext cx="419100" cy="666750"/>
          </a:xfrm>
          <a:prstGeom prst="roundRect">
            <a:avLst>
              <a:gd name="adj" fmla="val 909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668000" y="2190750"/>
            <a:ext cx="419100" cy="1352550"/>
          </a:xfrm>
          <a:prstGeom prst="roundRect">
            <a:avLst>
              <a:gd name="adj" fmla="val 909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125075" y="26860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14.3</a:t>
            </a:r>
          </a:p>
        </p:txBody>
      </p:sp>
      <p:sp>
        <p:nvSpPr>
          <p:cNvPr id="23" name="TextBox 22"/>
          <p:cNvSpPr txBox="1"/>
          <p:nvPr/>
        </p:nvSpPr>
        <p:spPr>
          <a:xfrm>
            <a:off x="10601325" y="20002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29.0</a:t>
            </a:r>
          </a:p>
        </p:txBody>
      </p:sp>
      <p:sp>
        <p:nvSpPr>
          <p:cNvPr id="24" name="Rectangle 23"/>
          <p:cNvSpPr/>
          <p:nvPr/>
        </p:nvSpPr>
        <p:spPr>
          <a:xfrm>
            <a:off x="7620000" y="3543300"/>
            <a:ext cx="377190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20000" y="3543300"/>
            <a:ext cx="377190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0097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27" name="TextBox 26"/>
          <p:cNvSpPr txBox="1"/>
          <p:nvPr/>
        </p:nvSpPr>
        <p:spPr>
          <a:xfrm>
            <a:off x="1008697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28" name="TextBox 27"/>
          <p:cNvSpPr txBox="1"/>
          <p:nvPr/>
        </p:nvSpPr>
        <p:spPr>
          <a:xfrm>
            <a:off x="7248525" y="4000500"/>
            <a:ext cx="45148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660874"/>
                </a:solidFill>
                <a:latin typeface="Arial"/>
                <a:ea typeface="微软雅黑"/>
                <a:cs typeface="微软雅黑"/>
              </a:rPr>
              <a:t>■</a:t>
            </a:r>
            <a:r>
              <a:rPr sz="937" b="0" i="0">
                <a:solidFill>
                  <a:srgbClr val="4A4450"/>
                </a:solidFill>
                <a:latin typeface="Arial"/>
                <a:ea typeface="微软雅黑"/>
                <a:cs typeface="微软雅黑"/>
              </a:rPr>
              <a:t> OpenClaw CLI 智能体（不观察像素）　</a:t>
            </a:r>
            <a:r>
              <a:rPr sz="937" b="1" i="0">
                <a:solidFill>
                  <a:srgbClr val="1F6F8B"/>
                </a:solidFill>
                <a:latin typeface="Arial"/>
                <a:ea typeface="微软雅黑"/>
                <a:cs typeface="微软雅黑"/>
              </a:rPr>
              <a:t>■</a:t>
            </a:r>
            <a:r>
              <a:rPr sz="937" b="0" i="0">
                <a:solidFill>
                  <a:srgbClr val="4A4450"/>
                </a:solidFill>
                <a:latin typeface="Arial"/>
                <a:ea typeface="微软雅黑"/>
                <a:cs typeface="微软雅黑"/>
              </a:rPr>
              <a:t> 纯视觉 GUI 智能体</a:t>
            </a:r>
          </a:p>
        </p:txBody>
      </p:sp>
      <p:sp>
        <p:nvSpPr>
          <p:cNvPr id="29" name="Rounded Rectangle 28"/>
          <p:cNvSpPr/>
          <p:nvPr/>
        </p:nvSpPr>
        <p:spPr>
          <a:xfrm>
            <a:off x="7277100" y="4305300"/>
            <a:ext cx="4457700" cy="1238250"/>
          </a:xfrm>
          <a:prstGeom prst="roundRect">
            <a:avLst>
              <a:gd name="adj" fmla="val 923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29500" y="438150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OpenClaw 的启发（2026 年初）</a:t>
            </a:r>
            <a:r>
              <a:rPr sz="1012" b="0" i="0">
                <a:solidFill>
                  <a:srgbClr val="1F1A22"/>
                </a:solidFill>
                <a:latin typeface="Arial"/>
                <a:ea typeface="微软雅黑"/>
                <a:cs typeface="微软雅黑"/>
              </a:rPr>
              <a:t>　以 CLI 为主、运行在用户个人电脑上的开源智能体迅速普及。我们以标准 OpenClaw CLI 智能体重跑 OSWorld：成功率相当 —— 大量任务无需逐帧观察屏幕。</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结论：关键不在压缩，而在</a:t>
            </a:r>
            <a:r>
              <a:rPr sz="1350" b="1" i="0">
                <a:solidFill>
                  <a:srgbClr val="F6C8FF"/>
                </a:solidFill>
                <a:latin typeface="Arial"/>
                <a:ea typeface="微软雅黑"/>
                <a:cs typeface="微软雅黑"/>
              </a:rPr>
              <a:t>任务范式与能力度量</a:t>
            </a:r>
            <a:r>
              <a:rPr sz="1350" b="0" i="0">
                <a:solidFill>
                  <a:srgbClr val="FFFFFF"/>
                </a:solidFill>
                <a:latin typeface="Arial"/>
                <a:ea typeface="微软雅黑"/>
                <a:cs typeface="微软雅黑"/>
              </a:rPr>
              <a:t> → 定义 CLI 与 GUI 交织的综合数字智能体范式并可信评测</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研究一（续）：WeaveBench —— 综合数字智能体范式与轨迹感知的可信评测</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 CLI 与 GUI 割裂评测，任务可在单一能力内完成；仅依据最终结果判分，难以度量能力协同</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解决方法：以已部署的 CLI 智能体运行时为底座、加入最小桌面控制插件；以单通道基线与人工审查筛选需 CLI 与 GUI 协同的长程任务；轨迹感知判官审计全过程</a:t>
            </a:r>
            <a:r>
              <a:rPr sz="1125" b="0" i="0">
                <a:solidFill>
                  <a:srgbClr val="1F1A22"/>
                </a:solidFill>
                <a:latin typeface="Arial"/>
                <a:ea typeface="微软雅黑"/>
                <a:cs typeface="微软雅黑"/>
              </a:rPr>
              <a:t/>
            </a:r>
            <a:r>
              <a:rPr sz="1125" b="1" i="0">
                <a:solidFill>
                  <a:srgbClr val="1F1A22"/>
                </a:solidFill>
                <a:latin typeface="Arial"/>
                <a:ea typeface="微软雅黑"/>
                <a:cs typeface="微软雅黑"/>
              </a:rPr>
              <a:t/>
            </a:r>
            <a:r>
              <a:rPr sz="1125" b="0" i="0">
                <a:solidFill>
                  <a:srgbClr val="1F1A22"/>
                </a:solidFill>
                <a:latin typeface="Arial"/>
                <a:ea typeface="微软雅黑"/>
                <a:cs typeface="微软雅黑"/>
              </a:rPr>
              <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 · EMNLP 2026：任务构造 → 真实运行时 → 轨迹感知判官</a:t>
            </a:r>
            <a:r>
              <a:rPr sz="937" b="0" i="0">
                <a:solidFill>
                  <a:srgbClr val="4A4450"/>
                </a:solidFill>
                <a:latin typeface="Arial"/>
                <a:ea typeface="微软雅黑"/>
                <a:cs typeface="微软雅黑"/>
              </a:rPr>
              <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10–20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仅结果判分高于轨迹审计口径</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 研究二训练该行为模式</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能力交织、结果可验证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 CLI 与 GUI 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分</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WeaveBench（研究一）上的提升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研究三推广到真实世界</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研究三（一）：职业化个人智能体（Professional Personal Agent）（待完成）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现有个人智能体的"个人化"主要体现在记忆与对话人设，任务多在云端通用环境中执行；缺少个人电脑环境、职业业务知识与专业软件技能</a:t>
            </a:r>
          </a:p>
        </p:txBody>
      </p:sp>
      <p:sp>
        <p:nvSpPr>
          <p:cNvPr id="12" name="Rounded Rectangle 11"/>
          <p:cNvSpPr/>
          <p:nvPr/>
        </p:nvSpPr>
        <p:spPr>
          <a:xfrm>
            <a:off x="457200" y="1771650"/>
            <a:ext cx="6667500" cy="3695700"/>
          </a:xfrm>
          <a:prstGeom prst="roundRect">
            <a:avLst>
              <a:gd name="adj" fmla="val 20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pa_overview2.png"/>
          <p:cNvPicPr>
            <a:picLocks noChangeAspect="1"/>
          </p:cNvPicPr>
          <p:nvPr/>
        </p:nvPicPr>
        <p:blipFill>
          <a:blip r:embed="rId2"/>
          <a:stretch>
            <a:fillRect/>
          </a:stretch>
        </p:blipFill>
        <p:spPr>
          <a:xfrm>
            <a:off x="593015" y="1828800"/>
            <a:ext cx="6395869" cy="3257550"/>
          </a:xfrm>
          <a:prstGeom prst="rect">
            <a:avLst/>
          </a:prstGeom>
        </p:spPr>
      </p:pic>
      <p:sp>
        <p:nvSpPr>
          <p:cNvPr id="14" name="TextBox 13"/>
          <p:cNvSpPr txBox="1"/>
          <p:nvPr/>
        </p:nvSpPr>
        <p:spPr>
          <a:xfrm>
            <a:off x="485775" y="51244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职业化个人智能体：个人电脑环境 × 职业知识 × 软件技能</a:t>
            </a:r>
          </a:p>
        </p:txBody>
      </p:sp>
      <p:sp>
        <p:nvSpPr>
          <p:cNvPr id="15" name="Rounded Rectangle 14"/>
          <p:cNvSpPr/>
          <p:nvPr/>
        </p:nvSpPr>
        <p:spPr>
          <a:xfrm>
            <a:off x="7277100" y="17716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29500" y="18859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01</a:t>
            </a:r>
          </a:p>
        </p:txBody>
      </p:sp>
      <p:sp>
        <p:nvSpPr>
          <p:cNvPr id="17" name="TextBox 16"/>
          <p:cNvSpPr txBox="1"/>
          <p:nvPr/>
        </p:nvSpPr>
        <p:spPr>
          <a:xfrm>
            <a:off x="7905750" y="19050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在用户自己的电脑环境中工作</a:t>
            </a:r>
          </a:p>
        </p:txBody>
      </p:sp>
      <p:sp>
        <p:nvSpPr>
          <p:cNvPr id="18" name="TextBox 17"/>
          <p:cNvSpPr txBox="1"/>
          <p:nvPr/>
        </p:nvSpPr>
        <p:spPr>
          <a:xfrm>
            <a:off x="7905750" y="21907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本地文件、已登录的应用与历史记录均为任务上下文，云端通用沙箱无法复现这些状态</a:t>
            </a:r>
          </a:p>
        </p:txBody>
      </p:sp>
      <p:sp>
        <p:nvSpPr>
          <p:cNvPr id="19" name="Rounded Rectangle 18"/>
          <p:cNvSpPr/>
          <p:nvPr/>
        </p:nvSpPr>
        <p:spPr>
          <a:xfrm>
            <a:off x="7277100" y="30289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29500" y="31432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02</a:t>
            </a:r>
          </a:p>
        </p:txBody>
      </p:sp>
      <p:sp>
        <p:nvSpPr>
          <p:cNvPr id="21" name="TextBox 20"/>
          <p:cNvSpPr txBox="1"/>
          <p:nvPr/>
        </p:nvSpPr>
        <p:spPr>
          <a:xfrm>
            <a:off x="7905750" y="31623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具备职业业务世界知识</a:t>
            </a:r>
          </a:p>
        </p:txBody>
      </p:sp>
      <p:sp>
        <p:nvSpPr>
          <p:cNvPr id="22" name="TextBox 21"/>
          <p:cNvSpPr txBox="1"/>
          <p:nvPr/>
        </p:nvSpPr>
        <p:spPr>
          <a:xfrm>
            <a:off x="7905750" y="34480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账务规则、合同条款与判例、定价与库存策略等，决定任务的正确性标准</a:t>
            </a:r>
          </a:p>
        </p:txBody>
      </p:sp>
      <p:sp>
        <p:nvSpPr>
          <p:cNvPr id="23" name="Rounded Rectangle 22"/>
          <p:cNvSpPr/>
          <p:nvPr/>
        </p:nvSpPr>
        <p:spPr>
          <a:xfrm>
            <a:off x="7277100" y="42862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29500" y="44005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03</a:t>
            </a:r>
          </a:p>
        </p:txBody>
      </p:sp>
      <p:sp>
        <p:nvSpPr>
          <p:cNvPr id="25" name="TextBox 24"/>
          <p:cNvSpPr txBox="1"/>
          <p:nvPr/>
        </p:nvSpPr>
        <p:spPr>
          <a:xfrm>
            <a:off x="7905750" y="44196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掌握职业专业软件的使用能力</a:t>
            </a:r>
          </a:p>
        </p:txBody>
      </p:sp>
      <p:sp>
        <p:nvSpPr>
          <p:cNvPr id="26" name="TextBox 25"/>
          <p:cNvSpPr txBox="1"/>
          <p:nvPr/>
        </p:nvSpPr>
        <p:spPr>
          <a:xfrm>
            <a:off x="7905750" y="47053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ERP、合同审阅、EDA、设计工具等长程操作，需要 CLI 与 GUI 按需交织</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三者兼备，方能成为面向不同职业的</a:t>
            </a:r>
            <a:r>
              <a:rPr sz="1350" b="1" i="0">
                <a:solidFill>
                  <a:srgbClr val="F6C8FF"/>
                </a:solidFill>
                <a:latin typeface="Arial"/>
                <a:ea typeface="微软雅黑"/>
                <a:cs typeface="微软雅黑"/>
              </a:rPr>
              <a:t>数字员工</a:t>
            </a:r>
            <a:r>
              <a:rPr sz="1350" b="0" i="0">
                <a:solidFill>
                  <a:srgbClr val="FFFFFF"/>
                </a:solidFill>
                <a:latin typeface="Arial"/>
                <a:ea typeface="微软雅黑"/>
                <a:cs typeface="微软雅黑"/>
              </a:rPr>
              <a:t>；研究三把可扩展的评测与训练框架推广到职业化个人环境</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研究三（一·续）：多职业可验证环境扩展（Env Scaling）</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0960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a_matrix.png"/>
          <p:cNvPicPr>
            <a:picLocks noChangeAspect="1"/>
          </p:cNvPicPr>
          <p:nvPr/>
        </p:nvPicPr>
        <p:blipFill>
          <a:blip r:embed="rId2"/>
          <a:stretch>
            <a:fillRect/>
          </a:stretch>
        </p:blipFill>
        <p:spPr>
          <a:xfrm>
            <a:off x="747712" y="1485900"/>
            <a:ext cx="5514975" cy="3676650"/>
          </a:xfrm>
          <a:prstGeom prst="rect">
            <a:avLst/>
          </a:prstGeom>
        </p:spPr>
      </p:pic>
      <p:sp>
        <p:nvSpPr>
          <p:cNvPr id="13" name="TextBox 12"/>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多职业个人电脑环境：会计 · 律师 · 设计师 · 电商运营 · 医生 · 芯片工程师</a:t>
            </a:r>
          </a:p>
        </p:txBody>
      </p:sp>
      <p:sp>
        <p:nvSpPr>
          <p:cNvPr id="14" name="Rounded Rectangle 13"/>
          <p:cNvSpPr/>
          <p:nvPr/>
        </p:nvSpPr>
        <p:spPr>
          <a:xfrm>
            <a:off x="6705600" y="14287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0" y="15240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① App Mock：职业业务系统仿真</a:t>
            </a:r>
          </a:p>
        </p:txBody>
      </p:sp>
      <p:sp>
        <p:nvSpPr>
          <p:cNvPr id="16" name="TextBox 15"/>
          <p:cNvSpPr txBox="1"/>
          <p:nvPr/>
        </p:nvSpPr>
        <p:spPr>
          <a:xfrm>
            <a:off x="6858000" y="17907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以研究二的复刻能力，将 ERP、合同审阅、电商后台、病历系统等业务软件构建为可交互、可重置的仿真应用，并组装为个人电脑环境</a:t>
            </a:r>
          </a:p>
        </p:txBody>
      </p:sp>
      <p:sp>
        <p:nvSpPr>
          <p:cNvPr id="17" name="Rounded Rectangle 16"/>
          <p:cNvSpPr/>
          <p:nvPr/>
        </p:nvSpPr>
        <p:spPr>
          <a:xfrm>
            <a:off x="6705600" y="24955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0" y="25908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② 真实数据驱动的环境模拟</a:t>
            </a:r>
          </a:p>
        </p:txBody>
      </p:sp>
      <p:sp>
        <p:nvSpPr>
          <p:cNvPr id="19" name="TextBox 18"/>
          <p:cNvSpPr txBox="1"/>
          <p:nvPr/>
        </p:nvSpPr>
        <p:spPr>
          <a:xfrm>
            <a:off x="6858000" y="28575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以脱敏真实业务数据驱动状态与事件演化；事件依附业务动作，支持需求变更与跨应用协作的长程任务</a:t>
            </a:r>
          </a:p>
        </p:txBody>
      </p:sp>
      <p:sp>
        <p:nvSpPr>
          <p:cNvPr id="20" name="Rounded Rectangle 19"/>
          <p:cNvSpPr/>
          <p:nvPr/>
        </p:nvSpPr>
        <p:spPr>
          <a:xfrm>
            <a:off x="6705600" y="35623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0" y="36576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③ SFT &amp; RL 任务构造流水线</a:t>
            </a:r>
          </a:p>
        </p:txBody>
      </p:sp>
      <p:sp>
        <p:nvSpPr>
          <p:cNvPr id="22" name="TextBox 21"/>
          <p:cNvSpPr txBox="1"/>
          <p:nvPr/>
        </p:nvSpPr>
        <p:spPr>
          <a:xfrm>
            <a:off x="6858000" y="39243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任务生成 → 轨迹采样 → 状态优先的 verifier（以数据库状态校验结果，抑制奖励利用）→ SFT 数据 / RL 奖励</a:t>
            </a:r>
          </a:p>
        </p:txBody>
      </p:sp>
      <p:sp>
        <p:nvSpPr>
          <p:cNvPr id="23" name="Rounded Rectangle 22"/>
          <p:cNvSpPr/>
          <p:nvPr/>
        </p:nvSpPr>
        <p:spPr>
          <a:xfrm>
            <a:off x="6705600" y="4629150"/>
            <a:ext cx="5029200" cy="914400"/>
          </a:xfrm>
          <a:prstGeom prst="roundRect">
            <a:avLst>
              <a:gd name="adj" fmla="val 1250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4705350"/>
            <a:ext cx="480060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闭环复用</a:t>
            </a:r>
            <a:r>
              <a:rPr sz="1012" b="0" i="0">
                <a:solidFill>
                  <a:srgbClr val="1F1A22"/>
                </a:solidFill>
                <a:latin typeface="Arial"/>
                <a:ea typeface="微软雅黑"/>
                <a:cs typeface="微软雅黑"/>
              </a:rPr>
              <a:t>：研究一的轨迹感知评测用于度量；研究二的拒绝采样训练流程用于学习；研究一的压缩方法降低 RL rollout 开销</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研究三（二）：物理世界智能体（Physical Agent）—— 表象正确不等于机制正确</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6667500" cy="4476750"/>
          </a:xfrm>
          <a:prstGeom prst="roundRect">
            <a:avLst>
              <a:gd name="adj" fmla="val 1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cf.png"/>
          <p:cNvPicPr>
            <a:picLocks noChangeAspect="1"/>
          </p:cNvPicPr>
          <p:nvPr/>
        </p:nvPicPr>
        <p:blipFill>
          <a:blip r:embed="rId2"/>
          <a:stretch>
            <a:fillRect/>
          </a:stretch>
        </p:blipFill>
        <p:spPr>
          <a:xfrm>
            <a:off x="514350" y="1672778"/>
            <a:ext cx="6553200" cy="3664842"/>
          </a:xfrm>
          <a:prstGeom prst="rect">
            <a:avLst/>
          </a:prstGeom>
        </p:spPr>
      </p:pic>
      <p:sp>
        <p:nvSpPr>
          <p:cNvPr id="11" name="TextBox 10"/>
          <p:cNvSpPr txBox="1"/>
          <p:nvPr/>
        </p:nvSpPr>
        <p:spPr>
          <a:xfrm>
            <a:off x="514350" y="5562600"/>
            <a:ext cx="659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反事实干预：拉大第 10、11 块骨牌间距后，关键帧动画仍全部倒下，物理仿真在间隙处正确中断</a:t>
            </a:r>
          </a:p>
        </p:txBody>
      </p:sp>
      <p:sp>
        <p:nvSpPr>
          <p:cNvPr id="12" name="Rounded Rectangle 11"/>
          <p:cNvSpPr/>
          <p:nvPr/>
        </p:nvSpPr>
        <p:spPr>
          <a:xfrm>
            <a:off x="7277100" y="1428750"/>
            <a:ext cx="4457700" cy="1143000"/>
          </a:xfrm>
          <a:prstGeom prst="roundRect">
            <a:avLst>
              <a:gd name="adj" fmla="val 10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29500" y="150495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660874"/>
                </a:solidFill>
                <a:latin typeface="Arial"/>
                <a:ea typeface="微软雅黑"/>
                <a:cs typeface="微软雅黑"/>
              </a:rPr>
              <a:t>核心问题</a:t>
            </a:r>
            <a:r>
              <a:rPr sz="1012" b="0" i="0">
                <a:solidFill>
                  <a:srgbClr val="1F1A22"/>
                </a:solidFill>
                <a:latin typeface="Arial"/>
                <a:ea typeface="微软雅黑"/>
                <a:cs typeface="微软雅黑"/>
              </a:rPr>
              <a:t>：Coding Agent 已能自动生成"会动的 3D 世界"，但它构建的是</a:t>
            </a:r>
            <a:r>
              <a:rPr sz="1012" b="1" i="0">
                <a:solidFill>
                  <a:srgbClr val="1F1A22"/>
                </a:solidFill>
                <a:latin typeface="Arial"/>
                <a:ea typeface="微软雅黑"/>
                <a:cs typeface="微软雅黑"/>
              </a:rPr>
              <a:t>遵守物理机制、可跨条件泛化</a:t>
            </a:r>
            <a:r>
              <a:rPr sz="1012" b="0" i="0">
                <a:solidFill>
                  <a:srgbClr val="1F1A22"/>
                </a:solidFill>
                <a:latin typeface="Arial"/>
                <a:ea typeface="微软雅黑"/>
                <a:cs typeface="微软雅黑"/>
              </a:rPr>
              <a:t>的世界，还是只在当前条件下看起来正确的运动程序？出错时能否依据执行反馈</a:t>
            </a:r>
            <a:r>
              <a:rPr sz="1012" b="1" i="0">
                <a:solidFill>
                  <a:srgbClr val="1F1A22"/>
                </a:solidFill>
                <a:latin typeface="Arial"/>
                <a:ea typeface="微软雅黑"/>
                <a:cs typeface="微软雅黑"/>
              </a:rPr>
              <a:t>定位并修复</a:t>
            </a:r>
            <a:r>
              <a:rPr sz="1012" b="0" i="0">
                <a:solidFill>
                  <a:srgbClr val="1F1A22"/>
                </a:solidFill>
                <a:latin typeface="Arial"/>
                <a:ea typeface="微软雅黑"/>
                <a:cs typeface="微软雅黑"/>
              </a:rPr>
              <a:t>？</a:t>
            </a:r>
          </a:p>
        </p:txBody>
      </p:sp>
      <p:sp>
        <p:nvSpPr>
          <p:cNvPr id="14" name="TextBox 13"/>
          <p:cNvSpPr txBox="1"/>
          <p:nvPr/>
        </p:nvSpPr>
        <p:spPr>
          <a:xfrm>
            <a:off x="7353300" y="2686050"/>
            <a:ext cx="118110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相关工作</a:t>
            </a:r>
          </a:p>
        </p:txBody>
      </p:sp>
      <p:sp>
        <p:nvSpPr>
          <p:cNvPr id="15" name="TextBox 14"/>
          <p:cNvSpPr txBox="1"/>
          <p:nvPr/>
        </p:nvSpPr>
        <p:spPr>
          <a:xfrm>
            <a:off x="8477250" y="2686050"/>
            <a:ext cx="15811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已考察</a:t>
            </a:r>
          </a:p>
        </p:txBody>
      </p:sp>
      <p:sp>
        <p:nvSpPr>
          <p:cNvPr id="16" name="TextBox 15"/>
          <p:cNvSpPr txBox="1"/>
          <p:nvPr/>
        </p:nvSpPr>
        <p:spPr>
          <a:xfrm>
            <a:off x="10058400" y="2686050"/>
            <a:ext cx="16954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C0392B"/>
                </a:solidFill>
                <a:latin typeface="Arial"/>
                <a:ea typeface="微软雅黑"/>
                <a:cs typeface="微软雅黑"/>
              </a:rPr>
              <a:t>尚未充分考察</a:t>
            </a:r>
          </a:p>
        </p:txBody>
      </p:sp>
      <p:sp>
        <p:nvSpPr>
          <p:cNvPr id="17" name="Rectangle 16"/>
          <p:cNvSpPr/>
          <p:nvPr/>
        </p:nvSpPr>
        <p:spPr>
          <a:xfrm>
            <a:off x="7277100" y="28956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53300" y="28956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LEGO-Anything</a:t>
            </a:r>
          </a:p>
        </p:txBody>
      </p:sp>
      <p:sp>
        <p:nvSpPr>
          <p:cNvPr id="19" name="TextBox 18"/>
          <p:cNvSpPr txBox="1"/>
          <p:nvPr/>
        </p:nvSpPr>
        <p:spPr>
          <a:xfrm>
            <a:off x="8477250" y="29241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重建静态 3D 场景</a:t>
            </a:r>
          </a:p>
        </p:txBody>
      </p:sp>
      <p:sp>
        <p:nvSpPr>
          <p:cNvPr id="20" name="TextBox 19"/>
          <p:cNvSpPr txBox="1"/>
          <p:nvPr/>
        </p:nvSpPr>
        <p:spPr>
          <a:xfrm>
            <a:off x="10058400" y="29241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能否按物理规律运动</a:t>
            </a:r>
          </a:p>
        </p:txBody>
      </p:sp>
      <p:sp>
        <p:nvSpPr>
          <p:cNvPr id="21" name="Rectangle 20"/>
          <p:cNvSpPr/>
          <p:nvPr/>
        </p:nvSpPr>
        <p:spPr>
          <a:xfrm>
            <a:off x="7277100" y="32956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53300" y="32956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Code4Scene</a:t>
            </a:r>
          </a:p>
        </p:txBody>
      </p:sp>
      <p:sp>
        <p:nvSpPr>
          <p:cNvPr id="23" name="TextBox 22"/>
          <p:cNvSpPr txBox="1"/>
          <p:nvPr/>
        </p:nvSpPr>
        <p:spPr>
          <a:xfrm>
            <a:off x="8477250" y="33242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精确构建 / 编辑 3D 环境</a:t>
            </a:r>
          </a:p>
        </p:txBody>
      </p:sp>
      <p:sp>
        <p:nvSpPr>
          <p:cNvPr id="24" name="TextBox 23"/>
          <p:cNvSpPr txBox="1"/>
          <p:nvPr/>
        </p:nvSpPr>
        <p:spPr>
          <a:xfrm>
            <a:off x="10058400" y="33242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动态行为是否正确</a:t>
            </a:r>
          </a:p>
        </p:txBody>
      </p:sp>
      <p:sp>
        <p:nvSpPr>
          <p:cNvPr id="25" name="Rectangle 24"/>
          <p:cNvSpPr/>
          <p:nvPr/>
        </p:nvSpPr>
        <p:spPr>
          <a:xfrm>
            <a:off x="7277100" y="36957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53300" y="36957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4DCodeBench</a:t>
            </a:r>
          </a:p>
        </p:txBody>
      </p:sp>
      <p:sp>
        <p:nvSpPr>
          <p:cNvPr id="27" name="TextBox 26"/>
          <p:cNvSpPr txBox="1"/>
          <p:nvPr/>
        </p:nvSpPr>
        <p:spPr>
          <a:xfrm>
            <a:off x="8477250" y="37242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复现参考视频的运动</a:t>
            </a:r>
          </a:p>
        </p:txBody>
      </p:sp>
      <p:sp>
        <p:nvSpPr>
          <p:cNvPr id="28" name="TextBox 27"/>
          <p:cNvSpPr txBox="1"/>
          <p:nvPr/>
        </p:nvSpPr>
        <p:spPr>
          <a:xfrm>
            <a:off x="10058400" y="37242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换初始条件是否仍正确</a:t>
            </a:r>
          </a:p>
        </p:txBody>
      </p:sp>
      <p:sp>
        <p:nvSpPr>
          <p:cNvPr id="29" name="Rectangle 28"/>
          <p:cNvSpPr/>
          <p:nvPr/>
        </p:nvSpPr>
        <p:spPr>
          <a:xfrm>
            <a:off x="7277100" y="40957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353300" y="40957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SimWorlds</a:t>
            </a:r>
          </a:p>
        </p:txBody>
      </p:sp>
      <p:sp>
        <p:nvSpPr>
          <p:cNvPr id="31" name="TextBox 30"/>
          <p:cNvSpPr txBox="1"/>
          <p:nvPr/>
        </p:nvSpPr>
        <p:spPr>
          <a:xfrm>
            <a:off x="8477250" y="41243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建立并验证物理机制</a:t>
            </a:r>
          </a:p>
        </p:txBody>
      </p:sp>
      <p:sp>
        <p:nvSpPr>
          <p:cNvPr id="32" name="TextBox 31"/>
          <p:cNvSpPr txBox="1"/>
          <p:nvPr/>
        </p:nvSpPr>
        <p:spPr>
          <a:xfrm>
            <a:off x="10058400" y="41243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参数与跨条件行为</a:t>
            </a:r>
          </a:p>
        </p:txBody>
      </p:sp>
      <p:sp>
        <p:nvSpPr>
          <p:cNvPr id="33" name="Rectangle 32"/>
          <p:cNvSpPr/>
          <p:nvPr/>
        </p:nvSpPr>
        <p:spPr>
          <a:xfrm>
            <a:off x="7277100" y="44958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53300" y="44958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Text2Sim</a:t>
            </a:r>
          </a:p>
        </p:txBody>
      </p:sp>
      <p:sp>
        <p:nvSpPr>
          <p:cNvPr id="35" name="TextBox 34"/>
          <p:cNvSpPr txBox="1"/>
          <p:nvPr/>
        </p:nvSpPr>
        <p:spPr>
          <a:xfrm>
            <a:off x="8477250" y="45243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生成、运行并修复仿真</a:t>
            </a:r>
          </a:p>
        </p:txBody>
      </p:sp>
      <p:sp>
        <p:nvSpPr>
          <p:cNvPr id="36" name="TextBox 35"/>
          <p:cNvSpPr txBox="1"/>
          <p:nvPr/>
        </p:nvSpPr>
        <p:spPr>
          <a:xfrm>
            <a:off x="10058400" y="45243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未见干预下是否可靠</a:t>
            </a:r>
          </a:p>
        </p:txBody>
      </p:sp>
      <p:sp>
        <p:nvSpPr>
          <p:cNvPr id="37" name="Rectangle 36"/>
          <p:cNvSpPr/>
          <p:nvPr/>
        </p:nvSpPr>
        <p:spPr>
          <a:xfrm>
            <a:off x="7277100" y="48958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353300" y="48958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WorldSolver</a:t>
            </a:r>
          </a:p>
        </p:txBody>
      </p:sp>
      <p:sp>
        <p:nvSpPr>
          <p:cNvPr id="39" name="TextBox 38"/>
          <p:cNvSpPr txBox="1"/>
          <p:nvPr/>
        </p:nvSpPr>
        <p:spPr>
          <a:xfrm>
            <a:off x="8477250" y="49244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实现物理求解器</a:t>
            </a:r>
          </a:p>
        </p:txBody>
      </p:sp>
      <p:sp>
        <p:nvSpPr>
          <p:cNvPr id="40" name="TextBox 39"/>
          <p:cNvSpPr txBox="1"/>
          <p:nvPr/>
        </p:nvSpPr>
        <p:spPr>
          <a:xfrm>
            <a:off x="10058400" y="49244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复杂场景中自主诊断</a:t>
            </a:r>
          </a:p>
        </p:txBody>
      </p:sp>
      <p:sp>
        <p:nvSpPr>
          <p:cNvPr id="41" name="TextBox 40"/>
          <p:cNvSpPr txBox="1"/>
          <p:nvPr/>
        </p:nvSpPr>
        <p:spPr>
          <a:xfrm>
            <a:off x="7277100" y="5353050"/>
            <a:ext cx="44958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C0392B"/>
                </a:solidFill>
                <a:latin typeface="Arial"/>
                <a:ea typeface="微软雅黑"/>
                <a:cs typeface="微软雅黑"/>
              </a:rPr>
              <a:t>研究空白：尚未统一考察</a:t>
            </a:r>
            <a:r>
              <a:rPr sz="1012" b="1" i="0">
                <a:solidFill>
                  <a:srgbClr val="1F1A22"/>
                </a:solidFill>
                <a:latin typeface="Arial"/>
                <a:ea typeface="微软雅黑"/>
                <a:cs typeface="微软雅黑"/>
              </a:rPr>
              <a:t>跨条件物理泛化、错误因果定位、修复后不破坏既有行为</a:t>
            </a:r>
            <a:r>
              <a:rPr sz="1012" b="0" i="0">
                <a:solidFill>
                  <a:srgbClr val="C0392B"/>
                </a:solidFill>
                <a:latin typeface="Arial"/>
                <a:ea typeface="微软雅黑"/>
                <a:cs typeface="微软雅黑"/>
              </a:rPr>
              <a:t>三件事</a:t>
            </a:r>
          </a:p>
        </p:txBody>
      </p:sp>
      <p:sp>
        <p:nvSpPr>
          <p:cNvPr id="42" name="TextBox 4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研究三（二·续）：基于物理状态与干预测试的验证、诊断与定向修复</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5715000" cy="4095750"/>
          </a:xfrm>
          <a:prstGeom prst="roundRect">
            <a:avLst>
              <a:gd name="adj" fmla="val 186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loop.png"/>
          <p:cNvPicPr>
            <a:picLocks noChangeAspect="1"/>
          </p:cNvPicPr>
          <p:nvPr/>
        </p:nvPicPr>
        <p:blipFill>
          <a:blip r:embed="rId2"/>
          <a:stretch>
            <a:fillRect/>
          </a:stretch>
        </p:blipFill>
        <p:spPr>
          <a:xfrm>
            <a:off x="514350" y="1497592"/>
            <a:ext cx="5600700" cy="3634215"/>
          </a:xfrm>
          <a:prstGeom prst="rect">
            <a:avLst/>
          </a:prstGeom>
        </p:spPr>
      </p:pic>
      <p:sp>
        <p:nvSpPr>
          <p:cNvPr id="11" name="TextBox 10"/>
          <p:cNvSpPr txBox="1"/>
          <p:nvPr/>
        </p:nvSpPr>
        <p:spPr>
          <a:xfrm>
            <a:off x="485775" y="5181600"/>
            <a:ext cx="5657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方法框架：构建物理世界 → 执行仿真 → 干预验证 → 落地诊断 → 定向修复与回归测试</a:t>
            </a:r>
          </a:p>
        </p:txBody>
      </p:sp>
      <p:sp>
        <p:nvSpPr>
          <p:cNvPr id="12" name="Rounded Rectangle 11"/>
          <p:cNvSpPr/>
          <p:nvPr/>
        </p:nvSpPr>
        <p:spPr>
          <a:xfrm>
            <a:off x="6362700" y="14478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96050" y="14478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 物理泛化</a:t>
            </a:r>
          </a:p>
        </p:txBody>
      </p:sp>
      <p:sp>
        <p:nvSpPr>
          <p:cNvPr id="14" name="TextBox 13"/>
          <p:cNvSpPr txBox="1"/>
          <p:nvPr/>
        </p:nvSpPr>
        <p:spPr>
          <a:xfrm>
            <a:off x="7810500" y="1447800"/>
            <a:ext cx="3981450" cy="192881"/>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未见过的质量、摩擦、碰撞参数、初速度、外力下仿真是否仍正确</a:t>
            </a:r>
          </a:p>
        </p:txBody>
      </p:sp>
      <p:sp>
        <p:nvSpPr>
          <p:cNvPr id="15" name="Rounded Rectangle 14"/>
          <p:cNvSpPr/>
          <p:nvPr/>
        </p:nvSpPr>
        <p:spPr>
          <a:xfrm>
            <a:off x="6362700" y="192405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96050" y="192405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 错误诊断</a:t>
            </a:r>
          </a:p>
        </p:txBody>
      </p:sp>
      <p:sp>
        <p:nvSpPr>
          <p:cNvPr id="17" name="TextBox 16"/>
          <p:cNvSpPr txBox="1"/>
          <p:nvPr/>
        </p:nvSpPr>
        <p:spPr>
          <a:xfrm>
            <a:off x="7810500" y="192405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能否区分碰撞体、摩擦设置、数值积分不稳定等原因，而非随机调参</a:t>
            </a:r>
          </a:p>
        </p:txBody>
      </p:sp>
      <p:sp>
        <p:nvSpPr>
          <p:cNvPr id="18" name="Rounded Rectangle 17"/>
          <p:cNvSpPr/>
          <p:nvPr/>
        </p:nvSpPr>
        <p:spPr>
          <a:xfrm>
            <a:off x="6362700" y="24003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96050" y="24003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 可靠修复</a:t>
            </a:r>
          </a:p>
        </p:txBody>
      </p:sp>
      <p:sp>
        <p:nvSpPr>
          <p:cNvPr id="20" name="TextBox 19"/>
          <p:cNvSpPr txBox="1"/>
          <p:nvPr/>
        </p:nvSpPr>
        <p:spPr>
          <a:xfrm>
            <a:off x="7810500" y="240030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利用物理状态与视觉证据修复，并通过回归测试（Regression Tests）</a:t>
            </a:r>
          </a:p>
        </p:txBody>
      </p:sp>
      <p:sp>
        <p:nvSpPr>
          <p:cNvPr id="21" name="Rounded Rectangle 20"/>
          <p:cNvSpPr/>
          <p:nvPr/>
        </p:nvSpPr>
        <p:spPr>
          <a:xfrm>
            <a:off x="6362700" y="2952750"/>
            <a:ext cx="5372100" cy="2571750"/>
          </a:xfrm>
          <a:prstGeom prst="roundRect">
            <a:avLst>
              <a:gd name="adj" fmla="val 444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15100" y="3048000"/>
            <a:ext cx="510540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核心消融（同一模型、工具权限与计算预算）</a:t>
            </a:r>
          </a:p>
        </p:txBody>
      </p:sp>
      <p:sp>
        <p:nvSpPr>
          <p:cNvPr id="23" name="Rounded Rectangle 22"/>
          <p:cNvSpPr/>
          <p:nvPr/>
        </p:nvSpPr>
        <p:spPr>
          <a:xfrm>
            <a:off x="6515100" y="33528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629400" y="33528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One-shot</a:t>
            </a:r>
          </a:p>
        </p:txBody>
      </p:sp>
      <p:sp>
        <p:nvSpPr>
          <p:cNvPr id="25" name="TextBox 24"/>
          <p:cNvSpPr txBox="1"/>
          <p:nvPr/>
        </p:nvSpPr>
        <p:spPr>
          <a:xfrm>
            <a:off x="8572500" y="33528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不提供反馈</a:t>
            </a:r>
          </a:p>
        </p:txBody>
      </p:sp>
      <p:sp>
        <p:nvSpPr>
          <p:cNvPr id="26" name="Rounded Rectangle 25"/>
          <p:cNvSpPr/>
          <p:nvPr/>
        </p:nvSpPr>
        <p:spPr>
          <a:xfrm>
            <a:off x="6515100" y="36957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29400" y="36957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Execution Feedback</a:t>
            </a:r>
          </a:p>
        </p:txBody>
      </p:sp>
      <p:sp>
        <p:nvSpPr>
          <p:cNvPr id="28" name="TextBox 27"/>
          <p:cNvSpPr txBox="1"/>
          <p:nvPr/>
        </p:nvSpPr>
        <p:spPr>
          <a:xfrm>
            <a:off x="8572500" y="36957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运行错误与报错日志</a:t>
            </a:r>
          </a:p>
        </p:txBody>
      </p:sp>
      <p:sp>
        <p:nvSpPr>
          <p:cNvPr id="29" name="Rounded Rectangle 28"/>
          <p:cNvSpPr/>
          <p:nvPr/>
        </p:nvSpPr>
        <p:spPr>
          <a:xfrm>
            <a:off x="6515100" y="40386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40386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Visual Feedback</a:t>
            </a:r>
          </a:p>
        </p:txBody>
      </p:sp>
      <p:sp>
        <p:nvSpPr>
          <p:cNvPr id="31" name="TextBox 30"/>
          <p:cNvSpPr txBox="1"/>
          <p:nvPr/>
        </p:nvSpPr>
        <p:spPr>
          <a:xfrm>
            <a:off x="8572500" y="40386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渲染图与动画</a:t>
            </a:r>
          </a:p>
        </p:txBody>
      </p:sp>
      <p:sp>
        <p:nvSpPr>
          <p:cNvPr id="32" name="Rounded Rectangle 31"/>
          <p:cNvSpPr/>
          <p:nvPr/>
        </p:nvSpPr>
        <p:spPr>
          <a:xfrm>
            <a:off x="6515100" y="43815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43815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Physical State Feedback</a:t>
            </a:r>
          </a:p>
        </p:txBody>
      </p:sp>
      <p:sp>
        <p:nvSpPr>
          <p:cNvPr id="34" name="TextBox 33"/>
          <p:cNvSpPr txBox="1"/>
          <p:nvPr/>
        </p:nvSpPr>
        <p:spPr>
          <a:xfrm>
            <a:off x="8572500" y="43815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位置、速度、接触、能量</a:t>
            </a:r>
          </a:p>
        </p:txBody>
      </p:sp>
      <p:sp>
        <p:nvSpPr>
          <p:cNvPr id="35" name="Rounded Rectangle 34"/>
          <p:cNvSpPr/>
          <p:nvPr/>
        </p:nvSpPr>
        <p:spPr>
          <a:xfrm>
            <a:off x="6515100" y="4724400"/>
            <a:ext cx="5067300" cy="304800"/>
          </a:xfrm>
          <a:prstGeom prst="roundRect">
            <a:avLst>
              <a:gd name="adj" fmla="val 18750"/>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629400" y="47244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Ours</a:t>
            </a:r>
          </a:p>
        </p:txBody>
      </p:sp>
      <p:sp>
        <p:nvSpPr>
          <p:cNvPr id="37" name="TextBox 36"/>
          <p:cNvSpPr txBox="1"/>
          <p:nvPr/>
        </p:nvSpPr>
        <p:spPr>
          <a:xfrm>
            <a:off x="8572500" y="47244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状态 + 干预测试 + 定向修复</a:t>
            </a:r>
          </a:p>
        </p:txBody>
      </p:sp>
      <p:sp>
        <p:nvSpPr>
          <p:cNvPr id="38" name="TextBox 37"/>
          <p:cNvSpPr txBox="1"/>
          <p:nvPr/>
        </p:nvSpPr>
        <p:spPr>
          <a:xfrm>
            <a:off x="6515100" y="5124450"/>
            <a:ext cx="51244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指标：反事实通过率 · 修复成功率 · 回归失败率 · 成本</a:t>
            </a:r>
          </a:p>
        </p:txBody>
      </p:sp>
      <p:sp>
        <p:nvSpPr>
          <p:cNvPr id="39" name="Rounded Rectangle 3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目标：从评测"能否生成会动的世界"推进到评测"能否构建</a:t>
            </a:r>
            <a:r>
              <a:rPr sz="1350" b="1" i="0">
                <a:solidFill>
                  <a:srgbClr val="F6C8FF"/>
                </a:solidFill>
                <a:latin typeface="Arial"/>
                <a:ea typeface="微软雅黑"/>
                <a:cs typeface="微软雅黑"/>
              </a:rPr>
              <a:t>条件变化下仍遵守物理规律</a:t>
            </a:r>
            <a:r>
              <a:rPr sz="1350" b="0" i="0">
                <a:solidFill>
                  <a:srgbClr val="FFFFFF"/>
                </a:solidFill>
                <a:latin typeface="Arial"/>
                <a:ea typeface="微软雅黑"/>
                <a:cs typeface="微软雅黑"/>
              </a:rPr>
              <a:t>的世界"</a:t>
            </a:r>
          </a:p>
        </p:txBody>
      </p:sp>
      <p:sp>
        <p:nvSpPr>
          <p:cNvPr id="41" name="TextBox 4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 · 训练</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8002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5906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研究型实习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研究一、二的评测环境与训练数据已应用于模型优化，参与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研究一（评测）与研究二（训练）已完成，形成可扩展评测与训练框架的基础；后续聚焦</a:t>
            </a:r>
            <a:r>
              <a:rPr sz="1350" b="1" i="0">
                <a:solidFill>
                  <a:srgbClr val="F6C8FF"/>
                </a:solidFill>
                <a:latin typeface="Arial"/>
                <a:ea typeface="微软雅黑"/>
                <a:cs typeface="微软雅黑"/>
              </a:rPr>
              <a:t>研究三（应用）</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预期创新点</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86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01</a:t>
            </a:r>
          </a:p>
        </p:txBody>
      </p:sp>
      <p:sp>
        <p:nvSpPr>
          <p:cNvPr id="7" name="TextBox 6"/>
          <p:cNvSpPr txBox="1"/>
          <p:nvPr/>
        </p:nvSpPr>
        <p:spPr>
          <a:xfrm>
            <a:off x="6286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综合数字智能体范式与轨迹感知的可信评测</a:t>
            </a:r>
          </a:p>
        </p:txBody>
      </p:sp>
      <p:pic>
        <p:nvPicPr>
          <p:cNvPr id="8" name="Picture 7" descr="fig_overview_new-1.png"/>
          <p:cNvPicPr>
            <a:picLocks noChangeAspect="1"/>
          </p:cNvPicPr>
          <p:nvPr/>
        </p:nvPicPr>
        <p:blipFill>
          <a:blip r:embed="rId2"/>
          <a:stretch>
            <a:fillRect/>
          </a:stretch>
        </p:blipFill>
        <p:spPr>
          <a:xfrm>
            <a:off x="571500" y="2602505"/>
            <a:ext cx="3390900" cy="1348189"/>
          </a:xfrm>
          <a:prstGeom prst="rect">
            <a:avLst/>
          </a:prstGeom>
        </p:spPr>
      </p:pic>
      <p:sp>
        <p:nvSpPr>
          <p:cNvPr id="9" name="TextBox 8"/>
          <p:cNvSpPr txBox="1"/>
          <p:nvPr/>
        </p:nvSpPr>
        <p:spPr>
          <a:xfrm>
            <a:off x="6286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形式化 CLI 与 GUI 交织的混合能力范式；以单通道基线与人工审查筛选需协同的长程任务，以轨迹审计替代仅依据结果的判分，揭示自主编排与自我验证瓶颈。</a:t>
            </a:r>
          </a:p>
        </p:txBody>
      </p:sp>
      <p:sp>
        <p:nvSpPr>
          <p:cNvPr id="10" name="Rounded Rectangle 9"/>
          <p:cNvSpPr/>
          <p:nvPr/>
        </p:nvSpPr>
        <p:spPr>
          <a:xfrm>
            <a:off x="428625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5770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02</a:t>
            </a:r>
          </a:p>
        </p:txBody>
      </p:sp>
      <p:sp>
        <p:nvSpPr>
          <p:cNvPr id="12" name="TextBox 11"/>
          <p:cNvSpPr txBox="1"/>
          <p:nvPr/>
        </p:nvSpPr>
        <p:spPr>
          <a:xfrm>
            <a:off x="445770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以原版应用为 oracle 的可扩展可验证训练</a:t>
            </a:r>
          </a:p>
        </p:txBody>
      </p:sp>
      <p:pic>
        <p:nvPicPr>
          <p:cNvPr id="13" name="Picture 12" descr="rw_fig2_recreation.png"/>
          <p:cNvPicPr>
            <a:picLocks noChangeAspect="1"/>
          </p:cNvPicPr>
          <p:nvPr/>
        </p:nvPicPr>
        <p:blipFill>
          <a:blip r:embed="rId3"/>
          <a:stretch>
            <a:fillRect/>
          </a:stretch>
        </p:blipFill>
        <p:spPr>
          <a:xfrm>
            <a:off x="4400550" y="2870361"/>
            <a:ext cx="3390900" cy="812476"/>
          </a:xfrm>
          <a:prstGeom prst="rect">
            <a:avLst/>
          </a:prstGeom>
        </p:spPr>
      </p:pic>
      <p:sp>
        <p:nvSpPr>
          <p:cNvPr id="14" name="TextBox 13"/>
          <p:cNvSpPr txBox="1"/>
          <p:nvPr/>
        </p:nvSpPr>
        <p:spPr>
          <a:xfrm>
            <a:off x="445770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任意开源应用即可转化为"环境 + 隐藏行为测试"，为混合行为提供可验证奖励；验证习得行为可迁移至分布外任务。</a:t>
            </a:r>
          </a:p>
        </p:txBody>
      </p:sp>
      <p:sp>
        <p:nvSpPr>
          <p:cNvPr id="15" name="Rounded Rectangle 14"/>
          <p:cNvSpPr/>
          <p:nvPr/>
        </p:nvSpPr>
        <p:spPr>
          <a:xfrm>
            <a:off x="81153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867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03</a:t>
            </a:r>
          </a:p>
        </p:txBody>
      </p:sp>
      <p:sp>
        <p:nvSpPr>
          <p:cNvPr id="17" name="TextBox 16"/>
          <p:cNvSpPr txBox="1"/>
          <p:nvPr/>
        </p:nvSpPr>
        <p:spPr>
          <a:xfrm>
            <a:off x="82867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面向真实世界的环境扩展与物理落地验证</a:t>
            </a:r>
          </a:p>
        </p:txBody>
      </p:sp>
      <p:pic>
        <p:nvPicPr>
          <p:cNvPr id="18" name="Picture 17" descr="phys_cf.png"/>
          <p:cNvPicPr>
            <a:picLocks noChangeAspect="1"/>
          </p:cNvPicPr>
          <p:nvPr/>
        </p:nvPicPr>
        <p:blipFill>
          <a:blip r:embed="rId4"/>
          <a:stretch>
            <a:fillRect/>
          </a:stretch>
        </p:blipFill>
        <p:spPr>
          <a:xfrm>
            <a:off x="8229600" y="2328428"/>
            <a:ext cx="3390900" cy="1896343"/>
          </a:xfrm>
          <a:prstGeom prst="rect">
            <a:avLst/>
          </a:prstGeom>
        </p:spPr>
      </p:pic>
      <p:sp>
        <p:nvSpPr>
          <p:cNvPr id="19" name="TextBox 18"/>
          <p:cNvSpPr txBox="1"/>
          <p:nvPr/>
        </p:nvSpPr>
        <p:spPr>
          <a:xfrm>
            <a:off x="82867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构建职业化个人电脑环境与真实数据驱动的任务流水线；以反事实干预检验生成内容的物理机制，并以诊断与定向修复提升可靠性。</a:t>
            </a:r>
          </a:p>
        </p:txBody>
      </p:sp>
      <p:sp>
        <p:nvSpPr>
          <p:cNvPr id="20" name="Rounded Rectangle 19"/>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三点创新共享同一原则：</a:t>
            </a:r>
            <a:r>
              <a:rPr sz="1350" b="1" i="0">
                <a:solidFill>
                  <a:srgbClr val="F6C8FF"/>
                </a:solidFill>
                <a:latin typeface="Arial"/>
                <a:ea typeface="微软雅黑"/>
                <a:cs typeface="微软雅黑"/>
              </a:rPr>
              <a:t>以可执行、可验证的证据</a:t>
            </a:r>
            <a:r>
              <a:rPr sz="1350" b="0" i="0">
                <a:solidFill>
                  <a:srgbClr val="FFFFFF"/>
                </a:solidFill>
                <a:latin typeface="Arial"/>
                <a:ea typeface="微软雅黑"/>
                <a:cs typeface="微软雅黑"/>
              </a:rPr>
              <a:t>度量与训练智能体，而非依赖结果表象</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研究计划：研究三（应用）的推进安排</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职业化个人电脑环境构建</a:t>
            </a:r>
          </a:p>
        </p:txBody>
      </p:sp>
      <p:sp>
        <p:nvSpPr>
          <p:cNvPr id="10" name="TextBox 9"/>
          <p:cNvSpPr txBox="1"/>
          <p:nvPr/>
        </p:nvSpPr>
        <p:spPr>
          <a:xfrm>
            <a:off x="609600" y="2266950"/>
            <a:ext cx="2438400" cy="1166812"/>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会计 / 法律 / 电商 / 医疗 / 设计 / 芯片等职业调研</a:t>
            </a:r>
          </a:p>
          <a:p>
            <a:pPr algn="l">
              <a:lnSpc>
                <a:spcPts val="1837"/>
              </a:lnSpc>
              <a:spcBef>
                <a:spcPts val="0"/>
              </a:spcBef>
              <a:spcAft>
                <a:spcPts val="0"/>
              </a:spcAft>
            </a:pPr>
            <a:r>
              <a:rPr sz="1050" b="0" i="0">
                <a:solidFill>
                  <a:srgbClr val="4A4450"/>
                </a:solidFill>
                <a:latin typeface="Arial"/>
                <a:ea typeface="微软雅黑"/>
                <a:cs typeface="微软雅黑"/>
              </a:rPr>
              <a:t>• App Mock：基于复刻能力仿真业务系统</a:t>
            </a:r>
          </a:p>
          <a:p>
            <a:pPr algn="l">
              <a:lnSpc>
                <a:spcPts val="1837"/>
              </a:lnSpc>
              <a:spcBef>
                <a:spcPts val="0"/>
              </a:spcBef>
              <a:spcAft>
                <a:spcPts val="0"/>
              </a:spcAft>
            </a:pPr>
            <a:r>
              <a:rPr sz="1050" b="0" i="0">
                <a:solidFill>
                  <a:srgbClr val="4A4450"/>
                </a:solidFill>
                <a:latin typeface="Arial"/>
                <a:ea typeface="微软雅黑"/>
                <a:cs typeface="微软雅黑"/>
              </a:rPr>
              <a:t>• 个人文件、账户与状态数据库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真实数据驱动与任务流水线</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任务生成 → 轨迹 → 状态优先 verifier</a:t>
            </a:r>
          </a:p>
          <a:p>
            <a:pPr algn="l">
              <a:lnSpc>
                <a:spcPts val="1837"/>
              </a:lnSpc>
              <a:spcBef>
                <a:spcPts val="0"/>
              </a:spcBef>
              <a:spcAft>
                <a:spcPts val="0"/>
              </a:spcAft>
            </a:pPr>
            <a:r>
              <a:rPr sz="1050" b="0" i="0">
                <a:solidFill>
                  <a:srgbClr val="4A4450"/>
                </a:solidFill>
                <a:latin typeface="Arial"/>
                <a:ea typeface="微软雅黑"/>
                <a:cs typeface="微软雅黑"/>
              </a:rPr>
              <a:t>• 先拒绝采样 SFT，再可验证奖励 RL</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物理世界智能体</a:t>
            </a:r>
          </a:p>
        </p:txBody>
      </p:sp>
      <p:sp>
        <p:nvSpPr>
          <p:cNvPr id="20" name="TextBox 19"/>
          <p:cNvSpPr txBox="1"/>
          <p:nvPr/>
        </p:nvSpPr>
        <p:spPr>
          <a:xfrm>
            <a:off x="63246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反事实干预基准（RQ1–RQ3）</a:t>
            </a:r>
          </a:p>
          <a:p>
            <a:pPr algn="l">
              <a:lnSpc>
                <a:spcPts val="1837"/>
              </a:lnSpc>
              <a:spcBef>
                <a:spcPts val="0"/>
              </a:spcBef>
              <a:spcAft>
                <a:spcPts val="0"/>
              </a:spcAft>
            </a:pPr>
            <a:r>
              <a:rPr sz="1050" b="0" i="0">
                <a:solidFill>
                  <a:srgbClr val="4A4450"/>
                </a:solidFill>
                <a:latin typeface="Arial"/>
                <a:ea typeface="微软雅黑"/>
                <a:cs typeface="微软雅黑"/>
              </a:rPr>
              <a:t>• 验证、诊断与定向修复</a:t>
            </a:r>
          </a:p>
          <a:p>
            <a:pPr algn="l">
              <a:lnSpc>
                <a:spcPts val="1837"/>
              </a:lnSpc>
              <a:spcBef>
                <a:spcPts val="0"/>
              </a:spcBef>
              <a:spcAft>
                <a:spcPts val="0"/>
              </a:spcAft>
            </a:pPr>
            <a:r>
              <a:rPr sz="1050" b="0" i="0">
                <a:solidFill>
                  <a:srgbClr val="4A4450"/>
                </a:solidFill>
                <a:latin typeface="Arial"/>
                <a:ea typeface="微软雅黑"/>
                <a:cs typeface="微软雅黑"/>
              </a:rPr>
              <a:t>• 核心消融；中期检查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1809750"/>
          </a:xfrm>
          <a:prstGeom prst="roundRect">
            <a:avLst>
              <a:gd name="adj" fmla="val 6315"/>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评测—训练—应用整合为统一框架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3790950"/>
            <a:ext cx="11277600" cy="1428750"/>
          </a:xfrm>
          <a:prstGeom prst="roundRect">
            <a:avLst>
              <a:gd name="adj" fmla="val 800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39052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210050"/>
            <a:ext cx="10991850" cy="771525"/>
          </a:xfrm>
          <a:prstGeom prst="rect">
            <a:avLst/>
          </a:prstGeom>
          <a:noFill/>
        </p:spPr>
        <p:txBody>
          <a:bodyPr wrap="square" lIns="0" rIns="0" tIns="0" bIns="0" anchor="t">
            <a:noAutofit/>
          </a:bodyPr>
          <a:lstStyle/>
          <a:p>
            <a:pPr algn="l">
              <a:lnSpc>
                <a:spcPts val="2025"/>
              </a:lnSpc>
              <a:spcBef>
                <a:spcPts val="0"/>
              </a:spcBef>
              <a:spcAft>
                <a:spcPts val="0"/>
              </a:spcAft>
            </a:pPr>
            <a:r>
              <a:rPr sz="1125" b="0" i="0">
                <a:solidFill>
                  <a:srgbClr val="1F1A22"/>
                </a:solidFill>
                <a:latin typeface="Arial"/>
                <a:ea typeface="微软雅黑"/>
                <a:cs typeface="微软雅黑"/>
              </a:rPr>
              <a:t>• 构建覆盖多个职业的个人电脑可验证环境与 SFT / RL 任务流水线，验证其对职业化个人智能体能力的提升</a:t>
            </a:r>
          </a:p>
          <a:p>
            <a:pPr algn="l">
              <a:lnSpc>
                <a:spcPts val="2025"/>
              </a:lnSpc>
              <a:spcBef>
                <a:spcPts val="0"/>
              </a:spcBef>
              <a:spcAft>
                <a:spcPts val="0"/>
              </a:spcAft>
            </a:pPr>
            <a:r>
              <a:rPr sz="1125" b="0" i="0">
                <a:solidFill>
                  <a:srgbClr val="1F1A22"/>
                </a:solidFill>
                <a:latin typeface="Arial"/>
                <a:ea typeface="微软雅黑"/>
                <a:cs typeface="微软雅黑"/>
              </a:rPr>
              <a:t>• 建立物理世界生成的反事实干预基准与定向修复方法，验证其对跨条件物理泛化的提升</a:t>
            </a:r>
          </a:p>
          <a:p>
            <a:pPr algn="l">
              <a:lnSpc>
                <a:spcPts val="2025"/>
              </a:lnSpc>
              <a:spcBef>
                <a:spcPts val="0"/>
              </a:spcBef>
              <a:spcAft>
                <a:spcPts val="0"/>
              </a:spcAft>
            </a:pPr>
            <a:r>
              <a:rPr sz="1125" b="0" i="0">
                <a:solidFill>
                  <a:srgbClr val="1F1A22"/>
                </a:solidFill>
                <a:latin typeface="Arial"/>
                <a:ea typeface="微软雅黑"/>
                <a:cs typeface="微软雅黑"/>
              </a:rPr>
              <a:t>• 形成"评测—训练—应用"的可扩展框架，产出高水平论文并开源基准、环境与代码；完成学位论文</a:t>
            </a:r>
          </a:p>
        </p:txBody>
      </p:sp>
      <p:sp>
        <p:nvSpPr>
          <p:cNvPr id="29" name="Rounded Rectangle 2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预期成果：研究三形成 1–2 篇高水平论文（职业化个人智能体；物理世界智能体），开源环境、基准与代码</a:t>
            </a:r>
          </a:p>
        </p:txBody>
      </p:sp>
      <p:sp>
        <p:nvSpPr>
          <p:cNvPr id="31" name="TextBox 3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