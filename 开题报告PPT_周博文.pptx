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研究一是评测。我最初的两项工作是在纯 GUI 范式下做推理效率优化：GUIPruner 在编码端做视觉 token 压缩，ST-Lite 在解码端做 KV Cache 压缩，开销显著下降。但做完之后我们意识到，压缩并没有改变纯 GUI 范式每一步都要处理整屏截图的本质，于是反过来问：这个范式本身是否合理？</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 年初，以 CLI 为主、运行在用户个人电脑上的开源智能体 OpenClaw 迅速普及，给了我们启发。我们把这个观察做成受控实验：在 OSWorld 上固定模型、指令和判官，只把纯视觉智能体换成不观察像素的标准 OpenClaw CLI 智能体，成功率 79.1% 对 77.3%，步数只有一半。这说明纯 GUI 范式并非天然合理。但 CLI 也看不到渲染结果，所以合理的范式是混合：以 CLI 为主干，在需要观察和核验时使用 GUI。问题的关键因此从压缩转向任务范式与能力度量，这就引出了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需协同；轨迹感知判官审计交付物、文件、截图、日志与动作轨迹。最强组合仅 41.2%，单一能力不超过 3.5%；过程审计修正约 20 个百分点的偏高；65.6%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研究三的第一个方向是职业化个人智能体。OpenAI dots、Meta Muse、Manus 等产品的个人化主要体现在记忆与对话人设上，任务多在云端通用环境中执行，职业特质并不鲜明。我们认为真正的个人智能体应当满足三点：在用户自己的电脑环境中工作，具备不同职业的业务世界知识，掌握专业软件的使用能力。三者兼备，才能真正作为数字员工帮助不同职业的人提高生产力。</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可靠修复。方法是物理落地的验证与定向修复：智能体构建物理世界，执行仿真并记录状态轨迹，由基于干预的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预期创新点有三：一是综合数字智能体范式与轨迹感知评测；二是以原版应用为 oracle 的可扩展可验证训练；三是面向真实世界的环境扩展与物理落地验证。三者共享同一原则：以可执行、可验证的证据度量和训练智能体。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任务流水线，然后推进物理世界智能体的反事实干预基准与定向修复方法，最后整合评测、训练与应用三部分完成学位论文。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 Id="rId13" Type="http://schemas.microsoft.com/office/2007/relationships/media" Target="../media/media5.mp4"/><Relationship Id="rId14" Type="http://schemas.openxmlformats.org/officeDocument/2006/relationships/video" Target="../media/media5.mp4"/><Relationship Id="rId15"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microsoft.com/office/2007/relationships/media" Target="../media/media4.mp4"/><Relationship Id="rId10" Type="http://schemas.openxmlformats.org/officeDocument/2006/relationships/video" Target="../media/media4.mp4"/><Relationship Id="rId11" Type="http://schemas.openxmlformats.org/officeDocument/2006/relationships/image" Target="../media/image33.jpg"/><Relationship Id="rId1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0.xml"/><Relationship Id="rId6" Type="http://schemas.microsoft.com/office/2007/relationships/media" Target="../media/media6.mp4"/><Relationship Id="rId7" Type="http://schemas.openxmlformats.org/officeDocument/2006/relationships/video" Target="../media/media6.mp4"/><Relationship Id="rId8"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12.xml"/><Relationship Id="rId4" Type="http://schemas.microsoft.com/office/2007/relationships/media" Target="../media/media7.mp4"/><Relationship Id="rId5" Type="http://schemas.openxmlformats.org/officeDocument/2006/relationships/video" Target="../media/media7.mp4"/><Relationship Id="rId6"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notesSlide" Target="../notesSlides/notesSlide14.xml"/><Relationship Id="rId4" Type="http://schemas.microsoft.com/office/2007/relationships/media" Target="../media/media8.mp4"/><Relationship Id="rId5" Type="http://schemas.openxmlformats.org/officeDocument/2006/relationships/video" Target="../media/media8.mp4"/><Relationship Id="rId6" Type="http://schemas.openxmlformats.org/officeDocument/2006/relationships/image" Target="../media/image5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17.xml"/><Relationship Id="rId4" Type="http://schemas.microsoft.com/office/2007/relationships/media" Target="../media/media9.mp4"/><Relationship Id="rId5" Type="http://schemas.openxmlformats.org/officeDocument/2006/relationships/video" Target="../media/media9.mp4"/><Relationship Id="rId6"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18.xml"/><Relationship Id="rId4" Type="http://schemas.microsoft.com/office/2007/relationships/media" Target="../media/media10.mp4"/><Relationship Id="rId5" Type="http://schemas.openxmlformats.org/officeDocument/2006/relationships/video" Target="../media/media10.mp4"/><Relationship Id="rId6"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9.xml"/><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notesSlide" Target="../notesSlides/notesSlide20.xml"/><Relationship Id="rId4" Type="http://schemas.microsoft.com/office/2007/relationships/media" Target="../media/media11.mp4"/><Relationship Id="rId5" Type="http://schemas.openxmlformats.org/officeDocument/2006/relationships/video" Target="../media/media11.mp4"/><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notesSlide" Target="../notesSlides/notesSlide21.xml"/><Relationship Id="rId4" Type="http://schemas.microsoft.com/office/2007/relationships/media" Target="../media/media12.mp4"/><Relationship Id="rId5" Type="http://schemas.openxmlformats.org/officeDocument/2006/relationships/video" Target="../media/media12.mp4"/><Relationship Id="rId6"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3.png"/><Relationship Id="rId4" Type="http://schemas.openxmlformats.org/officeDocument/2006/relationships/image" Target="../media/image48.png"/><Relationship Id="rId5" Type="http://schemas.openxmlformats.org/officeDocument/2006/relationships/notesSlide" Target="../notesSlides/notesSlide24.xml"/><Relationship Id="rId6" Type="http://schemas.microsoft.com/office/2007/relationships/media" Target="../media/media13.mp4"/><Relationship Id="rId7" Type="http://schemas.openxmlformats.org/officeDocument/2006/relationships/video" Target="../media/media13.mp4"/><Relationship Id="rId8"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 · Godot 游戏 · 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 · RabbitMQ · 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 · Inkscape · 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27</a:t>
            </a:r>
          </a:p>
        </p:txBody>
      </p:sp>
      <p:pic>
        <p:nvPicPr>
          <p:cNvPr id="20" name="pa_matrix.mp4">
            <a:hlinkClick r:id="" action="ppaction://media"/>
          </p:cNvPr>
          <p:cNvPicPr>
            <a:picLocks noChangeAspect="1"/>
          </p:cNvPicPr>
          <p:nvPr>
            <a:videoFile r:link="rId14"/>
            <p:extLst>
              <p:ext uri="{DAA4B4D4-6D71-4841-9C94-3DE7FCFB9230}">
                <p14:media xmlns:p14="http://schemas.microsoft.com/office/powerpoint/2010/main" r:embed="rId13"/>
              </p:ext>
            </p:extLst>
          </p:nvPr>
        </p:nvPicPr>
        <p:blipFill>
          <a:blip r:embed="rId15"/>
          <a:stretch>
            <a:fillRect/>
          </a:stretch>
        </p:blipFill>
        <p:spPr>
          <a:xfrm>
            <a:off x="814387" y="4286250"/>
            <a:ext cx="2143125" cy="14287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01634" fill="hold"/>
                                        <p:tgtEl>
                                          <p:spTgt spid="5"/>
                                        </p:tgtEl>
                                      </p:cBhvr>
                                    </p:cmd>
                                  </p:childTnLst>
                                </p:cTn>
                              </p:par>
                              <p:par>
                                <p:cTn id="8" presetID="1" presetClass="mediacall" presetSubtype="0" fill="hold" nodeType="withEffect">
                                  <p:stCondLst>
                                    <p:cond delay="0"/>
                                  </p:stCondLst>
                                  <p:childTnLst>
                                    <p:cmd type="call" cmd="playFrom(0.0)">
                                      <p:cBhvr>
                                        <p:cTn id="9" dur="110000" fill="hold"/>
                                        <p:tgtEl>
                                          <p:spTgt spid="8"/>
                                        </p:tgtEl>
                                      </p:cBhvr>
                                    </p:cmd>
                                  </p:childTnLst>
                                </p:cTn>
                              </p:par>
                              <p:par>
                                <p:cTn id="10" presetID="1" presetClass="mediacall" presetSubtype="0" fill="hold" nodeType="withEffect">
                                  <p:stCondLst>
                                    <p:cond delay="0"/>
                                  </p:stCondLst>
                                  <p:childTnLst>
                                    <p:cmd type="call" cmd="playFrom(0.0)">
                                      <p:cBhvr>
                                        <p:cTn id="11" dur="96600" fill="hold"/>
                                        <p:tgtEl>
                                          <p:spTgt spid="11"/>
                                        </p:tgtEl>
                                      </p:cBhvr>
                                    </p:cmd>
                                  </p:childTnLst>
                                </p:cTn>
                              </p:par>
                              <p:par>
                                <p:cTn id="12" presetID="1" presetClass="mediacall" presetSubtype="0" fill="hold" nodeType="withEffect">
                                  <p:stCondLst>
                                    <p:cond delay="0"/>
                                  </p:stCondLst>
                                  <p:childTnLst>
                                    <p:cmd type="call" cmd="playFrom(0.0)">
                                      <p:cBhvr>
                                        <p:cTn id="13" dur="120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4" repeatCount="indefinite" fill="hold" display="0">
                  <p:stCondLst>
                    <p:cond delay="indefinite"/>
                  </p:stCondLst>
                </p:cTn>
                <p:tgtEl>
                  <p:spTgt spid="5"/>
                </p:tgtEl>
              </p:cMediaNode>
            </p:video>
            <p:video>
              <p:cMediaNode vol="80000">
                <p:cTn id="15" repeatCount="indefinite" fill="hold" display="0">
                  <p:stCondLst>
                    <p:cond delay="indefinite"/>
                  </p:stCondLst>
                </p:cTn>
                <p:tgtEl>
                  <p:spTgt spid="8"/>
                </p:tgtEl>
              </p:cMediaNode>
            </p:video>
            <p:video>
              <p:cMediaNode vol="80000">
                <p:cTn id="16" repeatCount="indefinite" fill="hold" display="0">
                  <p:stCondLst>
                    <p:cond delay="indefinite"/>
                  </p:stCondLst>
                </p:cTn>
                <p:tgtEl>
                  <p:spTgt spid="11"/>
                </p:tgtEl>
              </p:cMediaNode>
            </p:video>
            <p:video>
              <p:cMediaNode vol="80000">
                <p:cTn id="17" repeatCount="indefinite" fill="hold" display="0">
                  <p:stCondLst>
                    <p:cond delay="indefinite"/>
                  </p:stCondLst>
                </p:cTn>
                <p:tgtEl>
                  <p:spTgt spid="20"/>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 · 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无法观测界面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1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8"/>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通用但开销高</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成功率相当；步数口径不同，仅供参考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 · 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 · 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 · 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 · 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；物理世界生成仅在原始条件下检验表象，</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400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845574"/>
            <a:ext cx="3505200" cy="1985751"/>
          </a:xfrm>
          <a:prstGeom prst="rect">
            <a:avLst/>
          </a:prstGeom>
        </p:spPr>
      </p:pic>
      <p:sp>
        <p:nvSpPr>
          <p:cNvPr id="7" name="TextBox 6"/>
          <p:cNvSpPr txBox="1"/>
          <p:nvPr/>
        </p:nvSpPr>
        <p:spPr>
          <a:xfrm>
            <a:off x="4572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GUI，任务可在单一能力内完成；仅依据最终结果判分，比轨迹审计口径高 10–20 个百分点。</a:t>
            </a:r>
          </a:p>
        </p:txBody>
      </p:sp>
      <p:sp>
        <p:nvSpPr>
          <p:cNvPr id="11" name="Rounded Rectangle 10"/>
          <p:cNvSpPr/>
          <p:nvPr/>
        </p:nvSpPr>
        <p:spPr>
          <a:xfrm>
            <a:off x="428625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281881"/>
            <a:ext cx="3505200" cy="1113137"/>
          </a:xfrm>
          <a:prstGeom prst="rect">
            <a:avLst/>
          </a:prstGeom>
        </p:spPr>
      </p:pic>
      <p:sp>
        <p:nvSpPr>
          <p:cNvPr id="13" name="TextBox 12"/>
          <p:cNvSpPr txBox="1"/>
          <p:nvPr/>
        </p:nvSpPr>
        <p:spPr>
          <a:xfrm>
            <a:off x="428625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1153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现有智能体缺少个人电脑环境与职业业务知识；生成的代码与内容不受物理规律约束，表象正确不等于机制正确。</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27</a:t>
            </a:r>
          </a:p>
        </p:txBody>
      </p:sp>
      <p:pic>
        <p:nvPicPr>
          <p:cNvPr id="26" name="real_world.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172450" y="1705502"/>
            <a:ext cx="3505200" cy="226589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2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结论：复刻训练在分布外基准上带来提升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通用数字智能体走向真实世界</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职业化个人智能体 · 物理世界智能体</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27</a:t>
            </a:r>
          </a:p>
        </p:txBody>
      </p:sp>
      <p:pic>
        <p:nvPicPr>
          <p:cNvPr id="35" name="framework.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1667922"/>
            <a:ext cx="6057900" cy="331260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5"/>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研究一：面向混合能力范式的可信评测（已完成）—— 前期探索：纯 GUI 范式下的推理效率优化</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 GUI 轨迹中高分辨率截图持续累积，视觉 token 与 KV 缓存（KV Cache）线性膨胀；通用压缩方法忽视帧间冗余与界面二维结构</a:t>
            </a:r>
          </a:p>
        </p:txBody>
      </p:sp>
      <p:sp>
        <p:nvSpPr>
          <p:cNvPr id="10" name="Rounded Rectangle 9"/>
          <p:cNvSpPr/>
          <p:nvPr/>
        </p:nvSpPr>
        <p:spPr>
          <a:xfrm>
            <a:off x="457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p_fig3_overview.png"/>
          <p:cNvPicPr>
            <a:picLocks noChangeAspect="1"/>
          </p:cNvPicPr>
          <p:nvPr/>
        </p:nvPicPr>
        <p:blipFill>
          <a:blip r:embed="rId2"/>
          <a:stretch>
            <a:fillRect/>
          </a:stretch>
        </p:blipFill>
        <p:spPr>
          <a:xfrm>
            <a:off x="954668" y="1828800"/>
            <a:ext cx="4567662" cy="2705100"/>
          </a:xfrm>
          <a:prstGeom prst="rect">
            <a:avLst/>
          </a:prstGeom>
        </p:spPr>
      </p:pic>
      <p:sp>
        <p:nvSpPr>
          <p:cNvPr id="12" name="TextBox 11"/>
          <p:cNvSpPr txBox="1"/>
          <p:nvPr/>
        </p:nvSpPr>
        <p:spPr>
          <a:xfrm>
            <a:off x="485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 · KDD 2027 在投：视觉 token 压缩 —— 时间自适应分辨率 + 结构感知剪枝</a:t>
            </a:r>
            <a:r>
              <a:rPr sz="937" b="0" i="0">
                <a:solidFill>
                  <a:srgbClr val="4A4450"/>
                </a:solidFill>
                <a:latin typeface="Arial"/>
                <a:ea typeface="微软雅黑"/>
                <a:cs typeface="微软雅黑"/>
              </a:rPr>
              <a:t/>
            </a:r>
          </a:p>
        </p:txBody>
      </p:sp>
      <p:sp>
        <p:nvSpPr>
          <p:cNvPr id="13" name="Rounded Rectangle 12"/>
          <p:cNvSpPr/>
          <p:nvPr/>
        </p:nvSpPr>
        <p:spPr>
          <a:xfrm>
            <a:off x="6172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_fig4_arch.png"/>
          <p:cNvPicPr>
            <a:picLocks noChangeAspect="1"/>
          </p:cNvPicPr>
          <p:nvPr/>
        </p:nvPicPr>
        <p:blipFill>
          <a:blip r:embed="rId3"/>
          <a:stretch>
            <a:fillRect/>
          </a:stretch>
        </p:blipFill>
        <p:spPr>
          <a:xfrm>
            <a:off x="6371847" y="1828800"/>
            <a:ext cx="5163305" cy="2705100"/>
          </a:xfrm>
          <a:prstGeom prst="rect">
            <a:avLst/>
          </a:prstGeom>
        </p:spPr>
      </p:pic>
      <p:sp>
        <p:nvSpPr>
          <p:cNvPr id="15" name="TextBox 14"/>
          <p:cNvSpPr txBox="1"/>
          <p:nvPr/>
        </p:nvSpPr>
        <p:spPr>
          <a:xfrm>
            <a:off x="6200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 · EMNLP 2026：KV Cache 压缩 —— 轨迹门控 + 组件显著性</a:t>
            </a:r>
            <a:r>
              <a:rPr sz="937" b="0" i="0">
                <a:solidFill>
                  <a:srgbClr val="4A4450"/>
                </a:solidFill>
                <a:latin typeface="Arial"/>
                <a:ea typeface="微软雅黑"/>
                <a:cs typeface="微软雅黑"/>
              </a:rPr>
              <a:t/>
            </a:r>
          </a:p>
        </p:txBody>
      </p:sp>
      <p:sp>
        <p:nvSpPr>
          <p:cNvPr id="16" name="TextBox 15"/>
          <p:cNvSpPr txBox="1"/>
          <p:nvPr/>
        </p:nvSpPr>
        <p:spPr>
          <a:xfrm>
            <a:off x="457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7" name="TextBox 16"/>
          <p:cNvSpPr txBox="1"/>
          <p:nvPr/>
        </p:nvSpPr>
        <p:spPr>
          <a:xfrm>
            <a:off x="457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8" name="TextBox 17"/>
          <p:cNvSpPr txBox="1"/>
          <p:nvPr/>
        </p:nvSpPr>
        <p:spPr>
          <a:xfrm>
            <a:off x="3276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9" name="TextBox 18"/>
          <p:cNvSpPr txBox="1"/>
          <p:nvPr/>
        </p:nvSpPr>
        <p:spPr>
          <a:xfrm>
            <a:off x="3276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0" name="TextBox 19"/>
          <p:cNvSpPr txBox="1"/>
          <p:nvPr/>
        </p:nvSpPr>
        <p:spPr>
          <a:xfrm>
            <a:off x="6172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1" name="TextBox 20"/>
          <p:cNvSpPr txBox="1"/>
          <p:nvPr/>
        </p:nvSpPr>
        <p:spPr>
          <a:xfrm>
            <a:off x="6172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2" name="TextBox 21"/>
          <p:cNvSpPr txBox="1"/>
          <p:nvPr/>
        </p:nvSpPr>
        <p:spPr>
          <a:xfrm>
            <a:off x="8991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3" name="TextBox 22"/>
          <p:cNvSpPr txBox="1"/>
          <p:nvPr/>
        </p:nvSpPr>
        <p:spPr>
          <a:xfrm>
            <a:off x="8991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4" name="Rounded Rectangle 23"/>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开销可以显著压缩，但纯 GUI 范式"每一步都处理整屏截图"的本质未变 → </a:t>
            </a:r>
            <a:r>
              <a:rPr sz="1350" b="1" i="0">
                <a:solidFill>
                  <a:srgbClr val="F6C8FF"/>
                </a:solidFill>
                <a:latin typeface="Arial"/>
                <a:ea typeface="微软雅黑"/>
                <a:cs typeface="微软雅黑"/>
              </a:rPr>
              <a:t>范式本身是否合理？</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研究一（续）：范式反思 —— 纯 GUI 范式并非天然合理</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6675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775" y="52006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三种范式对比：纯 GUI 逐步截图；CLI 优先、不观察像素；混合范式以 CLI 为主干、GUI 观察与核验</a:t>
            </a:r>
          </a:p>
        </p:txBody>
      </p:sp>
      <p:sp>
        <p:nvSpPr>
          <p:cNvPr id="14" name="Rounded Rectangle 13"/>
          <p:cNvSpPr/>
          <p:nvPr/>
        </p:nvSpPr>
        <p:spPr>
          <a:xfrm>
            <a:off x="7277100" y="1428750"/>
            <a:ext cx="44577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48525" y="1524000"/>
            <a:ext cx="45148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受控对照：OSWorld · 同一模型 · 同一判官 [WeaveBench 附录 E]</a:t>
            </a:r>
          </a:p>
        </p:txBody>
      </p:sp>
      <p:sp>
        <p:nvSpPr>
          <p:cNvPr id="16" name="Rounded Rectangle 15"/>
          <p:cNvSpPr/>
          <p:nvPr/>
        </p:nvSpPr>
        <p:spPr>
          <a:xfrm>
            <a:off x="7905750" y="2114550"/>
            <a:ext cx="419100" cy="1428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382000" y="2143125"/>
            <a:ext cx="419100" cy="1400175"/>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39075" y="1924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79.1</a:t>
            </a:r>
          </a:p>
        </p:txBody>
      </p:sp>
      <p:sp>
        <p:nvSpPr>
          <p:cNvPr id="19" name="TextBox 18"/>
          <p:cNvSpPr txBox="1"/>
          <p:nvPr/>
        </p:nvSpPr>
        <p:spPr>
          <a:xfrm>
            <a:off x="8315325" y="1952625"/>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77.3</a:t>
            </a:r>
          </a:p>
        </p:txBody>
      </p:sp>
      <p:sp>
        <p:nvSpPr>
          <p:cNvPr id="20" name="Rounded Rectangle 19"/>
          <p:cNvSpPr/>
          <p:nvPr/>
        </p:nvSpPr>
        <p:spPr>
          <a:xfrm>
            <a:off x="10191750" y="2876550"/>
            <a:ext cx="419100" cy="666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668000" y="2190750"/>
            <a:ext cx="419100" cy="1352550"/>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125075" y="2686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14.3</a:t>
            </a:r>
          </a:p>
        </p:txBody>
      </p:sp>
      <p:sp>
        <p:nvSpPr>
          <p:cNvPr id="23" name="TextBox 22"/>
          <p:cNvSpPr txBox="1"/>
          <p:nvPr/>
        </p:nvSpPr>
        <p:spPr>
          <a:xfrm>
            <a:off x="10601325" y="20002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29.0</a:t>
            </a:r>
          </a:p>
        </p:txBody>
      </p:sp>
      <p:sp>
        <p:nvSpPr>
          <p:cNvPr id="24" name="Rectangle 23"/>
          <p:cNvSpPr/>
          <p:nvPr/>
        </p:nvSpPr>
        <p:spPr>
          <a:xfrm>
            <a:off x="7620000" y="3543300"/>
            <a:ext cx="37719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20000" y="3543300"/>
            <a:ext cx="37719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00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27" name="TextBox 26"/>
          <p:cNvSpPr txBox="1"/>
          <p:nvPr/>
        </p:nvSpPr>
        <p:spPr>
          <a:xfrm>
            <a:off x="10086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28" name="TextBox 27"/>
          <p:cNvSpPr txBox="1"/>
          <p:nvPr/>
        </p:nvSpPr>
        <p:spPr>
          <a:xfrm>
            <a:off x="7248525" y="4000500"/>
            <a:ext cx="45148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OpenClaw CLI 智能体（不观察像素）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纯视觉 GUI 智能体</a:t>
            </a:r>
          </a:p>
        </p:txBody>
      </p:sp>
      <p:sp>
        <p:nvSpPr>
          <p:cNvPr id="29" name="Rounded Rectangle 28"/>
          <p:cNvSpPr/>
          <p:nvPr/>
        </p:nvSpPr>
        <p:spPr>
          <a:xfrm>
            <a:off x="7277100" y="4305300"/>
            <a:ext cx="4457700" cy="1238250"/>
          </a:xfrm>
          <a:prstGeom prst="roundRect">
            <a:avLst>
              <a:gd name="adj" fmla="val 923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29500" y="438150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OpenClaw 的启发（2026 年初）</a:t>
            </a:r>
            <a:r>
              <a:rPr sz="1012" b="0" i="0">
                <a:solidFill>
                  <a:srgbClr val="1F1A22"/>
                </a:solidFill>
                <a:latin typeface="Arial"/>
                <a:ea typeface="微软雅黑"/>
                <a:cs typeface="微软雅黑"/>
              </a:rPr>
              <a:t>　以 CLI 为主、运行在用户个人电脑上的开源智能体迅速普及。我们以标准 OpenClaw CLI 智能体重跑 OSWorld：成功率相当 —— 大量任务无需逐帧观察屏幕。</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结论：关键不在压缩，而在</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27</a:t>
            </a:r>
          </a:p>
        </p:txBody>
      </p:sp>
      <p:pic>
        <p:nvPicPr>
          <p:cNvPr id="34" name="paradigm.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880587" y="1485900"/>
            <a:ext cx="5820725" cy="3676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4"/>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解决方法：以已部署的 CLI 智能体运行时为底座、加入最小桌面控制插件；以单通道基线与人工审查筛选需 CLI 与 GUI 协同的长程任务；轨迹感知判官审计全过程</a:t>
            </a:r>
            <a:r>
              <a:rPr sz="1125" b="0" i="0">
                <a:solidFill>
                  <a:srgbClr val="1F1A22"/>
                </a:solidFill>
                <a:latin typeface="Arial"/>
                <a:ea typeface="微软雅黑"/>
                <a:cs typeface="微软雅黑"/>
              </a:rPr>
              <a:t/>
            </a:r>
            <a:r>
              <a:rPr sz="1125" b="1" i="0">
                <a:solidFill>
                  <a:srgbClr val="1F1A22"/>
                </a:solidFill>
                <a:latin typeface="Arial"/>
                <a:ea typeface="微软雅黑"/>
                <a:cs typeface="微软雅黑"/>
              </a:rPr>
              <a:t/>
            </a:r>
            <a:r>
              <a:rPr sz="1125" b="0" i="0">
                <a:solidFill>
                  <a:srgbClr val="1F1A22"/>
                </a:solidFill>
                <a:latin typeface="Arial"/>
                <a:ea typeface="微软雅黑"/>
                <a:cs typeface="微软雅黑"/>
              </a:rPr>
              <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 · EMNLP 2026：任务构造 → 真实运行时 → 轨迹感知判官</a:t>
            </a:r>
            <a:r>
              <a:rPr sz="937" b="0" i="0">
                <a:solidFill>
                  <a:srgbClr val="4A4450"/>
                </a:solidFill>
                <a:latin typeface="Arial"/>
                <a:ea typeface="微软雅黑"/>
                <a:cs typeface="微软雅黑"/>
              </a:rPr>
              <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10–20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仅结果判分高于轨迹审计口径</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分</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27</a:t>
            </a:r>
          </a:p>
        </p:txBody>
      </p:sp>
      <p:pic>
        <p:nvPicPr>
          <p:cNvPr id="34" name="rw_transf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2653118"/>
            <a:ext cx="7696200" cy="24280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4"/>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现有个人智能体的"个人化"主要体现在记忆与对话人设，任务多在云端通用环境中执行；缺少个人电脑环境、职业业务知识与专业软件技能</a:t>
            </a:r>
          </a:p>
        </p:txBody>
      </p:sp>
      <p:sp>
        <p:nvSpPr>
          <p:cNvPr id="12" name="Rounded Rectangle 11"/>
          <p:cNvSpPr/>
          <p:nvPr/>
        </p:nvSpPr>
        <p:spPr>
          <a:xfrm>
            <a:off x="457200" y="1771650"/>
            <a:ext cx="6667500" cy="3695700"/>
          </a:xfrm>
          <a:prstGeom prst="roundRect">
            <a:avLst>
              <a:gd name="adj" fmla="val 20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85775" y="51244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a:t>
            </a:r>
          </a:p>
        </p:txBody>
      </p:sp>
      <p:sp>
        <p:nvSpPr>
          <p:cNvPr id="15" name="Rounded Rectangle 14"/>
          <p:cNvSpPr/>
          <p:nvPr/>
        </p:nvSpPr>
        <p:spPr>
          <a:xfrm>
            <a:off x="7277100" y="17716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0" y="18859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01</a:t>
            </a:r>
          </a:p>
        </p:txBody>
      </p:sp>
      <p:sp>
        <p:nvSpPr>
          <p:cNvPr id="17" name="TextBox 16"/>
          <p:cNvSpPr txBox="1"/>
          <p:nvPr/>
        </p:nvSpPr>
        <p:spPr>
          <a:xfrm>
            <a:off x="7905750" y="19050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在用户自己的电脑环境中工作</a:t>
            </a:r>
          </a:p>
        </p:txBody>
      </p:sp>
      <p:sp>
        <p:nvSpPr>
          <p:cNvPr id="18" name="TextBox 17"/>
          <p:cNvSpPr txBox="1"/>
          <p:nvPr/>
        </p:nvSpPr>
        <p:spPr>
          <a:xfrm>
            <a:off x="7905750" y="21907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本地文件、已登录的应用与历史记录均为任务上下文，云端通用沙箱无法复现这些状态</a:t>
            </a:r>
          </a:p>
        </p:txBody>
      </p:sp>
      <p:sp>
        <p:nvSpPr>
          <p:cNvPr id="19" name="Rounded Rectangle 18"/>
          <p:cNvSpPr/>
          <p:nvPr/>
        </p:nvSpPr>
        <p:spPr>
          <a:xfrm>
            <a:off x="7277100" y="30289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29500" y="31432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02</a:t>
            </a:r>
          </a:p>
        </p:txBody>
      </p:sp>
      <p:sp>
        <p:nvSpPr>
          <p:cNvPr id="21" name="TextBox 20"/>
          <p:cNvSpPr txBox="1"/>
          <p:nvPr/>
        </p:nvSpPr>
        <p:spPr>
          <a:xfrm>
            <a:off x="7905750" y="31623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具备职业业务世界知识</a:t>
            </a:r>
          </a:p>
        </p:txBody>
      </p:sp>
      <p:sp>
        <p:nvSpPr>
          <p:cNvPr id="22" name="TextBox 21"/>
          <p:cNvSpPr txBox="1"/>
          <p:nvPr/>
        </p:nvSpPr>
        <p:spPr>
          <a:xfrm>
            <a:off x="7905750" y="34480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账务规则、合同条款与判例、定价与库存策略等，决定任务的正确性标准</a:t>
            </a:r>
          </a:p>
        </p:txBody>
      </p:sp>
      <p:sp>
        <p:nvSpPr>
          <p:cNvPr id="23" name="Rounded Rectangle 22"/>
          <p:cNvSpPr/>
          <p:nvPr/>
        </p:nvSpPr>
        <p:spPr>
          <a:xfrm>
            <a:off x="7277100" y="42862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29500" y="44005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03</a:t>
            </a:r>
          </a:p>
        </p:txBody>
      </p:sp>
      <p:sp>
        <p:nvSpPr>
          <p:cNvPr id="25" name="TextBox 24"/>
          <p:cNvSpPr txBox="1"/>
          <p:nvPr/>
        </p:nvSpPr>
        <p:spPr>
          <a:xfrm>
            <a:off x="7905750" y="44196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掌握职业专业软件的使用能力</a:t>
            </a:r>
          </a:p>
        </p:txBody>
      </p:sp>
      <p:sp>
        <p:nvSpPr>
          <p:cNvPr id="26" name="TextBox 25"/>
          <p:cNvSpPr txBox="1"/>
          <p:nvPr/>
        </p:nvSpPr>
        <p:spPr>
          <a:xfrm>
            <a:off x="7905750" y="47053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ERP、合同审阅、EDA、设计工具等长程操作，需要 CLI 与 GUI 按需交织</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三者兼备，方能成为面向不同职业的</a:t>
            </a:r>
            <a:r>
              <a:rPr sz="1350" b="1" i="0">
                <a:solidFill>
                  <a:srgbClr val="F6C8FF"/>
                </a:solidFill>
                <a:latin typeface="Arial"/>
                <a:ea typeface="微软雅黑"/>
                <a:cs typeface="微软雅黑"/>
              </a:rPr>
              <a:t>数字员工</a:t>
            </a:r>
            <a:r>
              <a:rPr sz="1350" b="0" i="0">
                <a:solidFill>
                  <a:srgbClr val="FFFFFF"/>
                </a:solidFill>
                <a:latin typeface="Arial"/>
                <a:ea typeface="微软雅黑"/>
                <a:cs typeface="微软雅黑"/>
              </a:rPr>
              <a:t>；研究三把可扩展的评测与训练框架推广到职业化个人环境</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27</a:t>
            </a:r>
          </a:p>
        </p:txBody>
      </p:sp>
      <p:pic>
        <p:nvPicPr>
          <p:cNvPr id="30" name="pa_overview.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93015" y="1828800"/>
            <a:ext cx="6395869" cy="3257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0"/>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a:t>
            </a:r>
          </a:p>
        </p:txBody>
      </p:sp>
      <p:sp>
        <p:nvSpPr>
          <p:cNvPr id="14" name="Rounded Rectangle 13"/>
          <p:cNvSpPr/>
          <p:nvPr/>
        </p:nvSpPr>
        <p:spPr>
          <a:xfrm>
            <a:off x="6705600" y="1428750"/>
            <a:ext cx="5029200" cy="12954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621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866900"/>
            <a:ext cx="4762500" cy="666750"/>
          </a:xfrm>
          <a:prstGeom prst="rect">
            <a:avLst/>
          </a:prstGeom>
          <a:noFill/>
        </p:spPr>
        <p:txBody>
          <a:bodyPr wrap="square" lIns="0" rIns="0" tIns="0" bIns="0" anchor="t">
            <a:noAutofit/>
          </a:bodyPr>
          <a:lstStyle/>
          <a:p>
            <a:pPr algn="l">
              <a:lnSpc>
                <a:spcPts val="1511"/>
              </a:lnSpc>
              <a:spcBef>
                <a:spcPts val="0"/>
              </a:spcBef>
              <a:spcAft>
                <a:spcPts val="0"/>
              </a:spcAft>
            </a:pPr>
            <a:r>
              <a:rPr sz="1350"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838450"/>
            <a:ext cx="5029200" cy="12954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971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3276600"/>
            <a:ext cx="4762500" cy="666750"/>
          </a:xfrm>
          <a:prstGeom prst="rect">
            <a:avLst/>
          </a:prstGeom>
          <a:noFill/>
        </p:spPr>
        <p:txBody>
          <a:bodyPr wrap="square" lIns="0" rIns="0" tIns="0" bIns="0" anchor="t">
            <a:noAutofit/>
          </a:bodyPr>
          <a:lstStyle/>
          <a:p>
            <a:pPr algn="l">
              <a:lnSpc>
                <a:spcPts val="1511"/>
              </a:lnSpc>
              <a:spcBef>
                <a:spcPts val="0"/>
              </a:spcBef>
              <a:spcAft>
                <a:spcPts val="0"/>
              </a:spcAft>
            </a:pPr>
            <a:r>
              <a:rPr sz="1350"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4248150"/>
            <a:ext cx="5029200" cy="12954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43815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4686300"/>
            <a:ext cx="4762500" cy="666750"/>
          </a:xfrm>
          <a:prstGeom prst="rect">
            <a:avLst/>
          </a:prstGeom>
          <a:noFill/>
        </p:spPr>
        <p:txBody>
          <a:bodyPr wrap="square" lIns="0" rIns="0" tIns="0" bIns="0" anchor="t">
            <a:noAutofit/>
          </a:bodyPr>
          <a:lstStyle/>
          <a:p>
            <a:pPr algn="l">
              <a:lnSpc>
                <a:spcPts val="1511"/>
              </a:lnSpc>
              <a:spcBef>
                <a:spcPts val="0"/>
              </a:spcBef>
              <a:spcAft>
                <a:spcPts val="0"/>
              </a:spcAft>
            </a:pPr>
            <a:r>
              <a:rPr sz="1350"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27</a:t>
            </a:r>
          </a:p>
        </p:txBody>
      </p:sp>
      <p:pic>
        <p:nvPicPr>
          <p:cNvPr id="26" name="pa_matrix.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47712" y="1485900"/>
            <a:ext cx="5514975" cy="3676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2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研究三（二）：物理世界智能体（Physical Agent）—— 表象正确不等于机制正确</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27</a:t>
            </a:r>
          </a:p>
        </p:txBody>
      </p:sp>
      <p:pic>
        <p:nvPicPr>
          <p:cNvPr id="43" name="phys_cf.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1672778"/>
            <a:ext cx="6553200" cy="36648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4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43"/>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研究三（二·续）：基于物理状态与干预测试的验证、诊断与定向修复</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定向修复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回归失败率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27</a:t>
            </a:r>
          </a:p>
        </p:txBody>
      </p:sp>
      <p:pic>
        <p:nvPicPr>
          <p:cNvPr id="42" name="phys_loop.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1497592"/>
            <a:ext cx="5600700" cy="36342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4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42"/>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预期创新点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综合数字智能体范式与轨迹感知的可信评测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形式化 CLI 与 GUI 交织的混合能力范式；以单通道基线与人工审查筛选需协同的长程任务，以轨迹审计替代仅依据结果的判分，揭示自主编排与自我验证瓶颈。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以原版应用为 oracle 的可扩展可验证训练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任意开源应用即可转化为"环境 + 隐藏行为测试"，为混合行为提供可验证奖励；验证习得行为可迁移至分布外任务。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构建职业化个人电脑环境与真实数据驱动的任务流水线；以反事实干预检验生成内容的物理机制，并以诊断与定向修复提升可靠性。</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27</a:t>
            </a:r>
          </a:p>
        </p:txBody>
      </p:sp>
      <p:pic>
        <p:nvPicPr>
          <p:cNvPr id="23" name="innov03.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229600" y="2328428"/>
            <a:ext cx="3390900" cy="18963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23"/>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先拒绝采样 SFT，再可验证奖励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验证、诊断与定向修复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建立物理世界生成的反事实干预基准与定向修复方法，验证其对跨条件物理泛化的提升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