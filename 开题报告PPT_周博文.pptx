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9" r:id="rId8"/>
    <p:sldId id="260" r:id="rId7"/>
    <p:sldId id="262" r:id="rId5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第一部分：研究背景和选题意义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通用数字智能体可应用于软件开发、系统运维、内容创作以及金融、电商、芯片开发等绝大部分行业业务流程，是基础模型由对话助手走向数字生产力的关键形态。三段视频是真实的智能体轨迹。2025 到 2026 年，OpenAI dots、Meta Muse、Manus、OpenClaw 等个人智能体产品相继发布，Claude Cowork、Codex 等前沿系统也把计算机操作纳入统一智能体；能否在真实业务中高效、可靠地完成长程任务，已成为前沿基础模型评测与后训练的核心议题。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第二部分：国内外研究现状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国内外研究按能力分为三类。纯 CLI 方法动作精确、单元测试可验证，强化学习已规模化，但难以观测渲染结果；纯 GUI 方法以截图和键鼠为通用接口，适用软件广，但开销高、缺少验证信号；混合方法刚刚出现，第二种通道多为辅助，任务也多仅依据结果判分。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第二类是走向真实世界的智能体。个人智能体方面，OpenAI dots、Meta Muse 在云端机器或安全虚拟机中执行，Manus 起初在云 VM、2026 年起支持本机，OpenClaw 运行在用户自己的设备上。物理世界方面，SimWorlds、Text2Sim、4DCodeBench 让代码智能体生成物理世界或复现运动，RobotWorld 评测多模态智能体使用机器人。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三个挑战分别对应三项研究。第一，任务范式与能力度量失配：纯 GUI 范式偏重，基准割裂评测且只看结果判分。第二，混合行为模式难以习得：缺少可验证奖励与训练环境。第三，通用能力难以落到真实世界：缺少个人环境与职业知识，生成内容不受物理规律约束。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第三部分：课题研究内容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研究框架分三段：研究一做评测，研究二做训练，研究三做应用。前一项研究的结论构成后一项研究的动机。贯穿三项研究的是可扩展：任务、环境和 verifier 都能自动批量构造。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研究一是评测。我最初的两项工作是在纯 GUI 范式下做推理效率优化：GUIPruner 在编码端做视觉 token 压缩，ST-Lite 在解码端做 KV Cache 压缩，开销显著下降。但做完之后我们意识到，压缩并没有改变纯 GUI 范式每一步都要处理整屏截图的本质，于是反过来问：这个范式本身是否合理？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 年初，以 CLI 为主、运行在用户个人电脑上的开源智能体 OpenClaw 迅速普及，给了我们启发。我们把这个观察做成受控实验：在 OSWorld 上固定模型、指令和判官，只把纯视觉智能体换成不观察像素的标准 OpenClaw CLI 智能体，成功率 79.1% 对 77.3%，步数只有一半。这说明纯 GUI 范式并非天然合理。但 CLI 也看不到渲染结果，所以合理的范式是混合：以 CLI 为主干，在需要观察和核验时使用 GUI。问题的关键因此从压缩转向任务范式与能力度量，这就引出了 WeaveBench。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WeaveBench 以已部署的 CLI 智能体运行时为底座，加入最小桌面控制插件，形成真实的混合运行时；114 个长程任务覆盖 8 个真实工作领域，每个任务 CLI 与 GUI 需协同；轨迹感知判官审计交付物、文件、截图、日志与动作轨迹。最强组合仅 41.2%，单一能力不超过 3.5%；过程审计修正约 20 个百分点的偏高；65.6% 的失败源于违规取巧与长程失控。结论：瓶颈在自主编排与自我验证，需要训练这种新的行为模式。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研究三的第一个方向是职业化个人智能体。OpenAI dots、Meta Muse、Manus 等产品的个人化主要体现在记忆与对话人设上，任务多在云端通用环境中执行，职业特质并不鲜明。我们认为真正的个人智能体应当满足三点：在用户自己的电脑环境中工作，具备不同职业的业务世界知识，掌握专业软件的使用能力。三者兼备，才能真正作为数字员工帮助不同职业的人提高生产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可靠修复。方法是物理落地的验证与定向修复：智能体构建物理世界，执行仿真并记录状态轨迹，由基于干预的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第四部分：论文进度安排及预期达到目标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已完成工作：研究一对应 GUIPruner（投稿 KDD 2027）与 ST-Lite（EMNLP 2026）；WeaveBench（EMNLP 2026）同属研究一；研究二对应 RecreationWorld 技术报告。在 Qwen 团队实习期间参与 Qwen3.8-Max 研发，研究问题源于前沿基础模型的一线痛点。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预期创新点有三：一是综合数字智能体范式与轨迹感知评测；二是以原版应用为 oracle 的可扩展可验证训练；三是面向真实世界的环境扩展与物理落地验证。三者共享同一原则：以可执行、可验证的证据度量和训练智能体。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后续计划聚焦研究三：先构建职业化个人电脑环境，再以真实数据驱动环境并构造 SFT 与 RL 任务流水线，然后推进物理世界智能体的反事实干预基准与定向修复方法，最后整合评测、训练与应用三部分完成学位论文。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汇报结束，请各位老师批评指正。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5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6.jpg"/><Relationship Id="rId11" Type="http://schemas.openxmlformats.org/officeDocument/2006/relationships/image" Target="../media/image17.png"/><Relationship Id="rId12" Type="http://schemas.openxmlformats.org/officeDocument/2006/relationships/notesSlide" Target="../notesSlides/notesSlide3.xml"/><Relationship Id="rId13" Type="http://schemas.microsoft.com/office/2007/relationships/media" Target="../media/media5.mp4"/><Relationship Id="rId14" Type="http://schemas.openxmlformats.org/officeDocument/2006/relationships/video" Target="../media/media5.mp4"/><Relationship Id="rId15" Type="http://schemas.openxmlformats.org/officeDocument/2006/relationships/image" Target="../media/image5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5.jp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6.xml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3.png"/><Relationship Id="rId11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33.jpg"/><Relationship Id="rId1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10.xml"/><Relationship Id="rId6" Type="http://schemas.microsoft.com/office/2007/relationships/media" Target="../media/media6.mp4"/><Relationship Id="rId7" Type="http://schemas.openxmlformats.org/officeDocument/2006/relationships/video" Target="../media/media6.mp4"/><Relationship Id="rId8" Type="http://schemas.openxmlformats.org/officeDocument/2006/relationships/image" Target="../media/image5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12.xml"/><Relationship Id="rId4" Type="http://schemas.microsoft.com/office/2007/relationships/media" Target="../media/media7.mp4"/><Relationship Id="rId5" Type="http://schemas.openxmlformats.org/officeDocument/2006/relationships/video" Target="../media/media7.mp4"/><Relationship Id="rId6" Type="http://schemas.openxmlformats.org/officeDocument/2006/relationships/image" Target="../media/image5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14.xml"/><Relationship Id="rId4" Type="http://schemas.microsoft.com/office/2007/relationships/media" Target="../media/media8.mp4"/><Relationship Id="rId5" Type="http://schemas.openxmlformats.org/officeDocument/2006/relationships/video" Target="../media/media8.mp4"/><Relationship Id="rId6" Type="http://schemas.openxmlformats.org/officeDocument/2006/relationships/image" Target="../media/image5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17.xml"/><Relationship Id="rId4" Type="http://schemas.microsoft.com/office/2007/relationships/media" Target="../media/media9.mp4"/><Relationship Id="rId5" Type="http://schemas.openxmlformats.org/officeDocument/2006/relationships/video" Target="../media/media9.mp4"/><Relationship Id="rId6" Type="http://schemas.openxmlformats.org/officeDocument/2006/relationships/image" Target="../media/image5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18.xml"/><Relationship Id="rId4" Type="http://schemas.microsoft.com/office/2007/relationships/media" Target="../media/media10.mp4"/><Relationship Id="rId5" Type="http://schemas.openxmlformats.org/officeDocument/2006/relationships/video" Target="../media/media10.mp4"/><Relationship Id="rId6" Type="http://schemas.openxmlformats.org/officeDocument/2006/relationships/image" Target="../media/image5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9.xml"/><Relationship Id="rId4" Type="http://schemas.microsoft.com/office/2007/relationships/media" Target="../media/media5.mp4"/><Relationship Id="rId5" Type="http://schemas.openxmlformats.org/officeDocument/2006/relationships/video" Target="../media/media5.mp4"/><Relationship Id="rId6" Type="http://schemas.openxmlformats.org/officeDocument/2006/relationships/image" Target="../media/image5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20.xml"/><Relationship Id="rId4" Type="http://schemas.microsoft.com/office/2007/relationships/media" Target="../media/media11.mp4"/><Relationship Id="rId5" Type="http://schemas.openxmlformats.org/officeDocument/2006/relationships/video" Target="../media/media11.mp4"/><Relationship Id="rId6" Type="http://schemas.openxmlformats.org/officeDocument/2006/relationships/image" Target="../media/image6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21.xml"/><Relationship Id="rId4" Type="http://schemas.microsoft.com/office/2007/relationships/media" Target="../media/media12.mp4"/><Relationship Id="rId5" Type="http://schemas.openxmlformats.org/officeDocument/2006/relationships/video" Target="../media/media12.mp4"/><Relationship Id="rId6" Type="http://schemas.openxmlformats.org/officeDocument/2006/relationships/image" Target="../media/image6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1.png"/><Relationship Id="rId3" Type="http://schemas.openxmlformats.org/officeDocument/2006/relationships/image" Target="../media/image43.png"/><Relationship Id="rId4" Type="http://schemas.openxmlformats.org/officeDocument/2006/relationships/image" Target="../media/image48.png"/><Relationship Id="rId5" Type="http://schemas.openxmlformats.org/officeDocument/2006/relationships/notesSlide" Target="../notesSlides/notesSlide24.xml"/><Relationship Id="rId6" Type="http://schemas.microsoft.com/office/2007/relationships/media" Target="../media/media13.mp4"/><Relationship Id="rId7" Type="http://schemas.openxmlformats.org/officeDocument/2006/relationships/video" Target="../media/media13.mp4"/><Relationship Id="rId8" Type="http://schemas.openxmlformats.org/officeDocument/2006/relationships/image" Target="../media/image6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于软件开发、系统运维、内容创作及金融、电商、芯片开发等绝大部分行业业务流程，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 · Godot 游戏 · 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 · RabbitMQ · 5×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 · Inkscape · 5×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产业趋势：通用数字智能体正从对话助手走向数字生产力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OpenAI dots、Meta Muse、Manus、OpenClaw 等个人智能体产品相继发布，代用户处理办公、购物与开发事务</a:t>
            </a:r>
          </a:p>
          <a:p>
            <a:pPr algn="l" marL="0" indent="0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Cowork、Codex、Qwen3.8-Max 等前沿系统将计算机操作纳入统一智能体，覆盖各行业专业软件</a:t>
            </a:r>
          </a:p>
          <a:p>
            <a:pPr algn="l" marL="0" indent="0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能否在真实业务中高效、可靠地完成长程任务，已成为前沿基础模型评测与后训练的核心议题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23</a:t>
            </a:r>
          </a:p>
        </p:txBody>
      </p:sp>
      <p:pic>
        <p:nvPicPr>
          <p:cNvPr id="20" name="pa_matrix.mp4">
            <a:hlinkClick r:id="" action="ppaction://media"/>
          </p:cNvPr>
          <p:cNvPicPr>
            <a:picLocks noChangeAspect="1"/>
          </p:cNvPicPr>
          <p:nvPr>
            <a:videoFile r:link="rId14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016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8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10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966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2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3" dur="12000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15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17" repeatCount="indefinite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能力方法：纯 CLI、纯 GUI 与混合能力方法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现有方法或割裂地发展单一能力，或初步混合而缺少统一范式、可信评测与可验证的训练方法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23</a:t>
            </a:r>
          </a:p>
        </p:txBody>
      </p:sp>
      <p:sp>
        <p:nvSpPr>
          <p:cNvPr id="22" name="Rounded Rectangle 4"/>
          <p:cNvSpPr/>
          <p:nvPr/>
        </p:nvSpPr>
        <p:spPr>
          <a:xfrm>
            <a:off x="457200" y="1428750"/>
            <a:ext cx="3657600" cy="34290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5"/>
          <p:cNvSpPr txBox="1"/>
          <p:nvPr/>
        </p:nvSpPr>
        <p:spPr>
          <a:xfrm>
            <a:off x="457200" y="1428750"/>
            <a:ext cx="36576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24" name="TextBox 8"/>
          <p:cNvSpPr txBox="1"/>
          <p:nvPr/>
        </p:nvSpPr>
        <p:spPr>
          <a:xfrm>
            <a:off x="457200" y="1809750"/>
            <a:ext cx="3657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Terminal-Bench · SWE-agent · SWE-Gym · OpenClaw</a:t>
            </a:r>
          </a:p>
        </p:txBody>
      </p:sp>
      <p:sp>
        <p:nvSpPr>
          <p:cNvPr id="25" name="Rounded Rectangle 6"/>
          <p:cNvSpPr/>
          <p:nvPr/>
        </p:nvSpPr>
        <p:spPr>
          <a:xfrm>
            <a:off x="457200" y="2019300"/>
            <a:ext cx="3657600" cy="21526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17"/>
          <p:cNvSpPr/>
          <p:nvPr/>
        </p:nvSpPr>
        <p:spPr>
          <a:xfrm>
            <a:off x="457200" y="424815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1F8F4"/>
          </a:solidFill>
          <a:ln w="19050">
            <a:solidFill>
              <a:srgbClr val="1E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18"/>
          <p:cNvSpPr txBox="1"/>
          <p:nvPr/>
        </p:nvSpPr>
        <p:spPr>
          <a:xfrm>
            <a:off x="571500" y="430530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动作精确高效，单元测试提供可验证奖励，强化学习已规模化</a:t>
            </a:r>
          </a:p>
        </p:txBody>
      </p:sp>
      <p:sp>
        <p:nvSpPr>
          <p:cNvPr id="28" name="Rounded Rectangle 17"/>
          <p:cNvSpPr/>
          <p:nvPr/>
        </p:nvSpPr>
        <p:spPr>
          <a:xfrm>
            <a:off x="457200" y="491490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DF3F2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18"/>
          <p:cNvSpPr txBox="1"/>
          <p:nvPr/>
        </p:nvSpPr>
        <p:spPr>
          <a:xfrm>
            <a:off x="571500" y="497205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难以观测渲染结果；依赖命令行或 API</a:t>
            </a:r>
          </a:p>
        </p:txBody>
      </p:sp>
      <p:sp>
        <p:nvSpPr>
          <p:cNvPr id="30" name="Rounded Rectangle 4"/>
          <p:cNvSpPr/>
          <p:nvPr/>
        </p:nvSpPr>
        <p:spPr>
          <a:xfrm>
            <a:off x="4267200" y="1428750"/>
            <a:ext cx="3657600" cy="34290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5"/>
          <p:cNvSpPr txBox="1"/>
          <p:nvPr/>
        </p:nvSpPr>
        <p:spPr>
          <a:xfrm>
            <a:off x="4267200" y="1428750"/>
            <a:ext cx="36576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32" name="TextBox 8"/>
          <p:cNvSpPr txBox="1"/>
          <p:nvPr/>
        </p:nvSpPr>
        <p:spPr>
          <a:xfrm>
            <a:off x="4267200" y="1809750"/>
            <a:ext cx="3657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33" name="Rounded Rectangle 6"/>
          <p:cNvSpPr/>
          <p:nvPr/>
        </p:nvSpPr>
        <p:spPr>
          <a:xfrm>
            <a:off x="4267200" y="2019300"/>
            <a:ext cx="3657600" cy="21526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17"/>
          <p:cNvSpPr/>
          <p:nvPr/>
        </p:nvSpPr>
        <p:spPr>
          <a:xfrm>
            <a:off x="4267200" y="424815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1F8F4"/>
          </a:solidFill>
          <a:ln w="19050">
            <a:solidFill>
              <a:srgbClr val="1E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18"/>
          <p:cNvSpPr txBox="1"/>
          <p:nvPr/>
        </p:nvSpPr>
        <p:spPr>
          <a:xfrm>
            <a:off x="4381500" y="430530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以截图与键鼠为通用接口，适用于各类图形界面软件</a:t>
            </a:r>
          </a:p>
        </p:txBody>
      </p:sp>
      <p:sp>
        <p:nvSpPr>
          <p:cNvPr id="36" name="Rounded Rectangle 17"/>
          <p:cNvSpPr/>
          <p:nvPr/>
        </p:nvSpPr>
        <p:spPr>
          <a:xfrm>
            <a:off x="4267200" y="491490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DF3F2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18"/>
          <p:cNvSpPr txBox="1"/>
          <p:nvPr/>
        </p:nvSpPr>
        <p:spPr>
          <a:xfrm>
            <a:off x="4381500" y="497205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截图开销高、步数多；缺少天然可验证信号</a:t>
            </a:r>
          </a:p>
        </p:txBody>
      </p:sp>
      <p:sp>
        <p:nvSpPr>
          <p:cNvPr id="38" name="Rounded Rectangle 4"/>
          <p:cNvSpPr/>
          <p:nvPr/>
        </p:nvSpPr>
        <p:spPr>
          <a:xfrm>
            <a:off x="8077200" y="1428750"/>
            <a:ext cx="3657600" cy="34290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5"/>
          <p:cNvSpPr txBox="1"/>
          <p:nvPr/>
        </p:nvSpPr>
        <p:spPr>
          <a:xfrm>
            <a:off x="8077200" y="1428750"/>
            <a:ext cx="3657600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40" name="TextBox 8"/>
          <p:cNvSpPr txBox="1"/>
          <p:nvPr/>
        </p:nvSpPr>
        <p:spPr>
          <a:xfrm>
            <a:off x="8077200" y="1809750"/>
            <a:ext cx="3657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41" name="Rounded Rectangle 6"/>
          <p:cNvSpPr/>
          <p:nvPr/>
        </p:nvSpPr>
        <p:spPr>
          <a:xfrm>
            <a:off x="8077200" y="2019300"/>
            <a:ext cx="3657600" cy="21526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17"/>
          <p:cNvSpPr/>
          <p:nvPr/>
        </p:nvSpPr>
        <p:spPr>
          <a:xfrm>
            <a:off x="8077200" y="424815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1F8F4"/>
          </a:solidFill>
          <a:ln w="19050">
            <a:solidFill>
              <a:srgbClr val="1E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18"/>
          <p:cNvSpPr txBox="1"/>
          <p:nvPr/>
        </p:nvSpPr>
        <p:spPr>
          <a:xfrm>
            <a:off x="8191500" y="430530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混合动作空间缩短轨迹；以参考应用构建可验证环境的思路出现</a:t>
            </a:r>
          </a:p>
        </p:txBody>
      </p:sp>
      <p:sp>
        <p:nvSpPr>
          <p:cNvPr id="44" name="Rounded Rectangle 17"/>
          <p:cNvSpPr/>
          <p:nvPr/>
        </p:nvSpPr>
        <p:spPr>
          <a:xfrm>
            <a:off x="8077200" y="4914900"/>
            <a:ext cx="3657600" cy="609600"/>
          </a:xfrm>
          <a:prstGeom prst="roundRect">
            <a:avLst>
              <a:gd name="adj" fmla="val 13043"/>
            </a:avLst>
          </a:prstGeom>
          <a:solidFill>
            <a:srgbClr val="FDF3F2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18"/>
          <p:cNvSpPr txBox="1"/>
          <p:nvPr/>
        </p:nvSpPr>
        <p:spPr>
          <a:xfrm>
            <a:off x="8191500" y="4972050"/>
            <a:ext cx="3429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第二种通道多为辅助；任务多仅依据结果判分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24" y="3276600"/>
            <a:ext cx="2713550" cy="857250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5575" y="2076450"/>
            <a:ext cx="1620849" cy="1219199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96195" y="3314700"/>
            <a:ext cx="1199608" cy="819150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70437" y="2076450"/>
            <a:ext cx="3471125" cy="114300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23837" y="3257550"/>
            <a:ext cx="2364324" cy="876300"/>
          </a:xfrm>
          <a:prstGeom prst="rect">
            <a:avLst/>
          </a:prstGeom>
        </p:spPr>
      </p:pic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33400" y="2076450"/>
            <a:ext cx="3505200" cy="1162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10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4287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14500"/>
            <a:ext cx="2762250" cy="22098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19" y="1771650"/>
            <a:ext cx="2439810" cy="1733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5300" y="35433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 · 2026.09：云端机器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714500"/>
            <a:ext cx="2762250" cy="22098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809" y="1771650"/>
            <a:ext cx="2363931" cy="1733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33750" y="354330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 · 2026.09：云端安全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714500"/>
            <a:ext cx="2762250" cy="22098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893688"/>
            <a:ext cx="2647950" cy="1489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72200" y="354330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 · 2025.03：云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714500"/>
            <a:ext cx="2762250" cy="22098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9700" y="1807695"/>
            <a:ext cx="2647950" cy="166145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10650" y="354330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 · 2026.01：运行于用户自己的设备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005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40005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276225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" y="4567988"/>
            <a:ext cx="2647950" cy="113197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95300" y="596265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4286250"/>
            <a:ext cx="276225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52800" y="4640210"/>
            <a:ext cx="2647950" cy="98752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33750" y="5962650"/>
            <a:ext cx="2686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4286250"/>
            <a:ext cx="276225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5817" y="4343400"/>
            <a:ext cx="1598815" cy="15811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72200" y="596265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4286250"/>
            <a:ext cx="276225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9700" y="4613841"/>
            <a:ext cx="2647950" cy="104026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10650" y="596265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4000" fill="hold"/>
                                        <p:tgtEl>
                                          <p:spTgt spid="3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通用数字智能体的评测与训练仍然是一个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极具挑战性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的课题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g_integrit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45574"/>
            <a:ext cx="3505200" cy="1985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任务范式与能力度量失配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范式天然偏重；现有基准割裂评测 CLI 与 GUI，任务可在单一能力内完成；仅依据最终结果判分，比轨迹审计口径高 10–20 个百分点。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12_h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81881"/>
            <a:ext cx="3505200" cy="11131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625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 缺少天然的可验证奖励，混合训练环境与数据稀缺；仅依据结果的奖励易被违规取巧（Reward Hacking）利用，自主编排与自我验证难以习得。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核心问题：如何定义好问题、建立可信评测，如何训练好相应能力，并使通用数字智能体在真实世界中可信落地？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23</a:t>
            </a:r>
          </a:p>
        </p:txBody>
      </p:sp>
      <p:pic>
        <p:nvPicPr>
          <p:cNvPr id="26" name="real_world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172450" y="1705502"/>
            <a:ext cx="3505200" cy="226589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GUIPruner · ST-Lite → WeaveBench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结论：瓶颈在自主编排与自我验证 → 需要训练新的行为模式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结论：复刻训练在分布外基准上带来提升 → 推广到真实世界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通用数字智能体走向真实世界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职业化个人智能体 · 物理世界智能体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可扩展（Scalable）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：任务、环境与 verifier 均可自动、批量构造，不依赖人工逐题设计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23</a:t>
            </a:r>
          </a:p>
        </p:txBody>
      </p:sp>
      <p:pic>
        <p:nvPicPr>
          <p:cNvPr id="35" name="framework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14350" y="1667922"/>
            <a:ext cx="6057900" cy="331260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研究一：面向混合能力范式的可信评测（已完成）—— 前期探索：纯 GUI 范式下的推理效率优化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668" y="1828800"/>
            <a:ext cx="4567662" cy="27051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 · KDD 2027 在投：视觉 token 压缩 —— 时间自适应分辨率 + 结构感知剪枝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847" y="1828800"/>
            <a:ext cx="5163305" cy="2705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0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 · EMNLP 2026：KV Cache 压缩 —— 轨迹门控 + 组件显著性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FLOPs 降低，性能保持 &gt;94%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视觉编码加速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预算下与完整缓存持平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1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2.35×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5 倍压缩下解码加速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范式"每一步都处理整屏截图"的本质未变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范式并非天然合理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三种范式对比：纯 GUI 逐步截图；CLI 优先、不观察像素；混合范式以 CLI 为主干、GUI 观察与核验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1428750"/>
            <a:ext cx="4457700" cy="249555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48525" y="1524000"/>
            <a:ext cx="45148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受控对照：OSWorld · 同一模型 · 同一判官 [WeaveBench 附录 E]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5750" y="2114550"/>
            <a:ext cx="419100" cy="1428750"/>
          </a:xfrm>
          <a:prstGeom prst="roundRect">
            <a:avLst>
              <a:gd name="adj" fmla="val 909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82000" y="2143125"/>
            <a:ext cx="419100" cy="1400175"/>
          </a:xfrm>
          <a:prstGeom prst="roundRect">
            <a:avLst>
              <a:gd name="adj" fmla="val 909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39075" y="19240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5325" y="1952625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1750" y="2876550"/>
            <a:ext cx="419100" cy="666750"/>
          </a:xfrm>
          <a:prstGeom prst="roundRect">
            <a:avLst>
              <a:gd name="adj" fmla="val 909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668000" y="2190750"/>
            <a:ext cx="419100" cy="1352550"/>
          </a:xfrm>
          <a:prstGeom prst="roundRect">
            <a:avLst>
              <a:gd name="adj" fmla="val 909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125075" y="26860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1325" y="20002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0" y="3543300"/>
            <a:ext cx="37719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20000" y="3543300"/>
            <a:ext cx="37719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0975" y="3600450"/>
            <a:ext cx="11049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6975" y="3600450"/>
            <a:ext cx="11049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8525" y="4000500"/>
            <a:ext cx="45148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37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77100" y="4305300"/>
            <a:ext cx="4457700" cy="1238250"/>
          </a:xfrm>
          <a:prstGeom prst="roundRect">
            <a:avLst>
              <a:gd name="adj" fmla="val 923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29500" y="438150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为主、运行在用户个人电脑上的开源智能体迅速普及。我们以标准 OpenClaw CLI 智能体重跑 OSWorld：成功率相当 —— 大量任务无需逐帧观察屏幕。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结论：关键不在压缩，而在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 → 定义 CLI 与 GUI 交织的综合数字智能体范式并可信评测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23</a:t>
            </a:r>
          </a:p>
        </p:txBody>
      </p:sp>
      <p:pic>
        <p:nvPicPr>
          <p:cNvPr id="34" name="paradig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80587" y="1485900"/>
            <a:ext cx="5820725" cy="3676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3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综合数字智能体范式与轨迹感知的可信评测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解决方法：以已部署的 CLI 智能体运行时为底座、加入最小桌面控制插件；以单通道基线与人工审查筛选需 CLI 与 GUI 协同的长程任务；轨迹感知判官审计全过程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/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0960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39891"/>
            <a:ext cx="5981700" cy="2378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 · EMNLP 2026：任务构造 → 真实运行时 → 轨迹感知判官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2038350"/>
            <a:ext cx="50292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ig_failure_mechanis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14" y="2095500"/>
            <a:ext cx="4889970" cy="1752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34175" y="3886200"/>
            <a:ext cx="4972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1,735 个失败的归因分析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最强组合成功率（OSWorld &gt;78%）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3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≤3.5%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 或仅 CLI；混合增益 +31.6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6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仅结果判分高于轨迹审计口径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65.6%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3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违规取巧与长程失控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结论：瓶颈不在视觉感知，而在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→ 研究二训练该行为模式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结论：可验证环境中习得的混合行为模式可迁移至分布外任务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研究三推广到真实世界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23</a:t>
            </a:r>
          </a:p>
        </p:txBody>
      </p:sp>
      <p:pic>
        <p:nvPicPr>
          <p:cNvPr id="34" name="rw_transfer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3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研究三（一）：职业化个人智能体（Professional Personal Agent）（待完成）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现有个人智能体的"个人化"主要体现在记忆与对话人设，任务多在云端通用环境中执行；缺少个人电脑环境、职业业务知识与专业软件技能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71650"/>
            <a:ext cx="6667500" cy="3695700"/>
          </a:xfrm>
          <a:prstGeom prst="roundRect">
            <a:avLst>
              <a:gd name="adj" fmla="val 20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5775" y="51244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77100" y="17716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29500" y="18859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5750" y="19050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在用户自己的电脑环境中工作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5750" y="21907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本地文件、已登录的应用与历史记录均为任务上下文，云端通用沙箱无法复现这些状态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7100" y="30289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29500" y="31432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750" y="31623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具备职业业务世界知识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5750" y="34480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账务规则、合同条款与判例、定价与库存策略等，决定任务的正确性标准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77100" y="42862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29500" y="44005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5750" y="44196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掌握职业专业软件的使用能力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5750" y="47053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ERP、合同审阅、EDA、设计工具等长程操作，需要 CLI 与 GUI 按需交织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三者兼备，方能成为面向不同职业的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数字员工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；研究三把可扩展的评测与训练框架推广到职业化个人环境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23</a:t>
            </a:r>
          </a:p>
        </p:txBody>
      </p:sp>
      <p:pic>
        <p:nvPicPr>
          <p:cNvPr id="30" name="pa_overview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93015" y="1828800"/>
            <a:ext cx="6395869" cy="3257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3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0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12954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621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66900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838450"/>
            <a:ext cx="5029200" cy="12954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76600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4248150"/>
            <a:ext cx="5029200" cy="12954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43815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6300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23</a:t>
            </a:r>
          </a:p>
        </p:txBody>
      </p:sp>
      <p:pic>
        <p:nvPicPr>
          <p:cNvPr id="26" name="pa_matrix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块骨牌间距后，关键帧动画仍全部倒下，物理仿真在间隙处正确中断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23</a:t>
            </a:r>
          </a:p>
        </p:txBody>
      </p:sp>
      <p:pic>
        <p:nvPicPr>
          <p:cNvPr id="43" name="phys_cf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回归失败率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23</a:t>
            </a:r>
          </a:p>
        </p:txBody>
      </p:sp>
      <p:pic>
        <p:nvPicPr>
          <p:cNvPr id="42" name="phys_loop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19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rst_guipru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96" y="1504950"/>
            <a:ext cx="1516206" cy="1962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1500" y="35623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4375" y="3571875"/>
            <a:ext cx="9715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投稿 KDD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857625"/>
            <a:ext cx="7048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422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rst_st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035" y="1504950"/>
            <a:ext cx="1387378" cy="19621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38525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71875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857625"/>
            <a:ext cx="4857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52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irst_weaveb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1060" y="1504950"/>
            <a:ext cx="1387378" cy="196215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305550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38900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5550" y="3857625"/>
            <a:ext cx="84772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555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827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irst_recre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085" y="1504950"/>
            <a:ext cx="1387378" cy="196215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172575" y="35623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15450" y="35718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2575" y="3857625"/>
            <a:ext cx="10953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257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400550"/>
            <a:ext cx="11277600" cy="1104900"/>
          </a:xfrm>
          <a:prstGeom prst="roundRect">
            <a:avLst>
              <a:gd name="adj" fmla="val 10344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8650" y="45720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000" y="45720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4895850"/>
            <a:ext cx="1099185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研究一、二的评测环境与训练数据已应用于模型优化，参与 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研发，深入接触前沿基础模型在计算机操作与长程智能体任务中的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关键痛点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；本课题的研究问题源于一线训练与评测需求，所构建的评测、环境与数据可直接服务于基础模型后训练。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20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预期创新点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综合数字智能体范式与轨迹感知的可信评测</a:t>
            </a:r>
          </a:p>
        </p:txBody>
      </p:sp>
      <p:pic>
        <p:nvPicPr>
          <p:cNvPr id="8" name="Picture 7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602505"/>
            <a:ext cx="3390900" cy="1348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65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形式化 CLI 与 GUI 交织的混合能力范式；以单通道基线与人工审查筛选需协同的长程任务，以轨迹审计替代仅依据结果的判分，揭示自主编排与自我验证瓶颈。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5770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以原版应用为 oracle 的可扩展可验证训练</a:t>
            </a:r>
          </a:p>
        </p:txBody>
      </p:sp>
      <p:pic>
        <p:nvPicPr>
          <p:cNvPr id="13" name="Picture 12" descr="rw_fig2_recre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550" y="2870361"/>
            <a:ext cx="3390900" cy="8124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5770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任意开源应用即可转化为"环境 + 隐藏行为测试"，为混合行为提供可验证奖励；验证习得行为可迁移至分布外任务。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53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67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7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构建职业化个人电脑环境与真实数据驱动的任务流水线；以反事实干预检验生成内容的物理机制，并以诊断与定向修复提升可靠性。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23</a:t>
            </a:r>
          </a:p>
        </p:txBody>
      </p:sp>
      <p:pic>
        <p:nvPicPr>
          <p:cNvPr id="23" name="innov03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229600" y="2328428"/>
            <a:ext cx="3390900" cy="18963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" dur="12000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11668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会计 / 法律 / 电商 / 医疗 / 设计 / 芯片等职业调研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Mock：基于复刻能力仿真业务系统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脱敏真实数据驱动状态与事件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任务生成 → 轨迹 → 状态优先 verifier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先拒绝采样 SFT，再可验证奖励 RL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物理世界智能体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反事实干预基准（RQ1–RQ3）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核心消融；中期检查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构建覆盖多个职业的个人电脑可验证环境与 SFT / RL 任务流水线，验证其对职业化个人智能体能力的提升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建立物理世界生成的反事实干预基准与定向修复方法，验证其对跨条件物理泛化的提升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形成"评测—训练—应用"的可扩展框架，产出高水平论文并开源基准、环境与代码；完成学位论文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预期成果：研究三形成 1–2 篇高水平论文（职业化个人智能体；物理世界智能体），开源环境、基准与代码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