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6.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4"/>
  </p:notesMasterIdLst>
  <p:handoutMasterIdLst>
    <p:handoutMasterId r:id="rId12"/>
  </p:handoutMasterIdLst>
  <p:sldIdLst>
    <p:sldId id="256" r:id="rId11"/>
    <p:sldId id="257" r:id="rId10"/>
    <p:sldId id="258" r:id="rId9"/>
    <p:sldId id="259" r:id="rId8"/>
    <p:sldId id="260" r:id="rId7"/>
    <p:sldId id="261" r:id="rId6"/>
    <p:sldId id="262" r:id="rId5"/>
    <p:sldId id="263" r:id="rId3"/>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Lst>
  <p:sldSz cx="12192000" cy="6858000"/>
  <p:notesSz cx="6858000" cy="9144000"/>
  <p:embeddedFontLst>
    <p:embeddedFont>
      <p:font typeface="方正小标宋简体" panose="02000000000000000000" charset="-122"/>
      <p:regular r:id="rId16"/>
    </p:embeddedFont>
    <p:embeddedFont>
      <p:font typeface="微软雅黑" panose="020B0503020204020204" charset="-122"/>
      <p:regular r:id="rId17"/>
    </p:embeddedFont>
    <p:embeddedFont>
      <p:font typeface="Calibri" panose="020F0502020204030204" charset="0"/>
      <p:regular r:id="rId18"/>
      <p:bold r:id="rId19"/>
      <p:italic r:id="rId20"/>
      <p:boldItalic r:id="rId21"/>
    </p:embeddedFont>
  </p:embeddedFontLst>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1" userDrawn="1">
          <p15:clr>
            <a:srgbClr val="A4A3A4"/>
          </p15:clr>
        </p15:guide>
        <p15:guide id="2" pos="37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71"/>
        <p:guide pos="377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tags" Target="tags/tag6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第一部分：研究背景和选题意义</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的目标是在真实计算机环境中自主完成长程数字工作。它具备三种场景能力：命令行操作和代码构建以文本为模态，图形界面操作以视觉为模态。左图是真实任务中的混合轨迹：数据分析、游戏开发、网站运维都需要在命令行与图形界面之间交替。三种能力互补而非互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视觉模态；混合模态交互已成为前沿基础模型的核心议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文本与视觉混合模态交互仍然极具挑战。第一，长程视觉感知开销高，截图随步数累积；第二，任务范式与能力度量失配，现有基准割裂评测且只看结果判分；第三，混合行为模式难以习得，缺少可验证奖励与训练环境。</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题意义。左图对比两种范式：现有指令闭环范式中，任务在文本通道内闭环，界面从未被观察；视觉在环范式让渲染结果进入决策闭环。现有路线存在两难：文本模态精确但看不见渲染，视觉模态通用但开销高、缺少可验证奖励。因此本课题的意义在三方面：理论上构建综合数字智能体范式（研究二）；方法上揭示效率规律与行为可学习性（研究一、三）；应用上服务基础模型后训练与产业落地（研究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第二部分：国内外研究现状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国内外研究按模态可分为三类：文本模态方法，包括命令行智能体与代码智能体；视觉模态方法，包括原生 GUI 智能体与高效视觉推理；以及新兴的混合模态方法，包括多智能体协作、工具增强 GUI 与可验证环境构建。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文本模态方法：动作精确、执行高效，单元测试提供可验证奖励，强化学习已规模化。不足在于无法观测渲染结果，只能处理有接口的软件。</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视觉模态方法：以截图和键鼠为通用接口，OSWorld 两年从 12% 到 80% 以上。不足在于开销高、步数多、看不到隐藏状态；FastV、SnapKV 等通用压缩方法没有利用 GUI 的帧间冗余与二维布局。</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混合模态方法：CoAct-1 让 GUI 操作员与程序员协作，OSWorld-MCP 在 GUI 之外提供工具，GUI-Genesis 将应用重建为可验证环境。右侧对照说明，在以 GUI 为主的 OSWorld 上，同一模型仅用文本通道即可以约一半步数取得相当的成功率，说明两类模态各有优势。不足在于第二模态多为辅助，任务未强制协同、只看结果判分；可验证环境局限于单一界面。</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面临的难题：文本模态方法看不见渲染结果；视觉模态方法长程开销高，通用压缩不适配 GUI；混合模态方法缺少强制协同、审计过程的评测范式，也缺少可验证的混合训练环境。由此归纳关键技术问题：统一文本与视觉模态，构建高效、可信度量、可训练且可规模化的通用数字智能体技术框架，分解为四个子问题，对应四项研究。</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第三部分：课题研究内容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框架：四项研究对应四个关键技术问题，并且前一项研究的结论构成后一项研究的动机。研究一做效率优化，发现效率优化受限于纯视觉范式本身，引出研究二构建综合数字智能体范式；研究二发现瓶颈在于自主编排与自我验证，引出研究三训练这种新的行为模式；研究三发现可验证环境中习得的行为可以迁移，引出研究四扩展环境的领域与规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课题一针对长程视觉感知开销。编码端 GUIPruner：远帧降分辨率，当前帧按 UI 结构分层剪枝并保留二维网格；解码端 ST-Lite：利用帧间高重叠、小目标、层间均匀稀疏三条规律压缩 KV 缓存。结论是开销可以显著降低，但纯视觉范式本身存在上限：同一模型仅用文本通道就能以一半步数取得相当成功率。由此引出研究二，重新审视任务范式。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课题二针对任务范式与能力度量失配。WeaveBench 在真实部署的命令行运行时上加入最小 GUI 插件，只收录两类模态缺一不可的长程任务，并以轨迹感知判官审计全过程，由此形式化定义综合数字智能体范式。结果：最强组合仅 41.2%，单一模态不超过 3.5%；过程审计修正了约 20 个百分点的虚高；65.6% 的失败源于违规取巧与长程失控，视觉感知错误不足 4%。结论是瓶颈在于自主编排与自我验证，引出研究三：如何训练这种新的行为模式。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三回答如何训练这种新的行为模式。自主编排与自我验证需要在模态交织、结果可验证的场景中习得。我们找到的场景是应用复刻：规格在界面里、交付物是代码、对错要运行后看界面，天然要求两类模态交织；而原版应用本身就是 oracle，可以自动合成隐藏行为测试作为可验证奖励。右下图显示复刻任务中 GUI 与代码的切换频率远高于现有基准。</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训练流程分四步：从 GitHub 高质量开源应用构造复刻任务，覆盖五个平台并与评测集去重；用 Qwen3.8-Max 在隔离的虚拟机池中并发生成轨迹；用任务级行为 verifier 做拒绝采样，每平台 7000 条、共 3.5 万条；在 Qwen3.7-Plus 和持续预训练后的 Qwen-Flash 上监督微调。结果在五个分布外基准上一致提升，最高 17.9 个百分点；在研究二的 WeaveBench 上从 35.7 提升到 48.2，研究二与研究三形成闭环。结论是可验证环境中习得的行为可以迁移，引出研究四扩展环境规模。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课题四是后续主体工作：把研究三验证过的可验证环境方法扩展到金融、法律、电商、医疗等行业领域。分三步：App Mock 仿真行业业务系统；以脱敏真实数据驱动环境状态与事件；构造 SFT 与 RL 任务流水线。verifier 以数据库状态为准，研究一的压缩方法用于降低 RL rollout 开销，四项研究由此形成闭环。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第四部分：论文进度安排及预期达到目标</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已完成工作：研究一对应 GUIPruner（投稿 KDD 2027）与 ST-Lite（EMNLP 2026）；研究二对应 WeaveBench（EMNLP 2026）；研究三对应 RecreationWorld 技术报告。在 Qwen 团队实习期间参与 Qwen3.8-Max 研发，研究问题源于前沿基础模型的一线痛点。</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后续计划即研究四：先做行业业务系统的 App Mock，再以真实数据驱动环境模拟，然后构造 SFT 与 RL 任务流水线并训练，最后整合四项研究完成学位论文。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xml"/><Relationship Id="rId3" Type="http://schemas.openxmlformats.org/officeDocument/2006/relationships/image" Target="../media/image2.jpeg"/><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image" Target="../media/image3.png"/><Relationship Id="rId12" Type="http://schemas.microsoft.com/office/2007/relationships/hdphoto" Target="../media/image4.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image" Target="../media/image5.png"/><Relationship Id="rId6" Type="http://schemas.microsoft.com/office/2007/relationships/hdphoto" Target="../media/image6.wdp"/><Relationship Id="rId7" Type="http://schemas.openxmlformats.org/officeDocument/2006/relationships/tags" Target="../tags/tag14.xml"/><Relationship Id="rId8" Type="http://schemas.openxmlformats.org/officeDocument/2006/relationships/image" Target="../media/image7.png"/><Relationship Id="rId9"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image9.wdp"/><Relationship Id="rId4" Type="http://schemas.openxmlformats.org/officeDocument/2006/relationships/image" Target="../media/image10.png"/><Relationship Id="rId5" Type="http://schemas.microsoft.com/office/2007/relationships/hdphoto" Target="../media/image11.wdp"/><Relationship Id="rId6"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ags" Target="../tags/tag52.xml"/><Relationship Id="rId13" Type="http://schemas.openxmlformats.org/officeDocument/2006/relationships/tags" Target="../tags/tag53.xml"/><Relationship Id="rId14" Type="http://schemas.openxmlformats.org/officeDocument/2006/relationships/tags" Target="../tags/tag54.xml"/><Relationship Id="rId15" Type="http://schemas.openxmlformats.org/officeDocument/2006/relationships/tags" Target="../tags/tag55.xml"/><Relationship Id="rId16" Type="http://schemas.openxmlformats.org/officeDocument/2006/relationships/tags" Target="../tags/tag5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5.jpg"/><Relationship Id="rId8" Type="http://schemas.microsoft.com/office/2007/relationships/media" Target="../media/media3.mp4"/><Relationship Id="rId9" Type="http://schemas.openxmlformats.org/officeDocument/2006/relationships/video" Target="../media/media3.mp4"/><Relationship Id="rId10" Type="http://schemas.openxmlformats.org/officeDocument/2006/relationships/image" Target="../media/image16.jpg"/><Relationship Id="rId11" Type="http://schemas.openxmlformats.org/officeDocument/2006/relationships/image" Target="../media/image17.png"/><Relationship Id="rId1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5.jp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image" Target="../media/image35.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2.png"/><Relationship Id="rId3" Type="http://schemas.openxmlformats.org/officeDocument/2006/relationships/image" Target="../media/image17.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6192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619250"/>
            <a:ext cx="13906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硕士学位论文开题报告</a:t>
            </a:r>
          </a:p>
        </p:txBody>
      </p:sp>
      <p:sp>
        <p:nvSpPr>
          <p:cNvPr id="4" name="TextBox 3"/>
          <p:cNvSpPr txBox="1"/>
          <p:nvPr/>
        </p:nvSpPr>
        <p:spPr>
          <a:xfrm>
            <a:off x="914400" y="2095500"/>
            <a:ext cx="8229600" cy="1066800"/>
          </a:xfrm>
          <a:prstGeom prst="rect">
            <a:avLst/>
          </a:prstGeom>
          <a:noFill/>
        </p:spPr>
        <p:txBody>
          <a:bodyPr wrap="square" lIns="0" rIns="0" tIns="0" bIns="0" anchor="t">
            <a:noAutofit/>
          </a:bodyPr>
          <a:lstStyle/>
          <a:p>
            <a:pPr algn="l">
              <a:lnSpc>
                <a:spcPts val="4200"/>
              </a:lnSpc>
              <a:spcBef>
                <a:spcPts val="0"/>
              </a:spcBef>
              <a:spcAft>
                <a:spcPts val="0"/>
              </a:spcAft>
            </a:pPr>
            <a:r>
              <a:rPr sz="3000" b="1" i="0">
                <a:solidFill>
                  <a:srgbClr val="660874"/>
                </a:solidFill>
                <a:latin typeface="Arial"/>
                <a:ea typeface="微软雅黑"/>
                <a:cs typeface="微软雅黑"/>
              </a:rPr>
              <a:t>基于可扩展可验证环境的通用数字智能体</a:t>
            </a:r>
          </a:p>
          <a:p>
            <a:pPr algn="l">
              <a:lnSpc>
                <a:spcPts val="4200"/>
              </a:lnSpc>
              <a:spcBef>
                <a:spcPts val="0"/>
              </a:spcBef>
              <a:spcAft>
                <a:spcPts val="0"/>
              </a:spcAft>
            </a:pPr>
            <a:r>
              <a:rPr sz="3000" b="1" i="0">
                <a:solidFill>
                  <a:srgbClr val="660874"/>
                </a:solidFill>
                <a:latin typeface="Arial"/>
                <a:ea typeface="微软雅黑"/>
                <a:cs typeface="微软雅黑"/>
              </a:rPr>
              <a:t>混合模态评测与训练方法研究</a:t>
            </a:r>
          </a:p>
        </p:txBody>
      </p:sp>
      <p:sp>
        <p:nvSpPr>
          <p:cNvPr id="5" name="Rounded Rectangle 4"/>
          <p:cNvSpPr/>
          <p:nvPr/>
        </p:nvSpPr>
        <p:spPr>
          <a:xfrm>
            <a:off x="914400" y="33337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600450"/>
            <a:ext cx="6705600" cy="759916"/>
          </a:xfrm>
          <a:prstGeom prst="rect">
            <a:avLst/>
          </a:prstGeom>
          <a:noFill/>
        </p:spPr>
        <p:txBody>
          <a:bodyPr wrap="square" lIns="0" rIns="0" tIns="0" bIns="0" anchor="t">
            <a:noAutofit/>
          </a:bodyPr>
          <a:lstStyle/>
          <a:p>
            <a:pPr algn="l">
              <a:lnSpc>
                <a:spcPts val="2992"/>
              </a:lnSpc>
              <a:spcBef>
                <a:spcPts val="0"/>
              </a:spcBef>
              <a:spcAft>
                <a:spcPts val="0"/>
              </a:spcAft>
            </a:pPr>
            <a:r>
              <a:rPr sz="1575" b="0" i="0">
                <a:solidFill>
                  <a:srgbClr val="1F1A22"/>
                </a:solidFill>
                <a:latin typeface="Arial"/>
                <a:ea typeface="微软雅黑"/>
                <a:cs typeface="微软雅黑"/>
              </a:rPr>
              <a:t>研究生：周博文</a:t>
            </a:r>
          </a:p>
          <a:p>
            <a:pPr algn="l">
              <a:lnSpc>
                <a:spcPts val="2992"/>
              </a:lnSpc>
              <a:spcBef>
                <a:spcPts val="0"/>
              </a:spcBef>
              <a:spcAft>
                <a:spcPts val="0"/>
              </a:spcAft>
            </a:pPr>
            <a:r>
              <a:rPr sz="1575" b="0" i="0">
                <a:solidFill>
                  <a:srgbClr val="1F1A22"/>
                </a:solidFill>
                <a:latin typeface="Arial"/>
                <a:ea typeface="微软雅黑"/>
                <a:cs typeface="微软雅黑"/>
              </a:rPr>
              <a:t>导　师：王好谦 教授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660874"/>
                </a:solidFill>
                <a:latin typeface="Arial"/>
                <a:ea typeface="微软雅黑"/>
                <a:cs typeface="微软雅黑"/>
              </a:rPr>
              <a:t>通用数字智能体</a:t>
            </a:r>
            <a:r>
              <a:rPr sz="1500" b="1" i="0">
                <a:solidFill>
                  <a:srgbClr val="1F1A22"/>
                </a:solidFill>
                <a:latin typeface="Arial"/>
                <a:ea typeface="微软雅黑"/>
                <a:cs typeface="微软雅黑"/>
              </a:rPr>
              <a:t>（Universal Digital Agent）的目标是在真实计算机环境中</a:t>
            </a:r>
            <a:r>
              <a:rPr sz="1500" b="1" i="0">
                <a:solidFill>
                  <a:srgbClr val="C0392B"/>
                </a:solidFill>
                <a:latin typeface="Arial"/>
                <a:ea typeface="微软雅黑"/>
                <a:cs typeface="微软雅黑"/>
              </a:rPr>
              <a:t>自主完成长程数字工作</a:t>
            </a:r>
            <a:r>
              <a:rPr sz="1500" b="1" i="0">
                <a:solidFill>
                  <a:srgbClr val="1F1A22"/>
                </a:solidFill>
                <a:latin typeface="Arial"/>
                <a:ea typeface="微软雅黑"/>
                <a:cs typeface="微软雅黑"/>
              </a:rPr>
              <a:t>，</a:t>
            </a:r>
          </a:p>
          <a:p>
            <a:pPr algn="ctr">
              <a:lnSpc>
                <a:spcPts val="2400"/>
              </a:lnSpc>
              <a:spcBef>
                <a:spcPts val="0"/>
              </a:spcBef>
              <a:spcAft>
                <a:spcPts val="0"/>
              </a:spcAft>
            </a:pPr>
            <a:r>
              <a:rPr sz="1500" b="1" i="0">
                <a:solidFill>
                  <a:srgbClr val="1F1A22"/>
                </a:solidFill>
                <a:latin typeface="Arial"/>
                <a:ea typeface="微软雅黑"/>
                <a:cs typeface="微软雅黑"/>
              </a:rPr>
              <a:t>通过</a:t>
            </a:r>
            <a:r>
              <a:rPr sz="1500" b="1" i="0">
                <a:solidFill>
                  <a:srgbClr val="C0392B"/>
                </a:solidFill>
                <a:latin typeface="Arial"/>
                <a:ea typeface="微软雅黑"/>
                <a:cs typeface="微软雅黑"/>
              </a:rPr>
              <a:t>文本模态</a:t>
            </a:r>
            <a:r>
              <a:rPr sz="1500" b="1" i="0">
                <a:solidFill>
                  <a:srgbClr val="1F1A22"/>
                </a:solidFill>
                <a:latin typeface="Arial"/>
                <a:ea typeface="微软雅黑"/>
                <a:cs typeface="微软雅黑"/>
              </a:rPr>
              <a:t>（命令行、代码）与</a:t>
            </a:r>
            <a:r>
              <a:rPr sz="1500" b="1" i="0">
                <a:solidFill>
                  <a:srgbClr val="C0392B"/>
                </a:solidFill>
                <a:latin typeface="Arial"/>
                <a:ea typeface="微软雅黑"/>
                <a:cs typeface="微软雅黑"/>
              </a:rPr>
              <a:t>视觉模态</a:t>
            </a:r>
            <a:r>
              <a:rPr sz="1500" b="1" i="0">
                <a:solidFill>
                  <a:srgbClr val="1F1A22"/>
                </a:solidFill>
                <a:latin typeface="Arial"/>
                <a:ea typeface="微软雅黑"/>
                <a:cs typeface="微软雅黑"/>
              </a:rPr>
              <a:t>（图形界面）的协同感知与操作实现任务闭环。</a:t>
            </a:r>
          </a:p>
        </p:txBody>
      </p:sp>
      <p:sp>
        <p:nvSpPr>
          <p:cNvPr id="4" name="Rounded Rectangle 3"/>
          <p:cNvSpPr/>
          <p:nvPr/>
        </p:nvSpPr>
        <p:spPr>
          <a:xfrm>
            <a:off x="457200" y="1676400"/>
            <a:ext cx="53340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wb_fig1.png"/>
          <p:cNvPicPr>
            <a:picLocks noChangeAspect="1"/>
          </p:cNvPicPr>
          <p:nvPr/>
        </p:nvPicPr>
        <p:blipFill>
          <a:blip r:embed="rId2"/>
          <a:stretch>
            <a:fillRect/>
          </a:stretch>
        </p:blipFill>
        <p:spPr>
          <a:xfrm>
            <a:off x="915806" y="1733550"/>
            <a:ext cx="4416787" cy="3409950"/>
          </a:xfrm>
          <a:prstGeom prst="rect">
            <a:avLst/>
          </a:prstGeom>
        </p:spPr>
      </p:pic>
      <p:sp>
        <p:nvSpPr>
          <p:cNvPr id="6" name="TextBox 5"/>
          <p:cNvSpPr txBox="1"/>
          <p:nvPr/>
        </p:nvSpPr>
        <p:spPr>
          <a:xfrm>
            <a:off x="485775" y="5181600"/>
            <a:ext cx="5276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混合轨迹示例：数据分析、游戏开发、网站运维中命令行与图形界面交替使用 [WeaveBench]</a:t>
            </a:r>
          </a:p>
        </p:txBody>
      </p:sp>
      <p:sp>
        <p:nvSpPr>
          <p:cNvPr id="7" name="Rounded Rectangle 6"/>
          <p:cNvSpPr/>
          <p:nvPr/>
        </p:nvSpPr>
        <p:spPr>
          <a:xfrm>
            <a:off x="5981700" y="1676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782300" y="18097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753725" y="1809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文本模态</a:t>
            </a:r>
          </a:p>
        </p:txBody>
      </p:sp>
      <p:sp>
        <p:nvSpPr>
          <p:cNvPr id="10" name="TextBox 9"/>
          <p:cNvSpPr txBox="1"/>
          <p:nvPr/>
        </p:nvSpPr>
        <p:spPr>
          <a:xfrm>
            <a:off x="6153150" y="1809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命令行操作（CLI）</a:t>
            </a:r>
          </a:p>
        </p:txBody>
      </p:sp>
      <p:sp>
        <p:nvSpPr>
          <p:cNvPr id="11" name="TextBox 10"/>
          <p:cNvSpPr txBox="1"/>
          <p:nvPr/>
        </p:nvSpPr>
        <p:spPr>
          <a:xfrm>
            <a:off x="6153150" y="2114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以 Shell 命令读写文件、管理进程与服务，直接获取系统状态</a:t>
            </a:r>
          </a:p>
        </p:txBody>
      </p:sp>
      <p:sp>
        <p:nvSpPr>
          <p:cNvPr id="12" name="TextBox 11"/>
          <p:cNvSpPr txBox="1"/>
          <p:nvPr/>
        </p:nvSpPr>
        <p:spPr>
          <a:xfrm>
            <a:off x="6153150" y="2381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代表工作：Terminal-Bench · OpenClaw</a:t>
            </a:r>
          </a:p>
        </p:txBody>
      </p:sp>
      <p:sp>
        <p:nvSpPr>
          <p:cNvPr id="13" name="Rounded Rectangle 12"/>
          <p:cNvSpPr/>
          <p:nvPr/>
        </p:nvSpPr>
        <p:spPr>
          <a:xfrm>
            <a:off x="5981700" y="30099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0782300" y="31432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753725" y="31432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文本模态</a:t>
            </a:r>
          </a:p>
        </p:txBody>
      </p:sp>
      <p:sp>
        <p:nvSpPr>
          <p:cNvPr id="16" name="TextBox 15"/>
          <p:cNvSpPr txBox="1"/>
          <p:nvPr/>
        </p:nvSpPr>
        <p:spPr>
          <a:xfrm>
            <a:off x="6153150" y="31432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代码构建（Coding）</a:t>
            </a:r>
          </a:p>
        </p:txBody>
      </p:sp>
      <p:sp>
        <p:nvSpPr>
          <p:cNvPr id="17" name="TextBox 16"/>
          <p:cNvSpPr txBox="1"/>
          <p:nvPr/>
        </p:nvSpPr>
        <p:spPr>
          <a:xfrm>
            <a:off x="6153150" y="34480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编写、构建、运行与测试程序，以执行结果作为反馈信号</a:t>
            </a:r>
          </a:p>
        </p:txBody>
      </p:sp>
      <p:sp>
        <p:nvSpPr>
          <p:cNvPr id="18" name="TextBox 17"/>
          <p:cNvSpPr txBox="1"/>
          <p:nvPr/>
        </p:nvSpPr>
        <p:spPr>
          <a:xfrm>
            <a:off x="6153150" y="37147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代表工作：SWE-bench · Claude Code · Codex</a:t>
            </a:r>
          </a:p>
        </p:txBody>
      </p:sp>
      <p:sp>
        <p:nvSpPr>
          <p:cNvPr id="19" name="Rounded Rectangle 18"/>
          <p:cNvSpPr/>
          <p:nvPr/>
        </p:nvSpPr>
        <p:spPr>
          <a:xfrm>
            <a:off x="5981700" y="4343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0782300" y="447675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53725" y="4476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视觉模态</a:t>
            </a:r>
          </a:p>
        </p:txBody>
      </p:sp>
      <p:sp>
        <p:nvSpPr>
          <p:cNvPr id="22" name="TextBox 21"/>
          <p:cNvSpPr txBox="1"/>
          <p:nvPr/>
        </p:nvSpPr>
        <p:spPr>
          <a:xfrm>
            <a:off x="6153150" y="4476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图形界面操作（GUI）</a:t>
            </a:r>
          </a:p>
        </p:txBody>
      </p:sp>
      <p:sp>
        <p:nvSpPr>
          <p:cNvPr id="23" name="TextBox 22"/>
          <p:cNvSpPr txBox="1"/>
          <p:nvPr/>
        </p:nvSpPr>
        <p:spPr>
          <a:xfrm>
            <a:off x="6153150" y="4781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基于屏幕截图感知界面状态，以鼠标键盘操作任意软件</a:t>
            </a:r>
          </a:p>
        </p:txBody>
      </p:sp>
      <p:sp>
        <p:nvSpPr>
          <p:cNvPr id="24" name="TextBox 23"/>
          <p:cNvSpPr txBox="1"/>
          <p:nvPr/>
        </p:nvSpPr>
        <p:spPr>
          <a:xfrm>
            <a:off x="6153150" y="5048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代表工作：OSWorld · UI-TARS</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三种场景能力</a:t>
            </a:r>
            <a:r>
              <a:rPr sz="1350" b="1" i="0">
                <a:solidFill>
                  <a:srgbClr val="F6C8FF"/>
                </a:solidFill>
                <a:latin typeface="Arial"/>
                <a:ea typeface="微软雅黑"/>
                <a:cs typeface="微软雅黑"/>
              </a:rPr>
              <a:t>互补而非互替</a:t>
            </a:r>
            <a:r>
              <a:rPr sz="1350" b="0" i="0">
                <a:solidFill>
                  <a:srgbClr val="FFFFFF"/>
                </a:solidFill>
                <a:latin typeface="Arial"/>
                <a:ea typeface="微软雅黑"/>
                <a:cs typeface="微软雅黑"/>
              </a:rPr>
              <a:t>：真实任务要求智能体在同一轨迹中依需求选择并切换模态</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1F1A22"/>
                </a:solidFill>
                <a:latin typeface="Arial"/>
                <a:ea typeface="微软雅黑"/>
                <a:cs typeface="微软雅黑"/>
              </a:rPr>
              <a:t>通用数字智能体可</a:t>
            </a:r>
            <a:r>
              <a:rPr sz="1500" b="1" i="0">
                <a:solidFill>
                  <a:srgbClr val="C0392B"/>
                </a:solidFill>
                <a:latin typeface="Arial"/>
                <a:ea typeface="微软雅黑"/>
                <a:cs typeface="微软雅黑"/>
              </a:rPr>
              <a:t>应用</a:t>
            </a:r>
            <a:r>
              <a:rPr sz="1500" b="1" i="0">
                <a:solidFill>
                  <a:srgbClr val="1F1A22"/>
                </a:solidFill>
                <a:latin typeface="Arial"/>
                <a:ea typeface="微软雅黑"/>
                <a:cs typeface="微软雅黑"/>
              </a:rPr>
              <a:t>于软件开发、系统运维、内容创作及金融、电商等行业业务流程，</a:t>
            </a:r>
          </a:p>
          <a:p>
            <a:pPr algn="ctr">
              <a:lnSpc>
                <a:spcPts val="2400"/>
              </a:lnSpc>
              <a:spcBef>
                <a:spcPts val="0"/>
              </a:spcBef>
              <a:spcAft>
                <a:spcPts val="0"/>
              </a:spcAft>
            </a:pPr>
            <a:r>
              <a:rPr sz="1500" b="1" i="0">
                <a:solidFill>
                  <a:srgbClr val="1F1A22"/>
                </a:solidFill>
                <a:latin typeface="Arial"/>
                <a:ea typeface="微软雅黑"/>
                <a:cs typeface="微软雅黑"/>
              </a:rPr>
              <a:t>是基础模型由对话助手走向</a:t>
            </a:r>
            <a:r>
              <a:rPr sz="1500" b="1" i="0">
                <a:solidFill>
                  <a:srgbClr val="C0392B"/>
                </a:solidFill>
                <a:latin typeface="Arial"/>
                <a:ea typeface="微软雅黑"/>
                <a:cs typeface="微软雅黑"/>
              </a:rPr>
              <a:t>数字生产力</a:t>
            </a:r>
            <a:r>
              <a:rPr sz="1500" b="1" i="0">
                <a:solidFill>
                  <a:srgbClr val="1F1A22"/>
                </a:solidFill>
                <a:latin typeface="Arial"/>
                <a:ea typeface="微软雅黑"/>
                <a:cs typeface="微软雅黑"/>
              </a:rPr>
              <a:t>的关键形态。</a:t>
            </a: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软件开发与调试（Godot 游戏，5×）</a:t>
            </a: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系统运维与故障排查（RabbitMQ，5×）</a:t>
            </a: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视觉设计与内容创作（Inkscape，5×）</a:t>
            </a: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c_domain_grid.png"/>
          <p:cNvPicPr>
            <a:picLocks noChangeAspect="1"/>
          </p:cNvPicPr>
          <p:nvPr/>
        </p:nvPicPr>
        <p:blipFill>
          <a:blip r:embed="rId11"/>
          <a:stretch>
            <a:fillRect/>
          </a:stretch>
        </p:blipFill>
        <p:spPr>
          <a:xfrm>
            <a:off x="814387" y="4286250"/>
            <a:ext cx="2143125" cy="1428750"/>
          </a:xfrm>
          <a:prstGeom prst="rect">
            <a:avLst/>
          </a:prstGeom>
        </p:spPr>
      </p:pic>
      <p:sp>
        <p:nvSpPr>
          <p:cNvPr id="15" name="TextBox 14"/>
          <p:cNvSpPr txBox="1"/>
          <p:nvPr/>
        </p:nvSpPr>
        <p:spPr>
          <a:xfrm>
            <a:off x="485775" y="57531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行业业务流程（示意图）</a:t>
            </a: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产业趋势：三种能力正在整合于同一智能体</a:t>
            </a:r>
          </a:p>
        </p:txBody>
      </p:sp>
      <p:sp>
        <p:nvSpPr>
          <p:cNvPr id="18" name="TextBox 17"/>
          <p:cNvSpPr txBox="1"/>
          <p:nvPr/>
        </p:nvSpPr>
        <p:spPr>
          <a:xfrm>
            <a:off x="3657600" y="4686300"/>
            <a:ext cx="7943850" cy="1121568"/>
          </a:xfrm>
          <a:prstGeom prst="rect">
            <a:avLst/>
          </a:prstGeom>
          <a:noFill/>
        </p:spPr>
        <p:txBody>
          <a:bodyPr wrap="square" lIns="0" rIns="0" tIns="0" bIns="0" anchor="t">
            <a:noAutofit/>
          </a:bodyPr>
          <a:lstStyle/>
          <a:p>
            <a:pPr algn="l">
              <a:lnSpc>
                <a:spcPts val="2208"/>
              </a:lnSpc>
              <a:spcBef>
                <a:spcPts val="0"/>
              </a:spcBef>
              <a:spcAft>
                <a:spcPts val="0"/>
              </a:spcAft>
            </a:pPr>
            <a:r>
              <a:rPr sz="1162" b="0" i="0">
                <a:solidFill>
                  <a:srgbClr val="1F1A22"/>
                </a:solidFill>
                <a:latin typeface="Arial"/>
                <a:ea typeface="微软雅黑"/>
                <a:cs typeface="微软雅黑"/>
              </a:rPr>
              <a:t>• Claude Cowork、Codex 后台计算机操作、Qwen3.8-Max 等前沿系统均将命令行、代码与图形界面操作纳入统一智能体</a:t>
            </a:r>
          </a:p>
          <a:p>
            <a:pPr algn="l">
              <a:lnSpc>
                <a:spcPts val="2208"/>
              </a:lnSpc>
              <a:spcBef>
                <a:spcPts val="0"/>
              </a:spcBef>
              <a:spcAft>
                <a:spcPts val="0"/>
              </a:spcAft>
            </a:pPr>
            <a:r>
              <a:rPr sz="1162" b="0" i="0">
                <a:solidFill>
                  <a:srgbClr val="1F1A22"/>
                </a:solidFill>
                <a:latin typeface="Arial"/>
                <a:ea typeface="微软雅黑"/>
                <a:cs typeface="微软雅黑"/>
              </a:rPr>
              <a:t>• 大量存量软件（设计工具、行业系统、桌面应用）缺少可编程接口，必须依赖视觉模态完成操作</a:t>
            </a:r>
          </a:p>
          <a:p>
            <a:pPr algn="l">
              <a:lnSpc>
                <a:spcPts val="2208"/>
              </a:lnSpc>
              <a:spcBef>
                <a:spcPts val="0"/>
              </a:spcBef>
              <a:spcAft>
                <a:spcPts val="0"/>
              </a:spcAft>
            </a:pPr>
            <a:r>
              <a:rPr sz="1162" b="0" i="0">
                <a:solidFill>
                  <a:srgbClr val="1F1A22"/>
                </a:solidFill>
                <a:latin typeface="Arial"/>
                <a:ea typeface="微软雅黑"/>
                <a:cs typeface="微软雅黑"/>
              </a:rPr>
              <a:t>• 能否高效、可靠地完成混合模态交互，已成为前沿基础模型能力评测与后训练的核心议题</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4 / 23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文本与视觉混合模态交互（Hybrid-Modality Interaction）仍然是一个</a:t>
            </a:r>
            <a:r>
              <a:rPr sz="1500" b="1" i="0">
                <a:solidFill>
                  <a:srgbClr val="C0392B"/>
                </a:solidFill>
                <a:latin typeface="Arial"/>
                <a:ea typeface="微软雅黑"/>
                <a:cs typeface="微软雅黑"/>
              </a:rPr>
              <a:t>极具挑战性</a:t>
            </a:r>
            <a:r>
              <a:rPr sz="1500" b="1" i="0">
                <a:solidFill>
                  <a:srgbClr val="1F1A22"/>
                </a:solidFill>
                <a:latin typeface="Arial"/>
                <a:ea typeface="微软雅黑"/>
                <a:cs typeface="微软雅黑"/>
              </a:rPr>
              <a:t>的课题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uipruner.png"/>
          <p:cNvPicPr>
            <a:picLocks noChangeAspect="1"/>
          </p:cNvPicPr>
          <p:nvPr/>
        </p:nvPicPr>
        <p:blipFill>
          <a:blip r:embed="rId2"/>
          <a:stretch>
            <a:fillRect/>
          </a:stretch>
        </p:blipFill>
        <p:spPr>
          <a:xfrm>
            <a:off x="514350" y="1667179"/>
            <a:ext cx="3505200" cy="2285390"/>
          </a:xfrm>
          <a:prstGeom prst="rect">
            <a:avLst/>
          </a:prstGeom>
        </p:spPr>
      </p:pic>
      <p:sp>
        <p:nvSpPr>
          <p:cNvPr id="7" name="TextBox 6"/>
          <p:cNvSpPr txBox="1"/>
          <p:nvPr/>
        </p:nvSpPr>
        <p:spPr>
          <a:xfrm>
            <a:off x="45720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长程视觉感知开销高</a:t>
            </a:r>
          </a:p>
        </p:txBody>
      </p:sp>
      <p:sp>
        <p:nvSpPr>
          <p:cNvPr id="8" name="TextBox 7"/>
          <p:cNvSpPr txBox="1"/>
          <p:nvPr/>
        </p:nvSpPr>
        <p:spPr>
          <a:xfrm>
            <a:off x="457200" y="46101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高分辨率截图随交互步数持续累积，视觉 token 与 KV 缓存（KV Cache）线性膨胀，推理延迟与显存开销制约长程任务的执行。</a:t>
            </a:r>
          </a:p>
        </p:txBody>
      </p:sp>
      <p:sp>
        <p:nvSpPr>
          <p:cNvPr id="9" name="Rounded Rectangle 8"/>
          <p:cNvSpPr/>
          <p:nvPr/>
        </p:nvSpPr>
        <p:spPr>
          <a:xfrm>
            <a:off x="428625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fig_integrity-1.png"/>
          <p:cNvPicPr>
            <a:picLocks noChangeAspect="1"/>
          </p:cNvPicPr>
          <p:nvPr/>
        </p:nvPicPr>
        <p:blipFill>
          <a:blip r:embed="rId3"/>
          <a:stretch>
            <a:fillRect/>
          </a:stretch>
        </p:blipFill>
        <p:spPr>
          <a:xfrm>
            <a:off x="4343400" y="1816999"/>
            <a:ext cx="3505200" cy="1985751"/>
          </a:xfrm>
          <a:prstGeom prst="rect">
            <a:avLst/>
          </a:prstGeom>
        </p:spPr>
      </p:pic>
      <p:sp>
        <p:nvSpPr>
          <p:cNvPr id="11" name="TextBox 10"/>
          <p:cNvSpPr txBox="1"/>
          <p:nvPr/>
        </p:nvSpPr>
        <p:spPr>
          <a:xfrm>
            <a:off x="428625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任务范式与能力度量失配</a:t>
            </a:r>
          </a:p>
        </p:txBody>
      </p:sp>
      <p:sp>
        <p:nvSpPr>
          <p:cNvPr id="12" name="TextBox 11"/>
          <p:cNvSpPr txBox="1"/>
          <p:nvPr/>
        </p:nvSpPr>
        <p:spPr>
          <a:xfrm>
            <a:off x="4286250" y="46101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现有基准将文本与视觉割裂评测，任务可在单一模态内完成；仅依据最终结果判分，通过率虚高 10–20 个百分点。</a:t>
            </a:r>
          </a:p>
        </p:txBody>
      </p:sp>
      <p:sp>
        <p:nvSpPr>
          <p:cNvPr id="13" name="Rounded Rectangle 12"/>
          <p:cNvSpPr/>
          <p:nvPr/>
        </p:nvSpPr>
        <p:spPr>
          <a:xfrm>
            <a:off x="811530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w_fig12_hacking.png"/>
          <p:cNvPicPr>
            <a:picLocks noChangeAspect="1"/>
          </p:cNvPicPr>
          <p:nvPr/>
        </p:nvPicPr>
        <p:blipFill>
          <a:blip r:embed="rId4"/>
          <a:stretch>
            <a:fillRect/>
          </a:stretch>
        </p:blipFill>
        <p:spPr>
          <a:xfrm>
            <a:off x="8172450" y="2253306"/>
            <a:ext cx="3505200" cy="1113137"/>
          </a:xfrm>
          <a:prstGeom prst="rect">
            <a:avLst/>
          </a:prstGeom>
        </p:spPr>
      </p:pic>
      <p:sp>
        <p:nvSpPr>
          <p:cNvPr id="15" name="TextBox 14"/>
          <p:cNvSpPr txBox="1"/>
          <p:nvPr/>
        </p:nvSpPr>
        <p:spPr>
          <a:xfrm>
            <a:off x="811530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混合行为模式难以习得</a:t>
            </a:r>
          </a:p>
        </p:txBody>
      </p:sp>
      <p:sp>
        <p:nvSpPr>
          <p:cNvPr id="16" name="TextBox 15"/>
          <p:cNvSpPr txBox="1"/>
          <p:nvPr/>
        </p:nvSpPr>
        <p:spPr>
          <a:xfrm>
            <a:off x="8115300" y="46101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图形界面缺少天然的可验证奖励，混合训练环境与数据稀缺；仅依据结果的奖励易被违规取巧（Reward Hacking）利用（上图），自主编排与自我验证行为难以习得。</a:t>
            </a:r>
          </a:p>
        </p:txBody>
      </p:sp>
      <p:sp>
        <p:nvSpPr>
          <p:cNvPr id="17" name="Rounded Rectangle 1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核心问题：如何使智能体在文本与视觉模态间</a:t>
            </a:r>
            <a:r>
              <a:rPr sz="1350" b="1" i="0">
                <a:solidFill>
                  <a:srgbClr val="F6C8FF"/>
                </a:solidFill>
                <a:latin typeface="Arial"/>
                <a:ea typeface="微软雅黑"/>
                <a:cs typeface="微软雅黑"/>
              </a:rPr>
              <a:t>高效感知、合理编排、可信验证</a:t>
            </a:r>
            <a:r>
              <a:rPr sz="1350" b="0" i="0">
                <a:solidFill>
                  <a:srgbClr val="FFFFFF"/>
                </a:solidFill>
                <a:latin typeface="Arial"/>
                <a:ea typeface="微软雅黑"/>
                <a:cs typeface="微软雅黑"/>
              </a:rPr>
              <a:t>，并获得可扩展（Scalable）的训练途径？</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选题意义</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286500" cy="2571750"/>
          </a:xfrm>
          <a:prstGeom prst="roundRect">
            <a:avLst>
              <a:gd name="adj" fmla="val 296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g_paradigm-1.png"/>
          <p:cNvPicPr>
            <a:picLocks noChangeAspect="1"/>
          </p:cNvPicPr>
          <p:nvPr/>
        </p:nvPicPr>
        <p:blipFill>
          <a:blip r:embed="rId2"/>
          <a:stretch>
            <a:fillRect/>
          </a:stretch>
        </p:blipFill>
        <p:spPr>
          <a:xfrm>
            <a:off x="1083482" y="1485900"/>
            <a:ext cx="5033934" cy="2133600"/>
          </a:xfrm>
          <a:prstGeom prst="rect">
            <a:avLst/>
          </a:prstGeom>
        </p:spPr>
      </p:pic>
      <p:sp>
        <p:nvSpPr>
          <p:cNvPr id="7" name="TextBox 6"/>
          <p:cNvSpPr txBox="1"/>
          <p:nvPr/>
        </p:nvSpPr>
        <p:spPr>
          <a:xfrm>
            <a:off x="514350" y="3657600"/>
            <a:ext cx="6210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左：指令闭环范式（Instruction-closed），界面从未被观察；右：视觉在环范式（Vision-in-the-loop），渲染结果进入决策闭环</a:t>
            </a:r>
          </a:p>
        </p:txBody>
      </p:sp>
      <p:sp>
        <p:nvSpPr>
          <p:cNvPr id="8" name="Rounded Rectangle 7"/>
          <p:cNvSpPr/>
          <p:nvPr/>
        </p:nvSpPr>
        <p:spPr>
          <a:xfrm>
            <a:off x="6896100" y="1428750"/>
            <a:ext cx="4838700" cy="2571750"/>
          </a:xfrm>
          <a:prstGeom prst="roundRect">
            <a:avLst>
              <a:gd name="adj" fmla="val 44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086600" y="1562100"/>
            <a:ext cx="4533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现有技术路线的两难</a:t>
            </a:r>
          </a:p>
        </p:txBody>
      </p:sp>
      <p:sp>
        <p:nvSpPr>
          <p:cNvPr id="10" name="TextBox 9"/>
          <p:cNvSpPr txBox="1"/>
          <p:nvPr/>
        </p:nvSpPr>
        <p:spPr>
          <a:xfrm>
            <a:off x="7086600" y="1885950"/>
            <a:ext cx="4514850" cy="441721"/>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660874"/>
                </a:solidFill>
                <a:latin typeface="Arial"/>
                <a:ea typeface="微软雅黑"/>
                <a:cs typeface="微软雅黑"/>
              </a:rPr>
              <a:t>文本模态</a:t>
            </a:r>
            <a:r>
              <a:rPr sz="1087" b="0" i="0">
                <a:solidFill>
                  <a:srgbClr val="1F1A22"/>
                </a:solidFill>
                <a:latin typeface="Arial"/>
                <a:ea typeface="微软雅黑"/>
                <a:cs typeface="微软雅黑"/>
              </a:rPr>
              <a:t>：精确高效、可验证，但仅覆盖具备接口的软件，</a:t>
            </a:r>
            <a:r>
              <a:rPr sz="1087" b="1" i="0">
                <a:solidFill>
                  <a:srgbClr val="C0392B"/>
                </a:solidFill>
                <a:latin typeface="Arial"/>
                <a:ea typeface="微软雅黑"/>
                <a:cs typeface="微软雅黑"/>
              </a:rPr>
              <a:t>无法观测渲染结果</a:t>
            </a:r>
          </a:p>
        </p:txBody>
      </p:sp>
      <p:sp>
        <p:nvSpPr>
          <p:cNvPr id="11" name="TextBox 10"/>
          <p:cNvSpPr txBox="1"/>
          <p:nvPr/>
        </p:nvSpPr>
        <p:spPr>
          <a:xfrm>
            <a:off x="7086600" y="2476500"/>
            <a:ext cx="4514850" cy="441721"/>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1F6F8B"/>
                </a:solidFill>
                <a:latin typeface="Arial"/>
                <a:ea typeface="微软雅黑"/>
                <a:cs typeface="微软雅黑"/>
              </a:rPr>
              <a:t>视觉模态</a:t>
            </a:r>
            <a:r>
              <a:rPr sz="1087" b="0" i="0">
                <a:solidFill>
                  <a:srgbClr val="1F1A22"/>
                </a:solidFill>
                <a:latin typeface="Arial"/>
                <a:ea typeface="微软雅黑"/>
                <a:cs typeface="微软雅黑"/>
              </a:rPr>
              <a:t>：通用、可观测界面，但</a:t>
            </a:r>
            <a:r>
              <a:rPr sz="1087" b="1" i="0">
                <a:solidFill>
                  <a:srgbClr val="C0392B"/>
                </a:solidFill>
                <a:latin typeface="Arial"/>
                <a:ea typeface="微软雅黑"/>
                <a:cs typeface="微软雅黑"/>
              </a:rPr>
              <a:t>开销高、步数多</a:t>
            </a:r>
            <a:r>
              <a:rPr sz="1087" b="0" i="0">
                <a:solidFill>
                  <a:srgbClr val="1F1A22"/>
                </a:solidFill>
                <a:latin typeface="Arial"/>
                <a:ea typeface="微软雅黑"/>
                <a:cs typeface="微软雅黑"/>
              </a:rPr>
              <a:t>，且缺少可验证的奖励信号</a:t>
            </a:r>
          </a:p>
        </p:txBody>
      </p:sp>
      <p:sp>
        <p:nvSpPr>
          <p:cNvPr id="12" name="Rectangle 11"/>
          <p:cNvSpPr/>
          <p:nvPr/>
        </p:nvSpPr>
        <p:spPr>
          <a:xfrm>
            <a:off x="7086600" y="3105150"/>
            <a:ext cx="4476750" cy="19050"/>
          </a:xfrm>
          <a:prstGeom prst="rect">
            <a:avLst/>
          </a:prstGeom>
          <a:solidFill>
            <a:srgbClr val="D9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086600" y="3219450"/>
            <a:ext cx="453390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 需要在统一范式下融合两类模态，并解决其</a:t>
            </a:r>
            <a:r>
              <a:rPr sz="1125" b="1" i="0">
                <a:solidFill>
                  <a:srgbClr val="1F1A22"/>
                </a:solidFill>
                <a:latin typeface="Arial"/>
                <a:ea typeface="微软雅黑"/>
                <a:cs typeface="微软雅黑"/>
              </a:rPr>
              <a:t>效率、度量与训练</a:t>
            </a:r>
            <a:r>
              <a:rPr sz="1125" b="1" i="0">
                <a:solidFill>
                  <a:srgbClr val="660874"/>
                </a:solidFill>
                <a:latin typeface="Arial"/>
                <a:ea typeface="微软雅黑"/>
                <a:cs typeface="微软雅黑"/>
              </a:rPr>
              <a:t>问题</a:t>
            </a:r>
          </a:p>
        </p:txBody>
      </p:sp>
      <p:sp>
        <p:nvSpPr>
          <p:cNvPr id="14" name="Rounded Rectangle 13"/>
          <p:cNvSpPr/>
          <p:nvPr/>
        </p:nvSpPr>
        <p:spPr>
          <a:xfrm>
            <a:off x="45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0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4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理论意义</a:t>
            </a:r>
          </a:p>
        </p:txBody>
      </p:sp>
      <p:sp>
        <p:nvSpPr>
          <p:cNvPr id="17" name="TextBox 16"/>
          <p:cNvSpPr txBox="1"/>
          <p:nvPr/>
        </p:nvSpPr>
        <p:spPr>
          <a:xfrm>
            <a:off x="60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构建综合数字智能体范式</a:t>
            </a:r>
          </a:p>
        </p:txBody>
      </p:sp>
      <p:sp>
        <p:nvSpPr>
          <p:cNvPr id="18" name="TextBox 17"/>
          <p:cNvSpPr txBox="1"/>
          <p:nvPr/>
        </p:nvSpPr>
        <p:spPr>
          <a:xfrm>
            <a:off x="609600" y="4686300"/>
            <a:ext cx="3390900" cy="597842"/>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将文本与视觉模态统一于同一决策过程，形式化定义混合模态（Hybrid-Modality）交互范式，建立面向过程的可信能力度量</a:t>
            </a:r>
          </a:p>
        </p:txBody>
      </p:sp>
      <p:sp>
        <p:nvSpPr>
          <p:cNvPr id="19" name="Rounded Rectangle 18"/>
          <p:cNvSpPr/>
          <p:nvPr/>
        </p:nvSpPr>
        <p:spPr>
          <a:xfrm>
            <a:off x="291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89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研究二</a:t>
            </a:r>
          </a:p>
        </p:txBody>
      </p:sp>
      <p:sp>
        <p:nvSpPr>
          <p:cNvPr id="21" name="Rounded Rectangle 20"/>
          <p:cNvSpPr/>
          <p:nvPr/>
        </p:nvSpPr>
        <p:spPr>
          <a:xfrm>
            <a:off x="426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441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5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方法意义</a:t>
            </a:r>
          </a:p>
        </p:txBody>
      </p:sp>
      <p:sp>
        <p:nvSpPr>
          <p:cNvPr id="24" name="TextBox 23"/>
          <p:cNvSpPr txBox="1"/>
          <p:nvPr/>
        </p:nvSpPr>
        <p:spPr>
          <a:xfrm>
            <a:off x="441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揭示效率与行为的可学习性</a:t>
            </a:r>
          </a:p>
        </p:txBody>
      </p:sp>
      <p:sp>
        <p:nvSpPr>
          <p:cNvPr id="25" name="TextBox 24"/>
          <p:cNvSpPr txBox="1"/>
          <p:nvPr/>
        </p:nvSpPr>
        <p:spPr>
          <a:xfrm>
            <a:off x="4419600" y="4686300"/>
            <a:ext cx="33909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刻画长程 GUI 轨迹的时空冗余规律以降低推理开销；验证自主编排与自我验证行为可在可验证环境中习得</a:t>
            </a:r>
          </a:p>
        </p:txBody>
      </p:sp>
      <p:sp>
        <p:nvSpPr>
          <p:cNvPr id="26" name="Rounded Rectangle 25"/>
          <p:cNvSpPr/>
          <p:nvPr/>
        </p:nvSpPr>
        <p:spPr>
          <a:xfrm>
            <a:off x="672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70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研究一 · 三</a:t>
            </a:r>
          </a:p>
        </p:txBody>
      </p:sp>
      <p:sp>
        <p:nvSpPr>
          <p:cNvPr id="28" name="Rounded Rectangle 27"/>
          <p:cNvSpPr/>
          <p:nvPr/>
        </p:nvSpPr>
        <p:spPr>
          <a:xfrm>
            <a:off x="807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22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36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应用意义</a:t>
            </a:r>
          </a:p>
        </p:txBody>
      </p:sp>
      <p:sp>
        <p:nvSpPr>
          <p:cNvPr id="31" name="TextBox 30"/>
          <p:cNvSpPr txBox="1"/>
          <p:nvPr/>
        </p:nvSpPr>
        <p:spPr>
          <a:xfrm>
            <a:off x="822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服务基础模型与产业落地</a:t>
            </a:r>
          </a:p>
        </p:txBody>
      </p:sp>
      <p:sp>
        <p:nvSpPr>
          <p:cNvPr id="32" name="TextBox 31"/>
          <p:cNvSpPr txBox="1"/>
          <p:nvPr/>
        </p:nvSpPr>
        <p:spPr>
          <a:xfrm>
            <a:off x="8229600" y="4686300"/>
            <a:ext cx="33909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使智能体覆盖缺少接口的存量软件；可验证环境与训练数据直接服务前沿基础模型后训练及行业流程自动化</a:t>
            </a:r>
          </a:p>
        </p:txBody>
      </p:sp>
      <p:sp>
        <p:nvSpPr>
          <p:cNvPr id="33" name="Rounded Rectangle 32"/>
          <p:cNvSpPr/>
          <p:nvPr/>
        </p:nvSpPr>
        <p:spPr>
          <a:xfrm>
            <a:off x="1053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51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研究四</a:t>
            </a:r>
          </a:p>
        </p:txBody>
      </p:sp>
      <p:sp>
        <p:nvSpPr>
          <p:cNvPr id="35" name="Rounded Rectangle 3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选题价值：</a:t>
            </a:r>
            <a:r>
              <a:rPr sz="1350" b="1" i="0">
                <a:solidFill>
                  <a:srgbClr val="F6C8FF"/>
                </a:solidFill>
                <a:latin typeface="Arial"/>
                <a:ea typeface="微软雅黑"/>
                <a:cs typeface="微软雅黑"/>
              </a:rPr>
              <a:t>统一文本与视觉两类模态</a:t>
            </a:r>
            <a:r>
              <a:rPr sz="1350" b="0" i="0">
                <a:solidFill>
                  <a:srgbClr val="FFFFFF"/>
                </a:solidFill>
                <a:latin typeface="Arial"/>
                <a:ea typeface="微软雅黑"/>
                <a:cs typeface="微软雅黑"/>
              </a:rPr>
              <a:t>，使通用数字智能体以高效、可信、可扩展的方式完成真实数字工作</a:t>
            </a:r>
          </a:p>
        </p:txBody>
      </p:sp>
      <p:sp>
        <p:nvSpPr>
          <p:cNvPr id="37" name="TextBox 3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66750" y="3238500"/>
            <a:ext cx="1809750" cy="571500"/>
          </a:xfrm>
          <a:prstGeom prst="roundRect">
            <a:avLst>
              <a:gd name="adj" fmla="val 16666"/>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8175" y="3238500"/>
            <a:ext cx="1866900" cy="571500"/>
          </a:xfrm>
          <a:prstGeom prst="rect">
            <a:avLst/>
          </a:prstGeom>
          <a:noFill/>
        </p:spPr>
        <p:txBody>
          <a:bodyPr wrap="none" lIns="0" rIns="0" tIns="0" bIns="0" anchor="ctr">
            <a:noAutofit/>
          </a:bodyPr>
          <a:lstStyle/>
          <a:p>
            <a:pPr algn="ctr">
              <a:lnSpc>
                <a:spcPct val="100000"/>
              </a:lnSpc>
              <a:spcBef>
                <a:spcPts val="0"/>
              </a:spcBef>
              <a:spcAft>
                <a:spcPts val="0"/>
              </a:spcAft>
            </a:pPr>
            <a:r>
              <a:rPr sz="1350" b="1" i="0">
                <a:solidFill>
                  <a:srgbClr val="FFFFFF"/>
                </a:solidFill>
                <a:latin typeface="Arial"/>
                <a:ea typeface="微软雅黑"/>
                <a:cs typeface="微软雅黑"/>
              </a:rPr>
              <a:t>通用数字智能体</a:t>
            </a:r>
          </a:p>
        </p:txBody>
      </p:sp>
      <p:sp>
        <p:nvSpPr>
          <p:cNvPr id="7" name="Rectangle 6"/>
          <p:cNvSpPr/>
          <p:nvPr/>
        </p:nvSpPr>
        <p:spPr>
          <a:xfrm>
            <a:off x="2476500" y="35242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2250" y="1905000"/>
            <a:ext cx="19050" cy="32575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2250" y="1905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048000" y="1657350"/>
            <a:ext cx="2000250" cy="495300"/>
          </a:xfrm>
          <a:prstGeom prst="roundRect">
            <a:avLst>
              <a:gd name="adj" fmla="val 1923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19425" y="16573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文本模态方法</a:t>
            </a:r>
          </a:p>
        </p:txBody>
      </p:sp>
      <p:sp>
        <p:nvSpPr>
          <p:cNvPr id="12" name="Rectangle 11"/>
          <p:cNvSpPr/>
          <p:nvPr/>
        </p:nvSpPr>
        <p:spPr>
          <a:xfrm>
            <a:off x="5048250" y="1905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1666875"/>
            <a:ext cx="19050" cy="49530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166687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676900" y="150495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29300" y="150495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命令行智能体（CLI Agent）</a:t>
            </a:r>
            <a:r>
              <a:rPr sz="1087" b="0" i="0">
                <a:solidFill>
                  <a:srgbClr val="4A4450"/>
                </a:solidFill>
                <a:latin typeface="Arial"/>
                <a:ea typeface="微软雅黑"/>
                <a:cs typeface="微软雅黑"/>
              </a:rPr>
              <a:t>　Terminal-Bench [Merrill+, 2026] · Terminus · OpenClaw</a:t>
            </a:r>
          </a:p>
        </p:txBody>
      </p:sp>
      <p:sp>
        <p:nvSpPr>
          <p:cNvPr id="17" name="Rectangle 16"/>
          <p:cNvSpPr/>
          <p:nvPr/>
        </p:nvSpPr>
        <p:spPr>
          <a:xfrm>
            <a:off x="5334000" y="214312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676900" y="198120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29300" y="198120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代码智能体（Coding Agent）</a:t>
            </a:r>
            <a:r>
              <a:rPr sz="1087" b="0" i="0">
                <a:solidFill>
                  <a:srgbClr val="4A4450"/>
                </a:solidFill>
                <a:latin typeface="Arial"/>
                <a:ea typeface="微软雅黑"/>
                <a:cs typeface="微软雅黑"/>
              </a:rPr>
              <a:t>　SWE-agent [Yang+, NeurIPS 24] · SWE-Gym [Pan+, ICML 25]</a:t>
            </a:r>
          </a:p>
        </p:txBody>
      </p:sp>
      <p:sp>
        <p:nvSpPr>
          <p:cNvPr id="20" name="Rectangle 19"/>
          <p:cNvSpPr/>
          <p:nvPr/>
        </p:nvSpPr>
        <p:spPr>
          <a:xfrm>
            <a:off x="276225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048000" y="3181350"/>
            <a:ext cx="2000250" cy="495300"/>
          </a:xfrm>
          <a:prstGeom prst="roundRect">
            <a:avLst>
              <a:gd name="adj" fmla="val 1923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019425" y="31813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视觉模态方法</a:t>
            </a:r>
          </a:p>
        </p:txBody>
      </p:sp>
      <p:sp>
        <p:nvSpPr>
          <p:cNvPr id="23" name="Rectangle 22"/>
          <p:cNvSpPr/>
          <p:nvPr/>
        </p:nvSpPr>
        <p:spPr>
          <a:xfrm>
            <a:off x="504825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334000" y="3190875"/>
            <a:ext cx="19050" cy="49530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34000" y="319087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76900" y="302895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29300" y="302895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原生 GUI 智能体（GUI Agent）</a:t>
            </a:r>
            <a:r>
              <a:rPr sz="1087" b="0" i="0">
                <a:solidFill>
                  <a:srgbClr val="4A4450"/>
                </a:solidFill>
                <a:latin typeface="Arial"/>
                <a:ea typeface="微软雅黑"/>
                <a:cs typeface="微软雅黑"/>
              </a:rPr>
              <a:t>　OSWorld [Xie+, NeurIPS 24] · UI-TARS-2 [Seed, 2025]</a:t>
            </a:r>
          </a:p>
        </p:txBody>
      </p:sp>
      <p:sp>
        <p:nvSpPr>
          <p:cNvPr id="28" name="Rectangle 27"/>
          <p:cNvSpPr/>
          <p:nvPr/>
        </p:nvSpPr>
        <p:spPr>
          <a:xfrm>
            <a:off x="5334000" y="366712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676900" y="350520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29300" y="350520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高效视觉推理（Efficient Inference）</a:t>
            </a:r>
            <a:r>
              <a:rPr sz="1087" b="0" i="0">
                <a:solidFill>
                  <a:srgbClr val="4A4450"/>
                </a:solidFill>
                <a:latin typeface="Arial"/>
                <a:ea typeface="微软雅黑"/>
                <a:cs typeface="微软雅黑"/>
              </a:rPr>
              <a:t>　FastV [Chen+, ECCV 24] · SnapKV [Li+, NeurIPS 24]</a:t>
            </a:r>
          </a:p>
        </p:txBody>
      </p:sp>
      <p:sp>
        <p:nvSpPr>
          <p:cNvPr id="31" name="Rectangle 30"/>
          <p:cNvSpPr/>
          <p:nvPr/>
        </p:nvSpPr>
        <p:spPr>
          <a:xfrm>
            <a:off x="276225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048000" y="4895850"/>
            <a:ext cx="2000250" cy="495300"/>
          </a:xfrm>
          <a:prstGeom prst="roundRect">
            <a:avLst>
              <a:gd name="adj" fmla="val 1923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19425" y="48958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混合模态方法</a:t>
            </a:r>
          </a:p>
        </p:txBody>
      </p:sp>
      <p:sp>
        <p:nvSpPr>
          <p:cNvPr id="34" name="Rectangle 33"/>
          <p:cNvSpPr/>
          <p:nvPr/>
        </p:nvSpPr>
        <p:spPr>
          <a:xfrm>
            <a:off x="504825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334000" y="4667250"/>
            <a:ext cx="19050" cy="9715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334000" y="46672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76900" y="450532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829300" y="450532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多智能体协作（Multi-Agent）</a:t>
            </a:r>
            <a:r>
              <a:rPr sz="1087" b="0" i="0">
                <a:solidFill>
                  <a:srgbClr val="4A4450"/>
                </a:solidFill>
                <a:latin typeface="Arial"/>
                <a:ea typeface="微软雅黑"/>
                <a:cs typeface="微软雅黑"/>
              </a:rPr>
              <a:t>　CoAct-1：GUI 操作员 + 程序员 [Song+, ICLR 26]</a:t>
            </a:r>
          </a:p>
        </p:txBody>
      </p:sp>
      <p:sp>
        <p:nvSpPr>
          <p:cNvPr id="39" name="Rectangle 38"/>
          <p:cNvSpPr/>
          <p:nvPr/>
        </p:nvSpPr>
        <p:spPr>
          <a:xfrm>
            <a:off x="533400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676900" y="498157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829300" y="498157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工具增强 GUI（Tool-Augmented）</a:t>
            </a:r>
            <a:r>
              <a:rPr sz="1087" b="0" i="0">
                <a:solidFill>
                  <a:srgbClr val="4A4450"/>
                </a:solidFill>
                <a:latin typeface="Arial"/>
                <a:ea typeface="微软雅黑"/>
                <a:cs typeface="微软雅黑"/>
              </a:rPr>
              <a:t>　OSWorld-MCP [Jia+, 2025]</a:t>
            </a:r>
          </a:p>
        </p:txBody>
      </p:sp>
      <p:sp>
        <p:nvSpPr>
          <p:cNvPr id="42" name="Rectangle 41"/>
          <p:cNvSpPr/>
          <p:nvPr/>
        </p:nvSpPr>
        <p:spPr>
          <a:xfrm>
            <a:off x="5334000" y="56197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5676900" y="545782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829300" y="545782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可验证环境构建（Verifiable Env.）</a:t>
            </a:r>
            <a:r>
              <a:rPr sz="1087" b="0" i="0">
                <a:solidFill>
                  <a:srgbClr val="4A4450"/>
                </a:solidFill>
                <a:latin typeface="Arial"/>
                <a:ea typeface="微软雅黑"/>
                <a:cs typeface="微软雅黑"/>
              </a:rPr>
              <a:t>　GUI-Genesis [Cao+, 2026]</a:t>
            </a:r>
          </a:p>
        </p:txBody>
      </p:sp>
      <p:sp>
        <p:nvSpPr>
          <p:cNvPr id="45" name="TextBox 4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文本模态方法：命令行智能体（CLI Agent）与代码智能体（Coding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7" name="Rounded Rectangle 6"/>
          <p:cNvSpPr/>
          <p:nvPr/>
        </p:nvSpPr>
        <p:spPr>
          <a:xfrm>
            <a:off x="457200" y="1428750"/>
            <a:ext cx="35433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485900"/>
            <a:ext cx="3429000" cy="2743200"/>
          </a:xfrm>
          <a:prstGeom prst="rect">
            <a:avLst/>
          </a:prstGeom>
        </p:spPr>
      </p:pic>
      <p:sp>
        <p:nvSpPr>
          <p:cNvPr id="9" name="TextBox 8"/>
          <p:cNvSpPr txBox="1"/>
          <p:nvPr/>
        </p:nvSpPr>
        <p:spPr>
          <a:xfrm>
            <a:off x="485775" y="4267200"/>
            <a:ext cx="3486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命令行智能体：读日志、改配置、查服务（5×）</a:t>
            </a:r>
          </a:p>
        </p:txBody>
      </p:sp>
      <p:sp>
        <p:nvSpPr>
          <p:cNvPr id="10" name="Rounded Rectangle 9"/>
          <p:cNvSpPr/>
          <p:nvPr/>
        </p:nvSpPr>
        <p:spPr>
          <a:xfrm>
            <a:off x="41529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sweagent.png"/>
          <p:cNvPicPr>
            <a:picLocks noChangeAspect="1"/>
          </p:cNvPicPr>
          <p:nvPr/>
        </p:nvPicPr>
        <p:blipFill>
          <a:blip r:embed="rId5"/>
          <a:stretch>
            <a:fillRect/>
          </a:stretch>
        </p:blipFill>
        <p:spPr>
          <a:xfrm>
            <a:off x="4210050" y="2213555"/>
            <a:ext cx="4076700" cy="1287888"/>
          </a:xfrm>
          <a:prstGeom prst="rect">
            <a:avLst/>
          </a:prstGeom>
        </p:spPr>
      </p:pic>
      <p:sp>
        <p:nvSpPr>
          <p:cNvPr id="12" name="TextBox 11"/>
          <p:cNvSpPr txBox="1"/>
          <p:nvPr/>
        </p:nvSpPr>
        <p:spPr>
          <a:xfrm>
            <a:off x="41814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SWE-agent：面向智能体的计算机接口 [Yang+, NeurIPS 24]</a:t>
            </a:r>
          </a:p>
        </p:txBody>
      </p:sp>
      <p:sp>
        <p:nvSpPr>
          <p:cNvPr id="13" name="Rounded Rectangle 12"/>
          <p:cNvSpPr/>
          <p:nvPr/>
        </p:nvSpPr>
        <p:spPr>
          <a:xfrm>
            <a:off x="8496300" y="1428750"/>
            <a:ext cx="3238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wegym.png"/>
          <p:cNvPicPr>
            <a:picLocks noChangeAspect="1"/>
          </p:cNvPicPr>
          <p:nvPr/>
        </p:nvPicPr>
        <p:blipFill>
          <a:blip r:embed="rId6"/>
          <a:stretch>
            <a:fillRect/>
          </a:stretch>
        </p:blipFill>
        <p:spPr>
          <a:xfrm>
            <a:off x="8743950" y="1485900"/>
            <a:ext cx="2743200" cy="2743200"/>
          </a:xfrm>
          <a:prstGeom prst="rect">
            <a:avLst/>
          </a:prstGeom>
        </p:spPr>
      </p:pic>
      <p:sp>
        <p:nvSpPr>
          <p:cNvPr id="15" name="TextBox 14"/>
          <p:cNvSpPr txBox="1"/>
          <p:nvPr/>
        </p:nvSpPr>
        <p:spPr>
          <a:xfrm>
            <a:off x="8524875" y="4267200"/>
            <a:ext cx="3181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SWE-Gym：可执行环境中训练 [Pan+, ICML 25]</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文本模态</a:t>
            </a:r>
            <a:r>
              <a:rPr sz="1350" b="1" i="0">
                <a:solidFill>
                  <a:srgbClr val="F6C8FF"/>
                </a:solidFill>
                <a:latin typeface="Arial"/>
                <a:ea typeface="微软雅黑"/>
                <a:cs typeface="微软雅黑"/>
              </a:rPr>
              <a:t>看不见界面</a:t>
            </a:r>
            <a:r>
              <a:rPr sz="1350" b="0" i="0">
                <a:solidFill>
                  <a:srgbClr val="FFFFFF"/>
                </a:solidFill>
                <a:latin typeface="Arial"/>
                <a:ea typeface="微软雅黑"/>
                <a:cs typeface="微软雅黑"/>
              </a:rPr>
              <a:t>：凡依赖渲染结果与视觉反馈的任务，必须引入视觉模态</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动作精确、执行高效，系统状态可直接读取；单元测试提供可验证奖励，强化学习已实现规模化训练</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无法观测渲染结果（SWE-bench Multimodal 最佳仅约 12%）；适用范围受限于具备命令行或 API 的软件</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9 / 23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视觉模态方法：原生 GUI 智能体（GUI Agent）与高效视觉推理（Efficient Inference）</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7" name="Rounded Rectangle 6"/>
          <p:cNvSpPr/>
          <p:nvPr/>
        </p:nvSpPr>
        <p:spPr>
          <a:xfrm>
            <a:off x="4572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_uitars2_demo.png"/>
          <p:cNvPicPr>
            <a:picLocks noChangeAspect="1"/>
          </p:cNvPicPr>
          <p:nvPr/>
        </p:nvPicPr>
        <p:blipFill>
          <a:blip r:embed="rId2"/>
          <a:stretch>
            <a:fillRect/>
          </a:stretch>
        </p:blipFill>
        <p:spPr>
          <a:xfrm>
            <a:off x="729244" y="1485900"/>
            <a:ext cx="3646910" cy="2743200"/>
          </a:xfrm>
          <a:prstGeom prst="rect">
            <a:avLst/>
          </a:prstGeom>
        </p:spPr>
      </p:pic>
      <p:sp>
        <p:nvSpPr>
          <p:cNvPr id="9" name="TextBox 8"/>
          <p:cNvSpPr txBox="1"/>
          <p:nvPr/>
        </p:nvSpPr>
        <p:spPr>
          <a:xfrm>
            <a:off x="4857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UI-TARS-2：原生 GUI 智能体 + 多轮强化学习 [Seed, 2025]</a:t>
            </a:r>
          </a:p>
        </p:txBody>
      </p:sp>
      <p:sp>
        <p:nvSpPr>
          <p:cNvPr id="10" name="Rounded Rectangle 9"/>
          <p:cNvSpPr/>
          <p:nvPr/>
        </p:nvSpPr>
        <p:spPr>
          <a:xfrm>
            <a:off x="4800600" y="1428750"/>
            <a:ext cx="3619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fastv.png"/>
          <p:cNvPicPr>
            <a:picLocks noChangeAspect="1"/>
          </p:cNvPicPr>
          <p:nvPr/>
        </p:nvPicPr>
        <p:blipFill>
          <a:blip r:embed="rId3"/>
          <a:stretch>
            <a:fillRect/>
          </a:stretch>
        </p:blipFill>
        <p:spPr>
          <a:xfrm>
            <a:off x="4857750" y="1660740"/>
            <a:ext cx="3505200" cy="2393518"/>
          </a:xfrm>
          <a:prstGeom prst="rect">
            <a:avLst/>
          </a:prstGeom>
        </p:spPr>
      </p:pic>
      <p:sp>
        <p:nvSpPr>
          <p:cNvPr id="12" name="TextBox 11"/>
          <p:cNvSpPr txBox="1"/>
          <p:nvPr/>
        </p:nvSpPr>
        <p:spPr>
          <a:xfrm>
            <a:off x="4829175" y="42672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FastV：视觉 token 剪枝 [Chen+, ECCV 24]</a:t>
            </a:r>
          </a:p>
        </p:txBody>
      </p:sp>
      <p:sp>
        <p:nvSpPr>
          <p:cNvPr id="13" name="Rounded Rectangle 12"/>
          <p:cNvSpPr/>
          <p:nvPr/>
        </p:nvSpPr>
        <p:spPr>
          <a:xfrm>
            <a:off x="8572500" y="1428750"/>
            <a:ext cx="3162300" cy="3181350"/>
          </a:xfrm>
          <a:prstGeom prst="roundRect">
            <a:avLst>
              <a:gd name="adj" fmla="val 240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napkv.png"/>
          <p:cNvPicPr>
            <a:picLocks noChangeAspect="1"/>
          </p:cNvPicPr>
          <p:nvPr/>
        </p:nvPicPr>
        <p:blipFill>
          <a:blip r:embed="rId4"/>
          <a:stretch>
            <a:fillRect/>
          </a:stretch>
        </p:blipFill>
        <p:spPr>
          <a:xfrm>
            <a:off x="8629650" y="2395383"/>
            <a:ext cx="3048000" cy="924232"/>
          </a:xfrm>
          <a:prstGeom prst="rect">
            <a:avLst/>
          </a:prstGeom>
        </p:spPr>
      </p:pic>
      <p:sp>
        <p:nvSpPr>
          <p:cNvPr id="15" name="TextBox 14"/>
          <p:cNvSpPr txBox="1"/>
          <p:nvPr/>
        </p:nvSpPr>
        <p:spPr>
          <a:xfrm>
            <a:off x="8601075" y="4267200"/>
            <a:ext cx="3105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SnapKV：KV 缓存压缩 [Li+, NeurIPS 24]</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视觉模态</a:t>
            </a:r>
            <a:r>
              <a:rPr sz="1350" b="1" i="0">
                <a:solidFill>
                  <a:srgbClr val="F6C8FF"/>
                </a:solidFill>
                <a:latin typeface="Arial"/>
                <a:ea typeface="微软雅黑"/>
                <a:cs typeface="微软雅黑"/>
              </a:rPr>
              <a:t>通用但昂贵</a:t>
            </a:r>
            <a:r>
              <a:rPr sz="1350" b="0" i="0">
                <a:solidFill>
                  <a:srgbClr val="FFFFFF"/>
                </a:solidFill>
                <a:latin typeface="Arial"/>
                <a:ea typeface="微软雅黑"/>
                <a:cs typeface="微软雅黑"/>
              </a:rPr>
              <a:t>：需要面向 GUI 结构的高效感知方法，并与文本模态互补使用</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以截图与键鼠为通用接口，可操作任意软件并观测交互反馈；OSWorld 成功率两年内由 12% 升至 80% 以上</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截图累积致开销高、步数多，且无法感知隐藏状态；通用 token 剪枝与 KV 压缩未利用 GUI 的帧间冗余与二维布局</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混合模态方法：混合智能体（Hybrid Agent）与可验证训练环境（Verifiable Environment）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7" name="Rounded Rectangle 6"/>
          <p:cNvSpPr/>
          <p:nvPr/>
        </p:nvSpPr>
        <p:spPr>
          <a:xfrm>
            <a:off x="104394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108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9" name="Rounded Rectangle 8"/>
          <p:cNvSpPr/>
          <p:nvPr/>
        </p:nvSpPr>
        <p:spPr>
          <a:xfrm>
            <a:off x="4572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ef_coact.png"/>
          <p:cNvPicPr>
            <a:picLocks noChangeAspect="1"/>
          </p:cNvPicPr>
          <p:nvPr/>
        </p:nvPicPr>
        <p:blipFill>
          <a:blip r:embed="rId2"/>
          <a:stretch>
            <a:fillRect/>
          </a:stretch>
        </p:blipFill>
        <p:spPr>
          <a:xfrm>
            <a:off x="514350" y="2405848"/>
            <a:ext cx="2743200" cy="903302"/>
          </a:xfrm>
          <a:prstGeom prst="rect">
            <a:avLst/>
          </a:prstGeom>
        </p:spPr>
      </p:pic>
      <p:sp>
        <p:nvSpPr>
          <p:cNvPr id="11" name="TextBox 10"/>
          <p:cNvSpPr txBox="1"/>
          <p:nvPr/>
        </p:nvSpPr>
        <p:spPr>
          <a:xfrm>
            <a:off x="4857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CoAct-1：GUI 操作员 + 程序员 [Song+, ICLR 26]</a:t>
            </a:r>
          </a:p>
        </p:txBody>
      </p:sp>
      <p:sp>
        <p:nvSpPr>
          <p:cNvPr id="12" name="Rounded Rectangle 11"/>
          <p:cNvSpPr/>
          <p:nvPr/>
        </p:nvSpPr>
        <p:spPr>
          <a:xfrm>
            <a:off x="34671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ref_osworldmcp.png"/>
          <p:cNvPicPr>
            <a:picLocks noChangeAspect="1"/>
          </p:cNvPicPr>
          <p:nvPr/>
        </p:nvPicPr>
        <p:blipFill>
          <a:blip r:embed="rId3"/>
          <a:stretch>
            <a:fillRect/>
          </a:stretch>
        </p:blipFill>
        <p:spPr>
          <a:xfrm>
            <a:off x="3524250" y="2138680"/>
            <a:ext cx="2743200" cy="1437640"/>
          </a:xfrm>
          <a:prstGeom prst="rect">
            <a:avLst/>
          </a:prstGeom>
        </p:spPr>
      </p:pic>
      <p:sp>
        <p:nvSpPr>
          <p:cNvPr id="14" name="TextBox 13"/>
          <p:cNvSpPr txBox="1"/>
          <p:nvPr/>
        </p:nvSpPr>
        <p:spPr>
          <a:xfrm>
            <a:off x="34956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OSWorld-MCP：GUI 之外提供工具 [Jia+, 2025]</a:t>
            </a:r>
          </a:p>
        </p:txBody>
      </p:sp>
      <p:sp>
        <p:nvSpPr>
          <p:cNvPr id="15" name="Rounded Rectangle 14"/>
          <p:cNvSpPr/>
          <p:nvPr/>
        </p:nvSpPr>
        <p:spPr>
          <a:xfrm>
            <a:off x="64770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f_guigenesis.png"/>
          <p:cNvPicPr>
            <a:picLocks noChangeAspect="1"/>
          </p:cNvPicPr>
          <p:nvPr/>
        </p:nvPicPr>
        <p:blipFill>
          <a:blip r:embed="rId4"/>
          <a:stretch>
            <a:fillRect/>
          </a:stretch>
        </p:blipFill>
        <p:spPr>
          <a:xfrm>
            <a:off x="6534150" y="2349137"/>
            <a:ext cx="2743200" cy="1016724"/>
          </a:xfrm>
          <a:prstGeom prst="rect">
            <a:avLst/>
          </a:prstGeom>
        </p:spPr>
      </p:pic>
      <p:sp>
        <p:nvSpPr>
          <p:cNvPr id="17" name="TextBox 16"/>
          <p:cNvSpPr txBox="1"/>
          <p:nvPr/>
        </p:nvSpPr>
        <p:spPr>
          <a:xfrm>
            <a:off x="6534150" y="4267200"/>
            <a:ext cx="278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GUI-Genesis：重建应用为可验证环境 [Cao+, 2026]</a:t>
            </a:r>
          </a:p>
        </p:txBody>
      </p:sp>
      <p:sp>
        <p:nvSpPr>
          <p:cNvPr id="18" name="Rounded Rectangle 17"/>
          <p:cNvSpPr/>
          <p:nvPr/>
        </p:nvSpPr>
        <p:spPr>
          <a:xfrm>
            <a:off x="9486900" y="1428750"/>
            <a:ext cx="2247900" cy="3181350"/>
          </a:xfrm>
          <a:prstGeom prst="roundRect">
            <a:avLst>
              <a:gd name="adj" fmla="val 338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58325" y="1524000"/>
            <a:ext cx="2305050" cy="167133"/>
          </a:xfrm>
          <a:prstGeom prst="rect">
            <a:avLst/>
          </a:prstGeom>
          <a:noFill/>
        </p:spPr>
        <p:txBody>
          <a:bodyPr wrap="none" lIns="0" rIns="0" tIns="0" bIns="0" anchor="ctr">
            <a:noAutofit/>
          </a:bodyPr>
          <a:lstStyle/>
          <a:p>
            <a:pPr algn="ctr">
              <a:lnSpc>
                <a:spcPct val="100000"/>
              </a:lnSpc>
              <a:spcBef>
                <a:spcPts val="0"/>
              </a:spcBef>
              <a:spcAft>
                <a:spcPts val="0"/>
              </a:spcAft>
            </a:pPr>
            <a:r>
              <a:rPr sz="975" b="1" i="0">
                <a:solidFill>
                  <a:srgbClr val="1F1A22"/>
                </a:solidFill>
                <a:latin typeface="Arial"/>
                <a:ea typeface="微软雅黑"/>
                <a:cs typeface="微软雅黑"/>
              </a:rPr>
              <a:t>同一模型 · 同一任务集（OSWorld）</a:t>
            </a:r>
          </a:p>
        </p:txBody>
      </p:sp>
      <p:sp>
        <p:nvSpPr>
          <p:cNvPr id="20" name="Rounded Rectangle 19"/>
          <p:cNvSpPr/>
          <p:nvPr/>
        </p:nvSpPr>
        <p:spPr>
          <a:xfrm>
            <a:off x="9677400" y="2190750"/>
            <a:ext cx="342900" cy="1428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77450" y="2219325"/>
            <a:ext cx="342900" cy="1400175"/>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726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3" name="TextBox 22"/>
          <p:cNvSpPr txBox="1"/>
          <p:nvPr/>
        </p:nvSpPr>
        <p:spPr>
          <a:xfrm>
            <a:off x="9972675" y="20288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24" name="Rounded Rectangle 23"/>
          <p:cNvSpPr/>
          <p:nvPr/>
        </p:nvSpPr>
        <p:spPr>
          <a:xfrm>
            <a:off x="10763250" y="2952750"/>
            <a:ext cx="342900" cy="666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1163300" y="2266950"/>
            <a:ext cx="342900" cy="1352550"/>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58475" y="2762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27" name="TextBox 26"/>
          <p:cNvSpPr txBox="1"/>
          <p:nvPr/>
        </p:nvSpPr>
        <p:spPr>
          <a:xfrm>
            <a:off x="11058525" y="20764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28" name="Rectangle 27"/>
          <p:cNvSpPr/>
          <p:nvPr/>
        </p:nvSpPr>
        <p:spPr>
          <a:xfrm>
            <a:off x="9620250" y="3619500"/>
            <a:ext cx="19621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620250" y="3619500"/>
            <a:ext cx="19621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5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1" name="TextBox 30"/>
          <p:cNvSpPr txBox="1"/>
          <p:nvPr/>
        </p:nvSpPr>
        <p:spPr>
          <a:xfrm>
            <a:off x="106013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2" name="TextBox 31"/>
          <p:cNvSpPr txBox="1"/>
          <p:nvPr/>
        </p:nvSpPr>
        <p:spPr>
          <a:xfrm>
            <a:off x="9525000" y="3924300"/>
            <a:ext cx="2209800" cy="342900"/>
          </a:xfrm>
          <a:prstGeom prst="rect">
            <a:avLst/>
          </a:prstGeom>
          <a:noFill/>
        </p:spPr>
        <p:txBody>
          <a:bodyPr wrap="square" lIns="0" rIns="0" tIns="0" bIns="0" anchor="t">
            <a:noAutofit/>
          </a:bodyPr>
          <a:lstStyle/>
          <a:p>
            <a:pPr algn="ctr">
              <a:lnSpc>
                <a:spcPts val="135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仅文本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仅视觉</a:t>
            </a:r>
          </a:p>
          <a:p>
            <a:pPr algn="ctr">
              <a:lnSpc>
                <a:spcPts val="1350"/>
              </a:lnSpc>
              <a:spcBef>
                <a:spcPts val="0"/>
              </a:spcBef>
              <a:spcAft>
                <a:spcPts val="0"/>
              </a:spcAft>
            </a:pPr>
            <a:r>
              <a:rPr sz="900" b="0" i="0">
                <a:solidFill>
                  <a:srgbClr val="4A4450"/>
                </a:solidFill>
                <a:latin typeface="Arial"/>
                <a:ea typeface="微软雅黑"/>
                <a:cs typeface="微软雅黑"/>
              </a:rPr>
              <a:t>文本通道以约一半步数取得相当成功率</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混合方向已经出现，但</a:t>
            </a:r>
            <a:r>
              <a:rPr sz="1350" b="1" i="0">
                <a:solidFill>
                  <a:srgbClr val="F6C8FF"/>
                </a:solidFill>
                <a:latin typeface="Arial"/>
                <a:ea typeface="微软雅黑"/>
                <a:cs typeface="微软雅黑"/>
              </a:rPr>
              <a:t>缺少统一范式、可信评测与可验证的训练方法</a:t>
            </a:r>
          </a:p>
        </p:txBody>
      </p:sp>
      <p:sp>
        <p:nvSpPr>
          <p:cNvPr id="35" name="Rounded Rectangle 34"/>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混合动作空间缩短轨迹；以参考应用为 oracle 构建可验证环境的思路开始出现</a:t>
            </a:r>
          </a:p>
        </p:txBody>
      </p:sp>
      <p:sp>
        <p:nvSpPr>
          <p:cNvPr id="37" name="TextBox 36"/>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第二模态多为辅助（增益约 3–5 个百分点），任务未强制协同且仅依据结果判分；可验证环境局限于单一界面</a:t>
            </a:r>
          </a:p>
        </p:txBody>
      </p:sp>
      <p:sp>
        <p:nvSpPr>
          <p:cNvPr id="38" name="TextBox 3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面临的</a:t>
            </a:r>
            <a:r>
              <a:rPr sz="1500" b="1" i="0">
                <a:solidFill>
                  <a:srgbClr val="C0392B"/>
                </a:solidFill>
                <a:latin typeface="Arial"/>
                <a:ea typeface="微软雅黑"/>
                <a:cs typeface="微软雅黑"/>
              </a:rPr>
              <a:t>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4287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文本模态方法：</a:t>
            </a:r>
            <a:r>
              <a:rPr sz="1125" b="0" i="0">
                <a:solidFill>
                  <a:srgbClr val="1F1A22"/>
                </a:solidFill>
                <a:latin typeface="Arial"/>
                <a:ea typeface="微软雅黑"/>
                <a:cs typeface="微软雅黑"/>
              </a:rPr>
              <a:t>感知局限于可编程接口，无法观测渲染结果，难以完成依赖视觉反馈的任务</a:t>
            </a:r>
          </a:p>
        </p:txBody>
      </p:sp>
      <p:sp>
        <p:nvSpPr>
          <p:cNvPr id="7" name="Rounded Rectangle 6"/>
          <p:cNvSpPr/>
          <p:nvPr/>
        </p:nvSpPr>
        <p:spPr>
          <a:xfrm>
            <a:off x="457200" y="19621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90550" y="19621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F6F8B"/>
                </a:solidFill>
                <a:latin typeface="Arial"/>
                <a:ea typeface="微软雅黑"/>
                <a:cs typeface="微软雅黑"/>
              </a:rPr>
              <a:t>视觉模态方法：</a:t>
            </a:r>
            <a:r>
              <a:rPr sz="1125" b="0" i="0">
                <a:solidFill>
                  <a:srgbClr val="1F1A22"/>
                </a:solidFill>
                <a:latin typeface="Arial"/>
                <a:ea typeface="微软雅黑"/>
                <a:cs typeface="微软雅黑"/>
              </a:rPr>
              <a:t>长程截图引入大量时空冗余，推理开销随步数增长；通用压缩方法未适配 GUI 的结构特性</a:t>
            </a:r>
          </a:p>
        </p:txBody>
      </p:sp>
      <p:sp>
        <p:nvSpPr>
          <p:cNvPr id="9" name="Rounded Rectangle 8"/>
          <p:cNvSpPr/>
          <p:nvPr/>
        </p:nvSpPr>
        <p:spPr>
          <a:xfrm>
            <a:off x="457200" y="24955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0550" y="24955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B7791F"/>
                </a:solidFill>
                <a:latin typeface="Arial"/>
                <a:ea typeface="微软雅黑"/>
                <a:cs typeface="微软雅黑"/>
              </a:rPr>
              <a:t>混合模态方法：</a:t>
            </a:r>
            <a:r>
              <a:rPr sz="1125" b="0" i="0">
                <a:solidFill>
                  <a:srgbClr val="1F1A22"/>
                </a:solidFill>
                <a:latin typeface="Arial"/>
                <a:ea typeface="微软雅黑"/>
                <a:cs typeface="微软雅黑"/>
              </a:rPr>
              <a:t>缺少强制模态协同、审计执行过程的评测范式；缺少可验证的混合训练环境与行为训练方法</a:t>
            </a:r>
          </a:p>
        </p:txBody>
      </p:sp>
      <p:sp>
        <p:nvSpPr>
          <p:cNvPr id="11" name="TextBox 10"/>
          <p:cNvSpPr txBox="1"/>
          <p:nvPr/>
        </p:nvSpPr>
        <p:spPr>
          <a:xfrm>
            <a:off x="457200" y="310515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关键技术</a:t>
            </a:r>
            <a:r>
              <a:rPr sz="1500" b="1" i="0">
                <a:solidFill>
                  <a:srgbClr val="C0392B"/>
                </a:solidFill>
                <a:latin typeface="Arial"/>
                <a:ea typeface="微软雅黑"/>
                <a:cs typeface="微软雅黑"/>
              </a:rPr>
              <a:t>问题</a:t>
            </a:r>
          </a:p>
        </p:txBody>
      </p:sp>
      <p:sp>
        <p:nvSpPr>
          <p:cNvPr id="12" name="Rectangle 11"/>
          <p:cNvSpPr/>
          <p:nvPr/>
        </p:nvSpPr>
        <p:spPr>
          <a:xfrm>
            <a:off x="457200" y="342900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 y="3562350"/>
            <a:ext cx="11334750" cy="25896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1F1A22"/>
                </a:solidFill>
                <a:latin typeface="Arial"/>
                <a:ea typeface="微软雅黑"/>
                <a:cs typeface="微软雅黑"/>
              </a:rPr>
              <a:t>统一文本与视觉模态，构建</a:t>
            </a:r>
            <a:r>
              <a:rPr sz="1275" b="1" i="0">
                <a:solidFill>
                  <a:srgbClr val="660874"/>
                </a:solidFill>
                <a:latin typeface="Arial"/>
                <a:ea typeface="微软雅黑"/>
                <a:cs typeface="微软雅黑"/>
              </a:rPr>
              <a:t>高效、可信度量、可训练且可扩展</a:t>
            </a:r>
            <a:r>
              <a:rPr sz="1275" b="1" i="0">
                <a:solidFill>
                  <a:srgbClr val="1F1A22"/>
                </a:solidFill>
                <a:latin typeface="Arial"/>
                <a:ea typeface="微软雅黑"/>
                <a:cs typeface="微软雅黑"/>
              </a:rPr>
              <a:t>的通用数字智能体技术框架</a:t>
            </a:r>
          </a:p>
        </p:txBody>
      </p:sp>
      <p:sp>
        <p:nvSpPr>
          <p:cNvPr id="14" name="TextBox 13"/>
          <p:cNvSpPr txBox="1"/>
          <p:nvPr/>
        </p:nvSpPr>
        <p:spPr>
          <a:xfrm>
            <a:off x="685800" y="40386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长程 GUI 轨迹的高效视觉感知与推理（Efficient Perception）</a:t>
            </a:r>
          </a:p>
        </p:txBody>
      </p:sp>
      <p:sp>
        <p:nvSpPr>
          <p:cNvPr id="15" name="Rounded Rectangle 14"/>
          <p:cNvSpPr/>
          <p:nvPr/>
        </p:nvSpPr>
        <p:spPr>
          <a:xfrm>
            <a:off x="8686800" y="40767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67750" y="40862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研究一 · 效率优化</a:t>
            </a:r>
          </a:p>
        </p:txBody>
      </p:sp>
      <p:sp>
        <p:nvSpPr>
          <p:cNvPr id="17" name="TextBox 16"/>
          <p:cNvSpPr txBox="1"/>
          <p:nvPr/>
        </p:nvSpPr>
        <p:spPr>
          <a:xfrm>
            <a:off x="685800" y="44958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综合数字智能体范式的构建与可信评测（Paradigm &amp; Benchmark）</a:t>
            </a:r>
          </a:p>
        </p:txBody>
      </p:sp>
      <p:sp>
        <p:nvSpPr>
          <p:cNvPr id="18" name="Rounded Rectangle 17"/>
          <p:cNvSpPr/>
          <p:nvPr/>
        </p:nvSpPr>
        <p:spPr>
          <a:xfrm>
            <a:off x="8686800" y="45339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67750" y="45434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研究二 · 范式构建</a:t>
            </a:r>
          </a:p>
        </p:txBody>
      </p:sp>
      <p:sp>
        <p:nvSpPr>
          <p:cNvPr id="20" name="TextBox 19"/>
          <p:cNvSpPr txBox="1"/>
          <p:nvPr/>
        </p:nvSpPr>
        <p:spPr>
          <a:xfrm>
            <a:off x="685800" y="49530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混合行为模式的可验证训练（Verifiable Training）</a:t>
            </a:r>
          </a:p>
        </p:txBody>
      </p:sp>
      <p:sp>
        <p:nvSpPr>
          <p:cNvPr id="21" name="Rounded Rectangle 20"/>
          <p:cNvSpPr/>
          <p:nvPr/>
        </p:nvSpPr>
        <p:spPr>
          <a:xfrm>
            <a:off x="8686800" y="49911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67750" y="50006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研究三 · 行为训练</a:t>
            </a:r>
          </a:p>
        </p:txBody>
      </p:sp>
      <p:sp>
        <p:nvSpPr>
          <p:cNvPr id="23" name="TextBox 22"/>
          <p:cNvSpPr txBox="1"/>
          <p:nvPr/>
        </p:nvSpPr>
        <p:spPr>
          <a:xfrm>
            <a:off x="685800" y="54102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面向多领域的可验证交互环境规模化构建（Environment Scaling）</a:t>
            </a:r>
          </a:p>
        </p:txBody>
      </p:sp>
      <p:sp>
        <p:nvSpPr>
          <p:cNvPr id="24" name="Rounded Rectangle 23"/>
          <p:cNvSpPr/>
          <p:nvPr/>
        </p:nvSpPr>
        <p:spPr>
          <a:xfrm>
            <a:off x="8686800" y="54483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667750" y="54578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研究四 · 环境扩展</a:t>
            </a:r>
          </a:p>
        </p:txBody>
      </p:sp>
      <p:sp>
        <p:nvSpPr>
          <p:cNvPr id="26" name="TextBox 2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研究框架：以关键技术问题为牵引，前一项研究的结论构成后一项研究的动机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90550"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23900"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研究一</a:t>
            </a:r>
          </a:p>
        </p:txBody>
      </p:sp>
      <p:sp>
        <p:nvSpPr>
          <p:cNvPr id="8" name="Rounded Rectangle 7"/>
          <p:cNvSpPr/>
          <p:nvPr/>
        </p:nvSpPr>
        <p:spPr>
          <a:xfrm>
            <a:off x="2133600"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05025"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效率优化</a:t>
            </a:r>
          </a:p>
        </p:txBody>
      </p:sp>
      <p:sp>
        <p:nvSpPr>
          <p:cNvPr id="10" name="TextBox 9"/>
          <p:cNvSpPr txBox="1"/>
          <p:nvPr/>
        </p:nvSpPr>
        <p:spPr>
          <a:xfrm>
            <a:off x="590550"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长程 GUI 轨迹的高效视觉感知与推理</a:t>
            </a:r>
          </a:p>
        </p:txBody>
      </p:sp>
      <p:sp>
        <p:nvSpPr>
          <p:cNvPr id="11" name="TextBox 10"/>
          <p:cNvSpPr txBox="1"/>
          <p:nvPr/>
        </p:nvSpPr>
        <p:spPr>
          <a:xfrm>
            <a:off x="590550"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GUIPruner · ST-Lite（已完成）</a:t>
            </a:r>
          </a:p>
        </p:txBody>
      </p:sp>
      <p:pic>
        <p:nvPicPr>
          <p:cNvPr id="12" name="Picture 11" descr="guipruner.png"/>
          <p:cNvPicPr>
            <a:picLocks noChangeAspect="1"/>
          </p:cNvPicPr>
          <p:nvPr/>
        </p:nvPicPr>
        <p:blipFill>
          <a:blip r:embed="rId2"/>
          <a:stretch>
            <a:fillRect/>
          </a:stretch>
        </p:blipFill>
        <p:spPr>
          <a:xfrm>
            <a:off x="552450" y="2593086"/>
            <a:ext cx="2476500" cy="1614678"/>
          </a:xfrm>
          <a:prstGeom prst="rect">
            <a:avLst/>
          </a:prstGeom>
        </p:spPr>
      </p:pic>
      <p:sp>
        <p:nvSpPr>
          <p:cNvPr id="13" name="Rounded Rectangle 12"/>
          <p:cNvSpPr/>
          <p:nvPr/>
        </p:nvSpPr>
        <p:spPr>
          <a:xfrm>
            <a:off x="3324225"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3457575"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90925"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研究二</a:t>
            </a:r>
          </a:p>
        </p:txBody>
      </p:sp>
      <p:sp>
        <p:nvSpPr>
          <p:cNvPr id="16" name="Rounded Rectangle 15"/>
          <p:cNvSpPr/>
          <p:nvPr/>
        </p:nvSpPr>
        <p:spPr>
          <a:xfrm>
            <a:off x="5000625"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972050"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范式构建</a:t>
            </a:r>
          </a:p>
        </p:txBody>
      </p:sp>
      <p:sp>
        <p:nvSpPr>
          <p:cNvPr id="18" name="TextBox 17"/>
          <p:cNvSpPr txBox="1"/>
          <p:nvPr/>
        </p:nvSpPr>
        <p:spPr>
          <a:xfrm>
            <a:off x="3457575"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综合数字智能体范式的构建与可信评测</a:t>
            </a:r>
          </a:p>
        </p:txBody>
      </p:sp>
      <p:sp>
        <p:nvSpPr>
          <p:cNvPr id="19" name="TextBox 18"/>
          <p:cNvSpPr txBox="1"/>
          <p:nvPr/>
        </p:nvSpPr>
        <p:spPr>
          <a:xfrm>
            <a:off x="3457575"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WeaveBench（已完成）</a:t>
            </a:r>
          </a:p>
        </p:txBody>
      </p:sp>
      <p:pic>
        <p:nvPicPr>
          <p:cNvPr id="20" name="Picture 19" descr="fig_overview_new-1.png"/>
          <p:cNvPicPr>
            <a:picLocks noChangeAspect="1"/>
          </p:cNvPicPr>
          <p:nvPr/>
        </p:nvPicPr>
        <p:blipFill>
          <a:blip r:embed="rId3"/>
          <a:stretch>
            <a:fillRect/>
          </a:stretch>
        </p:blipFill>
        <p:spPr>
          <a:xfrm>
            <a:off x="3419475" y="2908108"/>
            <a:ext cx="2476500" cy="984632"/>
          </a:xfrm>
          <a:prstGeom prst="rect">
            <a:avLst/>
          </a:prstGeom>
        </p:spPr>
      </p:pic>
      <p:sp>
        <p:nvSpPr>
          <p:cNvPr id="21" name="Rounded Rectangle 20"/>
          <p:cNvSpPr/>
          <p:nvPr/>
        </p:nvSpPr>
        <p:spPr>
          <a:xfrm>
            <a:off x="6191250"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6324600"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57950"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研究三</a:t>
            </a:r>
          </a:p>
        </p:txBody>
      </p:sp>
      <p:sp>
        <p:nvSpPr>
          <p:cNvPr id="24" name="Rounded Rectangle 23"/>
          <p:cNvSpPr/>
          <p:nvPr/>
        </p:nvSpPr>
        <p:spPr>
          <a:xfrm>
            <a:off x="7867650"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839075"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行为训练</a:t>
            </a:r>
          </a:p>
        </p:txBody>
      </p:sp>
      <p:sp>
        <p:nvSpPr>
          <p:cNvPr id="26" name="TextBox 25"/>
          <p:cNvSpPr txBox="1"/>
          <p:nvPr/>
        </p:nvSpPr>
        <p:spPr>
          <a:xfrm>
            <a:off x="6324600" y="1866900"/>
            <a:ext cx="2476500" cy="206573"/>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混合行为模式的可验证训练方法</a:t>
            </a:r>
          </a:p>
        </p:txBody>
      </p:sp>
      <p:sp>
        <p:nvSpPr>
          <p:cNvPr id="27" name="TextBox 26"/>
          <p:cNvSpPr txBox="1"/>
          <p:nvPr/>
        </p:nvSpPr>
        <p:spPr>
          <a:xfrm>
            <a:off x="6324600"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RecreationWorld（已完成）</a:t>
            </a:r>
          </a:p>
        </p:txBody>
      </p:sp>
      <p:pic>
        <p:nvPicPr>
          <p:cNvPr id="28" name="Picture 27" descr="rw_fig2_recreation.png"/>
          <p:cNvPicPr>
            <a:picLocks noChangeAspect="1"/>
          </p:cNvPicPr>
          <p:nvPr/>
        </p:nvPicPr>
        <p:blipFill>
          <a:blip r:embed="rId4"/>
          <a:stretch>
            <a:fillRect/>
          </a:stretch>
        </p:blipFill>
        <p:spPr>
          <a:xfrm>
            <a:off x="6286500" y="3103734"/>
            <a:ext cx="2476500" cy="593381"/>
          </a:xfrm>
          <a:prstGeom prst="rect">
            <a:avLst/>
          </a:prstGeom>
        </p:spPr>
      </p:pic>
      <p:sp>
        <p:nvSpPr>
          <p:cNvPr id="29" name="Rounded Rectangle 28"/>
          <p:cNvSpPr/>
          <p:nvPr/>
        </p:nvSpPr>
        <p:spPr>
          <a:xfrm>
            <a:off x="9058275" y="1428750"/>
            <a:ext cx="2667000" cy="2895600"/>
          </a:xfrm>
          <a:prstGeom prst="roundRect">
            <a:avLst>
              <a:gd name="adj" fmla="val 4285"/>
            </a:avLst>
          </a:prstGeom>
          <a:solidFill>
            <a:srgbClr val="F5EEF7"/>
          </a:solidFill>
          <a:ln w="19050">
            <a:solidFill>
              <a:srgbClr val="8130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9191625" y="1543050"/>
            <a:ext cx="6858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334500" y="1552575"/>
            <a:ext cx="45720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研究四</a:t>
            </a:r>
          </a:p>
        </p:txBody>
      </p:sp>
      <p:sp>
        <p:nvSpPr>
          <p:cNvPr id="32" name="Rounded Rectangle 31"/>
          <p:cNvSpPr/>
          <p:nvPr/>
        </p:nvSpPr>
        <p:spPr>
          <a:xfrm>
            <a:off x="10734675"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706100"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环境扩展</a:t>
            </a:r>
          </a:p>
        </p:txBody>
      </p:sp>
      <p:sp>
        <p:nvSpPr>
          <p:cNvPr id="34" name="TextBox 33"/>
          <p:cNvSpPr txBox="1"/>
          <p:nvPr/>
        </p:nvSpPr>
        <p:spPr>
          <a:xfrm>
            <a:off x="9191625"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面向多领域的可验证交互环境规模化构建</a:t>
            </a:r>
          </a:p>
        </p:txBody>
      </p:sp>
      <p:sp>
        <p:nvSpPr>
          <p:cNvPr id="35" name="TextBox 34"/>
          <p:cNvSpPr txBox="1"/>
          <p:nvPr/>
        </p:nvSpPr>
        <p:spPr>
          <a:xfrm>
            <a:off x="9191625"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App Mock · 真实数据 · SFT/RL（待完成）</a:t>
            </a:r>
          </a:p>
        </p:txBody>
      </p:sp>
      <p:pic>
        <p:nvPicPr>
          <p:cNvPr id="36" name="Picture 35" descr="ac_scaling_framework.png"/>
          <p:cNvPicPr>
            <a:picLocks noChangeAspect="1"/>
          </p:cNvPicPr>
          <p:nvPr/>
        </p:nvPicPr>
        <p:blipFill>
          <a:blip r:embed="rId5"/>
          <a:stretch>
            <a:fillRect/>
          </a:stretch>
        </p:blipFill>
        <p:spPr>
          <a:xfrm>
            <a:off x="9153525" y="2574925"/>
            <a:ext cx="2476500" cy="1651000"/>
          </a:xfrm>
          <a:prstGeom prst="rect">
            <a:avLst/>
          </a:prstGeom>
        </p:spPr>
      </p:pic>
      <p:sp>
        <p:nvSpPr>
          <p:cNvPr id="37" name="TextBox 36"/>
          <p:cNvSpPr txBox="1"/>
          <p:nvPr/>
        </p:nvSpPr>
        <p:spPr>
          <a:xfrm>
            <a:off x="3076575"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38" name="TextBox 37"/>
          <p:cNvSpPr txBox="1"/>
          <p:nvPr/>
        </p:nvSpPr>
        <p:spPr>
          <a:xfrm>
            <a:off x="5943600"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39" name="TextBox 38"/>
          <p:cNvSpPr txBox="1"/>
          <p:nvPr/>
        </p:nvSpPr>
        <p:spPr>
          <a:xfrm>
            <a:off x="8810625"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40" name="TextBox 39"/>
          <p:cNvSpPr txBox="1"/>
          <p:nvPr/>
        </p:nvSpPr>
        <p:spPr>
          <a:xfrm>
            <a:off x="457200" y="4419600"/>
            <a:ext cx="11334750" cy="200025"/>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B7791F"/>
                </a:solidFill>
                <a:latin typeface="Arial"/>
                <a:ea typeface="微软雅黑"/>
                <a:cs typeface="微软雅黑"/>
              </a:rPr>
              <a:t>研究结论与衔接</a:t>
            </a:r>
          </a:p>
        </p:txBody>
      </p:sp>
      <p:sp>
        <p:nvSpPr>
          <p:cNvPr id="41" name="Rounded Rectangle 40"/>
          <p:cNvSpPr/>
          <p:nvPr/>
        </p:nvSpPr>
        <p:spPr>
          <a:xfrm>
            <a:off x="45720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09600" y="4762500"/>
            <a:ext cx="337185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研究一 → 二</a:t>
            </a:r>
            <a:r>
              <a:rPr sz="1012" b="0" i="0">
                <a:solidFill>
                  <a:srgbClr val="1F1A22"/>
                </a:solidFill>
                <a:latin typeface="Arial"/>
                <a:ea typeface="微软雅黑"/>
                <a:cs typeface="微软雅黑"/>
              </a:rPr>
              <a:t>　效率优化受限于纯视觉范式：同一模型仅用文本通道成功率 79.1%，与纯视觉 77.3% 相当而步数减半，应统一两类模态</a:t>
            </a:r>
          </a:p>
        </p:txBody>
      </p:sp>
      <p:sp>
        <p:nvSpPr>
          <p:cNvPr id="43" name="Rounded Rectangle 42"/>
          <p:cNvSpPr/>
          <p:nvPr/>
        </p:nvSpPr>
        <p:spPr>
          <a:xfrm>
            <a:off x="428625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438650" y="4762500"/>
            <a:ext cx="337185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研究二 → 三</a:t>
            </a:r>
            <a:r>
              <a:rPr sz="1012" b="0" i="0">
                <a:solidFill>
                  <a:srgbClr val="1F1A22"/>
                </a:solidFill>
                <a:latin typeface="Arial"/>
                <a:ea typeface="微软雅黑"/>
                <a:cs typeface="微软雅黑"/>
              </a:rPr>
              <a:t>　瓶颈在于自主编排与自我验证：65.6% 的失败源于违规取巧与长程失控，视觉感知错误不足 4%，需训练新的行为模式</a:t>
            </a:r>
          </a:p>
        </p:txBody>
      </p:sp>
      <p:sp>
        <p:nvSpPr>
          <p:cNvPr id="45" name="Rounded Rectangle 44"/>
          <p:cNvSpPr/>
          <p:nvPr/>
        </p:nvSpPr>
        <p:spPr>
          <a:xfrm>
            <a:off x="811530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267700" y="4762500"/>
            <a:ext cx="3371850" cy="411360"/>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研究三 → 四</a:t>
            </a:r>
            <a:r>
              <a:rPr sz="1012" b="0" i="0">
                <a:solidFill>
                  <a:srgbClr val="1F1A22"/>
                </a:solidFill>
                <a:latin typeface="Arial"/>
                <a:ea typeface="微软雅黑"/>
                <a:cs typeface="微软雅黑"/>
              </a:rPr>
              <a:t>　可验证环境中习得的行为可迁移：5 个分布外基准一致提升，应扩展环境的领域覆盖与规模</a:t>
            </a:r>
          </a:p>
        </p:txBody>
      </p:sp>
      <p:sp>
        <p:nvSpPr>
          <p:cNvPr id="47" name="TextBox 4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课题一：长程 GUI 轨迹的高效视觉感知与推理（已完成）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效率优化</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TextBox 8"/>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长程轨迹中高分辨率截图持续累积，视觉 token 与 KV 缓存（KV Cache）线性膨胀；通用压缩方法忽视帧间冗余与界面二维结构</a:t>
            </a:r>
          </a:p>
        </p:txBody>
      </p:sp>
      <p:sp>
        <p:nvSpPr>
          <p:cNvPr id="10" name="TextBox 9"/>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编码端提出 </a:t>
            </a:r>
            <a:r>
              <a:rPr sz="1125" b="1" i="0">
                <a:solidFill>
                  <a:srgbClr val="1F1A22"/>
                </a:solidFill>
                <a:latin typeface="Arial"/>
                <a:ea typeface="微软雅黑"/>
                <a:cs typeface="微软雅黑"/>
              </a:rPr>
              <a:t>GUIPruner</a:t>
            </a:r>
            <a:r>
              <a:rPr sz="1125" b="0" i="0">
                <a:solidFill>
                  <a:srgbClr val="1F1A22"/>
                </a:solidFill>
                <a:latin typeface="Arial"/>
                <a:ea typeface="微软雅黑"/>
                <a:cs typeface="微软雅黑"/>
              </a:rPr>
              <a:t>：时间自适应分辨率 + 结构感知剪枝；解码端提出 </a:t>
            </a:r>
            <a:r>
              <a:rPr sz="1125" b="1" i="0">
                <a:solidFill>
                  <a:srgbClr val="1F1A22"/>
                </a:solidFill>
                <a:latin typeface="Arial"/>
                <a:ea typeface="微软雅黑"/>
                <a:cs typeface="微软雅黑"/>
              </a:rPr>
              <a:t>ST-Lite</a:t>
            </a:r>
            <a:r>
              <a:rPr sz="1125" b="0" i="0">
                <a:solidFill>
                  <a:srgbClr val="1F1A22"/>
                </a:solidFill>
                <a:latin typeface="Arial"/>
                <a:ea typeface="微软雅黑"/>
                <a:cs typeface="微软雅黑"/>
              </a:rPr>
              <a:t>：轨迹门控 + 组件显著性 KV 压缩</a:t>
            </a:r>
          </a:p>
        </p:txBody>
      </p:sp>
      <p:sp>
        <p:nvSpPr>
          <p:cNvPr id="11" name="Rounded Rectangle 10"/>
          <p:cNvSpPr/>
          <p:nvPr/>
        </p:nvSpPr>
        <p:spPr>
          <a:xfrm>
            <a:off x="457200" y="2038350"/>
            <a:ext cx="447675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p_fig3_overview.png"/>
          <p:cNvPicPr>
            <a:picLocks noChangeAspect="1"/>
          </p:cNvPicPr>
          <p:nvPr/>
        </p:nvPicPr>
        <p:blipFill>
          <a:blip r:embed="rId2"/>
          <a:stretch>
            <a:fillRect/>
          </a:stretch>
        </p:blipFill>
        <p:spPr>
          <a:xfrm>
            <a:off x="514350" y="2337241"/>
            <a:ext cx="4362450" cy="2583567"/>
          </a:xfrm>
          <a:prstGeom prst="rect">
            <a:avLst/>
          </a:prstGeom>
        </p:spPr>
      </p:pic>
      <p:sp>
        <p:nvSpPr>
          <p:cNvPr id="13" name="TextBox 12"/>
          <p:cNvSpPr txBox="1"/>
          <p:nvPr/>
        </p:nvSpPr>
        <p:spPr>
          <a:xfrm>
            <a:off x="485775" y="5200650"/>
            <a:ext cx="44196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GUIPruner</a:t>
            </a:r>
            <a:r>
              <a:rPr sz="937" b="0" i="0">
                <a:solidFill>
                  <a:srgbClr val="4A4450"/>
                </a:solidFill>
                <a:latin typeface="Arial"/>
                <a:ea typeface="微软雅黑"/>
                <a:cs typeface="微软雅黑"/>
              </a:rPr>
              <a:t>（投稿 KDD 2027）</a:t>
            </a:r>
          </a:p>
        </p:txBody>
      </p:sp>
      <p:sp>
        <p:nvSpPr>
          <p:cNvPr id="14" name="Rounded Rectangle 13"/>
          <p:cNvSpPr/>
          <p:nvPr/>
        </p:nvSpPr>
        <p:spPr>
          <a:xfrm>
            <a:off x="5048250" y="2038350"/>
            <a:ext cx="447675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_fig4_arch.png"/>
          <p:cNvPicPr>
            <a:picLocks noChangeAspect="1"/>
          </p:cNvPicPr>
          <p:nvPr/>
        </p:nvPicPr>
        <p:blipFill>
          <a:blip r:embed="rId3"/>
          <a:stretch>
            <a:fillRect/>
          </a:stretch>
        </p:blipFill>
        <p:spPr>
          <a:xfrm>
            <a:off x="5105400" y="2486262"/>
            <a:ext cx="4362450" cy="2285524"/>
          </a:xfrm>
          <a:prstGeom prst="rect">
            <a:avLst/>
          </a:prstGeom>
        </p:spPr>
      </p:pic>
      <p:sp>
        <p:nvSpPr>
          <p:cNvPr id="16" name="TextBox 15"/>
          <p:cNvSpPr txBox="1"/>
          <p:nvPr/>
        </p:nvSpPr>
        <p:spPr>
          <a:xfrm>
            <a:off x="5076825" y="5200650"/>
            <a:ext cx="44196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ST-Lite</a:t>
            </a:r>
            <a:r>
              <a:rPr sz="937" b="0" i="0">
                <a:solidFill>
                  <a:srgbClr val="4A4450"/>
                </a:solidFill>
                <a:latin typeface="Arial"/>
                <a:ea typeface="微软雅黑"/>
                <a:cs typeface="微软雅黑"/>
              </a:rPr>
              <a:t>（EMNLP 2026）</a:t>
            </a:r>
          </a:p>
        </p:txBody>
      </p:sp>
      <p:sp>
        <p:nvSpPr>
          <p:cNvPr id="17" name="TextBox 16"/>
          <p:cNvSpPr txBox="1"/>
          <p:nvPr/>
        </p:nvSpPr>
        <p:spPr>
          <a:xfrm>
            <a:off x="9715500" y="209550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3.4×</a:t>
            </a:r>
          </a:p>
        </p:txBody>
      </p:sp>
      <p:sp>
        <p:nvSpPr>
          <p:cNvPr id="18" name="TextBox 17"/>
          <p:cNvSpPr txBox="1"/>
          <p:nvPr/>
        </p:nvSpPr>
        <p:spPr>
          <a:xfrm>
            <a:off x="9715500" y="240030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FLOPs 降低，性能保持 &gt;94%</a:t>
            </a:r>
          </a:p>
        </p:txBody>
      </p:sp>
      <p:sp>
        <p:nvSpPr>
          <p:cNvPr id="19" name="TextBox 18"/>
          <p:cNvSpPr txBox="1"/>
          <p:nvPr/>
        </p:nvSpPr>
        <p:spPr>
          <a:xfrm>
            <a:off x="9715500" y="295275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3.3×</a:t>
            </a:r>
          </a:p>
        </p:txBody>
      </p:sp>
      <p:sp>
        <p:nvSpPr>
          <p:cNvPr id="20" name="TextBox 19"/>
          <p:cNvSpPr txBox="1"/>
          <p:nvPr/>
        </p:nvSpPr>
        <p:spPr>
          <a:xfrm>
            <a:off x="9715500" y="325755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视觉编码加速</a:t>
            </a:r>
          </a:p>
        </p:txBody>
      </p:sp>
      <p:sp>
        <p:nvSpPr>
          <p:cNvPr id="21" name="TextBox 20"/>
          <p:cNvSpPr txBox="1"/>
          <p:nvPr/>
        </p:nvSpPr>
        <p:spPr>
          <a:xfrm>
            <a:off x="9715500" y="381000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1E7B5A"/>
                </a:solidFill>
                <a:latin typeface="Arial"/>
                <a:ea typeface="微软雅黑"/>
                <a:cs typeface="微软雅黑"/>
              </a:rPr>
              <a:t>20% KV</a:t>
            </a:r>
          </a:p>
        </p:txBody>
      </p:sp>
      <p:sp>
        <p:nvSpPr>
          <p:cNvPr id="22" name="TextBox 21"/>
          <p:cNvSpPr txBox="1"/>
          <p:nvPr/>
        </p:nvSpPr>
        <p:spPr>
          <a:xfrm>
            <a:off x="9715500" y="411480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预算下与完整缓存持平</a:t>
            </a:r>
          </a:p>
        </p:txBody>
      </p:sp>
      <p:sp>
        <p:nvSpPr>
          <p:cNvPr id="23" name="TextBox 22"/>
          <p:cNvSpPr txBox="1"/>
          <p:nvPr/>
        </p:nvSpPr>
        <p:spPr>
          <a:xfrm>
            <a:off x="9715500" y="466725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2.35×</a:t>
            </a:r>
          </a:p>
        </p:txBody>
      </p:sp>
      <p:sp>
        <p:nvSpPr>
          <p:cNvPr id="24" name="TextBox 23"/>
          <p:cNvSpPr txBox="1"/>
          <p:nvPr/>
        </p:nvSpPr>
        <p:spPr>
          <a:xfrm>
            <a:off x="9715500" y="497205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5 倍压缩下解码加速</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结论：两端协同显著降低开销，但效率优化受限于纯视觉范式本身 → </a:t>
            </a:r>
            <a:r>
              <a:rPr sz="1350" b="1" i="0">
                <a:solidFill>
                  <a:srgbClr val="F6C8FF"/>
                </a:solidFill>
                <a:latin typeface="Arial"/>
                <a:ea typeface="微软雅黑"/>
                <a:cs typeface="微软雅黑"/>
              </a:rPr>
              <a:t>研究二重新审视任务范式</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课题二：综合数字智能体范式的构建与可信评测（已完成）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范式构建</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现有基准将文本与视觉割裂评测，任务可在单一模态内完成；仅依据最终结果判分，难以度量模态协同能力</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提出 </a:t>
            </a:r>
            <a:r>
              <a:rPr sz="1125" b="1" i="0">
                <a:solidFill>
                  <a:srgbClr val="1F1A22"/>
                </a:solidFill>
                <a:latin typeface="Arial"/>
                <a:ea typeface="微软雅黑"/>
                <a:cs typeface="微软雅黑"/>
              </a:rPr>
              <a:t>WeaveBench</a:t>
            </a:r>
            <a:r>
              <a:rPr sz="1125" b="0" i="0">
                <a:solidFill>
                  <a:srgbClr val="1F1A22"/>
                </a:solidFill>
                <a:latin typeface="Arial"/>
                <a:ea typeface="微软雅黑"/>
                <a:cs typeface="微软雅黑"/>
              </a:rPr>
              <a:t>，形式化定义融合两类模态的综合数字智能体范式：真实运行时 + 模态必需的长程任务 + 轨迹审计判分</a:t>
            </a:r>
          </a:p>
        </p:txBody>
      </p:sp>
      <p:sp>
        <p:nvSpPr>
          <p:cNvPr id="13" name="Rounded Rectangle 12"/>
          <p:cNvSpPr/>
          <p:nvPr/>
        </p:nvSpPr>
        <p:spPr>
          <a:xfrm>
            <a:off x="457200" y="2038350"/>
            <a:ext cx="60960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ig_overview_new-1.png"/>
          <p:cNvPicPr>
            <a:picLocks noChangeAspect="1"/>
          </p:cNvPicPr>
          <p:nvPr/>
        </p:nvPicPr>
        <p:blipFill>
          <a:blip r:embed="rId2"/>
          <a:stretch>
            <a:fillRect/>
          </a:stretch>
        </p:blipFill>
        <p:spPr>
          <a:xfrm>
            <a:off x="514350" y="2439891"/>
            <a:ext cx="5981700" cy="2378266"/>
          </a:xfrm>
          <a:prstGeom prst="rect">
            <a:avLst/>
          </a:prstGeom>
        </p:spPr>
      </p:pic>
      <p:sp>
        <p:nvSpPr>
          <p:cNvPr id="15" name="TextBox 14"/>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WeaveBench</a:t>
            </a:r>
            <a:r>
              <a:rPr sz="937" b="0" i="0">
                <a:solidFill>
                  <a:srgbClr val="4A4450"/>
                </a:solidFill>
                <a:latin typeface="Arial"/>
                <a:ea typeface="微软雅黑"/>
                <a:cs typeface="微软雅黑"/>
              </a:rPr>
              <a:t>（EMNLP 2026）：任务构造、运行时与轨迹感知判官</a:t>
            </a:r>
          </a:p>
        </p:txBody>
      </p:sp>
      <p:sp>
        <p:nvSpPr>
          <p:cNvPr id="16" name="Rounded Rectangle 15"/>
          <p:cNvSpPr/>
          <p:nvPr/>
        </p:nvSpPr>
        <p:spPr>
          <a:xfrm>
            <a:off x="6705600" y="2038350"/>
            <a:ext cx="5029200" cy="2190750"/>
          </a:xfrm>
          <a:prstGeom prst="roundRect">
            <a:avLst>
              <a:gd name="adj" fmla="val 347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g_failure_mechanism-1.png"/>
          <p:cNvPicPr>
            <a:picLocks noChangeAspect="1"/>
          </p:cNvPicPr>
          <p:nvPr/>
        </p:nvPicPr>
        <p:blipFill>
          <a:blip r:embed="rId3"/>
          <a:stretch>
            <a:fillRect/>
          </a:stretch>
        </p:blipFill>
        <p:spPr>
          <a:xfrm>
            <a:off x="6775214" y="2095500"/>
            <a:ext cx="4889970" cy="1752600"/>
          </a:xfrm>
          <a:prstGeom prst="rect">
            <a:avLst/>
          </a:prstGeom>
        </p:spPr>
      </p:pic>
      <p:sp>
        <p:nvSpPr>
          <p:cNvPr id="18" name="TextBox 17"/>
          <p:cNvSpPr txBox="1"/>
          <p:nvPr/>
        </p:nvSpPr>
        <p:spPr>
          <a:xfrm>
            <a:off x="6734175" y="3886200"/>
            <a:ext cx="4972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1,735 个失败的归因分析</a:t>
            </a:r>
          </a:p>
        </p:txBody>
      </p:sp>
      <p:sp>
        <p:nvSpPr>
          <p:cNvPr id="19" name="TextBox 18"/>
          <p:cNvSpPr txBox="1"/>
          <p:nvPr/>
        </p:nvSpPr>
        <p:spPr>
          <a:xfrm>
            <a:off x="67056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41.2%</a:t>
            </a:r>
          </a:p>
        </p:txBody>
      </p:sp>
      <p:sp>
        <p:nvSpPr>
          <p:cNvPr id="20" name="TextBox 19"/>
          <p:cNvSpPr txBox="1"/>
          <p:nvPr/>
        </p:nvSpPr>
        <p:spPr>
          <a:xfrm>
            <a:off x="67056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最强组合成功率（OSWorld &gt;78%）</a:t>
            </a:r>
          </a:p>
        </p:txBody>
      </p:sp>
      <p:sp>
        <p:nvSpPr>
          <p:cNvPr id="21" name="TextBox 20"/>
          <p:cNvSpPr txBox="1"/>
          <p:nvPr/>
        </p:nvSpPr>
        <p:spPr>
          <a:xfrm>
            <a:off x="92583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≤3.5%</a:t>
            </a:r>
          </a:p>
        </p:txBody>
      </p:sp>
      <p:sp>
        <p:nvSpPr>
          <p:cNvPr id="22" name="TextBox 21"/>
          <p:cNvSpPr txBox="1"/>
          <p:nvPr/>
        </p:nvSpPr>
        <p:spPr>
          <a:xfrm>
            <a:off x="92583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 GUI 或仅 CLI；混合增益 +31.6 pp</a:t>
            </a:r>
          </a:p>
        </p:txBody>
      </p:sp>
      <p:sp>
        <p:nvSpPr>
          <p:cNvPr id="23" name="TextBox 22"/>
          <p:cNvSpPr txBox="1"/>
          <p:nvPr/>
        </p:nvSpPr>
        <p:spPr>
          <a:xfrm>
            <a:off x="67056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−20 pp</a:t>
            </a:r>
          </a:p>
        </p:txBody>
      </p:sp>
      <p:sp>
        <p:nvSpPr>
          <p:cNvPr id="24" name="TextBox 23"/>
          <p:cNvSpPr txBox="1"/>
          <p:nvPr/>
        </p:nvSpPr>
        <p:spPr>
          <a:xfrm>
            <a:off x="67056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过程审计修正结果判分虚高</a:t>
            </a:r>
          </a:p>
        </p:txBody>
      </p:sp>
      <p:sp>
        <p:nvSpPr>
          <p:cNvPr id="25" name="TextBox 24"/>
          <p:cNvSpPr txBox="1"/>
          <p:nvPr/>
        </p:nvSpPr>
        <p:spPr>
          <a:xfrm>
            <a:off x="92583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65.6%</a:t>
            </a:r>
          </a:p>
        </p:txBody>
      </p:sp>
      <p:sp>
        <p:nvSpPr>
          <p:cNvPr id="26" name="TextBox 25"/>
          <p:cNvSpPr txBox="1"/>
          <p:nvPr/>
        </p:nvSpPr>
        <p:spPr>
          <a:xfrm>
            <a:off x="92583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违规取巧（Reward Hacking）与长程失控</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结论：瓶颈不在视觉感知，而在</a:t>
            </a:r>
            <a:r>
              <a:rPr sz="1350" b="1" i="0">
                <a:solidFill>
                  <a:srgbClr val="F6C8FF"/>
                </a:solidFill>
                <a:latin typeface="Arial"/>
                <a:ea typeface="微软雅黑"/>
                <a:cs typeface="微软雅黑"/>
              </a:rPr>
              <a:t>自主编排（Orchestration）与自我验证（Self-verification）</a:t>
            </a:r>
            <a:r>
              <a:rPr sz="1350" b="0" i="0">
                <a:solidFill>
                  <a:srgbClr val="FFFFFF"/>
                </a:solidFill>
                <a:latin typeface="Arial"/>
                <a:ea typeface="微软雅黑"/>
                <a:cs typeface="微软雅黑"/>
              </a:rPr>
              <a:t>；仅依据结果的奖励易被利用 → </a:t>
            </a:r>
            <a:r>
              <a:rPr sz="1350" b="1" i="0">
                <a:solidFill>
                  <a:srgbClr val="F6C8FF"/>
                </a:solidFill>
                <a:latin typeface="Arial"/>
                <a:ea typeface="微软雅黑"/>
                <a:cs typeface="微软雅黑"/>
              </a:rPr>
              <a:t>研究三</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课题三：混合行为模式的可验证训练方法（已完成）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行为训练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Rounded Rectangle 10"/>
          <p:cNvSpPr/>
          <p:nvPr/>
        </p:nvSpPr>
        <p:spPr>
          <a:xfrm>
            <a:off x="457200" y="1428750"/>
            <a:ext cx="67818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2_recreation.png"/>
          <p:cNvPicPr>
            <a:picLocks noChangeAspect="1"/>
          </p:cNvPicPr>
          <p:nvPr/>
        </p:nvPicPr>
        <p:blipFill>
          <a:blip r:embed="rId2"/>
          <a:stretch>
            <a:fillRect/>
          </a:stretch>
        </p:blipFill>
        <p:spPr>
          <a:xfrm>
            <a:off x="866630" y="1485900"/>
            <a:ext cx="5962939" cy="1428750"/>
          </a:xfrm>
          <a:prstGeom prst="rect">
            <a:avLst/>
          </a:prstGeom>
        </p:spPr>
      </p:pic>
      <p:sp>
        <p:nvSpPr>
          <p:cNvPr id="13" name="TextBox 12"/>
          <p:cNvSpPr txBox="1"/>
          <p:nvPr/>
        </p:nvSpPr>
        <p:spPr>
          <a:xfrm>
            <a:off x="485775" y="295275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：探索原版 → 实现 → 运行 → 视觉核验</a:t>
            </a:r>
          </a:p>
        </p:txBody>
      </p:sp>
      <p:sp>
        <p:nvSpPr>
          <p:cNvPr id="14" name="Rounded Rectangle 13"/>
          <p:cNvSpPr/>
          <p:nvPr/>
        </p:nvSpPr>
        <p:spPr>
          <a:xfrm>
            <a:off x="457200" y="3409950"/>
            <a:ext cx="6781800" cy="2686050"/>
          </a:xfrm>
          <a:prstGeom prst="roundRect">
            <a:avLst>
              <a:gd name="adj" fmla="val 283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w_fig4_construct.png"/>
          <p:cNvPicPr>
            <a:picLocks noChangeAspect="1"/>
          </p:cNvPicPr>
          <p:nvPr/>
        </p:nvPicPr>
        <p:blipFill>
          <a:blip r:embed="rId3"/>
          <a:stretch>
            <a:fillRect/>
          </a:stretch>
        </p:blipFill>
        <p:spPr>
          <a:xfrm>
            <a:off x="1089834" y="3467100"/>
            <a:ext cx="5516530" cy="2247900"/>
          </a:xfrm>
          <a:prstGeom prst="rect">
            <a:avLst/>
          </a:prstGeom>
        </p:spPr>
      </p:pic>
      <p:sp>
        <p:nvSpPr>
          <p:cNvPr id="16" name="TextBox 15"/>
          <p:cNvSpPr txBox="1"/>
          <p:nvPr/>
        </p:nvSpPr>
        <p:spPr>
          <a:xfrm>
            <a:off x="485775" y="575310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环境构建：开源应用 → 行为探查 → 测试合成 → 参考回放校验 → 冻结隐藏测试集</a:t>
            </a:r>
          </a:p>
        </p:txBody>
      </p:sp>
      <p:sp>
        <p:nvSpPr>
          <p:cNvPr id="17" name="TextBox 16"/>
          <p:cNvSpPr txBox="1"/>
          <p:nvPr/>
        </p:nvSpPr>
        <p:spPr>
          <a:xfrm>
            <a:off x="7429500" y="1428750"/>
            <a:ext cx="4343400" cy="662582"/>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问题：</a:t>
            </a:r>
            <a:r>
              <a:rPr sz="1087" b="0" i="0">
                <a:solidFill>
                  <a:srgbClr val="1F1A22"/>
                </a:solidFill>
                <a:latin typeface="Arial"/>
                <a:ea typeface="微软雅黑"/>
                <a:cs typeface="微软雅黑"/>
              </a:rPr>
              <a:t>自主编排（Orchestration）与自我验证（Self-verification）需在</a:t>
            </a:r>
            <a:r>
              <a:rPr sz="1087" b="1" i="0">
                <a:solidFill>
                  <a:srgbClr val="1F1A22"/>
                </a:solidFill>
                <a:latin typeface="Arial"/>
                <a:ea typeface="微软雅黑"/>
                <a:cs typeface="微软雅黑"/>
              </a:rPr>
              <a:t>模态交织、结果可验证</a:t>
            </a:r>
            <a:r>
              <a:rPr sz="1087" b="0" i="0">
                <a:solidFill>
                  <a:srgbClr val="1F1A22"/>
                </a:solidFill>
                <a:latin typeface="Arial"/>
                <a:ea typeface="微软雅黑"/>
                <a:cs typeface="微软雅黑"/>
              </a:rPr>
              <a:t>的场景中习得；图形界面缺少天然奖励，现有环境局限于单一界面</a:t>
            </a:r>
          </a:p>
        </p:txBody>
      </p:sp>
      <p:sp>
        <p:nvSpPr>
          <p:cNvPr id="18" name="TextBox 17"/>
          <p:cNvSpPr txBox="1"/>
          <p:nvPr/>
        </p:nvSpPr>
        <p:spPr>
          <a:xfrm>
            <a:off x="7429500" y="2381250"/>
            <a:ext cx="4343400" cy="883443"/>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解决方法：</a:t>
            </a:r>
            <a:r>
              <a:rPr sz="1087" b="0" i="0">
                <a:solidFill>
                  <a:srgbClr val="1F1A22"/>
                </a:solidFill>
                <a:latin typeface="Arial"/>
                <a:ea typeface="微软雅黑"/>
                <a:cs typeface="微软雅黑"/>
              </a:rPr>
              <a:t>以</a:t>
            </a:r>
            <a:r>
              <a:rPr sz="1087" b="1" i="0">
                <a:solidFill>
                  <a:srgbClr val="1F1A22"/>
                </a:solidFill>
                <a:latin typeface="Arial"/>
                <a:ea typeface="微软雅黑"/>
                <a:cs typeface="微软雅黑"/>
              </a:rPr>
              <a:t>应用复刻（App Recreation）</a:t>
            </a:r>
            <a:r>
              <a:rPr sz="1087" b="0" i="0">
                <a:solidFill>
                  <a:srgbClr val="1F1A22"/>
                </a:solidFill>
                <a:latin typeface="Arial"/>
                <a:ea typeface="微软雅黑"/>
                <a:cs typeface="微软雅黑"/>
              </a:rPr>
              <a:t>为训练场景：规格存在于界面中、交付物为代码、正确性需运行后视觉核验，天然要求两类模态交织；</a:t>
            </a:r>
            <a:r>
              <a:rPr sz="1087" b="1" i="0">
                <a:solidFill>
                  <a:srgbClr val="1F1A22"/>
                </a:solidFill>
                <a:latin typeface="Arial"/>
                <a:ea typeface="微软雅黑"/>
                <a:cs typeface="微软雅黑"/>
              </a:rPr>
              <a:t>原版应用即 oracle</a:t>
            </a:r>
            <a:r>
              <a:rPr sz="1087" b="0" i="0">
                <a:solidFill>
                  <a:srgbClr val="1F1A22"/>
                </a:solidFill>
                <a:latin typeface="Arial"/>
                <a:ea typeface="微软雅黑"/>
                <a:cs typeface="微软雅黑"/>
              </a:rPr>
              <a:t>，自动合成隐藏行为测试作为可验证奖励（Verifiable Reward）</a:t>
            </a:r>
          </a:p>
        </p:txBody>
      </p:sp>
      <p:sp>
        <p:nvSpPr>
          <p:cNvPr id="19" name="Rounded Rectangle 18"/>
          <p:cNvSpPr/>
          <p:nvPr/>
        </p:nvSpPr>
        <p:spPr>
          <a:xfrm>
            <a:off x="7429500" y="4114800"/>
            <a:ext cx="4305300" cy="1981200"/>
          </a:xfrm>
          <a:prstGeom prst="roundRect">
            <a:avLst>
              <a:gd name="adj" fmla="val 384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w_fig3_horizon.png"/>
          <p:cNvPicPr>
            <a:picLocks noChangeAspect="1"/>
          </p:cNvPicPr>
          <p:nvPr/>
        </p:nvPicPr>
        <p:blipFill>
          <a:blip r:embed="rId4"/>
          <a:stretch>
            <a:fillRect/>
          </a:stretch>
        </p:blipFill>
        <p:spPr>
          <a:xfrm>
            <a:off x="8361973" y="4171950"/>
            <a:ext cx="2440353" cy="1543050"/>
          </a:xfrm>
          <a:prstGeom prst="rect">
            <a:avLst/>
          </a:prstGeom>
        </p:spPr>
      </p:pic>
      <p:sp>
        <p:nvSpPr>
          <p:cNvPr id="21" name="TextBox 20"/>
          <p:cNvSpPr txBox="1"/>
          <p:nvPr/>
        </p:nvSpPr>
        <p:spPr>
          <a:xfrm>
            <a:off x="7458075" y="5753100"/>
            <a:ext cx="4248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每百次调用的 GUI↔代码切换：复刻任务远高于现有基准</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课题三（续）：训练流程与实验结果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① 复刻任务构造</a:t>
            </a:r>
          </a:p>
        </p:txBody>
      </p:sp>
      <p:sp>
        <p:nvSpPr>
          <p:cNvPr id="7" name="TextBox 6"/>
          <p:cNvSpPr txBox="1"/>
          <p:nvPr/>
        </p:nvSpPr>
        <p:spPr>
          <a:xfrm>
            <a:off x="59055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GitHub 高质量开源 GUI 应用，覆盖 Ubuntu / macOS / Windows / Android / Web，与评测集去重</a:t>
            </a:r>
          </a:p>
        </p:txBody>
      </p:sp>
      <p:sp>
        <p:nvSpPr>
          <p:cNvPr id="8" name="Rounded Rectangle 7"/>
          <p:cNvSpPr/>
          <p:nvPr/>
        </p:nvSpPr>
        <p:spPr>
          <a:xfrm>
            <a:off x="332422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5757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② 轨迹生成</a:t>
            </a:r>
          </a:p>
        </p:txBody>
      </p:sp>
      <p:sp>
        <p:nvSpPr>
          <p:cNvPr id="10" name="TextBox 9"/>
          <p:cNvSpPr txBox="1"/>
          <p:nvPr/>
        </p:nvSpPr>
        <p:spPr>
          <a:xfrm>
            <a:off x="345757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Qwen3.8-Max 在隔离虚拟机池中并发执行"探索—实现—构建运行—核验修正"</a:t>
            </a:r>
          </a:p>
        </p:txBody>
      </p:sp>
      <p:sp>
        <p:nvSpPr>
          <p:cNvPr id="11" name="Rounded Rectangle 10"/>
          <p:cNvSpPr/>
          <p:nvPr/>
        </p:nvSpPr>
        <p:spPr>
          <a:xfrm>
            <a:off x="619125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460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③ 可验证筛选</a:t>
            </a:r>
          </a:p>
        </p:txBody>
      </p:sp>
      <p:sp>
        <p:nvSpPr>
          <p:cNvPr id="13" name="TextBox 12"/>
          <p:cNvSpPr txBox="1"/>
          <p:nvPr/>
        </p:nvSpPr>
        <p:spPr>
          <a:xfrm>
            <a:off x="632460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以任务级行为 verifier 拒绝采样（Rejection Sampling），每平台取 7,000 条，共 3.5 万条轨迹</a:t>
            </a:r>
          </a:p>
        </p:txBody>
      </p:sp>
      <p:sp>
        <p:nvSpPr>
          <p:cNvPr id="14" name="Rounded Rectangle 13"/>
          <p:cNvSpPr/>
          <p:nvPr/>
        </p:nvSpPr>
        <p:spPr>
          <a:xfrm>
            <a:off x="905827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9162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④ 模型后训练</a:t>
            </a:r>
          </a:p>
        </p:txBody>
      </p:sp>
      <p:sp>
        <p:nvSpPr>
          <p:cNvPr id="16" name="TextBox 15"/>
          <p:cNvSpPr txBox="1"/>
          <p:nvPr/>
        </p:nvSpPr>
        <p:spPr>
          <a:xfrm>
            <a:off x="9191625"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同一数据分别监督微调（SFT）Qwen3.7-Plus 与持续预训练（CPT）后的 Qwen-Flash</a:t>
            </a:r>
          </a:p>
        </p:txBody>
      </p:sp>
      <p:sp>
        <p:nvSpPr>
          <p:cNvPr id="17" name="TextBox 16"/>
          <p:cNvSpPr txBox="1"/>
          <p:nvPr/>
        </p:nvSpPr>
        <p:spPr>
          <a:xfrm>
            <a:off x="307657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8" name="TextBox 17"/>
          <p:cNvSpPr txBox="1"/>
          <p:nvPr/>
        </p:nvSpPr>
        <p:spPr>
          <a:xfrm>
            <a:off x="5943600"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9" name="TextBox 18"/>
          <p:cNvSpPr txBox="1"/>
          <p:nvPr/>
        </p:nvSpPr>
        <p:spPr>
          <a:xfrm>
            <a:off x="881062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20" name="Rounded Rectangle 19"/>
          <p:cNvSpPr/>
          <p:nvPr/>
        </p:nvSpPr>
        <p:spPr>
          <a:xfrm>
            <a:off x="457200" y="2514600"/>
            <a:ext cx="78105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rw_fig5_transfer.png"/>
          <p:cNvPicPr>
            <a:picLocks noChangeAspect="1"/>
          </p:cNvPicPr>
          <p:nvPr/>
        </p:nvPicPr>
        <p:blipFill>
          <a:blip r:embed="rId2"/>
          <a:stretch>
            <a:fillRect/>
          </a:stretch>
        </p:blipFill>
        <p:spPr>
          <a:xfrm>
            <a:off x="514350" y="2653118"/>
            <a:ext cx="7696200" cy="2428063"/>
          </a:xfrm>
          <a:prstGeom prst="rect">
            <a:avLst/>
          </a:prstGeom>
        </p:spPr>
      </p:pic>
      <p:sp>
        <p:nvSpPr>
          <p:cNvPr id="22" name="TextBox 21"/>
          <p:cNvSpPr txBox="1"/>
          <p:nvPr/>
        </p:nvSpPr>
        <p:spPr>
          <a:xfrm>
            <a:off x="485775" y="520065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迁移到 5 个分布外（OOD）基准（代码、视觉代码、混合计算机操作）：两种初始化均一致提升</a:t>
            </a:r>
          </a:p>
        </p:txBody>
      </p:sp>
      <p:sp>
        <p:nvSpPr>
          <p:cNvPr id="23" name="TextBox 22"/>
          <p:cNvSpPr txBox="1"/>
          <p:nvPr/>
        </p:nvSpPr>
        <p:spPr>
          <a:xfrm>
            <a:off x="8496300" y="25717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 · 5 平台</a:t>
            </a:r>
          </a:p>
        </p:txBody>
      </p:sp>
      <p:sp>
        <p:nvSpPr>
          <p:cNvPr id="24" name="TextBox 23"/>
          <p:cNvSpPr txBox="1"/>
          <p:nvPr/>
        </p:nvSpPr>
        <p:spPr>
          <a:xfrm>
            <a:off x="8496300" y="28575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评测集</a:t>
            </a:r>
          </a:p>
        </p:txBody>
      </p:sp>
      <p:sp>
        <p:nvSpPr>
          <p:cNvPr id="25" name="TextBox 24"/>
          <p:cNvSpPr txBox="1"/>
          <p:nvPr/>
        </p:nvSpPr>
        <p:spPr>
          <a:xfrm>
            <a:off x="8496300" y="33147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2.8%</a:t>
            </a:r>
          </a:p>
        </p:txBody>
      </p:sp>
      <p:sp>
        <p:nvSpPr>
          <p:cNvPr id="26" name="TextBox 25"/>
          <p:cNvSpPr txBox="1"/>
          <p:nvPr/>
        </p:nvSpPr>
        <p:spPr>
          <a:xfrm>
            <a:off x="8496300" y="36004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最强模型全部通过的题目比例</a:t>
            </a:r>
          </a:p>
        </p:txBody>
      </p:sp>
      <p:sp>
        <p:nvSpPr>
          <p:cNvPr id="27" name="TextBox 26"/>
          <p:cNvSpPr txBox="1"/>
          <p:nvPr/>
        </p:nvSpPr>
        <p:spPr>
          <a:xfrm>
            <a:off x="8496300" y="40576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+17.9 pp</a:t>
            </a:r>
          </a:p>
        </p:txBody>
      </p:sp>
      <p:sp>
        <p:nvSpPr>
          <p:cNvPr id="28" name="TextBox 27"/>
          <p:cNvSpPr txBox="1"/>
          <p:nvPr/>
        </p:nvSpPr>
        <p:spPr>
          <a:xfrm>
            <a:off x="8496300" y="43434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分布外（OOD）基准最大提升</a:t>
            </a:r>
          </a:p>
        </p:txBody>
      </p:sp>
      <p:sp>
        <p:nvSpPr>
          <p:cNvPr id="29" name="TextBox 28"/>
          <p:cNvSpPr txBox="1"/>
          <p:nvPr/>
        </p:nvSpPr>
        <p:spPr>
          <a:xfrm>
            <a:off x="8496300" y="48006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 → 48.2</a:t>
            </a:r>
          </a:p>
        </p:txBody>
      </p:sp>
      <p:sp>
        <p:nvSpPr>
          <p:cNvPr id="30" name="TextBox 29"/>
          <p:cNvSpPr txBox="1"/>
          <p:nvPr/>
        </p:nvSpPr>
        <p:spPr>
          <a:xfrm>
            <a:off x="8496300" y="50863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WeaveBench（研究二）上的提升</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结论：可验证环境中习得的混合行为模式可迁移至分布外任务 → </a:t>
            </a:r>
            <a:r>
              <a:rPr sz="1350" b="1" i="0">
                <a:solidFill>
                  <a:srgbClr val="F6C8FF"/>
                </a:solidFill>
                <a:latin typeface="Arial"/>
                <a:ea typeface="微软雅黑"/>
                <a:cs typeface="微软雅黑"/>
              </a:rPr>
              <a:t>研究四扩展环境的领域与规模</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课题四：面向多领域的可验证交互环境规模化构建（待完成）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环境扩展</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复刻环境覆盖的软件类型有限；金融、法律、电商、医疗等行业流程依赖私有系统与真实业务数据，缺少可交互、可验证的训练环境</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① </a:t>
            </a:r>
            <a:r>
              <a:rPr sz="1125" b="1" i="0">
                <a:solidFill>
                  <a:srgbClr val="1F1A22"/>
                </a:solidFill>
                <a:latin typeface="Arial"/>
                <a:ea typeface="微软雅黑"/>
                <a:cs typeface="微软雅黑"/>
              </a:rPr>
              <a:t>App Mock</a:t>
            </a:r>
            <a:r>
              <a:rPr sz="1125" b="0" i="0">
                <a:solidFill>
                  <a:srgbClr val="1F1A22"/>
                </a:solidFill>
                <a:latin typeface="Arial"/>
                <a:ea typeface="微软雅黑"/>
                <a:cs typeface="微软雅黑"/>
              </a:rPr>
              <a:t>：仿真行业业务系统；② </a:t>
            </a:r>
            <a:r>
              <a:rPr sz="1125" b="1" i="0">
                <a:solidFill>
                  <a:srgbClr val="1F1A22"/>
                </a:solidFill>
                <a:latin typeface="Arial"/>
                <a:ea typeface="微软雅黑"/>
                <a:cs typeface="微软雅黑"/>
              </a:rPr>
              <a:t>真实数据驱动</a:t>
            </a:r>
            <a:r>
              <a:rPr sz="1125" b="0" i="0">
                <a:solidFill>
                  <a:srgbClr val="1F1A22"/>
                </a:solidFill>
                <a:latin typeface="Arial"/>
                <a:ea typeface="微软雅黑"/>
                <a:cs typeface="微软雅黑"/>
              </a:rPr>
              <a:t>：以脱敏数据驱动状态与事件演化；③ </a:t>
            </a:r>
            <a:r>
              <a:rPr sz="1125" b="1" i="0">
                <a:solidFill>
                  <a:srgbClr val="1F1A22"/>
                </a:solidFill>
                <a:latin typeface="Arial"/>
                <a:ea typeface="微软雅黑"/>
                <a:cs typeface="微软雅黑"/>
              </a:rPr>
              <a:t>SFT &amp; RL 任务构造流水线</a:t>
            </a:r>
          </a:p>
        </p:txBody>
      </p:sp>
      <p:sp>
        <p:nvSpPr>
          <p:cNvPr id="13" name="Rounded Rectangle 12"/>
          <p:cNvSpPr/>
          <p:nvPr/>
        </p:nvSpPr>
        <p:spPr>
          <a:xfrm>
            <a:off x="457200" y="2038350"/>
            <a:ext cx="6667500" cy="4057650"/>
          </a:xfrm>
          <a:prstGeom prst="roundRect">
            <a:avLst>
              <a:gd name="adj" fmla="val 187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c_scaling_framework.png"/>
          <p:cNvPicPr>
            <a:picLocks noChangeAspect="1"/>
          </p:cNvPicPr>
          <p:nvPr/>
        </p:nvPicPr>
        <p:blipFill>
          <a:blip r:embed="rId2"/>
          <a:stretch>
            <a:fillRect/>
          </a:stretch>
        </p:blipFill>
        <p:spPr>
          <a:xfrm>
            <a:off x="1076325" y="2095500"/>
            <a:ext cx="5429250" cy="3619500"/>
          </a:xfrm>
          <a:prstGeom prst="rect">
            <a:avLst/>
          </a:prstGeom>
        </p:spPr>
      </p:pic>
      <p:sp>
        <p:nvSpPr>
          <p:cNvPr id="15" name="TextBox 14"/>
          <p:cNvSpPr txBox="1"/>
          <p:nvPr/>
        </p:nvSpPr>
        <p:spPr>
          <a:xfrm>
            <a:off x="485775" y="575310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可验证环境规模化构建流程（示意图）</a:t>
            </a:r>
          </a:p>
        </p:txBody>
      </p:sp>
      <p:sp>
        <p:nvSpPr>
          <p:cNvPr id="16" name="Rounded Rectangle 15"/>
          <p:cNvSpPr/>
          <p:nvPr/>
        </p:nvSpPr>
        <p:spPr>
          <a:xfrm>
            <a:off x="7277100" y="2038350"/>
            <a:ext cx="4457700" cy="285750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ac_domain_grid.png"/>
          <p:cNvPicPr>
            <a:picLocks noChangeAspect="1"/>
          </p:cNvPicPr>
          <p:nvPr/>
        </p:nvPicPr>
        <p:blipFill>
          <a:blip r:embed="rId3"/>
          <a:stretch>
            <a:fillRect/>
          </a:stretch>
        </p:blipFill>
        <p:spPr>
          <a:xfrm>
            <a:off x="7691437" y="2095500"/>
            <a:ext cx="3629025" cy="2419350"/>
          </a:xfrm>
          <a:prstGeom prst="rect">
            <a:avLst/>
          </a:prstGeom>
        </p:spPr>
      </p:pic>
      <p:sp>
        <p:nvSpPr>
          <p:cNvPr id="18" name="TextBox 17"/>
          <p:cNvSpPr txBox="1"/>
          <p:nvPr/>
        </p:nvSpPr>
        <p:spPr>
          <a:xfrm>
            <a:off x="7305675" y="4552950"/>
            <a:ext cx="44005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目标领域：金融 · 法律 · 电商 · 医疗健康 · 办公协作 · 工程（示意图）</a:t>
            </a:r>
          </a:p>
        </p:txBody>
      </p:sp>
      <p:sp>
        <p:nvSpPr>
          <p:cNvPr id="19" name="TextBox 18"/>
          <p:cNvSpPr txBox="1"/>
          <p:nvPr/>
        </p:nvSpPr>
        <p:spPr>
          <a:xfrm>
            <a:off x="7277100" y="5010150"/>
            <a:ext cx="4495800" cy="84832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 状态优先的 verifier：以数据库状态校验结果，抑制奖励利用（Reward Hacking）</a:t>
            </a:r>
          </a:p>
          <a:p>
            <a:pPr algn="l">
              <a:lnSpc>
                <a:spcPts val="1670"/>
              </a:lnSpc>
              <a:spcBef>
                <a:spcPts val="0"/>
              </a:spcBef>
              <a:spcAft>
                <a:spcPts val="0"/>
              </a:spcAft>
            </a:pPr>
            <a:r>
              <a:rPr sz="1012" b="0" i="0">
                <a:solidFill>
                  <a:srgbClr val="1F1A22"/>
                </a:solidFill>
                <a:latin typeface="Arial"/>
                <a:ea typeface="微软雅黑"/>
                <a:cs typeface="微软雅黑"/>
              </a:rPr>
              <a:t>• 事件依附业务动作，支持长程、跨应用的协作任务</a:t>
            </a:r>
          </a:p>
          <a:p>
            <a:pPr algn="l">
              <a:lnSpc>
                <a:spcPts val="1670"/>
              </a:lnSpc>
              <a:spcBef>
                <a:spcPts val="0"/>
              </a:spcBef>
              <a:spcAft>
                <a:spcPts val="0"/>
              </a:spcAft>
            </a:pPr>
            <a:r>
              <a:rPr sz="1012" b="0" i="0">
                <a:solidFill>
                  <a:srgbClr val="1F1A22"/>
                </a:solidFill>
                <a:latin typeface="Arial"/>
                <a:ea typeface="微软雅黑"/>
                <a:cs typeface="微软雅黑"/>
              </a:rPr>
              <a:t>• 研究一的压缩方法用于降低强化学习 rollout 开销</a:t>
            </a:r>
          </a:p>
        </p:txBody>
      </p:sp>
      <p:sp>
        <p:nvSpPr>
          <p:cNvPr id="20" name="TextBox 19"/>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已完成工作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2"/>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投稿 KDD 2027</a:t>
            </a:r>
          </a:p>
        </p:txBody>
      </p:sp>
      <p:sp>
        <p:nvSpPr>
          <p:cNvPr id="9" name="TextBox 8"/>
          <p:cNvSpPr txBox="1"/>
          <p:nvPr/>
        </p:nvSpPr>
        <p:spPr>
          <a:xfrm>
            <a:off x="571500" y="3857625"/>
            <a:ext cx="7048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GUIPruner</a:t>
            </a:r>
          </a:p>
        </p:txBody>
      </p:sp>
      <p:sp>
        <p:nvSpPr>
          <p:cNvPr id="10" name="TextBox 9"/>
          <p:cNvSpPr txBox="1"/>
          <p:nvPr/>
        </p:nvSpPr>
        <p:spPr>
          <a:xfrm>
            <a:off x="571500"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a:t>
            </a: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3"/>
          <a:stretch>
            <a:fillRect/>
          </a:stretch>
        </p:blipFill>
        <p:spPr>
          <a:xfrm>
            <a:off x="3964035" y="1504950"/>
            <a:ext cx="1387378" cy="1962150"/>
          </a:xfrm>
          <a:prstGeom prst="rect">
            <a:avLst/>
          </a:prstGeom>
        </p:spPr>
      </p:pic>
      <p:sp>
        <p:nvSpPr>
          <p:cNvPr id="13" name="Rounded Rectangle 12"/>
          <p:cNvSpPr/>
          <p:nvPr/>
        </p:nvSpPr>
        <p:spPr>
          <a:xfrm>
            <a:off x="3438525"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15" name="TextBox 14"/>
          <p:cNvSpPr txBox="1"/>
          <p:nvPr/>
        </p:nvSpPr>
        <p:spPr>
          <a:xfrm>
            <a:off x="3438525" y="3857625"/>
            <a:ext cx="4857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ST-Lite</a:t>
            </a:r>
          </a:p>
        </p:txBody>
      </p:sp>
      <p:sp>
        <p:nvSpPr>
          <p:cNvPr id="16" name="TextBox 15"/>
          <p:cNvSpPr txBox="1"/>
          <p:nvPr/>
        </p:nvSpPr>
        <p:spPr>
          <a:xfrm>
            <a:off x="3438525"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a:t>
            </a: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4"/>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21" name="TextBox 20"/>
          <p:cNvSpPr txBox="1"/>
          <p:nvPr/>
        </p:nvSpPr>
        <p:spPr>
          <a:xfrm>
            <a:off x="6305550" y="3857625"/>
            <a:ext cx="8477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WeaveBench</a:t>
            </a:r>
          </a:p>
        </p:txBody>
      </p:sp>
      <p:sp>
        <p:nvSpPr>
          <p:cNvPr id="22" name="TextBox 21"/>
          <p:cNvSpPr txBox="1"/>
          <p:nvPr/>
        </p:nvSpPr>
        <p:spPr>
          <a:xfrm>
            <a:off x="6305550"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研究二</a:t>
            </a: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5"/>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技术报告 2026</a:t>
            </a:r>
          </a:p>
        </p:txBody>
      </p:sp>
      <p:sp>
        <p:nvSpPr>
          <p:cNvPr id="27" name="TextBox 26"/>
          <p:cNvSpPr txBox="1"/>
          <p:nvPr/>
        </p:nvSpPr>
        <p:spPr>
          <a:xfrm>
            <a:off x="9172575" y="3857625"/>
            <a:ext cx="10953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RecreationWorld</a:t>
            </a:r>
          </a:p>
        </p:txBody>
      </p:sp>
      <p:sp>
        <p:nvSpPr>
          <p:cNvPr id="28" name="TextBox 27"/>
          <p:cNvSpPr txBox="1"/>
          <p:nvPr/>
        </p:nvSpPr>
        <p:spPr>
          <a:xfrm>
            <a:off x="9172575"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研究三</a:t>
            </a: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6668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4573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Qwen 团队 · 研究实习</a:t>
            </a:r>
          </a:p>
        </p:txBody>
      </p:sp>
      <p:sp>
        <p:nvSpPr>
          <p:cNvPr id="32" name="TextBox 31"/>
          <p:cNvSpPr txBox="1"/>
          <p:nvPr/>
        </p:nvSpPr>
        <p:spPr>
          <a:xfrm>
            <a:off x="628650" y="4895850"/>
            <a:ext cx="1099185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参与 </a:t>
            </a:r>
            <a:r>
              <a:rPr sz="1087" b="1" i="0">
                <a:solidFill>
                  <a:srgbClr val="1F1A22"/>
                </a:solidFill>
                <a:latin typeface="Arial"/>
                <a:ea typeface="微软雅黑"/>
                <a:cs typeface="微软雅黑"/>
              </a:rPr>
              <a:t>Qwen3.8-Max</a:t>
            </a:r>
            <a:r>
              <a:rPr sz="1087" b="0" i="0">
                <a:solidFill>
                  <a:srgbClr val="1F1A22"/>
                </a:solidFill>
                <a:latin typeface="Arial"/>
                <a:ea typeface="微软雅黑"/>
                <a:cs typeface="微软雅黑"/>
              </a:rPr>
              <a:t> 研发，深入接触前沿基础模型在计算机操作与长程智能体任务中的</a:t>
            </a:r>
            <a:r>
              <a:rPr sz="1087" b="1" i="0">
                <a:solidFill>
                  <a:srgbClr val="1F1A22"/>
                </a:solidFill>
                <a:latin typeface="Arial"/>
                <a:ea typeface="微软雅黑"/>
                <a:cs typeface="微软雅黑"/>
              </a:rPr>
              <a:t>关键痛点</a:t>
            </a:r>
            <a:r>
              <a:rPr sz="1087" b="0" i="0">
                <a:solidFill>
                  <a:srgbClr val="1F1A22"/>
                </a:solidFill>
                <a:latin typeface="Arial"/>
                <a:ea typeface="微软雅黑"/>
                <a:cs typeface="微软雅黑"/>
              </a:rPr>
              <a:t>；本课题的研究问题源于一线训练与评测需求，所构建的评测、环境与数据可直接服务于基础模型后训练。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研究一至研究三已完成，形成</a:t>
            </a:r>
            <a:r>
              <a:rPr sz="1350" b="1" i="0">
                <a:solidFill>
                  <a:srgbClr val="F6C8FF"/>
                </a:solidFill>
                <a:latin typeface="Arial"/>
                <a:ea typeface="微软雅黑"/>
                <a:cs typeface="微软雅黑"/>
              </a:rPr>
              <a:t>效率优化—范式构建—行为训练</a:t>
            </a:r>
            <a:r>
              <a:rPr sz="1350" b="0" i="0">
                <a:solidFill>
                  <a:srgbClr val="FFFFFF"/>
                </a:solidFill>
                <a:latin typeface="Arial"/>
                <a:ea typeface="微软雅黑"/>
                <a:cs typeface="微软雅黑"/>
              </a:rPr>
              <a:t>的研究基础；后续聚焦研究四</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研究计划：面向多领域的可验证交互环境规模化构建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2026.10 – 2027.01</a:t>
            </a:r>
          </a:p>
        </p:txBody>
      </p:sp>
      <p:sp>
        <p:nvSpPr>
          <p:cNvPr id="8" name="Rounded Rectangle 7"/>
          <p:cNvSpPr/>
          <p:nvPr/>
        </p:nvSpPr>
        <p:spPr>
          <a:xfrm>
            <a:off x="4572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App Mock</a:t>
            </a:r>
          </a:p>
        </p:txBody>
      </p:sp>
      <p:sp>
        <p:nvSpPr>
          <p:cNvPr id="10" name="TextBox 9"/>
          <p:cNvSpPr txBox="1"/>
          <p:nvPr/>
        </p:nvSpPr>
        <p:spPr>
          <a:xfrm>
            <a:off x="609600" y="2266950"/>
            <a:ext cx="2438400" cy="933450"/>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金融 / 法律 / 电商 / 医疗等业务系统调研</a:t>
            </a:r>
          </a:p>
          <a:p>
            <a:pPr algn="l">
              <a:lnSpc>
                <a:spcPts val="1837"/>
              </a:lnSpc>
              <a:spcBef>
                <a:spcPts val="0"/>
              </a:spcBef>
              <a:spcAft>
                <a:spcPts val="0"/>
              </a:spcAft>
            </a:pPr>
            <a:r>
              <a:rPr sz="1050" b="0" i="0">
                <a:solidFill>
                  <a:srgbClr val="4A4450"/>
                </a:solidFill>
                <a:latin typeface="Arial"/>
                <a:ea typeface="微软雅黑"/>
                <a:cs typeface="微软雅黑"/>
              </a:rPr>
              <a:t>• 基于复刻能力构建可交互仿真应用</a:t>
            </a:r>
          </a:p>
          <a:p>
            <a:pPr algn="l">
              <a:lnSpc>
                <a:spcPts val="1837"/>
              </a:lnSpc>
              <a:spcBef>
                <a:spcPts val="0"/>
              </a:spcBef>
              <a:spcAft>
                <a:spcPts val="0"/>
              </a:spcAft>
            </a:pPr>
            <a:r>
              <a:rPr sz="1050" b="0" i="0">
                <a:solidFill>
                  <a:srgbClr val="4A4450"/>
                </a:solidFill>
                <a:latin typeface="Arial"/>
                <a:ea typeface="微软雅黑"/>
                <a:cs typeface="微软雅黑"/>
              </a:rPr>
              <a:t>• 多应用互通与统一状态数据库</a:t>
            </a: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2027.02 – 2027.05</a:t>
            </a:r>
          </a:p>
        </p:txBody>
      </p:sp>
      <p:sp>
        <p:nvSpPr>
          <p:cNvPr id="13" name="Rounded Rectangle 12"/>
          <p:cNvSpPr/>
          <p:nvPr/>
        </p:nvSpPr>
        <p:spPr>
          <a:xfrm>
            <a:off x="33147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真实数据驱动的环境模拟</a:t>
            </a:r>
          </a:p>
        </p:txBody>
      </p:sp>
      <p:sp>
        <p:nvSpPr>
          <p:cNvPr id="15" name="TextBox 14"/>
          <p:cNvSpPr txBox="1"/>
          <p:nvPr/>
        </p:nvSpPr>
        <p:spPr>
          <a:xfrm>
            <a:off x="3467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脱敏真实数据驱动状态与事件</a:t>
            </a:r>
          </a:p>
          <a:p>
            <a:pPr algn="l">
              <a:lnSpc>
                <a:spcPts val="1837"/>
              </a:lnSpc>
              <a:spcBef>
                <a:spcPts val="0"/>
              </a:spcBef>
              <a:spcAft>
                <a:spcPts val="0"/>
              </a:spcAft>
            </a:pPr>
            <a:r>
              <a:rPr sz="1050" b="0" i="0">
                <a:solidFill>
                  <a:srgbClr val="4A4450"/>
                </a:solidFill>
                <a:latin typeface="Arial"/>
                <a:ea typeface="微软雅黑"/>
                <a:cs typeface="微软雅黑"/>
              </a:rPr>
              <a:t>• 长程事件：需求变更、跨应用协作</a:t>
            </a:r>
          </a:p>
          <a:p>
            <a:pPr algn="l">
              <a:lnSpc>
                <a:spcPts val="1837"/>
              </a:lnSpc>
              <a:spcBef>
                <a:spcPts val="0"/>
              </a:spcBef>
              <a:spcAft>
                <a:spcPts val="0"/>
              </a:spcAft>
            </a:pPr>
            <a:r>
              <a:rPr sz="1050" b="0" i="0">
                <a:solidFill>
                  <a:srgbClr val="4A4450"/>
                </a:solidFill>
                <a:latin typeface="Arial"/>
                <a:ea typeface="微软雅黑"/>
                <a:cs typeface="微软雅黑"/>
              </a:rPr>
              <a:t>• 状态优先的 verifier 与防奖励利用</a:t>
            </a: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2027.06 – 2027.09</a:t>
            </a:r>
          </a:p>
        </p:txBody>
      </p:sp>
      <p:sp>
        <p:nvSpPr>
          <p:cNvPr id="18" name="Rounded Rectangle 17"/>
          <p:cNvSpPr/>
          <p:nvPr/>
        </p:nvSpPr>
        <p:spPr>
          <a:xfrm>
            <a:off x="61722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SFT &amp; RL 任务构造与训练</a:t>
            </a:r>
          </a:p>
        </p:txBody>
      </p:sp>
      <p:sp>
        <p:nvSpPr>
          <p:cNvPr id="20" name="TextBox 19"/>
          <p:cNvSpPr txBox="1"/>
          <p:nvPr/>
        </p:nvSpPr>
        <p:spPr>
          <a:xfrm>
            <a:off x="6324600" y="2266950"/>
            <a:ext cx="2438400" cy="933450"/>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任务生成 → 轨迹 → verifier 流水线</a:t>
            </a:r>
          </a:p>
          <a:p>
            <a:pPr algn="l">
              <a:lnSpc>
                <a:spcPts val="1837"/>
              </a:lnSpc>
              <a:spcBef>
                <a:spcPts val="0"/>
              </a:spcBef>
              <a:spcAft>
                <a:spcPts val="0"/>
              </a:spcAft>
            </a:pPr>
            <a:r>
              <a:rPr sz="1050" b="0" i="0">
                <a:solidFill>
                  <a:srgbClr val="4A4450"/>
                </a:solidFill>
                <a:latin typeface="Arial"/>
                <a:ea typeface="微软雅黑"/>
                <a:cs typeface="微软雅黑"/>
              </a:rPr>
              <a:t>• 拒绝采样 SFT + 可验证奖励 RL</a:t>
            </a:r>
          </a:p>
          <a:p>
            <a:pPr algn="l">
              <a:lnSpc>
                <a:spcPts val="1837"/>
              </a:lnSpc>
              <a:spcBef>
                <a:spcPts val="0"/>
              </a:spcBef>
              <a:spcAft>
                <a:spcPts val="0"/>
              </a:spcAft>
            </a:pPr>
            <a:r>
              <a:rPr sz="1050" b="0" i="0">
                <a:solidFill>
                  <a:srgbClr val="4A4450"/>
                </a:solidFill>
                <a:latin typeface="Arial"/>
                <a:ea typeface="微软雅黑"/>
                <a:cs typeface="微软雅黑"/>
              </a:rPr>
              <a:t>• 研究一的方法降低 rollout 开销；中期检查</a:t>
            </a: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2027.10 起</a:t>
            </a:r>
          </a:p>
        </p:txBody>
      </p:sp>
      <p:sp>
        <p:nvSpPr>
          <p:cNvPr id="23" name="Rounded Rectangle 22"/>
          <p:cNvSpPr/>
          <p:nvPr/>
        </p:nvSpPr>
        <p:spPr>
          <a:xfrm>
            <a:off x="9029700" y="1828800"/>
            <a:ext cx="2705100" cy="2038350"/>
          </a:xfrm>
          <a:prstGeom prst="roundRect">
            <a:avLst>
              <a:gd name="adj" fmla="val 5607"/>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FFFFFF"/>
                </a:solidFill>
                <a:latin typeface="Arial"/>
                <a:ea typeface="微软雅黑"/>
                <a:cs typeface="微软雅黑"/>
              </a:rPr>
              <a:t>整合与论文撰写</a:t>
            </a:r>
          </a:p>
        </p:txBody>
      </p:sp>
      <p:sp>
        <p:nvSpPr>
          <p:cNvPr id="25" name="TextBox 24"/>
          <p:cNvSpPr txBox="1"/>
          <p:nvPr/>
        </p:nvSpPr>
        <p:spPr>
          <a:xfrm>
            <a:off x="9182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EADCEE"/>
                </a:solidFill>
                <a:latin typeface="Arial"/>
                <a:ea typeface="微软雅黑"/>
                <a:cs typeface="微软雅黑"/>
              </a:rPr>
              <a:t>• 四项研究整合为统一框架</a:t>
            </a:r>
          </a:p>
          <a:p>
            <a:pPr algn="l">
              <a:lnSpc>
                <a:spcPts val="1837"/>
              </a:lnSpc>
              <a:spcBef>
                <a:spcPts val="0"/>
              </a:spcBef>
              <a:spcAft>
                <a:spcPts val="0"/>
              </a:spcAft>
            </a:pPr>
            <a:r>
              <a:rPr sz="1050" b="0" i="0">
                <a:solidFill>
                  <a:srgbClr val="EADCEE"/>
                </a:solidFill>
                <a:latin typeface="Arial"/>
                <a:ea typeface="微软雅黑"/>
                <a:cs typeface="微软雅黑"/>
              </a:rPr>
              <a:t>• 补充实验、开源整理</a:t>
            </a:r>
          </a:p>
          <a:p>
            <a:pPr algn="l">
              <a:lnSpc>
                <a:spcPts val="1837"/>
              </a:lnSpc>
              <a:spcBef>
                <a:spcPts val="0"/>
              </a:spcBef>
              <a:spcAft>
                <a:spcPts val="0"/>
              </a:spcAft>
            </a:pPr>
            <a:r>
              <a:rPr sz="1050" b="0" i="0">
                <a:solidFill>
                  <a:srgbClr val="EADCEE"/>
                </a:solidFill>
                <a:latin typeface="Arial"/>
                <a:ea typeface="微软雅黑"/>
                <a:cs typeface="微软雅黑"/>
              </a:rPr>
              <a:t>• 学位论文撰写</a:t>
            </a:r>
          </a:p>
        </p:txBody>
      </p:sp>
      <p:sp>
        <p:nvSpPr>
          <p:cNvPr id="26" name="Rounded Rectangle 25"/>
          <p:cNvSpPr/>
          <p:nvPr/>
        </p:nvSpPr>
        <p:spPr>
          <a:xfrm>
            <a:off x="457200" y="4038600"/>
            <a:ext cx="11277600" cy="1504950"/>
          </a:xfrm>
          <a:prstGeom prst="roundRect">
            <a:avLst>
              <a:gd name="adj" fmla="val 759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41719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E7B5A"/>
                </a:solidFill>
                <a:latin typeface="Arial"/>
                <a:ea typeface="微软雅黑"/>
                <a:cs typeface="微软雅黑"/>
              </a:rPr>
              <a:t>预期达到目标</a:t>
            </a:r>
          </a:p>
        </p:txBody>
      </p:sp>
      <p:sp>
        <p:nvSpPr>
          <p:cNvPr id="28" name="TextBox 27"/>
          <p:cNvSpPr txBox="1"/>
          <p:nvPr/>
        </p:nvSpPr>
        <p:spPr>
          <a:xfrm>
            <a:off x="628650" y="4495800"/>
            <a:ext cx="10991850" cy="819298"/>
          </a:xfrm>
          <a:prstGeom prst="rect">
            <a:avLst/>
          </a:prstGeom>
          <a:noFill/>
        </p:spPr>
        <p:txBody>
          <a:bodyPr wrap="square" lIns="0" rIns="0" tIns="0" bIns="0" anchor="t">
            <a:noAutofit/>
          </a:bodyPr>
          <a:lstStyle/>
          <a:p>
            <a:pPr algn="l">
              <a:lnSpc>
                <a:spcPts val="2150"/>
              </a:lnSpc>
              <a:spcBef>
                <a:spcPts val="0"/>
              </a:spcBef>
              <a:spcAft>
                <a:spcPts val="0"/>
              </a:spcAft>
            </a:pPr>
            <a:r>
              <a:rPr sz="1162" b="0" i="0">
                <a:solidFill>
                  <a:srgbClr val="1F1A22"/>
                </a:solidFill>
                <a:latin typeface="Arial"/>
                <a:ea typeface="微软雅黑"/>
                <a:cs typeface="微软雅黑"/>
              </a:rPr>
              <a:t>• 构建覆盖多个行业领域的可验证交互环境与 SFT / RL 任务构造流水线，验证其对混合模态智能体能力的提升</a:t>
            </a:r>
          </a:p>
          <a:p>
            <a:pPr algn="l">
              <a:lnSpc>
                <a:spcPts val="2150"/>
              </a:lnSpc>
              <a:spcBef>
                <a:spcPts val="0"/>
              </a:spcBef>
              <a:spcAft>
                <a:spcPts val="0"/>
              </a:spcAft>
            </a:pPr>
            <a:r>
              <a:rPr sz="1162" b="0" i="0">
                <a:solidFill>
                  <a:srgbClr val="1F1A22"/>
                </a:solidFill>
                <a:latin typeface="Arial"/>
                <a:ea typeface="微软雅黑"/>
                <a:cs typeface="微软雅黑"/>
              </a:rPr>
              <a:t>• 形成"效率优化—范式构建—行为训练—环境扩展"的完整技术体系，产出高水平论文并开源基准、环境与代码</a:t>
            </a:r>
          </a:p>
          <a:p>
            <a:pPr algn="l">
              <a:lnSpc>
                <a:spcPts val="2150"/>
              </a:lnSpc>
              <a:spcBef>
                <a:spcPts val="0"/>
              </a:spcBef>
              <a:spcAft>
                <a:spcPts val="0"/>
              </a:spcAft>
            </a:pPr>
            <a:r>
              <a:rPr sz="1162" b="0" i="0">
                <a:solidFill>
                  <a:srgbClr val="1F1A22"/>
                </a:solidFill>
                <a:latin typeface="Arial"/>
                <a:ea typeface="微软雅黑"/>
                <a:cs typeface="微软雅黑"/>
              </a:rPr>
              <a:t>• 完成学位论文</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rIns="0" tIns="0" bIns="0" anchor="t">
            <a:noAutofit/>
          </a:bodyPr>
          <a:lstStyle/>
          <a:p>
            <a:pPr algn="l">
              <a:lnSpc>
                <a:spcPts val="4859"/>
              </a:lnSpc>
              <a:spcBef>
                <a:spcPts val="0"/>
              </a:spcBef>
              <a:spcAft>
                <a:spcPts val="0"/>
              </a:spcAft>
            </a:pPr>
            <a:r>
              <a:rPr sz="4050" b="1" i="0">
                <a:solidFill>
                  <a:srgbClr val="660874"/>
                </a:solidFill>
                <a:latin typeface="Arial"/>
                <a:ea typeface="微软雅黑"/>
                <a:cs typeface="微软雅黑"/>
              </a:rPr>
              <a:t>汇报结束</a:t>
            </a:r>
          </a:p>
          <a:p>
            <a:pPr algn="l">
              <a:lnSpc>
                <a:spcPts val="4859"/>
              </a:lnSpc>
              <a:spcBef>
                <a:spcPts val="0"/>
              </a:spcBef>
              <a:spcAft>
                <a:spcPts val="0"/>
              </a:spcAft>
            </a:pPr>
            <a:r>
              <a:rPr sz="4050" b="1" i="0">
                <a:solidFill>
                  <a:srgbClr val="660874"/>
                </a:solidFill>
                <a:latin typeface="Arial"/>
                <a:ea typeface="微软雅黑"/>
                <a:cs typeface="微软雅黑"/>
              </a:rPr>
              <a:t>恳请各位老师批评指正</a:t>
            </a: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1F1A22"/>
                </a:solidFill>
                <a:latin typeface="Arial"/>
                <a:ea typeface="微软雅黑"/>
                <a:cs typeface="微软雅黑"/>
              </a:rPr>
              <a:t>研究生：周博文　｜　导师：王好谦 教授</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1.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Words>
  <Application>WPS 演示</Application>
  <PresentationFormat>宽屏</PresentationFormat>
  <Paragraphs>4</Paragraphs>
  <Slides>8</Slides>
  <Notes>10</Notes>
  <HiddenSlides>1</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8</vt:i4>
      </vt:variant>
    </vt:vector>
  </HeadingPairs>
  <TitlesOfParts>
    <vt:vector size="24" baseType="lpstr">
      <vt:lpstr>Arial</vt:lpstr>
      <vt:lpstr>宋体</vt:lpstr>
      <vt:lpstr>Wingdings</vt:lpstr>
      <vt:lpstr>Wingdings</vt:lpstr>
      <vt:lpstr>Arial</vt:lpstr>
      <vt:lpstr>微软雅黑 Light</vt:lpstr>
      <vt:lpstr>方正小标宋简体</vt:lpstr>
      <vt:lpstr>Times New Roman Bold</vt:lpstr>
      <vt:lpstr>Times New Roman</vt:lpstr>
      <vt:lpstr>Noto Sans SC</vt:lpstr>
      <vt:lpstr>Noto Sans SC</vt:lpstr>
      <vt:lpstr>Times New Roman Regular</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文</cp:lastModifiedBy>
  <cp:revision>764</cp:revision>
  <dcterms:created xsi:type="dcterms:W3CDTF">2026-03-22T08:21:00Z</dcterms:created>
  <dcterms:modified xsi:type="dcterms:W3CDTF">2026-03-22T08:59:47Z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436FDA4FD1FAADFA3B57116922FA7F82_43</vt:lpwstr>
  </property>
</Properties>
</file>