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课题一是评测。最初两项工作在纯 GUI 范式下做推理效率优化：GUIPruner 做视觉 token 压缩，ST-Lite 做 KV Cache 压缩，开销显著下降。但我们发现纯 GUI 范式天然偏重：同一模型在 OSWorld 上仅用 CLI 的成功率与仅用 GUI 相当，步数只有一半。同时 2026 年初 OpenClaw 这类以 CLI 为主、运行在个人电脑上的智能体迅速普及，进一步说明纯 GUI 范式并非天然合理。由此转向定义 CLI 与 GUI 交织的综合数字智能体范式，并给出可信评测，即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缺一不可；轨迹感知判官审计交付物、文件、截图、日志与动作轨迹。最强组合仅 41.2%，单一能力不超过 3.5%；过程审计修正约 20 个百分点的虚高；65.6%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课题三的第一个方向是职业化个人智能体。OpenAI dots、Meta Muse、Manus 等产品的个人化主要体现在记忆与对话人设上，任务多在云端通用环境中执行，职业特质并不鲜明。我们认为真正的个人智能体应当在用户自己的电脑环境中工作，具备不同职业的业务世界知识与专业软件的使用能力，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可靠修复。方法是物理落地的验证与因果修复：智能体构建物理世界，执行仿真并记录状态轨迹，由基于干预的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预期创新点有三：一是综合数字智能体范式与轨迹感知评测；二是以复刻为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任务流水线，然后推进物理世界智能体的反事实干预基准与因果修复方法，最后整合评测、训练与应用三部分完成学位论文。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image" Target="../media/image47.png"/><Relationship Id="rId5"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CLI 步数约减半、成功率相当</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；物理世界生成以"原条件下看起来对"为准，</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721749"/>
            <a:ext cx="3505200" cy="1985751"/>
          </a:xfrm>
          <a:prstGeom prst="rect">
            <a:avLst/>
          </a:prstGeom>
        </p:spPr>
      </p:pic>
      <p:sp>
        <p:nvSpPr>
          <p:cNvPr id="7" name="TextBox 6"/>
          <p:cNvSpPr txBox="1"/>
          <p:nvPr/>
        </p:nvSpPr>
        <p:spPr>
          <a:xfrm>
            <a:off x="4572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GUI，任务可在单一能力内完成；仅依据最终结果判分，通过率虚高 10–20 个百分点。</a:t>
            </a:r>
          </a:p>
        </p:txBody>
      </p:sp>
      <p:sp>
        <p:nvSpPr>
          <p:cNvPr id="11" name="Rounded Rectangle 10"/>
          <p:cNvSpPr/>
          <p:nvPr/>
        </p:nvSpPr>
        <p:spPr>
          <a:xfrm>
            <a:off x="428625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158056"/>
            <a:ext cx="3505200" cy="1113137"/>
          </a:xfrm>
          <a:prstGeom prst="rect">
            <a:avLst/>
          </a:prstGeom>
        </p:spPr>
      </p:pic>
      <p:sp>
        <p:nvSpPr>
          <p:cNvPr id="13" name="TextBox 12"/>
          <p:cNvSpPr txBox="1"/>
          <p:nvPr/>
        </p:nvSpPr>
        <p:spPr>
          <a:xfrm>
            <a:off x="428625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al_world.png"/>
          <p:cNvPicPr>
            <a:picLocks noChangeAspect="1"/>
          </p:cNvPicPr>
          <p:nvPr/>
        </p:nvPicPr>
        <p:blipFill>
          <a:blip r:embed="rId4"/>
          <a:stretch>
            <a:fillRect/>
          </a:stretch>
        </p:blipFill>
        <p:spPr>
          <a:xfrm>
            <a:off x="8172450" y="1904503"/>
            <a:ext cx="3505200" cy="1620242"/>
          </a:xfrm>
          <a:prstGeom prst="rect">
            <a:avLst/>
          </a:prstGeom>
        </p:spPr>
      </p:pic>
      <p:sp>
        <p:nvSpPr>
          <p:cNvPr id="19" name="TextBox 18"/>
          <p:cNvSpPr txBox="1"/>
          <p:nvPr/>
        </p:nvSpPr>
        <p:spPr>
          <a:xfrm>
            <a:off x="81153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43865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现有智能体缺少个人电脑环境与职业业务知识；生成的代码与内容不受物理规律约束，"看起来对"不代表机制对。</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510010"/>
            <a:ext cx="6057900" cy="3628429"/>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走向真实世界：职业化个人智能体与物理智能体</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多职业环境扩展 · 物理落地的验证与修复</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课题一：面向混合能力范式的可信评测（已完成）—— 从效率优化到范式反思</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4572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p_fig3_overview.png"/>
          <p:cNvPicPr>
            <a:picLocks noChangeAspect="1"/>
          </p:cNvPicPr>
          <p:nvPr/>
        </p:nvPicPr>
        <p:blipFill>
          <a:blip r:embed="rId2"/>
          <a:stretch>
            <a:fillRect/>
          </a:stretch>
        </p:blipFill>
        <p:spPr>
          <a:xfrm>
            <a:off x="529951" y="1485900"/>
            <a:ext cx="3473997" cy="2057400"/>
          </a:xfrm>
          <a:prstGeom prst="rect">
            <a:avLst/>
          </a:prstGeom>
        </p:spPr>
      </p:pic>
      <p:sp>
        <p:nvSpPr>
          <p:cNvPr id="11" name="TextBox 10"/>
          <p:cNvSpPr txBox="1"/>
          <p:nvPr/>
        </p:nvSpPr>
        <p:spPr>
          <a:xfrm>
            <a:off x="4857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a:t>
            </a:r>
          </a:p>
        </p:txBody>
      </p:sp>
      <p:sp>
        <p:nvSpPr>
          <p:cNvPr id="12" name="Rounded Rectangle 11"/>
          <p:cNvSpPr/>
          <p:nvPr/>
        </p:nvSpPr>
        <p:spPr>
          <a:xfrm>
            <a:off x="41910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t_fig4_arch.png"/>
          <p:cNvPicPr>
            <a:picLocks noChangeAspect="1"/>
          </p:cNvPicPr>
          <p:nvPr/>
        </p:nvPicPr>
        <p:blipFill>
          <a:blip r:embed="rId3"/>
          <a:stretch>
            <a:fillRect/>
          </a:stretch>
        </p:blipFill>
        <p:spPr>
          <a:xfrm>
            <a:off x="4248150" y="1596397"/>
            <a:ext cx="3505200" cy="1836404"/>
          </a:xfrm>
          <a:prstGeom prst="rect">
            <a:avLst/>
          </a:prstGeom>
        </p:spPr>
      </p:pic>
      <p:sp>
        <p:nvSpPr>
          <p:cNvPr id="14" name="TextBox 13"/>
          <p:cNvSpPr txBox="1"/>
          <p:nvPr/>
        </p:nvSpPr>
        <p:spPr>
          <a:xfrm>
            <a:off x="42195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a:t>
            </a:r>
          </a:p>
        </p:txBody>
      </p:sp>
      <p:sp>
        <p:nvSpPr>
          <p:cNvPr id="15" name="TextBox 14"/>
          <p:cNvSpPr txBox="1"/>
          <p:nvPr/>
        </p:nvSpPr>
        <p:spPr>
          <a:xfrm>
            <a:off x="4572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6" name="TextBox 15"/>
          <p:cNvSpPr txBox="1"/>
          <p:nvPr/>
        </p:nvSpPr>
        <p:spPr>
          <a:xfrm>
            <a:off x="4572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 &gt;94%</a:t>
            </a:r>
          </a:p>
        </p:txBody>
      </p:sp>
      <p:sp>
        <p:nvSpPr>
          <p:cNvPr id="17" name="TextBox 16"/>
          <p:cNvSpPr txBox="1"/>
          <p:nvPr/>
        </p:nvSpPr>
        <p:spPr>
          <a:xfrm>
            <a:off x="22669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8" name="TextBox 17"/>
          <p:cNvSpPr txBox="1"/>
          <p:nvPr/>
        </p:nvSpPr>
        <p:spPr>
          <a:xfrm>
            <a:off x="22669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19" name="TextBox 18"/>
          <p:cNvSpPr txBox="1"/>
          <p:nvPr/>
        </p:nvSpPr>
        <p:spPr>
          <a:xfrm>
            <a:off x="41910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0" name="TextBox 19"/>
          <p:cNvSpPr txBox="1"/>
          <p:nvPr/>
        </p:nvSpPr>
        <p:spPr>
          <a:xfrm>
            <a:off x="41910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预算下持平完整缓存</a:t>
            </a:r>
          </a:p>
        </p:txBody>
      </p:sp>
      <p:sp>
        <p:nvSpPr>
          <p:cNvPr id="21" name="TextBox 20"/>
          <p:cNvSpPr txBox="1"/>
          <p:nvPr/>
        </p:nvSpPr>
        <p:spPr>
          <a:xfrm>
            <a:off x="60007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2" name="TextBox 21"/>
          <p:cNvSpPr txBox="1"/>
          <p:nvPr/>
        </p:nvSpPr>
        <p:spPr>
          <a:xfrm>
            <a:off x="60007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3" name="TextBox 22"/>
          <p:cNvSpPr txBox="1"/>
          <p:nvPr/>
        </p:nvSpPr>
        <p:spPr>
          <a:xfrm>
            <a:off x="7839075" y="2495550"/>
            <a:ext cx="342900" cy="371475"/>
          </a:xfrm>
          <a:prstGeom prst="rect">
            <a:avLst/>
          </a:prstGeom>
          <a:noFill/>
        </p:spPr>
        <p:txBody>
          <a:bodyPr wrap="none" lIns="0" rIns="0" tIns="0" bIns="0" anchor="ctr">
            <a:noAutofit/>
          </a:bodyPr>
          <a:lstStyle/>
          <a:p>
            <a:pPr algn="ctr">
              <a:lnSpc>
                <a:spcPct val="100000"/>
              </a:lnSpc>
              <a:spcBef>
                <a:spcPts val="0"/>
              </a:spcBef>
              <a:spcAft>
                <a:spcPts val="0"/>
              </a:spcAft>
            </a:pPr>
            <a:r>
              <a:rPr sz="1950" b="0" i="0">
                <a:solidFill>
                  <a:srgbClr val="81308C"/>
                </a:solidFill>
                <a:latin typeface="Arial"/>
                <a:ea typeface="微软雅黑"/>
                <a:cs typeface="微软雅黑"/>
              </a:rPr>
              <a:t>➜</a:t>
            </a:r>
          </a:p>
        </p:txBody>
      </p:sp>
      <p:sp>
        <p:nvSpPr>
          <p:cNvPr id="24" name="Rounded Rectangle 23"/>
          <p:cNvSpPr/>
          <p:nvPr/>
        </p:nvSpPr>
        <p:spPr>
          <a:xfrm>
            <a:off x="8210550" y="1428750"/>
            <a:ext cx="352425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81975" y="1524000"/>
            <a:ext cx="358140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发现①：纯 GUI 范式天然偏重（OSWorld · 同一模型）</a:t>
            </a:r>
          </a:p>
        </p:txBody>
      </p:sp>
      <p:sp>
        <p:nvSpPr>
          <p:cNvPr id="26" name="Rounded Rectangle 25"/>
          <p:cNvSpPr/>
          <p:nvPr/>
        </p:nvSpPr>
        <p:spPr>
          <a:xfrm>
            <a:off x="8572500" y="2114550"/>
            <a:ext cx="381000" cy="1428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9010650" y="2143125"/>
            <a:ext cx="381000" cy="1400175"/>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86775" y="1924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9" name="TextBox 28"/>
          <p:cNvSpPr txBox="1"/>
          <p:nvPr/>
        </p:nvSpPr>
        <p:spPr>
          <a:xfrm>
            <a:off x="8924925" y="19526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30" name="Rounded Rectangle 29"/>
          <p:cNvSpPr/>
          <p:nvPr/>
        </p:nvSpPr>
        <p:spPr>
          <a:xfrm>
            <a:off x="10287000" y="2876550"/>
            <a:ext cx="381000" cy="666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0725150" y="2190750"/>
            <a:ext cx="381000" cy="1352550"/>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01275" y="2686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33" name="TextBox 32"/>
          <p:cNvSpPr txBox="1"/>
          <p:nvPr/>
        </p:nvSpPr>
        <p:spPr>
          <a:xfrm>
            <a:off x="106394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34" name="Rectangle 33"/>
          <p:cNvSpPr/>
          <p:nvPr/>
        </p:nvSpPr>
        <p:spPr>
          <a:xfrm>
            <a:off x="8458200" y="3543300"/>
            <a:ext cx="30289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458200" y="3543300"/>
            <a:ext cx="30289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296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7" name="TextBox 36"/>
          <p:cNvSpPr txBox="1"/>
          <p:nvPr/>
        </p:nvSpPr>
        <p:spPr>
          <a:xfrm>
            <a:off x="101441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8" name="TextBox 37"/>
          <p:cNvSpPr txBox="1"/>
          <p:nvPr/>
        </p:nvSpPr>
        <p:spPr>
          <a:xfrm>
            <a:off x="8210550" y="4038600"/>
            <a:ext cx="3562350" cy="357187"/>
          </a:xfrm>
          <a:prstGeom prst="rect">
            <a:avLst/>
          </a:prstGeom>
          <a:noFill/>
        </p:spPr>
        <p:txBody>
          <a:bodyPr wrap="square" lIns="0" rIns="0" tIns="0" bIns="0" anchor="t">
            <a:noAutofit/>
          </a:bodyPr>
          <a:lstStyle/>
          <a:p>
            <a:pPr algn="ctr">
              <a:lnSpc>
                <a:spcPts val="1406"/>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智能体（不看像素）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纯视觉智能体</a:t>
            </a:r>
          </a:p>
          <a:p>
            <a:pPr algn="ctr">
              <a:lnSpc>
                <a:spcPts val="1406"/>
              </a:lnSpc>
              <a:spcBef>
                <a:spcPts val="0"/>
              </a:spcBef>
              <a:spcAft>
                <a:spcPts val="0"/>
              </a:spcAft>
            </a:pPr>
            <a:r>
              <a:rPr sz="937" b="0" i="0">
                <a:solidFill>
                  <a:srgbClr val="4A4450"/>
                </a:solidFill>
                <a:latin typeface="Arial"/>
                <a:ea typeface="微软雅黑"/>
                <a:cs typeface="微软雅黑"/>
              </a:rPr>
              <a:t>[WeaveBench 附录 E]：CLI 以一半步数取得相当成功率</a:t>
            </a:r>
          </a:p>
        </p:txBody>
      </p:sp>
      <p:sp>
        <p:nvSpPr>
          <p:cNvPr id="39" name="Rounded Rectangle 38"/>
          <p:cNvSpPr/>
          <p:nvPr/>
        </p:nvSpPr>
        <p:spPr>
          <a:xfrm>
            <a:off x="457200" y="4629150"/>
            <a:ext cx="11277600" cy="876300"/>
          </a:xfrm>
          <a:prstGeom prst="roundRect">
            <a:avLst>
              <a:gd name="adj" fmla="val 13043"/>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4724400"/>
            <a:ext cx="10991850" cy="469403"/>
          </a:xfrm>
          <a:prstGeom prst="rect">
            <a:avLst/>
          </a:prstGeom>
          <a:noFill/>
        </p:spPr>
        <p:txBody>
          <a:bodyPr wrap="square" lIns="0" rIns="0" tIns="0" bIns="0" anchor="t">
            <a:noAutofit/>
          </a:bodyPr>
          <a:lstStyle/>
          <a:p>
            <a:pPr algn="l">
              <a:lnSpc>
                <a:spcPts val="1848"/>
              </a:lnSpc>
              <a:spcBef>
                <a:spcPts val="0"/>
              </a:spcBef>
              <a:spcAft>
                <a:spcPts val="0"/>
              </a:spcAft>
            </a:pPr>
            <a:r>
              <a:rPr sz="1087" b="1" i="0">
                <a:solidFill>
                  <a:srgbClr val="B7791F"/>
                </a:solidFill>
                <a:latin typeface="Arial"/>
                <a:ea typeface="微软雅黑"/>
                <a:cs typeface="微软雅黑"/>
              </a:rPr>
              <a:t>发现②：OpenClaw 的启发（2026 年初）</a:t>
            </a:r>
            <a:r>
              <a:rPr sz="1087" b="0" i="0">
                <a:solidFill>
                  <a:srgbClr val="1F1A22"/>
                </a:solidFill>
                <a:latin typeface="Arial"/>
                <a:ea typeface="微软雅黑"/>
                <a:cs typeface="微软雅黑"/>
              </a:rPr>
              <a:t>　以 CLI 为主、运行在用户个人电脑上的开源智能体迅速普及；以标准 OpenClaw CLI 智能体重跑 OSWorld 即得上图结论。</a:t>
            </a:r>
          </a:p>
          <a:p>
            <a:pPr algn="l">
              <a:lnSpc>
                <a:spcPts val="1848"/>
              </a:lnSpc>
              <a:spcBef>
                <a:spcPts val="0"/>
              </a:spcBef>
              <a:spcAft>
                <a:spcPts val="0"/>
              </a:spcAft>
            </a:pPr>
            <a:r>
              <a:rPr sz="1087" b="0" i="0">
                <a:solidFill>
                  <a:srgbClr val="1F1A22"/>
                </a:solidFill>
                <a:latin typeface="Arial"/>
                <a:ea typeface="微软雅黑"/>
                <a:cs typeface="微软雅黑"/>
              </a:rPr>
              <a:t>→ 压缩只能缓解开销，</a:t>
            </a:r>
            <a:r>
              <a:rPr sz="1087" b="1" i="0">
                <a:solidFill>
                  <a:srgbClr val="1F1A22"/>
                </a:solidFill>
                <a:latin typeface="Arial"/>
                <a:ea typeface="微软雅黑"/>
                <a:cs typeface="微软雅黑"/>
              </a:rPr>
              <a:t>纯 GUI 范式本身并非天然合理</a:t>
            </a:r>
            <a:r>
              <a:rPr sz="1087" b="0" i="0">
                <a:solidFill>
                  <a:srgbClr val="1F1A22"/>
                </a:solidFill>
                <a:latin typeface="Arial"/>
                <a:ea typeface="微软雅黑"/>
                <a:cs typeface="微软雅黑"/>
              </a:rPr>
              <a:t>；真实工作需要 CLI 与 GUI 按需交织。</a:t>
            </a:r>
          </a:p>
        </p:txBody>
      </p:sp>
      <p:sp>
        <p:nvSpPr>
          <p:cNvPr id="41" name="Rounded Rectangle 4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结论：效率优化只能缓解开销，关键在于</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43" name="TextBox 4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智能体运行时为底座、加入最小桌面控制插件；只收录 CLI 与 GUI </a:t>
            </a:r>
            <a:r>
              <a:rPr sz="1125" b="1" i="0">
                <a:solidFill>
                  <a:srgbClr val="1F1A22"/>
                </a:solidFill>
                <a:latin typeface="Arial"/>
                <a:ea typeface="微软雅黑"/>
                <a:cs typeface="微软雅黑"/>
              </a:rPr>
              <a:t>缺一不可</a:t>
            </a:r>
            <a:r>
              <a:rPr sz="1125" b="0" i="0">
                <a:solidFill>
                  <a:srgbClr val="1F1A22"/>
                </a:solidFill>
                <a:latin typeface="Arial"/>
                <a:ea typeface="微软雅黑"/>
                <a:cs typeface="微软雅黑"/>
              </a:rPr>
              <a:t>的长程任务；轨迹感知判官审计全过程</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 → 真实运行时 → 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现有个人智能体的"个人化"主要体现在记忆与对话人设，多在云端通用环境中执行；缺少个人电脑环境、职业业务知识与专业软件技能</a:t>
            </a:r>
          </a:p>
        </p:txBody>
      </p:sp>
      <p:sp>
        <p:nvSpPr>
          <p:cNvPr id="12" name="Rounded Rectangle 11"/>
          <p:cNvSpPr/>
          <p:nvPr/>
        </p:nvSpPr>
        <p:spPr>
          <a:xfrm>
            <a:off x="457200" y="1809750"/>
            <a:ext cx="5905500" cy="3733800"/>
          </a:xfrm>
          <a:prstGeom prst="roundRect">
            <a:avLst>
              <a:gd name="adj" fmla="val 3061"/>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8650" y="1924050"/>
            <a:ext cx="5581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真正的个人智能体应当具备：</a:t>
            </a:r>
          </a:p>
        </p:txBody>
      </p:sp>
      <p:sp>
        <p:nvSpPr>
          <p:cNvPr id="14" name="TextBox 13"/>
          <p:cNvSpPr txBox="1"/>
          <p:nvPr/>
        </p:nvSpPr>
        <p:spPr>
          <a:xfrm>
            <a:off x="628650" y="224790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5" name="TextBox 14"/>
          <p:cNvSpPr txBox="1"/>
          <p:nvPr/>
        </p:nvSpPr>
        <p:spPr>
          <a:xfrm>
            <a:off x="1104900" y="226695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在用户自己的电脑环境中工作</a:t>
            </a:r>
          </a:p>
        </p:txBody>
      </p:sp>
      <p:sp>
        <p:nvSpPr>
          <p:cNvPr id="16" name="TextBox 15"/>
          <p:cNvSpPr txBox="1"/>
          <p:nvPr/>
        </p:nvSpPr>
        <p:spPr>
          <a:xfrm>
            <a:off x="1104900" y="2514600"/>
            <a:ext cx="51816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本地文件、已登录的应用、历史记录与个人偏好都是任务上下文；云端通用沙箱无法复现这些状态</a:t>
            </a:r>
          </a:p>
        </p:txBody>
      </p:sp>
      <p:sp>
        <p:nvSpPr>
          <p:cNvPr id="17" name="TextBox 16"/>
          <p:cNvSpPr txBox="1"/>
          <p:nvPr/>
        </p:nvSpPr>
        <p:spPr>
          <a:xfrm>
            <a:off x="628650" y="31051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18" name="TextBox 17"/>
          <p:cNvSpPr txBox="1"/>
          <p:nvPr/>
        </p:nvSpPr>
        <p:spPr>
          <a:xfrm>
            <a:off x="1104900" y="312420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具备职业业务世界知识</a:t>
            </a:r>
          </a:p>
        </p:txBody>
      </p:sp>
      <p:sp>
        <p:nvSpPr>
          <p:cNvPr id="19" name="TextBox 18"/>
          <p:cNvSpPr txBox="1"/>
          <p:nvPr/>
        </p:nvSpPr>
        <p:spPr>
          <a:xfrm>
            <a:off x="1104900" y="3371850"/>
            <a:ext cx="5200650" cy="199280"/>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会计的账务规则、律师的条款与判例、电商的定价与库存……决定"做什么才算对"</a:t>
            </a:r>
          </a:p>
        </p:txBody>
      </p:sp>
      <p:sp>
        <p:nvSpPr>
          <p:cNvPr id="20" name="TextBox 19"/>
          <p:cNvSpPr txBox="1"/>
          <p:nvPr/>
        </p:nvSpPr>
        <p:spPr>
          <a:xfrm>
            <a:off x="628650" y="396240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1" name="TextBox 20"/>
          <p:cNvSpPr txBox="1"/>
          <p:nvPr/>
        </p:nvSpPr>
        <p:spPr>
          <a:xfrm>
            <a:off x="1104900" y="398145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掌握职业专业软件的使用能力</a:t>
            </a:r>
          </a:p>
        </p:txBody>
      </p:sp>
      <p:sp>
        <p:nvSpPr>
          <p:cNvPr id="22" name="TextBox 21"/>
          <p:cNvSpPr txBox="1"/>
          <p:nvPr/>
        </p:nvSpPr>
        <p:spPr>
          <a:xfrm>
            <a:off x="1104900" y="4229100"/>
            <a:ext cx="5200650" cy="199280"/>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3" name="TextBox 22"/>
          <p:cNvSpPr txBox="1"/>
          <p:nvPr/>
        </p:nvSpPr>
        <p:spPr>
          <a:xfrm>
            <a:off x="628650" y="4914900"/>
            <a:ext cx="5676900" cy="22086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660874"/>
                </a:solidFill>
                <a:latin typeface="Arial"/>
                <a:ea typeface="微软雅黑"/>
                <a:cs typeface="微软雅黑"/>
              </a:rPr>
              <a:t>→ 成为面向不同职业的</a:t>
            </a:r>
            <a:r>
              <a:rPr sz="1087" b="1" i="0">
                <a:solidFill>
                  <a:srgbClr val="1F1A22"/>
                </a:solidFill>
                <a:latin typeface="Arial"/>
                <a:ea typeface="微软雅黑"/>
                <a:cs typeface="微软雅黑"/>
              </a:rPr>
              <a:t>数字员工</a:t>
            </a:r>
            <a:r>
              <a:rPr sz="1087" b="1" i="0">
                <a:solidFill>
                  <a:srgbClr val="660874"/>
                </a:solidFill>
                <a:latin typeface="Arial"/>
                <a:ea typeface="微软雅黑"/>
                <a:cs typeface="微软雅黑"/>
              </a:rPr>
              <a:t>，切实提升各行业从业者的生产力</a:t>
            </a:r>
          </a:p>
        </p:txBody>
      </p:sp>
      <p:sp>
        <p:nvSpPr>
          <p:cNvPr id="24" name="Rounded Rectangle 23"/>
          <p:cNvSpPr/>
          <p:nvPr/>
        </p:nvSpPr>
        <p:spPr>
          <a:xfrm>
            <a:off x="6515100" y="1809750"/>
            <a:ext cx="5219700" cy="3733800"/>
          </a:xfrm>
          <a:prstGeom prst="roundRect">
            <a:avLst>
              <a:gd name="adj" fmla="val 204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a_overview2.png"/>
          <p:cNvPicPr>
            <a:picLocks noChangeAspect="1"/>
          </p:cNvPicPr>
          <p:nvPr/>
        </p:nvPicPr>
        <p:blipFill>
          <a:blip r:embed="rId2"/>
          <a:stretch>
            <a:fillRect/>
          </a:stretch>
        </p:blipFill>
        <p:spPr>
          <a:xfrm>
            <a:off x="6572250" y="2185193"/>
            <a:ext cx="5105400" cy="2659062"/>
          </a:xfrm>
          <a:prstGeom prst="rect">
            <a:avLst/>
          </a:prstGeom>
        </p:spPr>
      </p:pic>
      <p:sp>
        <p:nvSpPr>
          <p:cNvPr id="26" name="TextBox 25"/>
          <p:cNvSpPr txBox="1"/>
          <p:nvPr/>
        </p:nvSpPr>
        <p:spPr>
          <a:xfrm>
            <a:off x="6543675" y="5200650"/>
            <a:ext cx="5162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研究三沿用研究一的评测思想与研究二的训练流程，把</a:t>
            </a:r>
            <a:r>
              <a:rPr sz="1350" b="1" i="0">
                <a:solidFill>
                  <a:srgbClr val="F6C8FF"/>
                </a:solidFill>
                <a:latin typeface="Arial"/>
                <a:ea typeface="微软雅黑"/>
                <a:cs typeface="微软雅黑"/>
              </a:rPr>
              <a:t>可扩展的评测与训练框架</a:t>
            </a:r>
            <a:r>
              <a:rPr sz="1350" b="0" i="0">
                <a:solidFill>
                  <a:srgbClr val="FFFFFF"/>
                </a:solidFill>
                <a:latin typeface="Arial"/>
                <a:ea typeface="微软雅黑"/>
                <a:cs typeface="微软雅黑"/>
              </a:rPr>
              <a:t>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芯片工程师（示意图）</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课题三（二）：物理世界智能体（Physical Agent，初步构想）——"看起来对"不代表"物理机制对"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762000" y="1485900"/>
            <a:ext cx="6057900" cy="4038600"/>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反事实干预（Counterfactual Intervention）：拉大第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课题三（二·续）：物理落地的验证与因果修复（Physics-Grounded Verification + Causal Repair）</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71500" y="1485900"/>
            <a:ext cx="5486400" cy="3657600"/>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因果修复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交织的混合能力范式；只收录能力缺一不可的长程任务，以轨迹审计替代仅依据结果的判分，揭示自主编排与自我验证瓶颈。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以复刻为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pic>
        <p:nvPicPr>
          <p:cNvPr id="18" name="Picture 17" descr="phys_cf.png"/>
          <p:cNvPicPr>
            <a:picLocks noChangeAspect="1"/>
          </p:cNvPicPr>
          <p:nvPr/>
        </p:nvPicPr>
        <p:blipFill>
          <a:blip r:embed="rId4"/>
          <a:stretch>
            <a:fillRect/>
          </a:stretch>
        </p:blipFill>
        <p:spPr>
          <a:xfrm>
            <a:off x="8496300" y="2324100"/>
            <a:ext cx="2857500" cy="1905000"/>
          </a:xfrm>
          <a:prstGeom prst="rect">
            <a:avLst/>
          </a:prstGeom>
        </p:spPr>
      </p:pic>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构建职业化个人电脑环境与真实数据驱动的任务流水线；以反事实干预检验生成内容的物理机制，并以因果修复闭环提升可靠性。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物理落地的验证与因果修复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建立物理世界生成的反事实干预基准与因果修复方法，验证其对跨条件物理泛化的提升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