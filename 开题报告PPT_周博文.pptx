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研究一是评测。我最初的两项工作是在纯 GUI 范式下做推理效率优化：GUIPruner 在编码端做视觉 token 压缩，ST-Lite 在解码端做 KV Cache 压缩，开销显著下降。但做完之后我们意识到，压缩并没有改变纯 GUI 范式每一步都要处理整屏截图的本质，于是反过来问：这个范式本身是否合理？</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 年初，以 CLI 为主、运行在用户个人电脑上的开源智能体 OpenClaw 迅速普及，给了我们启发。我们把这个观察做成受控实验：在 OSWorld 上固定模型、指令和判官，只把纯视觉智能体换成不观察像素的标准 OpenClaw CLI 智能体，成功率 79.1% 对 77.3%，步数只有一半。这说明纯 GUI 范式并非天然合理。但 CLI 也看不到渲染结果，所以合理的范式是混合：以 CLI 为主干，在需要观察和核验时使用 GUI。问题的关键因此从压缩转向任务范式与能力度量，这就引出了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缺一不可；轨迹感知判官审计交付物、文件、截图、日志与动作轨迹。最强组合仅 41.2%，单一能力不超过 3.5%；过程审计修正约 20 个百分点的虚高；65.6%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研究三的第一个方向是职业化个人智能体。OpenAI dots、Meta Muse、Manus 等产品的个人化主要体现在记忆与对话人设上，任务多在云端通用环境中执行，职业特质并不鲜明。我们认为真正的个人智能体应当满足三点：在用户自己的电脑环境中工作，具备不同职业的业务世界知识，掌握专业软件的使用能力。三者兼备，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可靠修复。方法是物理落地的验证与因果修复：智能体构建物理世界，执行仿真并记录状态轨迹，由基于干预的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预期创新点有三：一是综合数字智能体范式与轨迹感知评测；二是以复刻为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任务流水线，然后推进物理世界智能体的反事实干预基准与因果修复方法，最后整合评测、训练与应用三部分完成学位论文。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1.png"/><Relationship Id="rId3" Type="http://schemas.openxmlformats.org/officeDocument/2006/relationships/image" Target="../media/image43.png"/><Relationship Id="rId4" Type="http://schemas.openxmlformats.org/officeDocument/2006/relationships/image" Target="../media/image48.png"/><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CLI 步数约减半、成功率相当</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845574"/>
            <a:ext cx="3505200" cy="1985751"/>
          </a:xfrm>
          <a:prstGeom prst="rect">
            <a:avLst/>
          </a:prstGeom>
        </p:spPr>
      </p:pic>
      <p:sp>
        <p:nvSpPr>
          <p:cNvPr id="7" name="TextBox 6"/>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GUI，任务可在单一能力内完成；仅依据最终结果判分，通过率虚高 10–20 个百分点。</a:t>
            </a:r>
          </a:p>
        </p:txBody>
      </p:sp>
      <p:sp>
        <p:nvSpPr>
          <p:cNvPr id="11" name="Rounded Rectangle 10"/>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281881"/>
            <a:ext cx="3505200" cy="1113137"/>
          </a:xfrm>
          <a:prstGeom prst="rect">
            <a:avLst/>
          </a:prstGeom>
        </p:spPr>
      </p:pic>
      <p:sp>
        <p:nvSpPr>
          <p:cNvPr id="13" name="TextBox 12"/>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6863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al_world.png"/>
          <p:cNvPicPr>
            <a:picLocks noChangeAspect="1"/>
          </p:cNvPicPr>
          <p:nvPr/>
        </p:nvPicPr>
        <p:blipFill>
          <a:blip r:embed="rId4"/>
          <a:stretch>
            <a:fillRect/>
          </a:stretch>
        </p:blipFill>
        <p:spPr>
          <a:xfrm>
            <a:off x="8172450" y="1705502"/>
            <a:ext cx="3505200" cy="2265894"/>
          </a:xfrm>
          <a:prstGeom prst="rect">
            <a:avLst/>
          </a:prstGeom>
        </p:spPr>
      </p:pic>
      <p:sp>
        <p:nvSpPr>
          <p:cNvPr id="19" name="TextBox 18"/>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667922"/>
            <a:ext cx="6057900" cy="3312604"/>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职业化个人智能体 · 物理世界智能体</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研究一：面向混合能力范式的可信评测（已完成）—— 前期探索：纯 GUI 范式下的推理效率优化</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 —— 时间自适应分辨率 + 结构感知剪枝</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 —— 轨迹门控 + 组件显著性</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范式"每一步都处理整屏截图"的本质未变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范式并非天然合理</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6675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radigm3.png"/>
          <p:cNvPicPr>
            <a:picLocks noChangeAspect="1"/>
          </p:cNvPicPr>
          <p:nvPr/>
        </p:nvPicPr>
        <p:blipFill>
          <a:blip r:embed="rId2"/>
          <a:stretch>
            <a:fillRect/>
          </a:stretch>
        </p:blipFill>
        <p:spPr>
          <a:xfrm>
            <a:off x="880587" y="1485900"/>
            <a:ext cx="5820725" cy="3676650"/>
          </a:xfrm>
          <a:prstGeom prst="rect">
            <a:avLst/>
          </a:prstGeom>
        </p:spPr>
      </p:pic>
      <p:sp>
        <p:nvSpPr>
          <p:cNvPr id="13" name="TextBox 12"/>
          <p:cNvSpPr txBox="1"/>
          <p:nvPr/>
        </p:nvSpPr>
        <p:spPr>
          <a:xfrm>
            <a:off x="485775" y="52006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三种范式对比：纯 GUI 逐步截图；CLI 优先、不观察像素；混合范式以 CLI 为主干、GUI 观察与核验（示意图）</a:t>
            </a:r>
          </a:p>
        </p:txBody>
      </p:sp>
      <p:sp>
        <p:nvSpPr>
          <p:cNvPr id="14" name="Rounded Rectangle 13"/>
          <p:cNvSpPr/>
          <p:nvPr/>
        </p:nvSpPr>
        <p:spPr>
          <a:xfrm>
            <a:off x="7277100" y="1428750"/>
            <a:ext cx="44577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48525" y="1524000"/>
            <a:ext cx="45148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受控对照：OSWorld · 同一模型 · 同一判官 [WeaveBench 附录 E]</a:t>
            </a:r>
          </a:p>
        </p:txBody>
      </p:sp>
      <p:sp>
        <p:nvSpPr>
          <p:cNvPr id="16" name="Rounded Rectangle 15"/>
          <p:cNvSpPr/>
          <p:nvPr/>
        </p:nvSpPr>
        <p:spPr>
          <a:xfrm>
            <a:off x="7905750" y="2114550"/>
            <a:ext cx="419100" cy="1428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382000" y="2143125"/>
            <a:ext cx="419100" cy="1400175"/>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839075" y="1924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TextBox 18"/>
          <p:cNvSpPr txBox="1"/>
          <p:nvPr/>
        </p:nvSpPr>
        <p:spPr>
          <a:xfrm>
            <a:off x="8315325" y="1952625"/>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0" name="Rounded Rectangle 19"/>
          <p:cNvSpPr/>
          <p:nvPr/>
        </p:nvSpPr>
        <p:spPr>
          <a:xfrm>
            <a:off x="10191750" y="2876550"/>
            <a:ext cx="419100" cy="666750"/>
          </a:xfrm>
          <a:prstGeom prst="roundRect">
            <a:avLst>
              <a:gd name="adj" fmla="val 909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668000" y="2190750"/>
            <a:ext cx="419100" cy="1352550"/>
          </a:xfrm>
          <a:prstGeom prst="roundRect">
            <a:avLst>
              <a:gd name="adj" fmla="val 909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125075" y="26860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14.3</a:t>
            </a:r>
          </a:p>
        </p:txBody>
      </p:sp>
      <p:sp>
        <p:nvSpPr>
          <p:cNvPr id="23" name="TextBox 22"/>
          <p:cNvSpPr txBox="1"/>
          <p:nvPr/>
        </p:nvSpPr>
        <p:spPr>
          <a:xfrm>
            <a:off x="10601325" y="2000250"/>
            <a:ext cx="5524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29.0</a:t>
            </a:r>
          </a:p>
        </p:txBody>
      </p:sp>
      <p:sp>
        <p:nvSpPr>
          <p:cNvPr id="24" name="Rectangle 23"/>
          <p:cNvSpPr/>
          <p:nvPr/>
        </p:nvSpPr>
        <p:spPr>
          <a:xfrm>
            <a:off x="7620000" y="3543300"/>
            <a:ext cx="37719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20000" y="3543300"/>
            <a:ext cx="37719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00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27" name="TextBox 26"/>
          <p:cNvSpPr txBox="1"/>
          <p:nvPr/>
        </p:nvSpPr>
        <p:spPr>
          <a:xfrm>
            <a:off x="1008697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28" name="TextBox 27"/>
          <p:cNvSpPr txBox="1"/>
          <p:nvPr/>
        </p:nvSpPr>
        <p:spPr>
          <a:xfrm>
            <a:off x="7248525" y="4000500"/>
            <a:ext cx="451485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OpenClaw CLI 智能体（不观察像素）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纯视觉 GUI 智能体</a:t>
            </a:r>
          </a:p>
        </p:txBody>
      </p:sp>
      <p:sp>
        <p:nvSpPr>
          <p:cNvPr id="29" name="Rounded Rectangle 28"/>
          <p:cNvSpPr/>
          <p:nvPr/>
        </p:nvSpPr>
        <p:spPr>
          <a:xfrm>
            <a:off x="7277100" y="4305300"/>
            <a:ext cx="4457700" cy="1238250"/>
          </a:xfrm>
          <a:prstGeom prst="roundRect">
            <a:avLst>
              <a:gd name="adj" fmla="val 923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29500" y="438150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OpenClaw 的启发（2026 年初）</a:t>
            </a:r>
            <a:r>
              <a:rPr sz="1012" b="0" i="0">
                <a:solidFill>
                  <a:srgbClr val="1F1A22"/>
                </a:solidFill>
                <a:latin typeface="Arial"/>
                <a:ea typeface="微软雅黑"/>
                <a:cs typeface="微软雅黑"/>
              </a:rPr>
              <a:t>　以 CLI 为主、运行在用户个人电脑上的开源智能体迅速普及。我们以标准 OpenClaw CLI 智能体重跑 OSWorld：成功率相当，步数约减半 —— 大量任务无需逐帧观察屏幕。</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结论：关键不在压缩，而在</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智能体运行时为底座、加入最小桌面控制插件；只收录 CLI 与 GUI </a:t>
            </a:r>
            <a:r>
              <a:rPr sz="1125" b="1" i="0">
                <a:solidFill>
                  <a:srgbClr val="1F1A22"/>
                </a:solidFill>
                <a:latin typeface="Arial"/>
                <a:ea typeface="微软雅黑"/>
                <a:cs typeface="微软雅黑"/>
              </a:rPr>
              <a:t>缺一不可</a:t>
            </a:r>
            <a:r>
              <a:rPr sz="1125" b="0" i="0">
                <a:solidFill>
                  <a:srgbClr val="1F1A22"/>
                </a:solidFill>
                <a:latin typeface="Arial"/>
                <a:ea typeface="微软雅黑"/>
                <a:cs typeface="微软雅黑"/>
              </a:rPr>
              <a:t>的长程任务；轨迹感知判官审计全过程</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 → 真实运行时 → 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现有个人智能体的"个人化"主要体现在记忆与对话人设，任务多在云端通用环境中执行；缺少个人电脑环境、职业业务知识与专业软件技能</a:t>
            </a:r>
          </a:p>
        </p:txBody>
      </p:sp>
      <p:sp>
        <p:nvSpPr>
          <p:cNvPr id="12" name="Rounded Rectangle 11"/>
          <p:cNvSpPr/>
          <p:nvPr/>
        </p:nvSpPr>
        <p:spPr>
          <a:xfrm>
            <a:off x="457200" y="1771650"/>
            <a:ext cx="6667500" cy="3695700"/>
          </a:xfrm>
          <a:prstGeom prst="roundRect">
            <a:avLst>
              <a:gd name="adj" fmla="val 20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_overview2.png"/>
          <p:cNvPicPr>
            <a:picLocks noChangeAspect="1"/>
          </p:cNvPicPr>
          <p:nvPr/>
        </p:nvPicPr>
        <p:blipFill>
          <a:blip r:embed="rId2"/>
          <a:stretch>
            <a:fillRect/>
          </a:stretch>
        </p:blipFill>
        <p:spPr>
          <a:xfrm>
            <a:off x="593015" y="1828800"/>
            <a:ext cx="6395869" cy="3257550"/>
          </a:xfrm>
          <a:prstGeom prst="rect">
            <a:avLst/>
          </a:prstGeom>
        </p:spPr>
      </p:pic>
      <p:sp>
        <p:nvSpPr>
          <p:cNvPr id="14" name="TextBox 13"/>
          <p:cNvSpPr txBox="1"/>
          <p:nvPr/>
        </p:nvSpPr>
        <p:spPr>
          <a:xfrm>
            <a:off x="485775" y="51244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15" name="Rounded Rectangle 14"/>
          <p:cNvSpPr/>
          <p:nvPr/>
        </p:nvSpPr>
        <p:spPr>
          <a:xfrm>
            <a:off x="7277100" y="17716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0" y="18859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7" name="TextBox 16"/>
          <p:cNvSpPr txBox="1"/>
          <p:nvPr/>
        </p:nvSpPr>
        <p:spPr>
          <a:xfrm>
            <a:off x="7905750" y="19050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在用户自己的电脑环境中工作</a:t>
            </a:r>
          </a:p>
        </p:txBody>
      </p:sp>
      <p:sp>
        <p:nvSpPr>
          <p:cNvPr id="18" name="TextBox 17"/>
          <p:cNvSpPr txBox="1"/>
          <p:nvPr/>
        </p:nvSpPr>
        <p:spPr>
          <a:xfrm>
            <a:off x="7905750" y="21907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本地文件、已登录的应用与历史记录均为任务上下文，云端通用沙箱无法复现这些状态</a:t>
            </a:r>
          </a:p>
        </p:txBody>
      </p:sp>
      <p:sp>
        <p:nvSpPr>
          <p:cNvPr id="19" name="Rounded Rectangle 18"/>
          <p:cNvSpPr/>
          <p:nvPr/>
        </p:nvSpPr>
        <p:spPr>
          <a:xfrm>
            <a:off x="7277100" y="30289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29500" y="31432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21" name="TextBox 20"/>
          <p:cNvSpPr txBox="1"/>
          <p:nvPr/>
        </p:nvSpPr>
        <p:spPr>
          <a:xfrm>
            <a:off x="7905750" y="31623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具备职业业务世界知识</a:t>
            </a:r>
          </a:p>
        </p:txBody>
      </p:sp>
      <p:sp>
        <p:nvSpPr>
          <p:cNvPr id="22" name="TextBox 21"/>
          <p:cNvSpPr txBox="1"/>
          <p:nvPr/>
        </p:nvSpPr>
        <p:spPr>
          <a:xfrm>
            <a:off x="7905750" y="34480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账务规则、合同条款与判例、定价与库存策略等，决定任务的正确性标准</a:t>
            </a:r>
          </a:p>
        </p:txBody>
      </p:sp>
      <p:sp>
        <p:nvSpPr>
          <p:cNvPr id="23" name="Rounded Rectangle 22"/>
          <p:cNvSpPr/>
          <p:nvPr/>
        </p:nvSpPr>
        <p:spPr>
          <a:xfrm>
            <a:off x="7277100" y="4286250"/>
            <a:ext cx="44577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29500" y="44005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5" name="TextBox 24"/>
          <p:cNvSpPr txBox="1"/>
          <p:nvPr/>
        </p:nvSpPr>
        <p:spPr>
          <a:xfrm>
            <a:off x="7905750" y="4419600"/>
            <a:ext cx="3771900" cy="212080"/>
          </a:xfrm>
          <a:prstGeom prst="rect">
            <a:avLst/>
          </a:prstGeom>
          <a:noFill/>
        </p:spPr>
        <p:txBody>
          <a:bodyPr wrap="none" lIns="0" rIns="0" tIns="0" bIns="0" anchor="ctr">
            <a:noAutofit/>
          </a:bodyPr>
          <a:lstStyle/>
          <a:p>
            <a:pPr algn="l">
              <a:lnSpc>
                <a:spcPct val="100000"/>
              </a:lnSpc>
              <a:spcBef>
                <a:spcPts val="0"/>
              </a:spcBef>
              <a:spcAft>
                <a:spcPts val="0"/>
              </a:spcAft>
            </a:pPr>
            <a:r>
              <a:rPr sz="1237" b="1" i="0">
                <a:solidFill>
                  <a:srgbClr val="660874"/>
                </a:solidFill>
                <a:latin typeface="Arial"/>
                <a:ea typeface="微软雅黑"/>
                <a:cs typeface="微软雅黑"/>
              </a:rPr>
              <a:t>掌握职业专业软件的使用能力</a:t>
            </a:r>
          </a:p>
        </p:txBody>
      </p:sp>
      <p:sp>
        <p:nvSpPr>
          <p:cNvPr id="26" name="TextBox 25"/>
          <p:cNvSpPr txBox="1"/>
          <p:nvPr/>
        </p:nvSpPr>
        <p:spPr>
          <a:xfrm>
            <a:off x="7905750" y="4705350"/>
            <a:ext cx="3714750" cy="411360"/>
          </a:xfrm>
          <a:prstGeom prst="rect">
            <a:avLst/>
          </a:prstGeom>
          <a:noFill/>
        </p:spPr>
        <p:txBody>
          <a:bodyPr wrap="square" lIns="0" rIns="0" tIns="0" bIns="0" anchor="t">
            <a:noAutofit/>
          </a:bodyPr>
          <a:lstStyle/>
          <a:p>
            <a:pPr algn="l">
              <a:lnSpc>
                <a:spcPts val="162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三者兼备，方能成为面向不同职业的</a:t>
            </a:r>
            <a:r>
              <a:rPr sz="1350" b="1" i="0">
                <a:solidFill>
                  <a:srgbClr val="F6C8FF"/>
                </a:solidFill>
                <a:latin typeface="Arial"/>
                <a:ea typeface="微软雅黑"/>
                <a:cs typeface="微软雅黑"/>
              </a:rPr>
              <a:t>数字员工</a:t>
            </a:r>
            <a:r>
              <a:rPr sz="1350" b="0" i="0">
                <a:solidFill>
                  <a:srgbClr val="FFFFFF"/>
                </a:solidFill>
                <a:latin typeface="Arial"/>
                <a:ea typeface="微软雅黑"/>
                <a:cs typeface="微软雅黑"/>
              </a:rPr>
              <a:t>；研究三把可扩展的评测与训练框架推广到职业化个人环境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芯片工程师（示意图）</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Agent，初步构想）——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514350" y="1672778"/>
            <a:ext cx="6553200" cy="3664842"/>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反事实干预（Counterfactual Intervention）：拉大第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研究三（二·续）：物理落地的验证与因果修复（Physics-Grounded Verification + Causal Repair）</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14350" y="1497592"/>
            <a:ext cx="5600700" cy="3634215"/>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因果修复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综合数字智能体范式与轨迹感知的可信评测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交织的混合能力范式；只收录能力缺一不可的长程任务，以轨迹审计替代仅依据结果的判分，揭示自主编排与自我验证瓶颈。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以复刻为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pic>
        <p:nvPicPr>
          <p:cNvPr id="18" name="Picture 17" descr="phys_cf.png"/>
          <p:cNvPicPr>
            <a:picLocks noChangeAspect="1"/>
          </p:cNvPicPr>
          <p:nvPr/>
        </p:nvPicPr>
        <p:blipFill>
          <a:blip r:embed="rId4"/>
          <a:stretch>
            <a:fillRect/>
          </a:stretch>
        </p:blipFill>
        <p:spPr>
          <a:xfrm>
            <a:off x="8229600" y="2328428"/>
            <a:ext cx="3390900" cy="1896343"/>
          </a:xfrm>
          <a:prstGeom prst="rect">
            <a:avLst/>
          </a:prstGeom>
        </p:spPr>
      </p:pic>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构建职业化个人电脑环境与真实数据驱动的任务流水线；以反事实干预检验生成内容的物理机制，并以因果修复闭环提升可靠性。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物理落地的验证与因果修复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建立物理世界生成的反事实干预基准与因果修复方法，验证其对跨条件物理泛化的提升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