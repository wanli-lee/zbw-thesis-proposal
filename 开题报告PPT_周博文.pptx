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6.xml" ContentType="application/vnd.openxmlformats-officedocument.presentationml.tags+xml"/>
  <Override PartName="/ppt/tags/tag61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4"/>
  </p:notesMasterIdLst>
  <p:handoutMasterIdLst>
    <p:handoutMasterId r:id="rId12"/>
  </p:handoutMasterIdLst>
  <p:sldIdLst>
    <p:sldId id="256" r:id="rId11"/>
    <p:sldId id="257" r:id="rId10"/>
    <p:sldId id="258" r:id="rId9"/>
    <p:sldId id="259" r:id="rId8"/>
    <p:sldId id="260" r:id="rId7"/>
    <p:sldId id="261" r:id="rId6"/>
    <p:sldId id="262" r:id="rId5"/>
    <p:sldId id="263" r:id="rId3"/>
    <p:sldId id="264" r:id="rId23"/>
    <p:sldId id="265" r:id="rId24"/>
    <p:sldId id="266" r:id="rId25"/>
    <p:sldId id="267" r:id="rId26"/>
    <p:sldId id="268" r:id="rId27"/>
    <p:sldId id="269" r:id="rId28"/>
    <p:sldId id="270" r:id="rId29"/>
    <p:sldId id="271" r:id="rId30"/>
    <p:sldId id="272" r:id="rId31"/>
    <p:sldId id="273" r:id="rId32"/>
    <p:sldId id="274" r:id="rId33"/>
    <p:sldId id="275" r:id="rId34"/>
    <p:sldId id="276" r:id="rId35"/>
    <p:sldId id="277" r:id="rId36"/>
    <p:sldId id="278" r:id="rId37"/>
    <p:sldId id="279" r:id="rId38"/>
    <p:sldId id="280" r:id="rId39"/>
    <p:sldId id="281" r:id="rId40"/>
    <p:sldId id="282" r:id="rId41"/>
    <p:sldId id="283" r:id="rId42"/>
    <p:sldId id="284" r:id="rId43"/>
    <p:sldId id="285" r:id="rId44"/>
    <p:sldId id="286" r:id="rId45"/>
    <p:sldId id="287" r:id="rId46"/>
  </p:sldIdLst>
  <p:sldSz cx="12192000" cy="6858000"/>
  <p:notesSz cx="6858000" cy="9144000"/>
  <p:embeddedFontLst>
    <p:embeddedFont>
      <p:font typeface="方正小标宋简体" panose="02000000000000000000" charset="-122"/>
      <p:regular r:id="rId16"/>
    </p:embeddedFont>
    <p:embeddedFont>
      <p:font typeface="微软雅黑" panose="020B0503020204020204" charset="-122"/>
      <p:regular r:id="rId17"/>
    </p:embeddedFont>
    <p:embeddedFont>
      <p:font typeface="Calibri" panose="020F0502020204030204" charset="0"/>
      <p:regular r:id="rId18"/>
      <p:bold r:id="rId19"/>
      <p:italic r:id="rId20"/>
      <p:boldItalic r:id="rId21"/>
    </p:embeddedFont>
  </p:embeddedFontLst>
  <p:custDataLst>
    <p:tags r:id="rId2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71" userDrawn="1">
          <p15:clr>
            <a:srgbClr val="A4A3A4"/>
          </p15:clr>
        </p15:guide>
        <p15:guide id="2" pos="377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787A7"/>
    <a:srgbClr val="F3E8FF"/>
    <a:srgbClr val="E9ABE6"/>
    <a:srgbClr val="C0DC7A"/>
    <a:srgbClr val="A8E584"/>
    <a:srgbClr val="E1B5E1"/>
    <a:srgbClr val="685EB0"/>
    <a:srgbClr val="D47581"/>
    <a:srgbClr val="B48EB9"/>
    <a:srgbClr val="7030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78" autoAdjust="0"/>
    <p:restoredTop sz="87978"/>
  </p:normalViewPr>
  <p:slideViewPr>
    <p:cSldViewPr snapToGrid="0" showGuides="1">
      <p:cViewPr varScale="1">
        <p:scale>
          <a:sx n="99" d="100"/>
          <a:sy n="99" d="100"/>
        </p:scale>
        <p:origin x="176" y="448"/>
      </p:cViewPr>
      <p:guideLst>
        <p:guide orient="horz" pos="1971"/>
        <p:guide pos="377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0" cy="72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8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5.xml"/><Relationship Id="rId8" Type="http://schemas.openxmlformats.org/officeDocument/2006/relationships/slide" Target="slides/slide4.xml"/><Relationship Id="rId9" Type="http://schemas.openxmlformats.org/officeDocument/2006/relationships/slide" Target="slides/slide3.xml"/><Relationship Id="rId10" Type="http://schemas.openxmlformats.org/officeDocument/2006/relationships/slide" Target="slides/slide2.xml"/><Relationship Id="rId11" Type="http://schemas.openxmlformats.org/officeDocument/2006/relationships/slide" Target="slides/slide1.xml"/><Relationship Id="rId12" Type="http://schemas.openxmlformats.org/officeDocument/2006/relationships/handoutMaster" Target="handoutMasters/handout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tags" Target="tags/tag61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5" Type="http://schemas.openxmlformats.org/officeDocument/2006/relationships/slide" Target="slides/slide21.xml"/><Relationship Id="rId36" Type="http://schemas.openxmlformats.org/officeDocument/2006/relationships/slide" Target="slides/slide22.xml"/><Relationship Id="rId37" Type="http://schemas.openxmlformats.org/officeDocument/2006/relationships/slide" Target="slides/slide23.xml"/><Relationship Id="rId38" Type="http://schemas.openxmlformats.org/officeDocument/2006/relationships/slide" Target="slides/slide24.xml"/><Relationship Id="rId39" Type="http://schemas.openxmlformats.org/officeDocument/2006/relationships/slide" Target="slides/slide25.xml"/><Relationship Id="rId40" Type="http://schemas.openxmlformats.org/officeDocument/2006/relationships/slide" Target="slides/slide26.xml"/><Relationship Id="rId41" Type="http://schemas.openxmlformats.org/officeDocument/2006/relationships/slide" Target="slides/slide27.xml"/><Relationship Id="rId42" Type="http://schemas.openxmlformats.org/officeDocument/2006/relationships/slide" Target="slides/slide28.xml"/><Relationship Id="rId43" Type="http://schemas.openxmlformats.org/officeDocument/2006/relationships/slide" Target="slides/slide29.xml"/><Relationship Id="rId44" Type="http://schemas.openxmlformats.org/officeDocument/2006/relationships/slide" Target="slides/slide30.xml"/><Relationship Id="rId45" Type="http://schemas.openxmlformats.org/officeDocument/2006/relationships/slide" Target="slides/slide31.xml"/><Relationship Id="rId46" Type="http://schemas.openxmlformats.org/officeDocument/2006/relationships/slide" Target="slides/slide3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【11 秒】各位老师好，我是周博文，导师是王好谦老师。我的开题题目是《面向通用数字智能体的可扩展评测与训练框架研究》。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秒】通用数字智能体要在真实电脑里自主完成长程工作。它有两类能力：命令行和代码代表的 CLI 能力，精确、可验证；截图和键鼠代表的 GUI 能力，通用、能看见界面。真实任务往往要在两者之间反复切换。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秒】现有研究分三类方法和一个新前沿。纯 CLI 难以直接观测界面；纯 GUI 开销高、缺少验证信号；混合方法刚出现，评测多偏重结果判分；走向真实世界的个人智能体和物理世界生成，缺少职业环境和物理验证。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【30 秒】由此归纳出三个挑战。左图：只看结果判分，GPT-5.5 的成功率从 53.5 被审计降到 33.3；中图：失败主要来自违规取巧和跨通道失控，视觉错误不到 4%。三个挑战——任务范式与能力度量不匹配、混合行为模式难以习得、通用能力难以落到真实世界——分别对应评测、训练、应用三项研究。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【20 秒】三项研究前后衔接，贯穿主线是可扩展：候选任务与验证器自动生成、经审查后使用，让评测和训练能随任务规模扩展。研究一、二已经完成，研究三是后续主体。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【18 秒】研究一是评测。我最初在纯 GUI 范式下做效率优化：GUIPruner 把 FLOPs 降到约三分之一，ST-Lite 用 20% 的 KV 缓存持平完整缓存。但每一步看整屏的本质没变。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【26 秒】受 2026 年初 OpenClaw 的启发，我们在 OSWorld 上做了受控对照：同一模型、同一判官，不看像素的 CLI 智能体成功率 79.1%，与纯视觉的 77.3% 相近。但反过来，仅用 CLI 难以观测渲染结果，需要视觉的任务上 GUI 更强。两类能力互补，关键在于范式与度量。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【26 秒】于是我们提出 WeaveBench：用单通道基线和人工审查筛出需要两类能力协同的长程任务，并审计全过程。单用 GUI 仅 1.8%，单用 CLI 3.5%，混合 35.1%；失败主要集中在自主编排与自我验证。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【30 秒】研究二训练这种行为。我们以应用复刻为场景：对错要运行后看界面，天然需要两类能力交织；以原版应用为验证参照，自动生成隐藏测试来筛选轨迹。3.5 万条轨迹微调后，分布外基准相对首个检查点最高提升 17.9 分，WeaveBench 平均部分得分从 35.7 升到 48.2。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【40 秒】研究三是后续主体，先做职业化个人智能体。现有产品的个人化侧重记忆与偏好适配。我们要回答：个人环境和职业知识能否构造成可验证的训练环境，训练后能否跨职业泛化。方法是仿真业务系统、用脱敏数据驱动环境、以数据库状态为主要判据的验证器构造 SFT 与 RL 流水线；先重点做财务、电商运营、法律中的两到三类职业。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拓展方向是物理仿真：代码智能体生成的世界表象正确，不代表机制正确。拉大骨牌间距后，关键帧动画仍然全部倒下，而物理仿真会在间隙处正确停下。我们用反事实干预作为可自动构造的验证器，只做刚体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【14 秒】目前研究一、二形成 EMNLP 2026 两篇、KDD 2027 在投一篇和一份技术报告，相关环境与数据已用于模型优化。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【12 秒】三个创新点：轨迹感知的可信评测，以参考应用为验证参照的可扩展复刻训练，以及把验证从结果审计扩展到业务状态与物理干预。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【16 秒】后续一年先保证必达目标：两到三个职业的可验证环境与训练；强化学习和物理仿真作为拓展目标。汇报完毕，请各位老师批评指正。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通用数字智能体可应用于软件开发、系统运维、内容创作以及金融、电商等行业业务流程。三段视频是真实的智能体轨迹。产业界已将两类能力整合到同一智能体中；大量存量软件没有可编程接口，必须依赖 GUI 能力；混合能力交互已成为前沿基础模型的核心议题。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国内外研究可分为四类：纯 CLI 能力方法，包括命令行智能体与代码智能体；纯 GUI 能力方法，包括原生 GUI 智能体与高效视觉推理；混合能力方法，包括多智能体协作、工具增强 GUI 与可验证环境构建；以及新兴的走向真实世界的智能体，包括个人智能体产品、物理世界生成与机器人使用。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纯 CLI 能力方法：动作精确、执行高效，单元测试提供可验证奖励，强化学习已规模化。不足在于无法观测渲染结果，只能处理有接口的软件。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纯 GUI 能力方法：以截图和键鼠为通用接口，OSWorld 公开成绩从约 12% 升到 80% 以上。不足在于开销高、步数多、看不到隐藏状态；FastV、SnapKV 等通用压缩方法没有利用 GUI 的帧间冗余与二维布局。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混合能力方法：CoAct-1 让 GUI 操作员与程序员协作，OSWorld-MCP 在 GUI 之外提供工具，GUI-Genesis 将应用重建为可验证环境。右侧对照说明，在以 GUI 为主的 OSWorld 上，同一模型CLI 成功率点估计与纯视觉接近（步数口径不同，不作直接效率比较），说明两类能力各有优势。不足在于第二种能力多为辅助，任务未强制协同、只看结果判分；可验证环境局限于单一界面。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第四类是走向真实世界的智能体。个人智能体产品方面，OpenAI dots、Meta Muse 都在云端机器或安全虚拟机中执行，Manus 起初完全在云 VM，2026 年起支持在本机运行；OpenClaw 则运行在用户自己的设备上，Muse 据报道正是以 OpenClaw 为蓝本。物理世界方面，SimWorlds、Text2Sim、4DCodeBench 让 Coding Agent 生成物理世界或复现运动，RobotWorld 评测多模态智能体使用机器人，最强模型成功率仅 19%。不足：个人智能体多在云端通用环境执行，个人化主要体现在记忆，职业特质不鲜明；物理世界生成多以原条件下看起来正确为准，缺少跨条件的物理验证。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研究二回答如何训练这种新的行为模式。自主编排与自我验证需要在能力交织、结果可验证的场景中习得。我们找到的场景是应用复刻：规格在界面里、交付物是代码、对错要运行后看界面，天然要求 CLI 与 GUI 交织；而原版应用本身就是 oracle，可以自动合成隐藏行为测试作为可验证奖励。右下图显示复刻任务中 GUI 与代码的切换频率远高于现有基准。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训练流程分四步：从 GitHub 高质量开源应用构造复刻任务，覆盖五个平台并与评测集去重；用 Qwen3.8-Max 在隔离的虚拟机池中并发生成轨迹；用任务级行为 verifier 做拒绝采样，每平台 7000 条、共 3.5 万条；在 Qwen3.7-Plus 和持续预训练后的 Qwen-Flash 上监督微调。结果在五个分布外基准上一致提升，最高 17.9 分（OSWorld 2.0 部分得分）；WeaveBench 平均部分得分从 35.7 提升到 48.2（与 PassRate 不可比）。结论是相对首个已评估检查点观察到提升，净贡献与迁移机制待对照确认，引出研究三：推广到真实世界。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方法上做多职业可验证环境扩展：第一，App Mock，用研究二的复刻能力把各行业业务软件构建为可交互、可重置的仿真应用，并组装为个人电脑环境；第二，用脱敏的真实业务数据驱动状态与事件演化；第三，构造 SFT 与 RL 任务流水线，verifier 以数据库状态为准。研究一的评测、研究二的训练流程与研究一的压缩方法都在这里复用。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研究三的拓展方向是面向物理仿真程序的代码智能体验证，本质是把 CLI 能力、尤其是 Coding 能力外扩到物理世界，要求产出的代码与内容遵循现实物理规律。以多米诺为例：关键帧动画与物理仿真在原始条件下看起来完全一样；但拉大第 10、11 块骨牌间距后，关键帧动画仍然全部倒下，物理仿真则在间隙处正确中断。只看原任务的视觉效果，无法判断智能体是否真正构建了正确的动力学模型。需要说明，解析式公式不一定错，物理引擎也不保证正确，判断标准是物理行为能否在不同条件下通过独立验证。现有工作分别考察了场景重建、运动复现、机制验证与仿真修复，但尚未统一考察跨条件泛化、错误因果定位和修复后的回归三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据此提出三个研究问题：RQ1 物理泛化，RQ2 错误诊断，RQ3 可靠修复。方法是基于物理状态与干预测试的验证与定向修复：智能体构建物理世界，执行仿真并记录状态轨迹，由基于干预的 verifier 改变参数与初始条件，结合轨迹、接触状态、物理约束与渲染图定位错误，再定向修复并对原始与干预条件做回归测试。核心消融比较 One-shot、执行反馈、视觉反馈、物理状态反馈和我们的方法。主要科学问题是 Coding Agent 能否构建物理上可泛化的世界；方法贡献是基于干预的反馈能否提升仿真修复。这与主线一致：反事实干预就是一种可扩展的 verifier，修复闭环可以作为训练环境。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tags" Target="../tags/tag1.xml"/><Relationship Id="rId4" Type="http://schemas.openxmlformats.org/officeDocument/2006/relationships/tags" Target="../tags/tag2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3" Type="http://schemas.openxmlformats.org/officeDocument/2006/relationships/image" Target="../media/image2.jpeg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image" Target="../media/image3.png"/><Relationship Id="rId12" Type="http://schemas.microsoft.com/office/2007/relationships/hdphoto" Target="../media/image4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image" Target="../media/image5.png"/><Relationship Id="rId6" Type="http://schemas.microsoft.com/office/2007/relationships/hdphoto" Target="../media/image6.wdp"/><Relationship Id="rId7" Type="http://schemas.openxmlformats.org/officeDocument/2006/relationships/tags" Target="../tags/tag14.xml"/><Relationship Id="rId8" Type="http://schemas.openxmlformats.org/officeDocument/2006/relationships/image" Target="../media/image7.png"/><Relationship Id="rId9" Type="http://schemas.openxmlformats.org/officeDocument/2006/relationships/tags" Target="../tags/tag15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microsoft.com/office/2007/relationships/hdphoto" Target="../media/image9.wdp"/><Relationship Id="rId4" Type="http://schemas.openxmlformats.org/officeDocument/2006/relationships/image" Target="../media/image10.png"/><Relationship Id="rId5" Type="http://schemas.microsoft.com/office/2007/relationships/hdphoto" Target="../media/image11.wdp"/><Relationship Id="rId6" Type="http://schemas.openxmlformats.org/officeDocument/2006/relationships/image" Target="../media/image1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3" Type="http://schemas.openxmlformats.org/officeDocument/2006/relationships/tags" Target="../tags/tag23.xml"/><Relationship Id="rId4" Type="http://schemas.openxmlformats.org/officeDocument/2006/relationships/tags" Target="../tags/tag24.xml"/><Relationship Id="rId5" Type="http://schemas.openxmlformats.org/officeDocument/2006/relationships/tags" Target="../tags/tag25.xml"/><Relationship Id="rId6" Type="http://schemas.openxmlformats.org/officeDocument/2006/relationships/tags" Target="../tags/tag26.xml"/><Relationship Id="rId7" Type="http://schemas.openxmlformats.org/officeDocument/2006/relationships/tags" Target="../tags/tag27.xml"/><Relationship Id="rId8" Type="http://schemas.openxmlformats.org/officeDocument/2006/relationships/tags" Target="../tags/tag28.xml"/><Relationship Id="rId9" Type="http://schemas.openxmlformats.org/officeDocument/2006/relationships/tags" Target="../tags/tag29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0.xml"/><Relationship Id="rId3" Type="http://schemas.openxmlformats.org/officeDocument/2006/relationships/tags" Target="../tags/tag31.xml"/><Relationship Id="rId4" Type="http://schemas.openxmlformats.org/officeDocument/2006/relationships/tags" Target="../tags/tag32.xml"/><Relationship Id="rId5" Type="http://schemas.openxmlformats.org/officeDocument/2006/relationships/tags" Target="../tags/tag3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7.xml"/><Relationship Id="rId3" Type="http://schemas.openxmlformats.org/officeDocument/2006/relationships/tags" Target="../tags/tag38.xml"/><Relationship Id="rId4" Type="http://schemas.openxmlformats.org/officeDocument/2006/relationships/tags" Target="../tags/tag39.xml"/><Relationship Id="rId5" Type="http://schemas.openxmlformats.org/officeDocument/2006/relationships/tags" Target="../tags/tag40.xml"/><Relationship Id="rId6" Type="http://schemas.openxmlformats.org/officeDocument/2006/relationships/tags" Target="../tags/tag41.xml"/><Relationship Id="rId7" Type="http://schemas.openxmlformats.org/officeDocument/2006/relationships/tags" Target="../tags/tag4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tags" Target="../tags/tag45.xml"/><Relationship Id="rId5" Type="http://schemas.openxmlformats.org/officeDocument/2006/relationships/tags" Target="../tags/tag46.xml"/><Relationship Id="rId6" Type="http://schemas.openxmlformats.org/officeDocument/2006/relationships/tags" Target="../tags/tag47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清华大学模板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6730"/>
          </a:xfrm>
          <a:prstGeom prst="rect">
            <a:avLst/>
          </a:prstGeom>
        </p:spPr>
      </p:pic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灯片编号占位符 5"/>
          <p:cNvSpPr>
            <a:spLocks noGrp="1"/>
          </p:cNvSpPr>
          <p:nvPr userDrawn="1">
            <p:custDataLst>
              <p:tags r:id="rId4"/>
            </p:custDataLst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矩形 5"/>
          <p:cNvSpPr/>
          <p:nvPr userDrawn="1">
            <p:custDataLst>
              <p:tags r:id="rId5"/>
            </p:custDataLst>
          </p:nvPr>
        </p:nvSpPr>
        <p:spPr>
          <a:xfrm>
            <a:off x="1" y="0"/>
            <a:ext cx="8238932" cy="6858000"/>
          </a:xfrm>
          <a:custGeom>
            <a:avLst/>
            <a:gdLst>
              <a:gd name="connsiteX0" fmla="*/ 0 w 7675927"/>
              <a:gd name="connsiteY0" fmla="*/ 0 h 6858000"/>
              <a:gd name="connsiteX1" fmla="*/ 7675927 w 7675927"/>
              <a:gd name="connsiteY1" fmla="*/ 0 h 6858000"/>
              <a:gd name="connsiteX2" fmla="*/ 7675927 w 7675927"/>
              <a:gd name="connsiteY2" fmla="*/ 6858000 h 6858000"/>
              <a:gd name="connsiteX3" fmla="*/ 0 w 7675927"/>
              <a:gd name="connsiteY3" fmla="*/ 6858000 h 6858000"/>
              <a:gd name="connsiteX4" fmla="*/ 0 w 7675927"/>
              <a:gd name="connsiteY4" fmla="*/ 0 h 6858000"/>
              <a:gd name="connsiteX0-1" fmla="*/ 0 w 7675927"/>
              <a:gd name="connsiteY0-2" fmla="*/ 0 h 6858000"/>
              <a:gd name="connsiteX1-3" fmla="*/ 7675927 w 7675927"/>
              <a:gd name="connsiteY1-4" fmla="*/ 0 h 6858000"/>
              <a:gd name="connsiteX2-5" fmla="*/ 7669764 w 7675927"/>
              <a:gd name="connsiteY2-6" fmla="*/ 3433665 h 6858000"/>
              <a:gd name="connsiteX3-7" fmla="*/ 7675927 w 7675927"/>
              <a:gd name="connsiteY3-8" fmla="*/ 6858000 h 6858000"/>
              <a:gd name="connsiteX4-9" fmla="*/ 0 w 7675927"/>
              <a:gd name="connsiteY4-10" fmla="*/ 6858000 h 6858000"/>
              <a:gd name="connsiteX5" fmla="*/ 0 w 7675927"/>
              <a:gd name="connsiteY5" fmla="*/ 0 h 6858000"/>
              <a:gd name="connsiteX0-11" fmla="*/ 0 w 9181326"/>
              <a:gd name="connsiteY0-12" fmla="*/ 0 h 6858000"/>
              <a:gd name="connsiteX1-13" fmla="*/ 7675927 w 9181326"/>
              <a:gd name="connsiteY1-14" fmla="*/ 0 h 6858000"/>
              <a:gd name="connsiteX2-15" fmla="*/ 9181324 w 9181326"/>
              <a:gd name="connsiteY2-16" fmla="*/ 3461657 h 6858000"/>
              <a:gd name="connsiteX3-17" fmla="*/ 7675927 w 9181326"/>
              <a:gd name="connsiteY3-18" fmla="*/ 6858000 h 6858000"/>
              <a:gd name="connsiteX4-19" fmla="*/ 0 w 9181326"/>
              <a:gd name="connsiteY4-20" fmla="*/ 6858000 h 6858000"/>
              <a:gd name="connsiteX5-21" fmla="*/ 0 w 9181326"/>
              <a:gd name="connsiteY5-22" fmla="*/ 0 h 6858000"/>
              <a:gd name="connsiteX0-23" fmla="*/ 0 w 9181328"/>
              <a:gd name="connsiteY0-24" fmla="*/ 0 h 6858000"/>
              <a:gd name="connsiteX1-25" fmla="*/ 7675927 w 9181328"/>
              <a:gd name="connsiteY1-26" fmla="*/ 0 h 6858000"/>
              <a:gd name="connsiteX2-27" fmla="*/ 9181324 w 9181328"/>
              <a:gd name="connsiteY2-28" fmla="*/ 3461657 h 6858000"/>
              <a:gd name="connsiteX3-29" fmla="*/ 7675927 w 9181328"/>
              <a:gd name="connsiteY3-30" fmla="*/ 6858000 h 6858000"/>
              <a:gd name="connsiteX4-31" fmla="*/ 0 w 9181328"/>
              <a:gd name="connsiteY4-32" fmla="*/ 6858000 h 6858000"/>
              <a:gd name="connsiteX5-33" fmla="*/ 0 w 9181328"/>
              <a:gd name="connsiteY5-34" fmla="*/ 0 h 6858000"/>
              <a:gd name="connsiteX0-35" fmla="*/ 0 w 9153337"/>
              <a:gd name="connsiteY0-36" fmla="*/ 0 h 6858000"/>
              <a:gd name="connsiteX1-37" fmla="*/ 7675927 w 9153337"/>
              <a:gd name="connsiteY1-38" fmla="*/ 0 h 6858000"/>
              <a:gd name="connsiteX2-39" fmla="*/ 9153333 w 9153337"/>
              <a:gd name="connsiteY2-40" fmla="*/ 3582955 h 6858000"/>
              <a:gd name="connsiteX3-41" fmla="*/ 7675927 w 9153337"/>
              <a:gd name="connsiteY3-42" fmla="*/ 6858000 h 6858000"/>
              <a:gd name="connsiteX4-43" fmla="*/ 0 w 9153337"/>
              <a:gd name="connsiteY4-44" fmla="*/ 6858000 h 6858000"/>
              <a:gd name="connsiteX5-45" fmla="*/ 0 w 9153337"/>
              <a:gd name="connsiteY5-46" fmla="*/ 0 h 6858000"/>
              <a:gd name="connsiteX0-47" fmla="*/ 0 w 9153339"/>
              <a:gd name="connsiteY0-48" fmla="*/ 0 h 6858000"/>
              <a:gd name="connsiteX1-49" fmla="*/ 7675927 w 9153339"/>
              <a:gd name="connsiteY1-50" fmla="*/ 0 h 6858000"/>
              <a:gd name="connsiteX2-51" fmla="*/ 9153333 w 9153339"/>
              <a:gd name="connsiteY2-52" fmla="*/ 3582955 h 6858000"/>
              <a:gd name="connsiteX3-53" fmla="*/ 7675927 w 9153339"/>
              <a:gd name="connsiteY3-54" fmla="*/ 6858000 h 6858000"/>
              <a:gd name="connsiteX4-55" fmla="*/ 0 w 9153339"/>
              <a:gd name="connsiteY4-56" fmla="*/ 6858000 h 6858000"/>
              <a:gd name="connsiteX5-57" fmla="*/ 0 w 9153339"/>
              <a:gd name="connsiteY5-58" fmla="*/ 0 h 6858000"/>
              <a:gd name="connsiteX0-59" fmla="*/ 0 w 9144008"/>
              <a:gd name="connsiteY0-60" fmla="*/ 0 h 6858000"/>
              <a:gd name="connsiteX1-61" fmla="*/ 7675927 w 9144008"/>
              <a:gd name="connsiteY1-62" fmla="*/ 0 h 6858000"/>
              <a:gd name="connsiteX2-63" fmla="*/ 9144002 w 9144008"/>
              <a:gd name="connsiteY2-64" fmla="*/ 3433665 h 6858000"/>
              <a:gd name="connsiteX3-65" fmla="*/ 7675927 w 9144008"/>
              <a:gd name="connsiteY3-66" fmla="*/ 6858000 h 6858000"/>
              <a:gd name="connsiteX4-67" fmla="*/ 0 w 9144008"/>
              <a:gd name="connsiteY4-68" fmla="*/ 6858000 h 6858000"/>
              <a:gd name="connsiteX5-69" fmla="*/ 0 w 9144008"/>
              <a:gd name="connsiteY5-70" fmla="*/ 0 h 6858000"/>
              <a:gd name="connsiteX0-71" fmla="*/ 0 w 9153339"/>
              <a:gd name="connsiteY0-72" fmla="*/ 0 h 6858000"/>
              <a:gd name="connsiteX1-73" fmla="*/ 7675927 w 9153339"/>
              <a:gd name="connsiteY1-74" fmla="*/ 0 h 6858000"/>
              <a:gd name="connsiteX2-75" fmla="*/ 9153333 w 9153339"/>
              <a:gd name="connsiteY2-76" fmla="*/ 3480318 h 6858000"/>
              <a:gd name="connsiteX3-77" fmla="*/ 7675927 w 9153339"/>
              <a:gd name="connsiteY3-78" fmla="*/ 6858000 h 6858000"/>
              <a:gd name="connsiteX4-79" fmla="*/ 0 w 9153339"/>
              <a:gd name="connsiteY4-80" fmla="*/ 6858000 h 6858000"/>
              <a:gd name="connsiteX5-81" fmla="*/ 0 w 9153339"/>
              <a:gd name="connsiteY5-82" fmla="*/ 0 h 68580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21" y="connsiteY5-22"/>
              </a:cxn>
            </a:cxnLst>
            <a:rect l="l" t="t" r="r" b="b"/>
            <a:pathLst>
              <a:path w="9153339" h="6858000">
                <a:moveTo>
                  <a:pt x="0" y="0"/>
                </a:moveTo>
                <a:lnTo>
                  <a:pt x="7675927" y="0"/>
                </a:lnTo>
                <a:cubicBezTo>
                  <a:pt x="8644256" y="1088571"/>
                  <a:pt x="9155387" y="2335763"/>
                  <a:pt x="9153333" y="3480318"/>
                </a:cubicBezTo>
                <a:cubicBezTo>
                  <a:pt x="9155387" y="4621763"/>
                  <a:pt x="8485636" y="6024465"/>
                  <a:pt x="7675927" y="6858000"/>
                </a:cubicBez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702F73">
              <a:alpha val="90000"/>
            </a:srgbClr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2" name="椭圆 11"/>
          <p:cNvSpPr/>
          <p:nvPr userDrawn="1">
            <p:custDataLst>
              <p:tags r:id="rId6"/>
            </p:custDataLst>
          </p:nvPr>
        </p:nvSpPr>
        <p:spPr>
          <a:xfrm>
            <a:off x="7961878" y="3151946"/>
            <a:ext cx="554111" cy="554111"/>
          </a:xfrm>
          <a:prstGeom prst="ellipse">
            <a:avLst/>
          </a:prstGeom>
          <a:solidFill>
            <a:srgbClr val="702F73">
              <a:alpha val="99000"/>
            </a:srgbClr>
          </a:solidFill>
          <a:ln w="57150">
            <a:solidFill>
              <a:schemeClr val="bg1"/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 rotWithShape="1">
          <a:blip r:embed="rId11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biLevel thresh="50000"/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40000" contrast="-40000"/>
                    </a14:imgEffect>
                    <a14:imgEffect>
                      <a14:sharpenSoften amount="-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7721" t="45442" r="4115" b="13605"/>
          <a:stretch>
            <a:fillRect/>
          </a:stretch>
        </p:blipFill>
        <p:spPr>
          <a:xfrm>
            <a:off x="223937" y="214603"/>
            <a:ext cx="2528596" cy="880912"/>
          </a:xfrm>
          <a:prstGeom prst="rect">
            <a:avLst/>
          </a:prstGeom>
        </p:spPr>
      </p:pic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组合 73"/>
          <p:cNvGrpSpPr>
            <a:grpSpLocks noChangeAspect="1"/>
          </p:cNvGrpSpPr>
          <p:nvPr userDrawn="1"/>
        </p:nvGrpSpPr>
        <p:grpSpPr>
          <a:xfrm>
            <a:off x="9505950" y="336023"/>
            <a:ext cx="2325831" cy="699934"/>
            <a:chOff x="2685028" y="2876682"/>
            <a:chExt cx="5502784" cy="1656004"/>
          </a:xfrm>
        </p:grpSpPr>
        <p:sp>
          <p:nvSpPr>
            <p:cNvPr id="75" name="i$ľïdê"/>
            <p:cNvSpPr/>
            <p:nvPr userDrawn="1">
              <p:custDataLst>
                <p:tags r:id="rId2"/>
              </p:custDataLst>
            </p:nvPr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76" name="îṥlîḋê"/>
            <p:cNvSpPr/>
            <p:nvPr userDrawn="1">
              <p:custDataLst>
                <p:tags r:id="rId3"/>
              </p:custDataLst>
            </p:nvPr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77" name="图片 76"/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 r:embed="rId5" cstate="print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pic>
        <p:nvPicPr>
          <p:cNvPr id="16" name="图片 15" descr="建筑的设计&#10;&#10;描述已自动生成"/>
          <p:cNvPicPr>
            <a:picLocks noChangeAspect="1"/>
          </p:cNvPicPr>
          <p:nvPr userDrawn="1">
            <p:custDataLst>
              <p:tags r:id="rId7"/>
            </p:custDataLst>
          </p:nvPr>
        </p:nvPicPr>
        <p:blipFill>
          <a:blip r:embed="rId8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048" y="3076575"/>
            <a:ext cx="5635327" cy="3781425"/>
          </a:xfrm>
          <a:prstGeom prst="rect">
            <a:avLst/>
          </a:prstGeom>
        </p:spPr>
      </p:pic>
      <p:sp>
        <p:nvSpPr>
          <p:cNvPr id="7" name="矩形 6"/>
          <p:cNvSpPr/>
          <p:nvPr userDrawn="1">
            <p:custDataLst>
              <p:tags r:id="rId9"/>
            </p:custDataLst>
          </p:nvPr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/>
          <p:cNvGrpSpPr>
            <a:grpSpLocks noChangeAspect="1"/>
          </p:cNvGrpSpPr>
          <p:nvPr userDrawn="1"/>
        </p:nvGrpSpPr>
        <p:grpSpPr>
          <a:xfrm>
            <a:off x="10386222" y="242117"/>
            <a:ext cx="1561684" cy="469972"/>
            <a:chOff x="2685028" y="2876682"/>
            <a:chExt cx="5502784" cy="1656004"/>
          </a:xfrm>
        </p:grpSpPr>
        <p:sp>
          <p:nvSpPr>
            <p:cNvPr id="24" name="i$ľïdê"/>
            <p:cNvSpPr/>
            <p:nvPr userDrawn="1"/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25" name="îṥlîḋê"/>
            <p:cNvSpPr/>
            <p:nvPr userDrawn="1"/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26" name="图片 25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cxnSp>
        <p:nvCxnSpPr>
          <p:cNvPr id="37" name="直接连接符 36"/>
          <p:cNvCxnSpPr/>
          <p:nvPr userDrawn="1"/>
        </p:nvCxnSpPr>
        <p:spPr>
          <a:xfrm>
            <a:off x="0" y="891159"/>
            <a:ext cx="12179808" cy="0"/>
          </a:xfrm>
          <a:prstGeom prst="line">
            <a:avLst/>
          </a:prstGeom>
          <a:ln w="12700">
            <a:gradFill>
              <a:gsLst>
                <a:gs pos="0">
                  <a:srgbClr val="703881"/>
                </a:gs>
                <a:gs pos="74000">
                  <a:srgbClr val="DA3C7F"/>
                </a:gs>
                <a:gs pos="83000">
                  <a:srgbClr val="DA3C7F"/>
                </a:gs>
                <a:gs pos="100000">
                  <a:srgbClr val="DA3C7F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矩形 44"/>
          <p:cNvSpPr/>
          <p:nvPr userDrawn="1"/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9" name="图片 48" descr="图片包含 游戏机, 建筑, 标志, 围栏&#10;&#10;描述已自动生成"/>
          <p:cNvPicPr>
            <a:picLocks noChangeAspect="1"/>
          </p:cNvPicPr>
          <p:nvPr userDrawn="1"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7339" l="2737" r="98290">
                        <a14:foregroundMark x1="48945" y1="29798" x2="54989" y2="44073"/>
                        <a14:foregroundMark x1="44897" y1="27218" x2="65792" y2="69274"/>
                        <a14:foregroundMark x1="65792" y1="69274" x2="78278" y2="76008"/>
                        <a14:foregroundMark x1="78278" y1="76008" x2="80245" y2="62056"/>
                        <a14:foregroundMark x1="80245" y1="62056" x2="75912" y2="53710"/>
                        <a14:foregroundMark x1="80359" y1="50565" x2="82725" y2="84798"/>
                        <a14:foregroundMark x1="70410" y1="52056" x2="94897" y2="62944"/>
                        <a14:foregroundMark x1="78278" y1="41129" x2="81813" y2="97419"/>
                        <a14:foregroundMark x1="64652" y1="37581" x2="71066" y2="48710"/>
                        <a14:foregroundMark x1="40564" y1="58710" x2="55758" y2="81774"/>
                        <a14:foregroundMark x1="55758" y1="81774" x2="56414" y2="80000"/>
                        <a14:foregroundMark x1="41220" y1="90927" x2="82868" y2="89194"/>
                        <a14:foregroundMark x1="82868" y1="89194" x2="85205" y2="89274"/>
                        <a14:foregroundMark x1="95553" y1="45000" x2="98318" y2="72056"/>
                        <a14:foregroundMark x1="98318" y1="72056" x2="98318" y2="72056"/>
                        <a14:foregroundMark x1="92816" y1="29435" x2="93871" y2="37944"/>
                        <a14:foregroundMark x1="96351" y1="39798" x2="97263" y2="50000"/>
                        <a14:foregroundMark x1="92018" y1="28347" x2="93871" y2="44435"/>
                        <a14:foregroundMark x1="79447" y1="36492" x2="82212" y2="33710"/>
                        <a14:foregroundMark x1="82326" y1="33871" x2="79989" y2="42218"/>
                        <a14:foregroundMark x1="36659" y1="50927" x2="46152" y2="50242"/>
                        <a14:foregroundMark x1="46152" y1="50242" x2="53022" y2="51290"/>
                        <a14:foregroundMark x1="69641" y1="94435" x2="71608" y2="94073"/>
                        <a14:foregroundMark x1="43843" y1="93347" x2="59949" y2="96129"/>
                        <a14:foregroundMark x1="2737" y1="89435" x2="10063" y2="86855"/>
                        <a14:foregroundMark x1="10063" y1="86855" x2="10063" y2="86855"/>
                        <a14:foregroundMark x1="36374" y1="35202" x2="37030" y2="43508"/>
                        <a14:foregroundMark x1="25513" y1="41129" x2="25770" y2="42419"/>
                        <a14:foregroundMark x1="76311" y1="39274" x2="75656" y2="4165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1300"/>
            <a:ext cx="860855" cy="608586"/>
          </a:xfrm>
          <a:prstGeom prst="rect">
            <a:avLst/>
          </a:prstGeom>
        </p:spPr>
      </p:pic>
      <p:pic>
        <p:nvPicPr>
          <p:cNvPr id="46" name="图片 45" descr="建筑的摆设布局&#10;&#10;描述已自动生成"/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442" t="55311"/>
          <a:stretch>
            <a:fillRect/>
          </a:stretch>
        </p:blipFill>
        <p:spPr>
          <a:xfrm>
            <a:off x="9237785" y="6143541"/>
            <a:ext cx="3036277" cy="913752"/>
          </a:xfrm>
          <a:prstGeom prst="rect">
            <a:avLst/>
          </a:prstGeom>
        </p:spPr>
      </p:pic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  <a:prstGeom prst="rect">
            <a:avLst/>
          </a:prstGeo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ags" Target="../tags/tag52.xml"/><Relationship Id="rId13" Type="http://schemas.openxmlformats.org/officeDocument/2006/relationships/tags" Target="../tags/tag53.xml"/><Relationship Id="rId14" Type="http://schemas.openxmlformats.org/officeDocument/2006/relationships/tags" Target="../tags/tag54.xml"/><Relationship Id="rId15" Type="http://schemas.openxmlformats.org/officeDocument/2006/relationships/tags" Target="../tags/tag55.xml"/><Relationship Id="rId16" Type="http://schemas.openxmlformats.org/officeDocument/2006/relationships/tags" Target="../tags/tag5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2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3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4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5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6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7.jp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28.jpg"/><Relationship Id="rId8" Type="http://schemas.microsoft.com/office/2007/relationships/media" Target="../media/media3.mp4"/><Relationship Id="rId9" Type="http://schemas.openxmlformats.org/officeDocument/2006/relationships/video" Target="../media/media3.mp4"/><Relationship Id="rId10" Type="http://schemas.openxmlformats.org/officeDocument/2006/relationships/image" Target="../media/image29.jpg"/><Relationship Id="rId11" Type="http://schemas.openxmlformats.org/officeDocument/2006/relationships/image" Target="../media/image30.png"/><Relationship Id="rId1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8.jp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microsoft.com/office/2007/relationships/media" Target="../media/media4.mp4"/><Relationship Id="rId10" Type="http://schemas.openxmlformats.org/officeDocument/2006/relationships/video" Target="../media/media4.mp4"/><Relationship Id="rId11" Type="http://schemas.openxmlformats.org/officeDocument/2006/relationships/image" Target="../media/image46.jpg"/><Relationship Id="rId12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619250"/>
            <a:ext cx="16002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47750" y="1619250"/>
            <a:ext cx="13906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硕士学位论文开题报告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95500"/>
            <a:ext cx="861060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面向通用数字智能体的</a:t>
            </a:r>
          </a:p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可扩展评测与训练框架研究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3337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3600450"/>
            <a:ext cx="6705600" cy="7599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92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研究生：周博文</a:t>
            </a:r>
          </a:p>
          <a:p>
            <a:pPr algn="l">
              <a:lnSpc>
                <a:spcPts val="2992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导　师：王好谦 教授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 / 32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一、研究背景和选题意义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3157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通用数字智能体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（Universal Digital Agent，涵盖计算机操作智能体 CUA）旨在真实电脑中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自主完成长程数字任务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</a:t>
            </a:r>
          </a:p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通过 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CLI 能力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（命令行与编程）与 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GUI 能力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（界面感知与交互）的协同实现任务闭环。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76400"/>
            <a:ext cx="7810500" cy="384810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hybridtra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920329"/>
            <a:ext cx="7696200" cy="30363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5775" y="5181600"/>
            <a:ext cx="7753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一条典型混合轨迹：CLI 读日志、改配置、重启服务，GUI 观察页面并核验渲染结果（示意图）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20100" y="1676400"/>
            <a:ext cx="3314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591550" y="1828800"/>
            <a:ext cx="7715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24900" y="1828800"/>
            <a:ext cx="5619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 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1550" y="2171700"/>
            <a:ext cx="30289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命令行与编程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1550" y="2457450"/>
            <a:ext cx="30099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读写文件、管理服务、编写并运行程序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优势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精确、高效、结果可验证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Terminal-Bench · SWE-bench · OpenClaw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20100" y="3657600"/>
            <a:ext cx="3314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591550" y="3810000"/>
            <a:ext cx="8001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724900" y="3810000"/>
            <a:ext cx="590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 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1550" y="4152900"/>
            <a:ext cx="30289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界面感知与交互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1550" y="4438650"/>
            <a:ext cx="30099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基于截图感知界面，以键鼠操作软件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优势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适用于各类图形界面软件，可见渲染结果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OSWorld · UI-TARS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两类能力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互补而非互替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：真实任务要求智能体在同一轨迹中按需选择并切换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 / 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4 / 32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通用数字智能体方法：三类方法 + 一个新前沿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286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CLI 能力方法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6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Terminal-Bench · SWE-agent · OpenClaw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rw_c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" y="2476692"/>
            <a:ext cx="2628900" cy="106641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398145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精确高效、单元测试可验证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483870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难观测渲染；依赖可编程接口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47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2861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GUI 能力方法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861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OSWorld · UI-TARS-2 · FastV · SnapKV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147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rw_g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7746" y="2247900"/>
            <a:ext cx="2039006" cy="152400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33147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429000" y="3981450"/>
            <a:ext cx="2533650" cy="472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适用软件广；OSWorld 成绩显著提升（版本不一）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147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429000" y="483870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截图开销高、步数多；缺验证信号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1436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混合能力方法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36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CoAct-1 · OSWorld-MCP · GUI-Genesis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rw_hybr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300" y="2348618"/>
            <a:ext cx="2628900" cy="1322563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61722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86500" y="398145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混合动作缩短轨迹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0" y="4838700"/>
            <a:ext cx="2533650" cy="472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第二接口仅 +3.2 / +4.5 pp；偏重结果判分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297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0011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新前沿：走向真实世界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29700" y="1866900"/>
            <a:ext cx="2743200" cy="319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dots · Muse · OpenClaw · SimWorlds · RobotWorld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297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rw_fronti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7800" y="2311010"/>
            <a:ext cx="2628900" cy="1397779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90297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144000" y="398145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记忆与跨应用；可生成物理仿真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297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144000" y="483870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职业环境支持有限；物理验证不足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共同缺口：缺少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统一范式与过程可信的评测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、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可验证的混合训练环境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，以及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面向真实世界的落地验证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5 / 32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三个关键挑战 → 三项研究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28625" y="1524000"/>
            <a:ext cx="367665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仅结果评分 vs 轨迹审计后（成功率 %，OpenClaw 运行时）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950" y="2428875"/>
            <a:ext cx="285750" cy="1476375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047750" y="2990850"/>
            <a:ext cx="285750" cy="91440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8175" y="225742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53.5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2975" y="281940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33.3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10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81150" y="2857500"/>
            <a:ext cx="285750" cy="1047750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1885950" y="3276600"/>
            <a:ext cx="285750" cy="62865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476375" y="268605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38.1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1175" y="310515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22.8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92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19350" y="2952750"/>
            <a:ext cx="285750" cy="952500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2724150" y="3400425"/>
            <a:ext cx="285750" cy="50482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2314575" y="278130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34.8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19375" y="322897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18.4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574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GPT-5.3-codex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57550" y="3457575"/>
            <a:ext cx="285750" cy="447675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3562350" y="3743325"/>
            <a:ext cx="285750" cy="161925"/>
          </a:xfrm>
          <a:prstGeom prst="roundRect">
            <a:avLst>
              <a:gd name="adj" fmla="val 23529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152775" y="328612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16.4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57575" y="357187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6.1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956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GPT-5.2-codex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8650" y="3905250"/>
            <a:ext cx="33337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28650" y="3905250"/>
            <a:ext cx="33337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8625" y="1771650"/>
            <a:ext cx="367665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B9A6C0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仅结果评分　</a:t>
            </a:r>
            <a:r>
              <a:rPr sz="8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轨迹审计后　[WeaveBench]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8625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257675" y="1524000"/>
            <a:ext cx="367665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1,735 条失败轨迹的归因（%）[WeaveBench]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8650" y="1943100"/>
            <a:ext cx="1085850" cy="3095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违规取巧</a:t>
            </a:r>
          </a:p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伪造渲染、硬编码指标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524500" y="1943100"/>
            <a:ext cx="2009775" cy="209550"/>
          </a:xfrm>
          <a:prstGeom prst="roundRect">
            <a:avLst>
              <a:gd name="adj" fmla="val 18181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591425" y="19431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35.2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8650" y="2362200"/>
            <a:ext cx="1085850" cy="3095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跨通道执行失控</a:t>
            </a:r>
          </a:p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过早停止、状态失同步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524500" y="2362200"/>
            <a:ext cx="1733550" cy="209550"/>
          </a:xfrm>
          <a:prstGeom prst="roundRect">
            <a:avLst>
              <a:gd name="adj" fmla="val 18181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315200" y="23622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30.4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8650" y="2781300"/>
            <a:ext cx="1104900" cy="15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推理错误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24500" y="2781300"/>
            <a:ext cx="1200150" cy="209550"/>
          </a:xfrm>
          <a:prstGeom prst="roundRect">
            <a:avLst>
              <a:gd name="adj" fmla="val 18181"/>
            </a:avLst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781800" y="27813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21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8650" y="3200400"/>
            <a:ext cx="1104900" cy="15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工具与执行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524500" y="3200400"/>
            <a:ext cx="571500" cy="209550"/>
          </a:xfrm>
          <a:prstGeom prst="roundRect">
            <a:avLst>
              <a:gd name="adj" fmla="val 18181"/>
            </a:avLst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153150" y="32004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8650" y="3619500"/>
            <a:ext cx="1104900" cy="15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视觉感知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524500" y="3619500"/>
            <a:ext cx="209550" cy="209550"/>
          </a:xfrm>
          <a:prstGeom prst="roundRect">
            <a:avLst>
              <a:gd name="adj" fmla="val 18181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791200" y="36195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3.7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57675" y="4000500"/>
            <a:ext cx="367665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取巧 + 跨通道失控 = 65.6%，提示优先研究编排与验证；视觉 3.7%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11530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9" name="Picture 48" descr="real_world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2450" y="1821805"/>
            <a:ext cx="3505200" cy="2033289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11530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通用能力难以落到真实世界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74420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072515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研究三 应用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15300" y="4686300"/>
            <a:ext cx="3657600" cy="455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现有智能体缺少个人电脑环境与职业业务知识；生成的代码与内容不受物理规律约束，表象正确不等于机制正确。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任务范式与能力度量不匹配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08610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06705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研究一 评测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4686300"/>
            <a:ext cx="3657600" cy="68356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纯 GUI 范式开销高；现有基准割裂评测 CLI 与 GUI；仅结果判分的成功率比审计口径高约 10–20 个百分点（4 个模型）。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8625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混合行为模式难以习得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91515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89610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研究二 训练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86250" y="4686300"/>
            <a:ext cx="3657600" cy="455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失败中取巧与跨通道失控占比高，提示编排与验证是优先方向；GUI 缺少天然验证信号，混合训练环境稀缺。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核心问题：如何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可扩展地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准确评估、有效训练通用数字智能体，并使其能力在真实世界中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可信落地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？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6 / 32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7 / 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研究框架：评测 → 训练 → 应用，前一项研究的结论构成后一项研究的动机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61722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700209"/>
            <a:ext cx="6057900" cy="32480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5775" y="5200650"/>
            <a:ext cx="61150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可扩展评测与训练框架总览（示意图）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81800" y="14287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781800" y="14287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991350" y="15430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24700" y="15430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10850" y="15621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1350" y="18478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面向混合能力范式的可信评测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1350" y="20955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verifier：轨迹感知审计（WeaveBench）｜ 前期：GUIPruner · ST-Lite 降开销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1350" y="23241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结论：失败集中于自主编排与自我验证 → 针对其开展训练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81800" y="28384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781800" y="28384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991350" y="29527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24700" y="29527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研究二 · 训练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10850" y="29718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1350" y="32575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基于可验证复刻环境的混合行为训练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1350" y="35052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verifier：以参考应用为参照的隐藏行为测试 ｜ RecreationWorld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1350" y="37338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结论：分布外基准提升支持其迁移价值 → 推广到真实职业环境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81800" y="42481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781800" y="42481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6991350" y="43624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124700" y="43624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研究三 · 应用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0850" y="43815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待完成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1350" y="46672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面向真实世界的通用数字智能体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1350" y="49149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verifier：状态数据库 · 反事实干预 ｜ 职业环境（主体）· 物理仿真（拓展）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1350" y="51435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复用研究一的评测思想与研究二的训练流程，形成闭环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贯穿主线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可扩展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：候选任务与验证器自动生成、经审查后使用，使评测与训练随规模扩展；GUIPruner / ST-Lite 降低 GUI 计算开销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8 / 32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 · 前期探索：纯 GUI 范式下的推理效率优化（已完成）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前期·效率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长程 GUI 轨迹中高分辨率截图持续累积，视觉 token 与 KV 缓存（KV Cache）线性膨胀；通用压缩方法忽视帧间冗余与界面二维结构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1650"/>
            <a:ext cx="7620000" cy="37719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596" y="1828800"/>
            <a:ext cx="7413207" cy="33337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5775" y="5200650"/>
            <a:ext cx="7562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编码端 </a:t>
            </a: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GUIPruner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（已投稿 KDD 2027）｜ 解码端 </a:t>
            </a: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ST-Lite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（EMNLP 2026）（示意图）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0" y="182880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1/3.4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0" y="213360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GUIPruner：FLOPs 降至约 1/3.4，性能保留 &gt;94%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0" y="276225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3.3×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0" y="306705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GUIPruner：视觉编码加速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0" y="369570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2000" y="400050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ST-Lite：20% KV 预算下性能与完整缓存相当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0" y="462915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最高 2.35×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0" y="493395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ST-Lite：压缩至 20% 时的解码加速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开销可以显著压缩，但纯 GUI 范式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以逐步截图为主要观测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的方式未变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范式本身是否合理？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9 / 32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研究一（续）：范式反思 —— 纯 GUI 开销高、纯 CLI 缺少渲染观测，二者互补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aradigm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837" y="1485900"/>
            <a:ext cx="5820725" cy="3676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52006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三种范式：纯 GUI 逐步截图；CLI 优先、不观察像素；混合以 CLI 为主干、GUI 观察与核验（示意图）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05600" y="1428750"/>
            <a:ext cx="5029200" cy="2343150"/>
          </a:xfrm>
          <a:prstGeom prst="roundRect">
            <a:avLst>
              <a:gd name="adj" fmla="val 325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0" y="1524000"/>
            <a:ext cx="4819650" cy="1799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正面：受控设置下两者成功率点估计接近（OSWorld）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2275" y="1790700"/>
            <a:ext cx="1962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成功率（%）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81850" y="2200275"/>
            <a:ext cx="438150" cy="1000125"/>
          </a:xfrm>
          <a:prstGeom prst="roundRect">
            <a:avLst>
              <a:gd name="adj" fmla="val 869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096125" y="2009775"/>
            <a:ext cx="6096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79.1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48600" y="2219325"/>
            <a:ext cx="438150" cy="981075"/>
          </a:xfrm>
          <a:prstGeom prst="roundRect">
            <a:avLst>
              <a:gd name="adj" fmla="val 8695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62875" y="2028825"/>
            <a:ext cx="6096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77.3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29450" y="3200400"/>
            <a:ext cx="152400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7029450" y="3200400"/>
            <a:ext cx="152400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72275" y="3238500"/>
            <a:ext cx="196215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GPT-5.5 · 同一判官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48750" y="2038350"/>
            <a:ext cx="2609850" cy="9904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受控设置：同一环境、同一模型、同一指令与判官，仅更换工具接口；两组均剔除 8 个需凭据任务。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不观察像素的 CLI 智能体取得相近成功率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[WeaveBench 附录 E]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7025" y="3486150"/>
            <a:ext cx="50863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OpenClaw CLI 智能体（不观察像素）　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纯视觉 GUI 智能体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5600" y="3848100"/>
            <a:ext cx="5029200" cy="781050"/>
          </a:xfrm>
          <a:prstGeom prst="roundRect">
            <a:avLst>
              <a:gd name="adj" fmla="val 14634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858000" y="3905250"/>
            <a:ext cx="48006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反面：纯 CLI 缺少渲染观测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SWE-bench Multimodal 原论文基线最佳约 12%；模态对齐任务上 GUI 59.1% 高于 CLI 48.2% [GUI vs. CLI, 2026]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05600" y="4705350"/>
            <a:ext cx="5029200" cy="838200"/>
          </a:xfrm>
          <a:prstGeom prst="roundRect">
            <a:avLst>
              <a:gd name="adj" fmla="val 13636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58000" y="4762500"/>
            <a:ext cx="48006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OpenClaw 的启发（2026 年初）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以 CLI 为主、运行于个人电脑的智能体提供了实现参考 → 以 CLI 为主干、GUI 负责观察与核验的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混合能力范式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结论：两类能力互补 → 关键在于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任务范式与能力度量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：按单通道基线与人工审查筛选需双通道协同的任务，并审计全过程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10 / 32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研究一（续）：WeaveBench —— 混合能力范式的轨迹感知可信评测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现有基准将 CLI 与 GUI 割裂评测，任务可在单一能力内完成；仅依据最终结果判分，难以度量能力协同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764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以已部署的 CLI 智能体运行时为底座、加入轻量桌面控制插件；经单通道基线测试与人工审查，筛选需 CLI 与 GUI 协同的长程任务；轨迹感知判官审计全过程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38350"/>
            <a:ext cx="6515100" cy="3505200"/>
          </a:xfrm>
          <a:prstGeom prst="roundRect">
            <a:avLst>
              <a:gd name="adj" fmla="val 217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weavepi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049" y="2095500"/>
            <a:ext cx="5717401" cy="30670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775" y="5200650"/>
            <a:ext cx="64579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WeaveBench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（EMNLP 2026）：任务构造（单通道基线 + 人工审查筛选）→ 混合运行时 → 轨迹感知审计（示意图）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24700" y="2038350"/>
            <a:ext cx="4610100" cy="2152650"/>
          </a:xfrm>
          <a:prstGeom prst="roundRect">
            <a:avLst>
              <a:gd name="adj" fmla="val 353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096125" y="2095500"/>
            <a:ext cx="4667250" cy="1671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通道消融（筛选后任务）：成功率 %，Claude Opus 4.7 · OpenClaw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5750" y="3781425"/>
            <a:ext cx="609600" cy="66675"/>
          </a:xfrm>
          <a:prstGeom prst="roundRect">
            <a:avLst>
              <a:gd name="adj" fmla="val 5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62875" y="3571875"/>
            <a:ext cx="8953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1.8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91425" y="3905250"/>
            <a:ext cx="12382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仅 GUI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48750" y="3714750"/>
            <a:ext cx="609600" cy="133350"/>
          </a:xfrm>
          <a:prstGeom prst="roundRect">
            <a:avLst>
              <a:gd name="adj" fmla="val 28571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905875" y="3505200"/>
            <a:ext cx="8953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4425" y="3905250"/>
            <a:ext cx="12382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仅 CLI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91750" y="2447925"/>
            <a:ext cx="609600" cy="1400175"/>
          </a:xfrm>
          <a:prstGeom prst="roundRect">
            <a:avLst>
              <a:gd name="adj" fmla="val 625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048875" y="2238375"/>
            <a:ext cx="8953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35.1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7425" y="3905250"/>
            <a:ext cx="12382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混合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20000" y="3848100"/>
            <a:ext cx="361950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7620000" y="3848100"/>
            <a:ext cx="361950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24700" y="4343400"/>
            <a:ext cx="23431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41.2%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24700" y="4648200"/>
            <a:ext cx="2324100" cy="321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最佳模型–运行时组合（Claude Opus 4.7 + Claude Code）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86900" y="4343400"/>
            <a:ext cx="23050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10–20 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86900" y="4648200"/>
            <a:ext cx="23050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4 个模型上仅结果判分高于审计口径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结论：失败中违规取巧与跨通道执行失控占 65.6%，提示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自主编排与自我验证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是优先改进方向 → 研究二针对其开展训练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11 / 32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研究二：基于可验证复刻环境的混合行为训练（已完成）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训练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自主编排与自我验证需在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能力交织、结果可验证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的场景中习得；GUI 缺少天然奖励，现有环境局限于单一界面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764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应用复刻（App Recreation）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为训练场景，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以运行中的原版应用为验证参照（oracle）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，自动生成隐藏行为测试筛选轨迹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096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复刻任务构造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开源 GUI 应用 · 5 平台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与评测集去重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5625" y="2552700"/>
            <a:ext cx="24765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47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4671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052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轨迹生成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71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Qwen3.8-Max 探索原版 →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实现 → 运行 → 视觉核验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53125" y="2552700"/>
            <a:ext cx="24765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246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27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可验证筛选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46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隐藏行为测试拒绝采样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共 3.5 万条轨迹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10625" y="2552700"/>
            <a:ext cx="24765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297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1821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202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模型后训练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21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SFT：Qwen3.7-Plus 与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Qwen-Flash（CPT 初始化）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524250"/>
            <a:ext cx="11277600" cy="2038350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90550" y="3600450"/>
            <a:ext cx="1099185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分布外迁移（首个已评估检查点 → 训练后，</a:t>
            </a:r>
            <a:r>
              <a:rPr sz="9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非未训练基座；各基准指标独立</a:t>
            </a:r>
            <a:r>
              <a:rPr sz="9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）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</a:t>
            </a:r>
            <a:r>
              <a:rPr sz="900" b="1" i="0">
                <a:solidFill>
                  <a:srgbClr val="C9A8D0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Qwen3.7-Plus　</a:t>
            </a:r>
            <a:r>
              <a:rPr sz="900" b="1" i="0">
                <a:solidFill>
                  <a:srgbClr val="9CC3CF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Qwen-Flash（CPT 初始化）　WeaveBench Overall（平均部分得分，与 41.2% 的 PassRate 不可比）：Qwen3.7-Plus 35.7 → 48.2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7750" y="4467225"/>
            <a:ext cx="285750" cy="828675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1390650" y="4410075"/>
            <a:ext cx="285750" cy="88582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1733550" y="4362450"/>
            <a:ext cx="285750" cy="933450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2076450" y="4133850"/>
            <a:ext cx="285750" cy="1162050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7725" y="3924300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+2.7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+11.4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ProgramBench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19450" y="4943475"/>
            <a:ext cx="285750" cy="352425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3562350" y="4772025"/>
            <a:ext cx="285750" cy="52387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3905250" y="4686300"/>
            <a:ext cx="285750" cy="609600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4248150" y="4352925"/>
            <a:ext cx="285750" cy="942975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019425" y="4143375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+8.6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+17.0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194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GameCraft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91150" y="4257675"/>
            <a:ext cx="285750" cy="1038225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ounded Rectangle 46"/>
          <p:cNvSpPr/>
          <p:nvPr/>
        </p:nvSpPr>
        <p:spPr>
          <a:xfrm>
            <a:off x="5734050" y="4171950"/>
            <a:ext cx="285750" cy="112395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ounded Rectangle 47"/>
          <p:cNvSpPr/>
          <p:nvPr/>
        </p:nvSpPr>
        <p:spPr>
          <a:xfrm>
            <a:off x="6076950" y="4305300"/>
            <a:ext cx="285750" cy="990600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ounded Rectangle 48"/>
          <p:cNvSpPr/>
          <p:nvPr/>
        </p:nvSpPr>
        <p:spPr>
          <a:xfrm>
            <a:off x="6419850" y="4143375"/>
            <a:ext cx="285750" cy="1152525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5191125" y="3933825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+4.4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+7.9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911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Vision2Web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562850" y="4953000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7905750" y="4933950"/>
            <a:ext cx="285750" cy="36195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8248650" y="4733925"/>
            <a:ext cx="285750" cy="561975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ounded Rectangle 54"/>
          <p:cNvSpPr/>
          <p:nvPr/>
        </p:nvSpPr>
        <p:spPr>
          <a:xfrm>
            <a:off x="8591550" y="4381500"/>
            <a:ext cx="285750" cy="914400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362825" y="4171950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+1.0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+17.9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628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OSWorld 2.0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734550" y="4591050"/>
            <a:ext cx="285750" cy="704850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10077450" y="4333875"/>
            <a:ext cx="285750" cy="96202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ounded Rectangle 59"/>
          <p:cNvSpPr/>
          <p:nvPr/>
        </p:nvSpPr>
        <p:spPr>
          <a:xfrm>
            <a:off x="10420350" y="4219575"/>
            <a:ext cx="285750" cy="1076325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ounded Rectangle 60"/>
          <p:cNvSpPr/>
          <p:nvPr/>
        </p:nvSpPr>
        <p:spPr>
          <a:xfrm>
            <a:off x="10763250" y="4095750"/>
            <a:ext cx="285750" cy="1200150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9534525" y="3886200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+12.5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+6.0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345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WeaveBench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0550" y="5295900"/>
            <a:ext cx="109537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Rectangle 64"/>
          <p:cNvSpPr/>
          <p:nvPr/>
        </p:nvSpPr>
        <p:spPr>
          <a:xfrm>
            <a:off x="590550" y="5295900"/>
            <a:ext cx="109537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结论：训练期间 5 个分布外基准均提升（相对首个已评估检查点）；SFT 净收益待对照确认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研究三推广到职业环境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12 / 32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研究三（一）：职业化个人智能体 —— 研究三主体（待完成）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3371850"/>
          </a:xfrm>
          <a:prstGeom prst="roundRect">
            <a:avLst>
              <a:gd name="adj" fmla="val 225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a_overvie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653" y="1485900"/>
            <a:ext cx="4873092" cy="29337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445770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职业化个人智能体：个人电脑环境 × 职业知识 × 软件技能（示意图）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876800"/>
            <a:ext cx="6096000" cy="666750"/>
          </a:xfrm>
          <a:prstGeom prst="roundRect">
            <a:avLst>
              <a:gd name="adj" fmla="val 1714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0550" y="4933950"/>
            <a:ext cx="59055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RQ1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能否构造可扩展、可验证的职业化个人电脑仿真环境？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RQ2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SFT 能否提升职业任务表现、跨职业泛化并迁移到真实软件？（RL 为拓展）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05600" y="14287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858000" y="15049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业务应用仿真（App Mock）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752600"/>
            <a:ext cx="48006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以研究二的复刻能力把 ERP、电商后台、合同审阅等构建为可交互、可重置的个人电脑仿真环境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05600" y="22288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858000" y="23050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数据驱动的环境模拟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552700"/>
            <a:ext cx="481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以脱敏或合成业务数据驱动状态与事件，支持跨应用长程任务；不接触真实账户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5600" y="30289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858000" y="31051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SFT 与 RL 任务流水线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352800"/>
            <a:ext cx="481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任务生成 → 轨迹 → 以数据库状态校验为主的验证器 → SFT 数据 / RL 奖励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05600" y="3848100"/>
            <a:ext cx="5029200" cy="1695450"/>
          </a:xfrm>
          <a:prstGeom prst="roundRect">
            <a:avLst>
              <a:gd name="adj" fmla="val 6741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858000" y="3981450"/>
            <a:ext cx="4800600" cy="650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范围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重点研究财务、电商运营、法律中的 2–3 类职业，其余职业留出用于跨职业评估</a:t>
            </a:r>
          </a:p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指标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状态通过率 · 过程审计分 · 未见职业泛化 · 仿真与真实软件成功率差</a:t>
            </a:r>
          </a:p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基线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通用 CUA 模型 · 仅 CLI / 仅 GUI · 无职业数据训练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复用研究一的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评测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与研究二的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训练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流程，把可扩展框架推广到职业化个人环境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13 / 32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研究三（二）：面向物理仿真程序的代码智能体验证（拓展方向）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Coding Agent 已能生成"会动的 3D 世界"，但表象正确不等于机制正确；现有工作尚未统一考察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跨条件泛化、错误定位与修复后回归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1650"/>
            <a:ext cx="5619750" cy="3790950"/>
          </a:xfrm>
          <a:prstGeom prst="roundRect">
            <a:avLst>
              <a:gd name="adj" fmla="val 201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phys_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965752"/>
            <a:ext cx="5505450" cy="307889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5775" y="5219700"/>
            <a:ext cx="55626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反事实干预：拉大第 10、11 块骨牌间距后，关键帧动画仍"全部倒下"，物理仿真正确中断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10000" y="2495550"/>
            <a:ext cx="13335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943350" y="2495550"/>
            <a:ext cx="11239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关键帧仍全部倒下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10000" y="4286250"/>
            <a:ext cx="133350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943350" y="4286250"/>
            <a:ext cx="11239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物理仿真正确停下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9350" y="1771650"/>
            <a:ext cx="5505450" cy="28575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phys_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7841" y="1828800"/>
            <a:ext cx="3728467" cy="24193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57925" y="4286250"/>
            <a:ext cx="54483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方法：基于物理状态与干预测试的验证、诊断与定向修复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2935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6270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RQ1 物理泛化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2000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5335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RQ2 错误诊断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1065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14400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RQ3 可靠修复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29350" y="5086350"/>
            <a:ext cx="554355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消融：单次生成 / 执行反馈 / 视觉反馈 / 物理状态反馈 / 本文（状态 + 干预验证 + 定向修复）；指标：干预条件测试通过率 · 修复成功率 · 回归失败率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反事实干预即一种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可自动构造的 verifier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（借鉴蜕变测试思想）；限定刚体场景，进度受限时降级为小规模基准 + 诊断分析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14 / 32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15 / 32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已完成研究与成果状态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457200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0550" y="1600200"/>
            <a:ext cx="2438400" cy="3452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Spatio-Temporal Token Pruning for Efficient High-Resolution GUI Agents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" y="2495550"/>
            <a:ext cx="13335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14375" y="2505075"/>
            <a:ext cx="11049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已投稿 KDD 2027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" y="2828925"/>
            <a:ext cx="83820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GUIPruner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4950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前期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视觉 token 压缩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FLOPs 降至约 1/3.4，性能保留 &gt;94%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4225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3324225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813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457575" y="1600200"/>
            <a:ext cx="2438400" cy="5179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Training-Free KV Cache Compression with Spatio-Trajectory Guidance for Long-Horizon GUI Agents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38525" y="2495550"/>
            <a:ext cx="105727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571875" y="2495550"/>
            <a:ext cx="8477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EMNLP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38525" y="2828925"/>
            <a:ext cx="581025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ST-Lite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前期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38525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KV 缓存压缩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20% 预算下与完整缓存相当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1250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6191250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813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324600" y="1600200"/>
            <a:ext cx="2438400" cy="5179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A Long-Horizon, Real-World Benchmark for Computer-Use Agents with Hybrid Interfaces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5550" y="2495550"/>
            <a:ext cx="105727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38900" y="2495550"/>
            <a:ext cx="8477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EMNLP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5550" y="2828925"/>
            <a:ext cx="1000125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WeaveBench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0925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5550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114 个混合长程任务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最佳组合仅 41.2%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58275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9058275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91625" y="1600200"/>
            <a:ext cx="2438400" cy="3452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Scalable and Verifiable Environments for Hybrid Computer-Use Agents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72575" y="2495550"/>
            <a:ext cx="1152525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315450" y="2505075"/>
            <a:ext cx="923925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技术报告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2575" y="2828925"/>
            <a:ext cx="131445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82275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研究二 · 训练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2575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3.5 万条可验证轨迹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分布外最高 +17.9 分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267200"/>
            <a:ext cx="18002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90550" y="4267200"/>
            <a:ext cx="15906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Qwen 团队 · 研究型实习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610100"/>
            <a:ext cx="3657600" cy="895350"/>
          </a:xfrm>
          <a:prstGeom prst="roundRect">
            <a:avLst>
              <a:gd name="adj" fmla="val 1276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09600" y="4705350"/>
            <a:ext cx="34099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参与研发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4972050"/>
            <a:ext cx="3409950" cy="1918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参与 Qwen3.8-Max 计算机操作与长程任务方向的研发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48150" y="4610100"/>
            <a:ext cx="3657600" cy="895350"/>
          </a:xfrm>
          <a:prstGeom prst="roundRect">
            <a:avLst>
              <a:gd name="adj" fmla="val 1276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400550" y="4705350"/>
            <a:ext cx="34099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成果应用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0550" y="4972050"/>
            <a:ext cx="3409950" cy="1918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研究一、二的评测环境与训练数据已用于模型优化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39100" y="4610100"/>
            <a:ext cx="3657600" cy="895350"/>
          </a:xfrm>
          <a:prstGeom prst="roundRect">
            <a:avLst>
              <a:gd name="adj" fmla="val 1276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191500" y="4705350"/>
            <a:ext cx="34099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问题来源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91500" y="4972050"/>
            <a:ext cx="3409950" cy="1918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研究问题源于一线训练与评测需求，成果可直接服务后训练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研究一（评测）与研究二（训练）已完成，形成可扩展评测与训练框架的基础；后续聚焦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研究三（应用）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16 / 32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创新点：在最终答案之外引入过程、行为、状态与物理一致性四类互补验证证据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66675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evidenc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997675"/>
            <a:ext cx="6553200" cy="26531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5775" y="5200650"/>
            <a:ext cx="661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超越最终答案的四类互补验证证据：过程、行为、业务状态、物理一致性（示意图）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77100" y="1428750"/>
            <a:ext cx="44577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29500" y="1524000"/>
            <a:ext cx="628650" cy="2933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20400" y="1562100"/>
            <a:ext cx="7620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791825" y="1562100"/>
            <a:ext cx="8191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已形成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62900" y="15811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混合能力范式下的轨迹感知可信评测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0" y="1943100"/>
            <a:ext cx="41910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以单通道基线与人工审查筛选需协同的任务，轨迹审计与结果验证结合，揭示编排与自我验证短板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77100" y="2819400"/>
            <a:ext cx="44577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429500" y="2914650"/>
            <a:ext cx="628650" cy="2933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820400" y="2952750"/>
            <a:ext cx="7620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791825" y="2952750"/>
            <a:ext cx="8191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已形成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2900" y="297180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以参考应用为验证参照的可扩展复刻训练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9500" y="3333750"/>
            <a:ext cx="41910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开源 GUI 应用经审核转化为"环境 + 隐藏行为测试"，为混合行为提供可验证筛选信号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77100" y="4210050"/>
            <a:ext cx="44577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429500" y="4305300"/>
            <a:ext cx="628650" cy="2933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820400" y="4343400"/>
            <a:ext cx="7620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801350" y="4352925"/>
            <a:ext cx="8001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待验证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62900" y="43624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面向真实世界的环境扩展与物理落地验证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9500" y="4724400"/>
            <a:ext cx="4210050" cy="1980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验证从结果审计扩展到业务状态校验（职业环境）与反事实干预（物理仿真）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三点创新共享同一原则：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以可审计、可验证的证据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度量与训练智能体，而非依赖结果表象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17 / 32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研究计划：研究三（应用）的推进安排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09600" y="1619250"/>
            <a:ext cx="10953750" cy="28575"/>
          </a:xfrm>
          <a:prstGeom prst="rect">
            <a:avLst/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096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2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2026.10 – 2027.01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96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职业化个人电脑环境构建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从财务、电商运营、法律中选 2–3 类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App Mock：复刻仿真业务系统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个人文件、账户与状态数据库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71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957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2027.02 – 2027.05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47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671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真实数据驱动与任务流水线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71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脱敏 / 合成数据驱动状态与事件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状态优先 verifier 与任务流水线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SFT（必达）→ RL（拓展）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46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532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2027.06 – 2027.09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246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物理仿真验证（拓展）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46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刚体场景反事实干预基准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验证、诊断与定向修复；核心消融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中期检查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21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4107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2027.10 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297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660874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821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整合与论文撰写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21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评测—训练—应用整合为统一框架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补充实验、开源整理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学位论文撰写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790950"/>
            <a:ext cx="112776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8650" y="39052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预期达到目标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650" y="4210050"/>
            <a:ext cx="10991850" cy="7715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必达目标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：2–3 类职业的可验证个人电脑仿真环境 + SFT 训练，评估跨职业泛化与小规模真实软件迁移</a:t>
            </a:r>
          </a:p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拓展目标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：可验证奖励 RL；刚体物理仿真的反事实干预基准与定向修复</a:t>
            </a:r>
          </a:p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在开源模型上检验主要结论的可复现性，开源基准、环境与代码；完成学位论文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风险预案：仿真与真实软件存在差距 → 以真实软件迁移评测量化；物理方向资源受限 → 采用最小验证方案（基准 + 诊断分析）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18 / 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0750"/>
            <a:ext cx="7277100" cy="1234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859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汇报结束</a:t>
            </a:r>
          </a:p>
          <a:p>
            <a:pPr algn="l">
              <a:lnSpc>
                <a:spcPts val="4859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恳请各位老师批评指正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36766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3924300"/>
            <a:ext cx="7296150" cy="32563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研究生：周博文　｜　导师：王好谦 教授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81250"/>
            <a:ext cx="8610600" cy="1188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8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备用页</a:t>
            </a:r>
          </a:p>
          <a:p>
            <a:pPr algn="l">
              <a:lnSpc>
                <a:spcPts val="468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问答环节按需展示：研究现状细节 · 研究二训练细节 · 研究三方法细节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39052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问答备用：评测可信性、训练收益来源与“真实世界”的边界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3657600" cy="2857500"/>
          </a:xfrm>
          <a:prstGeom prst="roundRect">
            <a:avLst>
              <a:gd name="adj" fmla="val 4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28650" y="1562100"/>
            <a:ext cx="3390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筛选后消融是否循环论证？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1943100"/>
            <a:ext cx="3371850" cy="16912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通道消融用于</a:t>
            </a: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校验选题设计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，不作独立证明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独立证据：轨迹审计带来 10–20 pp 评分修正；1,735 条失败的归因分布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对照：OSWorld-MCP / MCPWorld 中第二接口增益仅 3.2 / 4.5 pp，现有基准任务多可由单通道完成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8150" y="1428750"/>
            <a:ext cx="3657600" cy="2857500"/>
          </a:xfrm>
          <a:prstGeom prst="roundRect">
            <a:avLst>
              <a:gd name="adj" fmla="val 4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19600" y="1562100"/>
            <a:ext cx="3390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轨迹感知判官是否可靠？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19600" y="1943100"/>
            <a:ext cx="3371850" cy="197316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任务锚点与评分细则经人工审核，判官结论抽样人工审计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独立子进程评分，主动回查文件、截图、日志等证据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9 类取巧模式经人工确认，命中需置信度 ≥0.85 并附原文证据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计划补充：判官与人工一致率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9100" y="1428750"/>
            <a:ext cx="3657600" cy="2857500"/>
          </a:xfrm>
          <a:prstGeom prst="roundRect">
            <a:avLst>
              <a:gd name="adj" fmla="val 4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10550" y="1562100"/>
            <a:ext cx="3390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收益来源？是否"真实世界"？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10550" y="1943100"/>
            <a:ext cx="3371850" cy="16912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研究二提升相对首个已评估检查点；将补训练前模型、等量通用数据两组对照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研究三以仿真职业环境为主，</a:t>
            </a: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不接触真实账户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；以小规模真实软件对照报告"仿真与真实成功率差"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物理方向为拓展，限定刚体仿真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回答要点：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如实界定证据边界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，并给出已有机制与后续补充实验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21 / 32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一、研究背景和选题意义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3157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通用数字智能体可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应用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于软件开发、系统运维、内容创作及金融、电商、芯片开发等行业业务流程，</a:t>
            </a:r>
          </a:p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是基础模型由对话助手走向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数字生产力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的关键形态。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godot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4350" y="1733550"/>
            <a:ext cx="3543300" cy="1962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软件开发与调试（Godot 游戏，5×）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rabbitmq_5x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324350" y="1733550"/>
            <a:ext cx="3543300" cy="19621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系统运维与故障排查（RabbitMQ，5×）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inkscape_5x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134350" y="1733550"/>
            <a:ext cx="3543300" cy="19621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0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视觉设计与内容创作（Inkscape，5×）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229100"/>
            <a:ext cx="2857500" cy="186690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a_matri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4387" y="4286250"/>
            <a:ext cx="2143125" cy="14287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775" y="57531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多职业业务软件环境（示意图）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67100" y="4229100"/>
            <a:ext cx="8267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57600" y="4362450"/>
            <a:ext cx="7962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产业趋势：两类能力正在整合于同一智能体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686300"/>
            <a:ext cx="794385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Claude Cowork、Codex 后台计算机操作、Qwen3.8-Max 等前沿系统均将命令行、代码与图形界面操作纳入统一智能体</a:t>
            </a:r>
          </a:p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大量存量软件（设计工具、行业系统、桌面应用）缺少可编程接口，必须依赖 GUI 能力完成操作</a:t>
            </a:r>
          </a:p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能否高效、可靠地完成混合能力交互，已成为前沿基础模型能力评测与后训练的核心议题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22 / 32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通用数字智能体方法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28650" y="3333750"/>
            <a:ext cx="1809750" cy="533400"/>
          </a:xfrm>
          <a:prstGeom prst="roundRect">
            <a:avLst>
              <a:gd name="adj" fmla="val 17857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00075" y="3333750"/>
            <a:ext cx="1866900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通用数字智能体</a:t>
            </a:r>
          </a:p>
        </p:txBody>
      </p:sp>
      <p:sp>
        <p:nvSpPr>
          <p:cNvPr id="7" name="Rectangle 6"/>
          <p:cNvSpPr/>
          <p:nvPr/>
        </p:nvSpPr>
        <p:spPr>
          <a:xfrm>
            <a:off x="2438400" y="3600450"/>
            <a:ext cx="3238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762250" y="1771650"/>
            <a:ext cx="19050" cy="3448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2762250" y="17716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048000" y="155257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019425" y="155257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CLI 能力方法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48250" y="17716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334000" y="1600200"/>
            <a:ext cx="19050" cy="3619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334000" y="16002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676900" y="14573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810250" y="14573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命令行智能体（CLI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Terminal-Bench [Merrill+, 2026] · Terminus · OpenClaw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34000" y="19431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5676900" y="18002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810250" y="18002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代码智能体（Coding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SWE-agent [Yang+, NeurIPS 24] · SWE-Gym [Pan+, ICML 25]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62250" y="26860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3048000" y="246697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019425" y="246697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GUI 能力方法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48250" y="26860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334000" y="2514600"/>
            <a:ext cx="19050" cy="3619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334000" y="25146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5676900" y="23717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810250" y="23717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原生 GUI 智能体（GUI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OSWorld [Xie+, NeurIPS 24] · UI-TARS-2 [Seed, 2025]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34000" y="28575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5676900" y="27146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810250" y="27146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高效视觉推理（Efficient Inference）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FastV [Chen+, ECCV 24] · SnapKV [Li+, NeurIPS 24]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6225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3048000" y="355282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3019425" y="355282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混合能力方法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4825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5334000" y="3429000"/>
            <a:ext cx="19050" cy="7048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334000" y="34290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5676900" y="32861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810250" y="32861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多智能体协作（Multi-Agent）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CoAct-1 [Song+, ICLR 26]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3400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5676900" y="36290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810250" y="36290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工具增强 GUI（Tool-Augmented）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OSWorld-MCP [Jia+, 2025]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34000" y="41148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5676900" y="39719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810250" y="39719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可验证环境构建（Verifiable Env.）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GUI-Genesis [Cao+, 2026]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6225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3048000" y="500062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019425" y="500062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走向真实世界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4825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334000" y="4876800"/>
            <a:ext cx="19050" cy="7048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5334000" y="48768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5676900" y="47339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810250" y="47339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个人智能体（Personal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OpenAI dots · Meta Muse · Manus · OpenClaw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3400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5676900" y="50768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5810250" y="50768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物理世界生成（Physical World）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SimWorlds · Text2Sim · 4DCodeBench · WorldSolver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34000" y="55626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ounded Rectangle 56"/>
          <p:cNvSpPr/>
          <p:nvPr/>
        </p:nvSpPr>
        <p:spPr>
          <a:xfrm>
            <a:off x="5676900" y="54197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5810250" y="54197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机器人使用（Robot Use）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RobotWorld [Yang+, 2026] · CaP-X [2026]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23 / 32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CLI 能力方法：命令行智能体（Bash Agent）与代码智能体（Coding Agent）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28750"/>
            <a:ext cx="35433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rabbitmq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4350" y="1485900"/>
            <a:ext cx="342900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775" y="4267200"/>
            <a:ext cx="3486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命令行智能体：读日志、改配置、查服务（5×）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2900" y="1428750"/>
            <a:ext cx="41910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ref_sweag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0050" y="2213555"/>
            <a:ext cx="4076700" cy="12878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81475" y="4267200"/>
            <a:ext cx="4133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SWE-agent：面向智能体的计算机接口 [Yang+, NeurIPS 24]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96300" y="1428750"/>
            <a:ext cx="32385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ef_swegy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3950" y="1485900"/>
            <a:ext cx="2743200" cy="2743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24875" y="4267200"/>
            <a:ext cx="3181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SWE-Gym：可执行环境中训练 [Pan+, ICML 25]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 能力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无法观测界面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：凡依赖渲染结果与视觉反馈的任务，必须引入 GUI 能力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动作精确、执行高效，系统状态可直接读取；单元测试提供可验证奖励，强化学习已实现规模化训练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无法观测渲染结果（SWE-bench Multimodal 最佳仅约 12%）；适用范围受限于具备命令行或 API 的软件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24 / 32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GUI 能力方法：原生 GUI 智能体（GUI Agent）与高效视觉推理（Efficient Inference）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28750"/>
            <a:ext cx="41910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ref_uitars2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44" y="1485900"/>
            <a:ext cx="364691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775" y="4267200"/>
            <a:ext cx="4133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UI-TARS-2：原生 GUI 智能体 + 多轮强化学习 [Seed, 2025]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0" y="1428750"/>
            <a:ext cx="36195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ref_fast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0" y="1660740"/>
            <a:ext cx="3505200" cy="239351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29175" y="4267200"/>
            <a:ext cx="3562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FastV：视觉 token 剪枝 [Chen+, ECCV 24]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0" y="1428750"/>
            <a:ext cx="3162300" cy="3181350"/>
          </a:xfrm>
          <a:prstGeom prst="roundRect">
            <a:avLst>
              <a:gd name="adj" fmla="val 240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ef_snapk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9650" y="2395383"/>
            <a:ext cx="3048000" cy="924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01075" y="4267200"/>
            <a:ext cx="3105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SnapKV：KV 缓存压缩 [Li+, NeurIPS 24]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 能力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通用但开销高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：需要面向 GUI 结构的高效感知方法，并与 CLI 能力互补使用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以截图与键鼠为通用接口，适用于广泛的图形界面软件并观测交互反馈；OSWorld 公开成绩由约 12% 升至 80% 以上（版本不完全可比）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截图累积致开销高、步数多，且无法感知隐藏状态；通用 token 剪枝与 KV 压缩未利用 GUI 的帧间冗余与二维布局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25 / 32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混合能力方法：混合智能体（Hybrid Agent）与可验证训练环境（Verifiable Environment）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394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4108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ref_co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405848"/>
            <a:ext cx="2743200" cy="9033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775" y="42672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CoAct-1：GUI 操作员 + 程序员 [Song+, ICLR 26]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71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ref_osworldmc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4250" y="2138680"/>
            <a:ext cx="2743200" cy="1437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5675" y="42672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OSWorld-MCP：GUI 之外提供工具 [Jia+, 2025]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770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ref_guigenes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4150" y="2349137"/>
            <a:ext cx="2743200" cy="10167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34150" y="4267200"/>
            <a:ext cx="278130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GUI-Genesis：重建应用为可验证环境 [Cao+, 2026]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86900" y="1428750"/>
            <a:ext cx="2247900" cy="318135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458325" y="1524000"/>
            <a:ext cx="2305050" cy="1671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OSWorld · WeaveBench 附录 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77400" y="2190750"/>
            <a:ext cx="342900" cy="1428750"/>
          </a:xfrm>
          <a:prstGeom prst="roundRect">
            <a:avLst>
              <a:gd name="adj" fmla="val 11111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10077450" y="2219325"/>
            <a:ext cx="342900" cy="1400175"/>
          </a:xfrm>
          <a:prstGeom prst="roundRect">
            <a:avLst>
              <a:gd name="adj" fmla="val 11111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572625" y="2000250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79.1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2675" y="2028825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77.3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20250" y="3619500"/>
            <a:ext cx="19621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9620250" y="3619500"/>
            <a:ext cx="19621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34525" y="3676650"/>
            <a:ext cx="106680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成功率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5000" y="392430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 CLI　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 GUI</a:t>
            </a:r>
          </a:p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受控设置下成功率点估计接近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混合方向已经出现，但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缺少统一范式、可信评测与可验证的训练方法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混合动作空间缩短轨迹；以参考应用为 oracle 构建可验证环境的思路开始出现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第二能力多为辅助（增益约 3–5 个百分点），任务未强制协同且仅依据结果判分；可验证环境局限于单一界面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26 / 32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走向真实世界：个人智能体（Personal Agent）与物理世界智能体（Physical Agent）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390650"/>
            <a:ext cx="120015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0550" y="1390650"/>
            <a:ext cx="9906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个人智能体产品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p_d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747" y="1724025"/>
            <a:ext cx="1823155" cy="1295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4350" y="30480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OpenAI dots（2026.09）：云端机器 + 应用连接器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565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pp_m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3547" y="1724025"/>
            <a:ext cx="1766454" cy="1295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32422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Meta Muse（2026.09）：云端安全 VM 内执行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410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p_man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3758" y="1724025"/>
            <a:ext cx="2302933" cy="1295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16267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Manus（2025.03）：云 VM，2026 年起支持本机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255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pp_opencla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1403" y="1724025"/>
            <a:ext cx="2064543" cy="1295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0112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OpenClaw（2026.01）：运行于用户自己的设备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429000"/>
            <a:ext cx="186690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90550" y="3429000"/>
            <a:ext cx="1657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物理世界生成与机器人使用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ph_simworld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859" y="3762375"/>
            <a:ext cx="2450931" cy="10477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85775" y="48387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SimWorlds [Liu+, 2026]：文本生成物理世界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565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ph_text2si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3275" y="3788932"/>
            <a:ext cx="2667000" cy="99463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324225" y="48387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Text2Sim [Xiong+, 2026]：生成并修复仿真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3410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ph_4dco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496" y="3762375"/>
            <a:ext cx="1059456" cy="104775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191250" y="48387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4DCodeBench [Shen+, 2026]：以代码复现 4D 运动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7255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robot_overview.mp4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9020175" y="3762375"/>
            <a:ext cx="2667000" cy="104775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29700" y="48387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RobotWorld [Yang+, 2026]：84 个机器人使用任务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238750"/>
            <a:ext cx="11277600" cy="78105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314950"/>
            <a:ext cx="11010900" cy="2065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个人智能体已具备长期记忆与跨应用执行；Coding Agent 已能生成可运行的物理仿真与机器人控制程序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8650" y="5619750"/>
            <a:ext cx="11010900" cy="2065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多在云端通用环境中执行，</a:t>
            </a:r>
            <a:r>
              <a:rPr sz="105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对职业环境支持有限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；物理世界生成的</a:t>
            </a:r>
            <a:r>
              <a:rPr sz="105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跨条件泛化、诊断与回归联合验证仍不充分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27 / 32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1"/>
                </p:tgtEl>
              </p:cMediaNode>
            </p:video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研究二：基于可验证复刻环境的混合行为训练（已完成）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训练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781800" cy="186690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rw_fig2_recre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630" y="1485900"/>
            <a:ext cx="5962939" cy="14287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2952750"/>
            <a:ext cx="67246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：探索原版 → 实现 → 运行 → 视觉核验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09950"/>
            <a:ext cx="6781800" cy="268605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rw_fig4_constru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834" y="3467100"/>
            <a:ext cx="5516530" cy="22479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85775" y="5753100"/>
            <a:ext cx="67246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环境构建：开源应用 → 行为探查 → 测试合成 → 参考回放校验 → 冻结隐藏测试集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0" y="1428750"/>
            <a:ext cx="4343400" cy="662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自主编排（Orchestration）与自我验证（Self-verification）需在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能力交织、结果可验证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的场景中习得；图形界面缺少天然奖励，现有环境局限于单一界面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9500" y="2381250"/>
            <a:ext cx="4343400" cy="8834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应用复刻（App Recreation）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为训练场景：规格存在于界面中、交付物为代码、正确性需运行后视觉核验，天然要求 CLI 与 GUI 交织；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原版应用即 oracle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，自动合成隐藏行为测试作为可验证奖励（Verifiable Reward）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29500" y="4114800"/>
            <a:ext cx="4305300" cy="19812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rw_fig3_horiz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1973" y="4171950"/>
            <a:ext cx="2440353" cy="15430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58075" y="5753100"/>
            <a:ext cx="4248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每百次调用的 GUI↔代码切换：复刻任务远高于现有基准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28 / 32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研究二（续）：训练流程与实验结果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0550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复刻任务构造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550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GitHub 高质量开源 GUI 应用，覆盖 Ubuntu / macOS / Windows / Android / Web，与评测集去重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24225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57575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轨迹生成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7575" y="1771650"/>
            <a:ext cx="245745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Qwen3.8-Max 在隔离虚拟机池中并发执行"探索—实现—构建运行—核验修正"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1250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24600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可验证筛选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600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以任务级行为 verifier 拒绝采样（Rejection Sampling），每平台取 7,000 条，共 3.5 万条轨迹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8275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91625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④ 模型后训练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1625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同一数据分别监督微调（SFT）Qwen3.7-Plus 与持续预训练（CPT）后的 Qwen-Flash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6575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10625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514600"/>
            <a:ext cx="7810500" cy="3028950"/>
          </a:xfrm>
          <a:prstGeom prst="roundRect">
            <a:avLst>
              <a:gd name="adj" fmla="val 251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rw_fig5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653118"/>
            <a:ext cx="7696200" cy="242806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85775" y="5200650"/>
            <a:ext cx="7753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迁移到 5 个分布外（OOD）基准（代码、视觉代码、混合计算机操作）：两种初始化均一致提升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6300" y="257175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250 题 · 5 平台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96300" y="285750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RecreationBench 评测集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331470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2.8%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96300" y="360045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最强模型全部通过的题目比例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96300" y="405765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最高 +17.9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96300" y="434340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分布外基准提升（OSWorld 2.0 部分得分）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96300" y="480060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35.7 → 48.2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96300" y="508635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WeaveBench Overall（平均部分得分，非 PassRate）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结论：训练期间 5 个分布外基准均提升（相对首个已评估检查点）；SFT 净收益待对照确认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研究三推广到职业环境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29 / 32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研究三（一·续）：多职业可验证环境扩展（Env Scaling）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a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12" y="1485900"/>
            <a:ext cx="5514975" cy="3676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52006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职业化个人电脑仿真环境示例；核心选 2–3 类（财务、电商运营、法律），其余留出评估（示意图）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05600" y="14287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0" y="15240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App Mock：职业业务系统仿真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7907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以研究二的复刻能力，将 ERP、电商后台、合同审阅等业务软件构建为可交互、可重置的仿真应用，并组装为个人电脑环境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05600" y="24955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0" y="25908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数据驱动的环境模拟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8575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以脱敏或合成业务数据驱动状态与事件演化；事件依附业务动作，支持需求变更与跨应用协作的长程任务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5600" y="35623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0" y="36576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SFT &amp; RL 任务构造流水线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9243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任务生成 → 轨迹采样 → 状态优先的 verifier（以数据库状态校验结果，抑制奖励利用）→ SFT 数据 / RL 奖励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05600" y="4629150"/>
            <a:ext cx="5029200" cy="914400"/>
          </a:xfrm>
          <a:prstGeom prst="roundRect">
            <a:avLst>
              <a:gd name="adj" fmla="val 12500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858000" y="4705350"/>
            <a:ext cx="48006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闭环复用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：研究一的轨迹感知评测用于度量；研究二的拒绝采样训练流程用于学习；研究一的压缩方法降低 RL rollout 开销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30 / 32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研究三（二）：面向物理仿真程序的代码智能体验证（拓展）—— 表象正确不等于机制正确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6667500" cy="447675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phys_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672778"/>
            <a:ext cx="6553200" cy="366484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4350" y="5562600"/>
            <a:ext cx="659130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反事实干预（Counterfactual Intervention）：拉大第 10、11 块骨牌间距后，关键帧动画仍"全部倒下"，物理仿真在间隙处正确中断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77100" y="1428750"/>
            <a:ext cx="4457700" cy="1143000"/>
          </a:xfrm>
          <a:prstGeom prst="roundRect">
            <a:avLst>
              <a:gd name="adj" fmla="val 10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429500" y="1504950"/>
            <a:ext cx="4229100" cy="61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核心问题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：Coding Agent 已能自动生成"会动的 3D 世界"，但它构建的是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遵守物理机制、可跨条件泛化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的世界，还是只在当前条件下看起来正确的运动程序？出错时能否依据执行反馈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定位并修复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3300" y="2686050"/>
            <a:ext cx="11811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相关工作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7250" y="2686050"/>
            <a:ext cx="15811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已考察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2686050"/>
            <a:ext cx="1695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尚未充分考察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77100" y="28956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53300" y="28956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LEGO-Anything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7250" y="29241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重建静态 3D 场景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29241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能否按物理规律运动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77100" y="32956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53300" y="32956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Code4Scene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7250" y="33242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精确构建 / 编辑 3D 环境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33242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动态行为是否正确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77100" y="36957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353300" y="36957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4DCodeBench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7250" y="37242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复现参考视频的运动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37242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换初始条件是否仍正确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77100" y="40957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353300" y="40957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SimWorlds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77250" y="41243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建立并验证物理机制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41243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参数与跨条件行为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77100" y="44958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353300" y="44958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Text2Sim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7250" y="45243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生成、运行并修复仿真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45243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未见干预下是否可靠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77100" y="48958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353300" y="48958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WorldSolver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250" y="49244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实现物理求解器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49244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复杂场景中自主诊断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77100" y="5353050"/>
            <a:ext cx="4495800" cy="398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研究空白：尚未统一考察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跨条件物理泛化、错误因果定位、修复后不破坏既有行为</a:t>
            </a:r>
            <a:r>
              <a:rPr sz="1012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三件事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31 / 32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研究三（二·续）：基于物理状态与干预测试的验证、诊断与定向修复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5715000" cy="409575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phys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497592"/>
            <a:ext cx="5600700" cy="36342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775" y="5181600"/>
            <a:ext cx="5657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方法框架：构建物理世界 → 执行仿真 → 干预验证 → 落地诊断 → 定向修复与回归测试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2700" y="144780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96050" y="144780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RQ1 · 物理泛化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0500" y="1447800"/>
            <a:ext cx="39814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未见过的质量、摩擦、碰撞参数、初速度、外力下仿真是否仍正确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2700" y="192405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6050" y="192405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RQ2 · 错误诊断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0500" y="1924050"/>
            <a:ext cx="3962400" cy="3857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能否区分碰撞体、摩擦设置、数值积分不稳定等原因，而非随机调参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62700" y="240030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6050" y="240030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RQ3 · 可靠修复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0500" y="2400300"/>
            <a:ext cx="3962400" cy="3857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利用物理状态与视觉证据修复，并通过回归测试（Regression Tests）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62700" y="2952750"/>
            <a:ext cx="5372100" cy="257175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515100" y="3048000"/>
            <a:ext cx="510540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核心消融（同一模型、工具权限与计算预算）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15100" y="33528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629400" y="33528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One-shot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0" y="33528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不提供反馈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15100" y="36957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629400" y="36957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Execution Feedback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2500" y="36957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运行错误与报错日志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15100" y="40386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629400" y="40386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Visual Feedback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72500" y="40386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渲染图与动画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15100" y="43815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629400" y="43815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Physical State Feedback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72500" y="43815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位置、速度、接触、能量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15100" y="47244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629400" y="47244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Ours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72500" y="47244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状态 + 干预测试 + 定向修复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5100" y="5124450"/>
            <a:ext cx="51244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指标：反事实通过率 · 修复成功率 · 回归失败率 · 成本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目标：从评测"能否生成会动的世界"推进到评测"能否构建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条件变化下仍遵守物理规律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的世界"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32 / 32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1.xml><?xml version="1.0" encoding="utf-8"?>
<p:tagLst xmlns:p="http://schemas.openxmlformats.org/presentationml/2006/main">
  <p:tag name="COMMONDATA" val="eyJoZGlkIjoiZjVhNGJiMWVmZTg4ZjFhYWZhYWFiMzBkODkwYWRkZmUifQ=="/>
  <p:tag name="resource_record_key" val="{&quot;10&quot;:[21555167,21545204,21575396,21552757,21550399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</Words>
  <Application>WPS 演示</Application>
  <PresentationFormat>宽屏</PresentationFormat>
  <Paragraphs>4</Paragraphs>
  <Slides>8</Slides>
  <Notes>10</Notes>
  <HiddenSlides>1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24" baseType="lpstr">
      <vt:lpstr>Arial</vt:lpstr>
      <vt:lpstr>宋体</vt:lpstr>
      <vt:lpstr>Wingdings</vt:lpstr>
      <vt:lpstr>Wingdings</vt:lpstr>
      <vt:lpstr>Arial</vt:lpstr>
      <vt:lpstr>微软雅黑 Light</vt:lpstr>
      <vt:lpstr>方正小标宋简体</vt:lpstr>
      <vt:lpstr>Times New Roman Bold</vt:lpstr>
      <vt:lpstr>Times New Roman</vt:lpstr>
      <vt:lpstr>Noto Sans SC</vt:lpstr>
      <vt:lpstr>Noto Sans SC</vt:lpstr>
      <vt:lpstr>Times New Roman Regular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86189</dc:creator>
  <cp:lastModifiedBy>文</cp:lastModifiedBy>
  <cp:revision>764</cp:revision>
  <dcterms:created xsi:type="dcterms:W3CDTF">2026-03-22T08:21:00Z</dcterms:created>
  <dcterms:modified xsi:type="dcterms:W3CDTF">2026-03-22T08:59:47Z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436FDA4FD1FAADFA3B57116922FA7F82_43</vt:lpwstr>
  </property>
</Properties>
</file>