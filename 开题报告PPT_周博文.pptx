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第一部分：研究背景和选题意义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通用数字智能体的目标是在真实计算机环境中自主完成长程数字工作。它具备三种场景能力：命令行操作（Bash）和代码构建（Coding）属于 CLI 能力，图形界面操作属于 GUI 能力。左图是真实任务中的混合轨迹：数据分析、游戏开发、网站运维都需要在命令行与图形界面之间交替。三种能力互补而非互替。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 GUI 能力；混合能力交互已成为前沿基础模型的核心议题。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第二部分：国内外研究现状</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国内外研究可归为四条路线。纯 CLI 能力方法以命令行和代码智能体为代表，精确高效、可验证，但看不见渲染结果。纯 GUI 能力方法以截图和键鼠为通用接口，OSWorld 两年从 12% 升到 80% 以上，但开销高、步数多。混合能力方法开始结合两者，但第二种能力多为辅助、仍只看结果判分。第四类是走向真实世界：个人智能体产品和物理世界生成、机器人使用。共同缺口有三个，正好对应本课题的三项研究。</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三个挑战分别对应三项研究。第一，任务范式与能力度量失配：纯 GUI 范式偏重，基准割裂评测且只看结果判分。第二，混合行为模式难以习得：缺少可验证奖励与训练环境。第三，通用能力难以落到真实世界：缺少个人环境与职业知识，生成内容不受物理规律约束。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第三部分：课题研究内容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研究框架分三段：研究一做评测，研究二做训练，研究三做应用。前一项研究的结论构成后一项研究的动机。贯穿三项研究的是可扩展：任务、环境和 verifier 都能自动批量构造。</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课题一是评测。最初两项工作在纯 GUI 范式下做推理效率优化：GUIPruner 做视觉 token 压缩，ST-Lite 做 KV Cache 压缩，开销显著下降。但我们发现纯 GUI 范式天然偏重：同一模型在 OSWorld 上仅用 CLI 的成功率与仅用 GUI 相当，步数只有一半。同时 2026 年初 OpenClaw 这类以 CLI 为主、运行在个人电脑上的智能体迅速普及，进一步说明纯 GUI 范式并非天然合理。由此转向定义 CLI 与 GUI 交织的综合数字智能体范式，并给出可信评测，即 WeaveBench。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WeaveBench 以已部署的 CLI 智能体运行时为底座，加入最小桌面控制插件，形成真实的混合运行时；114 个长程任务覆盖 8 个真实工作领域，每个任务 CLI 与 GUI 缺一不可；轨迹感知判官审计交付物、文件、截图、日志与动作轨迹。最强组合仅 41.2%，单一能力不超过 3.5%；过程审计修正约 20 个百分点的虚高；65.6% 的失败源于违规取巧与长程失控。结论：瓶颈在自主编排与自我验证，需要训练这种新的行为模式。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课题二回答如何训练这种新的行为模式。我们以应用复刻为训练场景：规格在界面里，交付物是代码，对错要运行后再看界面，天然要求 CLI 与 GUI 交织；原版应用就是 oracle，可以自动合成隐藏行为测试作为可验证奖励。流程是任务构造、Qwen3.8-Max 生成轨迹、行为 verifier 拒绝采样得到 3.5 万条轨迹，再对两种初始化做 SFT。五个分布外基准一致提升，最高 17.9 个百分点；在研究一的 WeaveBench 上从 35.7 提升到 48.2，评测与训练形成闭环。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课题三的第一个方向是职业化个人智能体。OpenAI dots、Meta Muse、Manus 等产品的个人化主要体现在记忆与人设上，任务多在云端通用环境中执行，职业特质不鲜明。我们认为真正的个人智能体应当在用户自己的电脑里工作，具备不同职业的业务知识与专业软件技能，才能成为数字员工。方法上做多职业可验证环境扩展：App Mock 仿真业务系统，真实数据驱动环境演化，再构造 SFT 与 RL 任务流水线，复用研究一的评测和研究二的训练流程。</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课题三的第二个方向是物理世界智能体，本质是把 Coding 能力外扩到物理世界，要求产出遵循物理规律。以多米诺为例：关键帧动画与物理仿真在原始条件下看起来一样；拉大第 10、11 块骨牌间距后，关键帧动画仍然全部倒下，物理仿真则正确中断。现有工作尚未统一考察跨条件泛化、错误定位与修复后的回归。我们提出三个研究问题，方法是物理落地的验证与因果修复：构建世界、执行仿真、干预验证、落地诊断、定向修复并回归测试。反事实干预本身就是一种可扩展的 verifier，与研究一、二一脉相承。</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第四部分：论文进度安排及预期达到目标</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已完成工作：研究一对应 GUIPruner（投稿 KDD 2027）与 ST-Lite（EMNLP 2026）；WeaveBench（EMNLP 2026）同属研究一；研究二对应 RecreationWorld 技术报告。在 Qwen 团队实习期间参与 Qwen3.8-Max 研发，研究问题源于前沿基础模型的一线痛点。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后续计划聚焦研究三：先构建职业化个人电脑环境，再以真实数据驱动环境并构造 SFT 与 RL 任务流水线，然后推进物理世界智能体的反事实干预基准与因果修复方法，最后整合评测、训练与应用三部分完成学位论文。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5.jpg"/><Relationship Id="rId8" Type="http://schemas.microsoft.com/office/2007/relationships/media" Target="../media/media3.mp4"/><Relationship Id="rId9" Type="http://schemas.openxmlformats.org/officeDocument/2006/relationships/video" Target="../media/media3.mp4"/><Relationship Id="rId10" Type="http://schemas.openxmlformats.org/officeDocument/2006/relationships/image" Target="../media/image16.jpg"/><Relationship Id="rId11" Type="http://schemas.openxmlformats.org/officeDocument/2006/relationships/image" Target="../media/image17.png"/><Relationship Id="rId1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5.jp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microsoft.com/office/2007/relationships/media" Target="../media/media4.mp4"/><Relationship Id="rId9" Type="http://schemas.openxmlformats.org/officeDocument/2006/relationships/video" Target="../media/media4.mp4"/><Relationship Id="rId10" Type="http://schemas.openxmlformats.org/officeDocument/2006/relationships/image" Target="../media/image21.jpg"/><Relationship Id="rId11"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5.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20.png"/><Relationship Id="rId7"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6192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6192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2095500"/>
            <a:ext cx="8610600" cy="1066800"/>
          </a:xfrm>
          <a:prstGeom prst="rect">
            <a:avLst/>
          </a:prstGeom>
          <a:noFill/>
        </p:spPr>
        <p:txBody>
          <a:bodyPr wrap="square" lIns="0" rIns="0" tIns="0" bIns="0" anchor="t">
            <a:noAutofit/>
          </a:bodyPr>
          <a:lstStyle/>
          <a:p>
            <a:pPr algn="l">
              <a:lnSpc>
                <a:spcPts val="4200"/>
              </a:lnSpc>
              <a:spcBef>
                <a:spcPts val="0"/>
              </a:spcBef>
              <a:spcAft>
                <a:spcPts val="0"/>
              </a:spcAft>
            </a:pPr>
            <a:r>
              <a:rPr sz="3000" b="1" i="0">
                <a:solidFill>
                  <a:srgbClr val="660874"/>
                </a:solidFill>
                <a:latin typeface="Arial"/>
                <a:ea typeface="微软雅黑"/>
                <a:cs typeface="微软雅黑"/>
              </a:rPr>
              <a:t>面向通用数字智能体的</a:t>
            </a:r>
          </a:p>
          <a:p>
            <a:pPr algn="l">
              <a:lnSpc>
                <a:spcPts val="4200"/>
              </a:lnSpc>
              <a:spcBef>
                <a:spcPts val="0"/>
              </a:spcBef>
              <a:spcAft>
                <a:spcPts val="0"/>
              </a:spcAft>
            </a:pPr>
            <a:r>
              <a:rPr sz="3000" b="1" i="0">
                <a:solidFill>
                  <a:srgbClr val="660874"/>
                </a:solidFill>
                <a:latin typeface="Arial"/>
                <a:ea typeface="微软雅黑"/>
                <a:cs typeface="微软雅黑"/>
              </a:rPr>
              <a:t>可扩展评测与训练框架研究</a:t>
            </a:r>
          </a:p>
        </p:txBody>
      </p:sp>
      <p:sp>
        <p:nvSpPr>
          <p:cNvPr id="5" name="Rounded Rectangle 4"/>
          <p:cNvSpPr/>
          <p:nvPr/>
        </p:nvSpPr>
        <p:spPr>
          <a:xfrm>
            <a:off x="914400" y="33337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600450"/>
            <a:ext cx="6705600" cy="759916"/>
          </a:xfrm>
          <a:prstGeom prst="rect">
            <a:avLst/>
          </a:prstGeom>
          <a:noFill/>
        </p:spPr>
        <p:txBody>
          <a:bodyPr wrap="square" lIns="0" rIns="0" tIns="0" bIns="0" anchor="t">
            <a:noAutofit/>
          </a:bodyPr>
          <a:lstStyle/>
          <a:p>
            <a:pPr algn="l">
              <a:lnSpc>
                <a:spcPts val="2992"/>
              </a:lnSpc>
              <a:spcBef>
                <a:spcPts val="0"/>
              </a:spcBef>
              <a:spcAft>
                <a:spcPts val="0"/>
              </a:spcAft>
            </a:pPr>
            <a:r>
              <a:rPr sz="1575" b="0" i="0">
                <a:solidFill>
                  <a:srgbClr val="1F1A22"/>
                </a:solidFill>
                <a:latin typeface="Arial"/>
                <a:ea typeface="微软雅黑"/>
                <a:cs typeface="微软雅黑"/>
              </a:rPr>
              <a:t>研究生：周博文</a:t>
            </a:r>
          </a:p>
          <a:p>
            <a:pPr algn="l">
              <a:lnSpc>
                <a:spcPts val="2992"/>
              </a:lnSpc>
              <a:spcBef>
                <a:spcPts val="0"/>
              </a:spcBef>
              <a:spcAft>
                <a:spcPts val="0"/>
              </a:spcAft>
            </a:pPr>
            <a:r>
              <a:rPr sz="1575" b="0" i="0">
                <a:solidFill>
                  <a:srgbClr val="1F1A22"/>
                </a:solidFill>
                <a:latin typeface="Arial"/>
                <a:ea typeface="微软雅黑"/>
                <a:cs typeface="微软雅黑"/>
              </a:rPr>
              <a:t>导　师：王好谦 教授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（Universal Digital Agent）的目标是在真实计算机环境中</a:t>
            </a:r>
            <a:r>
              <a:rPr sz="1500" b="1" i="0">
                <a:solidFill>
                  <a:srgbClr val="C0392B"/>
                </a:solidFill>
                <a:latin typeface="Arial"/>
                <a:ea typeface="微软雅黑"/>
                <a:cs typeface="微软雅黑"/>
              </a:rPr>
              <a:t>自主完成长程数字工作</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a:t>
            </a:r>
            <a:r>
              <a:rPr sz="1500" b="1" i="0">
                <a:solidFill>
                  <a:srgbClr val="C0392B"/>
                </a:solidFill>
                <a:latin typeface="Arial"/>
                <a:ea typeface="微软雅黑"/>
                <a:cs typeface="微软雅黑"/>
              </a:rPr>
              <a:t>CLI 能力</a:t>
            </a:r>
            <a:r>
              <a:rPr sz="1500" b="1" i="0">
                <a:solidFill>
                  <a:srgbClr val="1F1A22"/>
                </a:solidFill>
                <a:latin typeface="Arial"/>
                <a:ea typeface="微软雅黑"/>
                <a:cs typeface="微软雅黑"/>
              </a:rPr>
              <a:t>（命令行、代码）与</a:t>
            </a:r>
            <a:r>
              <a:rPr sz="1500" b="1" i="0">
                <a:solidFill>
                  <a:srgbClr val="C0392B"/>
                </a:solidFill>
                <a:latin typeface="Arial"/>
                <a:ea typeface="微软雅黑"/>
                <a:cs typeface="微软雅黑"/>
              </a:rPr>
              <a:t>GUI 能力</a:t>
            </a:r>
            <a:r>
              <a:rPr sz="1500" b="1" i="0">
                <a:solidFill>
                  <a:srgbClr val="1F1A22"/>
                </a:solidFill>
                <a:latin typeface="Arial"/>
                <a:ea typeface="微软雅黑"/>
                <a:cs typeface="微软雅黑"/>
              </a:rPr>
              <a:t>（图形界面）的协同感知与操作实现任务闭环。</a:t>
            </a:r>
          </a:p>
        </p:txBody>
      </p:sp>
      <p:sp>
        <p:nvSpPr>
          <p:cNvPr id="4" name="Rounded Rectangle 3"/>
          <p:cNvSpPr/>
          <p:nvPr/>
        </p:nvSpPr>
        <p:spPr>
          <a:xfrm>
            <a:off x="457200" y="1676400"/>
            <a:ext cx="53340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wb_fig1.png"/>
          <p:cNvPicPr>
            <a:picLocks noChangeAspect="1"/>
          </p:cNvPicPr>
          <p:nvPr/>
        </p:nvPicPr>
        <p:blipFill>
          <a:blip r:embed="rId2"/>
          <a:stretch>
            <a:fillRect/>
          </a:stretch>
        </p:blipFill>
        <p:spPr>
          <a:xfrm>
            <a:off x="915806" y="1733550"/>
            <a:ext cx="4416787" cy="3409950"/>
          </a:xfrm>
          <a:prstGeom prst="rect">
            <a:avLst/>
          </a:prstGeom>
        </p:spPr>
      </p:pic>
      <p:sp>
        <p:nvSpPr>
          <p:cNvPr id="6" name="TextBox 5"/>
          <p:cNvSpPr txBox="1"/>
          <p:nvPr/>
        </p:nvSpPr>
        <p:spPr>
          <a:xfrm>
            <a:off x="485775" y="5181600"/>
            <a:ext cx="5276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混合轨迹示例：数据分析、游戏开发、网站运维中命令行与图形界面交替使用 [WeaveBench]</a:t>
            </a:r>
          </a:p>
        </p:txBody>
      </p:sp>
      <p:sp>
        <p:nvSpPr>
          <p:cNvPr id="7" name="Rounded Rectangle 6"/>
          <p:cNvSpPr/>
          <p:nvPr/>
        </p:nvSpPr>
        <p:spPr>
          <a:xfrm>
            <a:off x="5981700" y="1676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782300" y="18097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753725" y="1809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0" name="TextBox 9"/>
          <p:cNvSpPr txBox="1"/>
          <p:nvPr/>
        </p:nvSpPr>
        <p:spPr>
          <a:xfrm>
            <a:off x="6153150" y="1809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命令行操作（Bash）</a:t>
            </a:r>
          </a:p>
        </p:txBody>
      </p:sp>
      <p:sp>
        <p:nvSpPr>
          <p:cNvPr id="11" name="TextBox 10"/>
          <p:cNvSpPr txBox="1"/>
          <p:nvPr/>
        </p:nvSpPr>
        <p:spPr>
          <a:xfrm>
            <a:off x="6153150" y="2114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以 Shell 命令读写文件、管理进程与服务，直接获取系统状态</a:t>
            </a:r>
          </a:p>
        </p:txBody>
      </p:sp>
      <p:sp>
        <p:nvSpPr>
          <p:cNvPr id="12" name="TextBox 11"/>
          <p:cNvSpPr txBox="1"/>
          <p:nvPr/>
        </p:nvSpPr>
        <p:spPr>
          <a:xfrm>
            <a:off x="6153150" y="2381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代表工作：Terminal-Bench · OpenClaw</a:t>
            </a:r>
          </a:p>
        </p:txBody>
      </p:sp>
      <p:sp>
        <p:nvSpPr>
          <p:cNvPr id="13" name="Rounded Rectangle 12"/>
          <p:cNvSpPr/>
          <p:nvPr/>
        </p:nvSpPr>
        <p:spPr>
          <a:xfrm>
            <a:off x="5981700" y="30099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782300" y="31432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753725" y="31432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6" name="TextBox 15"/>
          <p:cNvSpPr txBox="1"/>
          <p:nvPr/>
        </p:nvSpPr>
        <p:spPr>
          <a:xfrm>
            <a:off x="6153150" y="31432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代码构建（Coding）</a:t>
            </a:r>
          </a:p>
        </p:txBody>
      </p:sp>
      <p:sp>
        <p:nvSpPr>
          <p:cNvPr id="17" name="TextBox 16"/>
          <p:cNvSpPr txBox="1"/>
          <p:nvPr/>
        </p:nvSpPr>
        <p:spPr>
          <a:xfrm>
            <a:off x="6153150" y="34480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编写、构建、运行与测试程序，以执行结果作为反馈信号</a:t>
            </a:r>
          </a:p>
        </p:txBody>
      </p:sp>
      <p:sp>
        <p:nvSpPr>
          <p:cNvPr id="18" name="TextBox 17"/>
          <p:cNvSpPr txBox="1"/>
          <p:nvPr/>
        </p:nvSpPr>
        <p:spPr>
          <a:xfrm>
            <a:off x="6153150" y="37147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代表工作：SWE-bench · Claude Code · Codex</a:t>
            </a:r>
          </a:p>
        </p:txBody>
      </p:sp>
      <p:sp>
        <p:nvSpPr>
          <p:cNvPr id="19" name="Rounded Rectangle 18"/>
          <p:cNvSpPr/>
          <p:nvPr/>
        </p:nvSpPr>
        <p:spPr>
          <a:xfrm>
            <a:off x="5981700" y="4343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782300" y="447675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53725" y="4476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 能力</a:t>
            </a:r>
          </a:p>
        </p:txBody>
      </p:sp>
      <p:sp>
        <p:nvSpPr>
          <p:cNvPr id="22" name="TextBox 21"/>
          <p:cNvSpPr txBox="1"/>
          <p:nvPr/>
        </p:nvSpPr>
        <p:spPr>
          <a:xfrm>
            <a:off x="6153150" y="4476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图形界面操作（GUI）</a:t>
            </a:r>
          </a:p>
        </p:txBody>
      </p:sp>
      <p:sp>
        <p:nvSpPr>
          <p:cNvPr id="23" name="TextBox 22"/>
          <p:cNvSpPr txBox="1"/>
          <p:nvPr/>
        </p:nvSpPr>
        <p:spPr>
          <a:xfrm>
            <a:off x="6153150" y="4781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基于屏幕截图感知界面状态，以鼠标键盘操作任意软件</a:t>
            </a:r>
          </a:p>
        </p:txBody>
      </p:sp>
      <p:sp>
        <p:nvSpPr>
          <p:cNvPr id="24" name="TextBox 23"/>
          <p:cNvSpPr txBox="1"/>
          <p:nvPr/>
        </p:nvSpPr>
        <p:spPr>
          <a:xfrm>
            <a:off x="6153150" y="5048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代表工作：OSWorld · UI-TARS</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三种场景能力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：真实任务要求智能体在同一轨迹中依需求选择并切换能力</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于软件开发、系统运维、内容创作及金融、电商、芯片开发等绝大部分行业业务流程，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软件开发与调试（Godot 游戏，5×）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系统运维与故障排查（RabbitMQ，5×）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视觉设计与内容创作（Inkscape，5×）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a_matrix.png"/>
          <p:cNvPicPr>
            <a:picLocks noChangeAspect="1"/>
          </p:cNvPicPr>
          <p:nvPr/>
        </p:nvPicPr>
        <p:blipFill>
          <a:blip r:embed="rId11"/>
          <a:stretch>
            <a:fillRect/>
          </a:stretch>
        </p:blipFill>
        <p:spPr>
          <a:xfrm>
            <a:off x="814387" y="4286250"/>
            <a:ext cx="2143125" cy="1428750"/>
          </a:xfrm>
          <a:prstGeom prst="rect">
            <a:avLst/>
          </a:prstGeom>
        </p:spPr>
      </p:pic>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多职业业务软件环境（示意图）</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产业趋势：三种能力正在整合于同一智能体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 GUI 能力完成操作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能否高效、可靠地完成混合能力交互，已成为前沿基础模型能力评测与后训练的核心议题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18</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通用数字智能体方法：四类研究路线</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705100" cy="381000"/>
          </a:xfrm>
          <a:prstGeom prst="roundRect">
            <a:avLst>
              <a:gd name="adj" fmla="val 2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28625" y="1428750"/>
            <a:ext cx="2762250" cy="381000"/>
          </a:xfrm>
          <a:prstGeom prst="rect">
            <a:avLst/>
          </a:prstGeom>
          <a:noFill/>
        </p:spPr>
        <p:txBody>
          <a:bodyPr wrap="none" lIns="0" rIns="0" tIns="0" bIns="0" anchor="ctr">
            <a:noAutofit/>
          </a:bodyPr>
          <a:lstStyle/>
          <a:p>
            <a:pPr algn="ctr">
              <a:lnSpc>
                <a:spcPct val="100000"/>
              </a:lnSpc>
              <a:spcBef>
                <a:spcPts val="0"/>
              </a:spcBef>
              <a:spcAft>
                <a:spcPts val="0"/>
              </a:spcAft>
            </a:pPr>
            <a:r>
              <a:rPr sz="1237" b="1" i="0">
                <a:solidFill>
                  <a:srgbClr val="FFFFFF"/>
                </a:solidFill>
                <a:latin typeface="Arial"/>
                <a:ea typeface="微软雅黑"/>
                <a:cs typeface="微软雅黑"/>
              </a:rPr>
              <a:t>纯 CLI 能力方法</a:t>
            </a:r>
          </a:p>
        </p:txBody>
      </p:sp>
      <p:sp>
        <p:nvSpPr>
          <p:cNvPr id="7" name="TextBox 6"/>
          <p:cNvSpPr txBox="1"/>
          <p:nvPr/>
        </p:nvSpPr>
        <p:spPr>
          <a:xfrm>
            <a:off x="428625" y="1866900"/>
            <a:ext cx="276225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8A8490"/>
                </a:solidFill>
                <a:latin typeface="Arial"/>
                <a:ea typeface="微软雅黑"/>
                <a:cs typeface="微软雅黑"/>
              </a:rPr>
              <a:t>Terminal-Bench · SWE-agent · OpenClaw</a:t>
            </a:r>
          </a:p>
        </p:txBody>
      </p:sp>
      <p:sp>
        <p:nvSpPr>
          <p:cNvPr id="8" name="Rounded Rectangle 7"/>
          <p:cNvSpPr/>
          <p:nvPr/>
        </p:nvSpPr>
        <p:spPr>
          <a:xfrm>
            <a:off x="457200" y="2209800"/>
            <a:ext cx="2705100" cy="1600200"/>
          </a:xfrm>
          <a:prstGeom prst="roundRect">
            <a:avLst>
              <a:gd name="adj" fmla="val 476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495300" y="2247900"/>
            <a:ext cx="2628900" cy="1524000"/>
          </a:xfrm>
          <a:prstGeom prst="rect">
            <a:avLst/>
          </a:prstGeom>
        </p:spPr>
      </p:pic>
      <p:sp>
        <p:nvSpPr>
          <p:cNvPr id="10" name="Rounded Rectangle 9"/>
          <p:cNvSpPr/>
          <p:nvPr/>
        </p:nvSpPr>
        <p:spPr>
          <a:xfrm>
            <a:off x="457200" y="3905250"/>
            <a:ext cx="2705100" cy="800100"/>
          </a:xfrm>
          <a:prstGeom prst="roundRect">
            <a:avLst>
              <a:gd name="adj" fmla="val 14285"/>
            </a:avLst>
          </a:prstGeom>
          <a:solidFill>
            <a:srgbClr val="E3F2EC"/>
          </a:solidFill>
          <a:ln w="9525">
            <a:solidFill>
              <a:srgbClr val="E3F2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52450" y="396240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1E7B5A"/>
                </a:solidFill>
                <a:latin typeface="Arial"/>
                <a:ea typeface="微软雅黑"/>
                <a:cs typeface="微软雅黑"/>
              </a:rPr>
              <a:t>优点</a:t>
            </a:r>
            <a:r>
              <a:rPr sz="937" b="0" i="0">
                <a:solidFill>
                  <a:srgbClr val="1F1A22"/>
                </a:solidFill>
                <a:latin typeface="Arial"/>
                <a:ea typeface="微软雅黑"/>
                <a:cs typeface="微软雅黑"/>
              </a:rPr>
              <a:t>　动作精确高效，状态可直接读取；单元测试即可验证，强化学习已规模化</a:t>
            </a:r>
          </a:p>
        </p:txBody>
      </p:sp>
      <p:sp>
        <p:nvSpPr>
          <p:cNvPr id="12" name="Rounded Rectangle 11"/>
          <p:cNvSpPr/>
          <p:nvPr/>
        </p:nvSpPr>
        <p:spPr>
          <a:xfrm>
            <a:off x="457200" y="4762500"/>
            <a:ext cx="2705100" cy="800100"/>
          </a:xfrm>
          <a:prstGeom prst="roundRect">
            <a:avLst>
              <a:gd name="adj" fmla="val 14285"/>
            </a:avLst>
          </a:prstGeom>
          <a:solidFill>
            <a:srgbClr val="FBE9E6"/>
          </a:solidFill>
          <a:ln w="9525">
            <a:solidFill>
              <a:srgbClr val="FBE9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52450" y="481965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C0392B"/>
                </a:solidFill>
                <a:latin typeface="Arial"/>
                <a:ea typeface="微软雅黑"/>
                <a:cs typeface="微软雅黑"/>
              </a:rPr>
              <a:t>不足</a:t>
            </a:r>
            <a:r>
              <a:rPr sz="937" b="0" i="0">
                <a:solidFill>
                  <a:srgbClr val="1F1A22"/>
                </a:solidFill>
                <a:latin typeface="Arial"/>
                <a:ea typeface="微软雅黑"/>
                <a:cs typeface="微软雅黑"/>
              </a:rPr>
              <a:t>　看不见渲染结果；仅覆盖具备命令行或 API 的软件</a:t>
            </a:r>
          </a:p>
        </p:txBody>
      </p:sp>
      <p:sp>
        <p:nvSpPr>
          <p:cNvPr id="14" name="Rounded Rectangle 13"/>
          <p:cNvSpPr/>
          <p:nvPr/>
        </p:nvSpPr>
        <p:spPr>
          <a:xfrm>
            <a:off x="3314700" y="1428750"/>
            <a:ext cx="2705100" cy="381000"/>
          </a:xfrm>
          <a:prstGeom prst="roundRect">
            <a:avLst>
              <a:gd name="adj" fmla="val 2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286125" y="1428750"/>
            <a:ext cx="2762250" cy="381000"/>
          </a:xfrm>
          <a:prstGeom prst="rect">
            <a:avLst/>
          </a:prstGeom>
          <a:noFill/>
        </p:spPr>
        <p:txBody>
          <a:bodyPr wrap="none" lIns="0" rIns="0" tIns="0" bIns="0" anchor="ctr">
            <a:noAutofit/>
          </a:bodyPr>
          <a:lstStyle/>
          <a:p>
            <a:pPr algn="ctr">
              <a:lnSpc>
                <a:spcPct val="100000"/>
              </a:lnSpc>
              <a:spcBef>
                <a:spcPts val="0"/>
              </a:spcBef>
              <a:spcAft>
                <a:spcPts val="0"/>
              </a:spcAft>
            </a:pPr>
            <a:r>
              <a:rPr sz="1237" b="1" i="0">
                <a:solidFill>
                  <a:srgbClr val="FFFFFF"/>
                </a:solidFill>
                <a:latin typeface="Arial"/>
                <a:ea typeface="微软雅黑"/>
                <a:cs typeface="微软雅黑"/>
              </a:rPr>
              <a:t>纯 GUI 能力方法</a:t>
            </a:r>
          </a:p>
        </p:txBody>
      </p:sp>
      <p:sp>
        <p:nvSpPr>
          <p:cNvPr id="16" name="TextBox 15"/>
          <p:cNvSpPr txBox="1"/>
          <p:nvPr/>
        </p:nvSpPr>
        <p:spPr>
          <a:xfrm>
            <a:off x="3286125" y="1866900"/>
            <a:ext cx="276225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8A8490"/>
                </a:solidFill>
                <a:latin typeface="Arial"/>
                <a:ea typeface="微软雅黑"/>
                <a:cs typeface="微软雅黑"/>
              </a:rPr>
              <a:t>OSWorld · UI-TARS-2 · FastV · SnapKV</a:t>
            </a:r>
          </a:p>
        </p:txBody>
      </p:sp>
      <p:sp>
        <p:nvSpPr>
          <p:cNvPr id="17" name="Rounded Rectangle 16"/>
          <p:cNvSpPr/>
          <p:nvPr/>
        </p:nvSpPr>
        <p:spPr>
          <a:xfrm>
            <a:off x="3314700" y="2209800"/>
            <a:ext cx="2705100" cy="1600200"/>
          </a:xfrm>
          <a:prstGeom prst="roundRect">
            <a:avLst>
              <a:gd name="adj" fmla="val 476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ref_uitars2_demo.png"/>
          <p:cNvPicPr>
            <a:picLocks noChangeAspect="1"/>
          </p:cNvPicPr>
          <p:nvPr/>
        </p:nvPicPr>
        <p:blipFill>
          <a:blip r:embed="rId5"/>
          <a:stretch>
            <a:fillRect/>
          </a:stretch>
        </p:blipFill>
        <p:spPr>
          <a:xfrm>
            <a:off x="3654219" y="2247900"/>
            <a:ext cx="2026061" cy="1524000"/>
          </a:xfrm>
          <a:prstGeom prst="rect">
            <a:avLst/>
          </a:prstGeom>
        </p:spPr>
      </p:pic>
      <p:sp>
        <p:nvSpPr>
          <p:cNvPr id="19" name="Rounded Rectangle 18"/>
          <p:cNvSpPr/>
          <p:nvPr/>
        </p:nvSpPr>
        <p:spPr>
          <a:xfrm>
            <a:off x="3314700" y="3905250"/>
            <a:ext cx="2705100" cy="800100"/>
          </a:xfrm>
          <a:prstGeom prst="roundRect">
            <a:avLst>
              <a:gd name="adj" fmla="val 14285"/>
            </a:avLst>
          </a:prstGeom>
          <a:solidFill>
            <a:srgbClr val="E3F2EC"/>
          </a:solidFill>
          <a:ln w="9525">
            <a:solidFill>
              <a:srgbClr val="E3F2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409950" y="396240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1E7B5A"/>
                </a:solidFill>
                <a:latin typeface="Arial"/>
                <a:ea typeface="微软雅黑"/>
                <a:cs typeface="微软雅黑"/>
              </a:rPr>
              <a:t>优点</a:t>
            </a:r>
            <a:r>
              <a:rPr sz="937" b="0" i="0">
                <a:solidFill>
                  <a:srgbClr val="1F1A22"/>
                </a:solidFill>
                <a:latin typeface="Arial"/>
                <a:ea typeface="微软雅黑"/>
                <a:cs typeface="微软雅黑"/>
              </a:rPr>
              <a:t>　截图 + 键鼠为通用接口，可操作任意软件；OSWorld 两年由 12% 升至 80%+</a:t>
            </a:r>
          </a:p>
        </p:txBody>
      </p:sp>
      <p:sp>
        <p:nvSpPr>
          <p:cNvPr id="21" name="Rounded Rectangle 20"/>
          <p:cNvSpPr/>
          <p:nvPr/>
        </p:nvSpPr>
        <p:spPr>
          <a:xfrm>
            <a:off x="3314700" y="4762500"/>
            <a:ext cx="2705100" cy="800100"/>
          </a:xfrm>
          <a:prstGeom prst="roundRect">
            <a:avLst>
              <a:gd name="adj" fmla="val 14285"/>
            </a:avLst>
          </a:prstGeom>
          <a:solidFill>
            <a:srgbClr val="FBE9E6"/>
          </a:solidFill>
          <a:ln w="9525">
            <a:solidFill>
              <a:srgbClr val="FBE9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409950" y="481965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C0392B"/>
                </a:solidFill>
                <a:latin typeface="Arial"/>
                <a:ea typeface="微软雅黑"/>
                <a:cs typeface="微软雅黑"/>
              </a:rPr>
              <a:t>不足</a:t>
            </a:r>
            <a:r>
              <a:rPr sz="937" b="0" i="0">
                <a:solidFill>
                  <a:srgbClr val="1F1A22"/>
                </a:solidFill>
                <a:latin typeface="Arial"/>
                <a:ea typeface="微软雅黑"/>
                <a:cs typeface="微软雅黑"/>
              </a:rPr>
              <a:t>　截图累积致开销高、步数多；通用压缩未利用 GUI 结构；缺天然 verifier</a:t>
            </a:r>
          </a:p>
        </p:txBody>
      </p:sp>
      <p:sp>
        <p:nvSpPr>
          <p:cNvPr id="23" name="Rounded Rectangle 22"/>
          <p:cNvSpPr/>
          <p:nvPr/>
        </p:nvSpPr>
        <p:spPr>
          <a:xfrm>
            <a:off x="6172200" y="1428750"/>
            <a:ext cx="2705100" cy="381000"/>
          </a:xfrm>
          <a:prstGeom prst="roundRect">
            <a:avLst>
              <a:gd name="adj" fmla="val 20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143625" y="1428750"/>
            <a:ext cx="2762250" cy="381000"/>
          </a:xfrm>
          <a:prstGeom prst="rect">
            <a:avLst/>
          </a:prstGeom>
          <a:noFill/>
        </p:spPr>
        <p:txBody>
          <a:bodyPr wrap="none" lIns="0" rIns="0" tIns="0" bIns="0" anchor="ctr">
            <a:noAutofit/>
          </a:bodyPr>
          <a:lstStyle/>
          <a:p>
            <a:pPr algn="ctr">
              <a:lnSpc>
                <a:spcPct val="100000"/>
              </a:lnSpc>
              <a:spcBef>
                <a:spcPts val="0"/>
              </a:spcBef>
              <a:spcAft>
                <a:spcPts val="0"/>
              </a:spcAft>
            </a:pPr>
            <a:r>
              <a:rPr sz="1237" b="1" i="0">
                <a:solidFill>
                  <a:srgbClr val="FFFFFF"/>
                </a:solidFill>
                <a:latin typeface="Arial"/>
                <a:ea typeface="微软雅黑"/>
                <a:cs typeface="微软雅黑"/>
              </a:rPr>
              <a:t>混合能力方法</a:t>
            </a:r>
          </a:p>
        </p:txBody>
      </p:sp>
      <p:sp>
        <p:nvSpPr>
          <p:cNvPr id="25" name="TextBox 24"/>
          <p:cNvSpPr txBox="1"/>
          <p:nvPr/>
        </p:nvSpPr>
        <p:spPr>
          <a:xfrm>
            <a:off x="6143625" y="1866900"/>
            <a:ext cx="276225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8A8490"/>
                </a:solidFill>
                <a:latin typeface="Arial"/>
                <a:ea typeface="微软雅黑"/>
                <a:cs typeface="微软雅黑"/>
              </a:rPr>
              <a:t>CoAct-1 · OSWorld-MCP · GUI-Genesis</a:t>
            </a:r>
          </a:p>
        </p:txBody>
      </p:sp>
      <p:sp>
        <p:nvSpPr>
          <p:cNvPr id="26" name="Rounded Rectangle 25"/>
          <p:cNvSpPr/>
          <p:nvPr/>
        </p:nvSpPr>
        <p:spPr>
          <a:xfrm>
            <a:off x="6172200" y="2209800"/>
            <a:ext cx="2705100" cy="1600200"/>
          </a:xfrm>
          <a:prstGeom prst="roundRect">
            <a:avLst>
              <a:gd name="adj" fmla="val 476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ref_guigenesis.png"/>
          <p:cNvPicPr>
            <a:picLocks noChangeAspect="1"/>
          </p:cNvPicPr>
          <p:nvPr/>
        </p:nvPicPr>
        <p:blipFill>
          <a:blip r:embed="rId6"/>
          <a:stretch>
            <a:fillRect/>
          </a:stretch>
        </p:blipFill>
        <p:spPr>
          <a:xfrm>
            <a:off x="6210300" y="2522719"/>
            <a:ext cx="2628900" cy="974360"/>
          </a:xfrm>
          <a:prstGeom prst="rect">
            <a:avLst/>
          </a:prstGeom>
        </p:spPr>
      </p:pic>
      <p:sp>
        <p:nvSpPr>
          <p:cNvPr id="28" name="Rounded Rectangle 27"/>
          <p:cNvSpPr/>
          <p:nvPr/>
        </p:nvSpPr>
        <p:spPr>
          <a:xfrm>
            <a:off x="6172200" y="3905250"/>
            <a:ext cx="2705100" cy="800100"/>
          </a:xfrm>
          <a:prstGeom prst="roundRect">
            <a:avLst>
              <a:gd name="adj" fmla="val 14285"/>
            </a:avLst>
          </a:prstGeom>
          <a:solidFill>
            <a:srgbClr val="E3F2EC"/>
          </a:solidFill>
          <a:ln w="9525">
            <a:solidFill>
              <a:srgbClr val="E3F2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267450" y="396240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1E7B5A"/>
                </a:solidFill>
                <a:latin typeface="Arial"/>
                <a:ea typeface="微软雅黑"/>
                <a:cs typeface="微软雅黑"/>
              </a:rPr>
              <a:t>优点</a:t>
            </a:r>
            <a:r>
              <a:rPr sz="937" b="0" i="0">
                <a:solidFill>
                  <a:srgbClr val="1F1A22"/>
                </a:solidFill>
                <a:latin typeface="Arial"/>
                <a:ea typeface="微软雅黑"/>
                <a:cs typeface="微软雅黑"/>
              </a:rPr>
              <a:t>　混合动作空间缩短轨迹；以参考应用为 oracle 构建可验证环境</a:t>
            </a:r>
          </a:p>
        </p:txBody>
      </p:sp>
      <p:sp>
        <p:nvSpPr>
          <p:cNvPr id="30" name="Rounded Rectangle 29"/>
          <p:cNvSpPr/>
          <p:nvPr/>
        </p:nvSpPr>
        <p:spPr>
          <a:xfrm>
            <a:off x="6172200" y="4762500"/>
            <a:ext cx="2705100" cy="800100"/>
          </a:xfrm>
          <a:prstGeom prst="roundRect">
            <a:avLst>
              <a:gd name="adj" fmla="val 14285"/>
            </a:avLst>
          </a:prstGeom>
          <a:solidFill>
            <a:srgbClr val="FBE9E6"/>
          </a:solidFill>
          <a:ln w="9525">
            <a:solidFill>
              <a:srgbClr val="FBE9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67450" y="481965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C0392B"/>
                </a:solidFill>
                <a:latin typeface="Arial"/>
                <a:ea typeface="微软雅黑"/>
                <a:cs typeface="微软雅黑"/>
              </a:rPr>
              <a:t>不足</a:t>
            </a:r>
            <a:r>
              <a:rPr sz="937" b="0" i="0">
                <a:solidFill>
                  <a:srgbClr val="1F1A22"/>
                </a:solidFill>
                <a:latin typeface="Arial"/>
                <a:ea typeface="微软雅黑"/>
                <a:cs typeface="微软雅黑"/>
              </a:rPr>
              <a:t>　第二能力多为辅助（+3–5 pp），仅依据结果判分；可验证环境局限于单一界面</a:t>
            </a:r>
          </a:p>
        </p:txBody>
      </p:sp>
      <p:sp>
        <p:nvSpPr>
          <p:cNvPr id="32" name="Rounded Rectangle 31"/>
          <p:cNvSpPr/>
          <p:nvPr/>
        </p:nvSpPr>
        <p:spPr>
          <a:xfrm>
            <a:off x="9029700" y="1428750"/>
            <a:ext cx="2705100" cy="381000"/>
          </a:xfrm>
          <a:prstGeom prst="roundRect">
            <a:avLst>
              <a:gd name="adj" fmla="val 20000"/>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001125" y="1428750"/>
            <a:ext cx="2762250" cy="381000"/>
          </a:xfrm>
          <a:prstGeom prst="rect">
            <a:avLst/>
          </a:prstGeom>
          <a:noFill/>
        </p:spPr>
        <p:txBody>
          <a:bodyPr wrap="none" lIns="0" rIns="0" tIns="0" bIns="0" anchor="ctr">
            <a:noAutofit/>
          </a:bodyPr>
          <a:lstStyle/>
          <a:p>
            <a:pPr algn="ctr">
              <a:lnSpc>
                <a:spcPct val="100000"/>
              </a:lnSpc>
              <a:spcBef>
                <a:spcPts val="0"/>
              </a:spcBef>
              <a:spcAft>
                <a:spcPts val="0"/>
              </a:spcAft>
            </a:pPr>
            <a:r>
              <a:rPr sz="1237" b="1" i="0">
                <a:solidFill>
                  <a:srgbClr val="FFFFFF"/>
                </a:solidFill>
                <a:latin typeface="Arial"/>
                <a:ea typeface="微软雅黑"/>
                <a:cs typeface="微软雅黑"/>
              </a:rPr>
              <a:t>走向真实世界</a:t>
            </a:r>
          </a:p>
        </p:txBody>
      </p:sp>
      <p:sp>
        <p:nvSpPr>
          <p:cNvPr id="34" name="TextBox 33"/>
          <p:cNvSpPr txBox="1"/>
          <p:nvPr/>
        </p:nvSpPr>
        <p:spPr>
          <a:xfrm>
            <a:off x="9029700" y="1866900"/>
            <a:ext cx="2743200" cy="319980"/>
          </a:xfrm>
          <a:prstGeom prst="rect">
            <a:avLst/>
          </a:prstGeom>
          <a:noFill/>
        </p:spPr>
        <p:txBody>
          <a:bodyPr wrap="square" lIns="0" rIns="0" tIns="0" bIns="0" anchor="t">
            <a:noAutofit/>
          </a:bodyPr>
          <a:lstStyle/>
          <a:p>
            <a:pPr algn="ctr">
              <a:lnSpc>
                <a:spcPts val="1260"/>
              </a:lnSpc>
              <a:spcBef>
                <a:spcPts val="0"/>
              </a:spcBef>
              <a:spcAft>
                <a:spcPts val="0"/>
              </a:spcAft>
            </a:pPr>
            <a:r>
              <a:rPr sz="900" b="0" i="0">
                <a:solidFill>
                  <a:srgbClr val="8A8490"/>
                </a:solidFill>
                <a:latin typeface="Arial"/>
                <a:ea typeface="微软雅黑"/>
                <a:cs typeface="微软雅黑"/>
              </a:rPr>
              <a:t>dots · Muse · OpenClaw · SimWorlds · RobotWorld</a:t>
            </a:r>
          </a:p>
        </p:txBody>
      </p:sp>
      <p:sp>
        <p:nvSpPr>
          <p:cNvPr id="35" name="Rounded Rectangle 34"/>
          <p:cNvSpPr/>
          <p:nvPr/>
        </p:nvSpPr>
        <p:spPr>
          <a:xfrm>
            <a:off x="9029700" y="2209800"/>
            <a:ext cx="1314450" cy="1600200"/>
          </a:xfrm>
          <a:prstGeom prst="roundRect">
            <a:avLst>
              <a:gd name="adj" fmla="val 579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pp_openclaw.png"/>
          <p:cNvPicPr>
            <a:picLocks noChangeAspect="1"/>
          </p:cNvPicPr>
          <p:nvPr/>
        </p:nvPicPr>
        <p:blipFill>
          <a:blip r:embed="rId7"/>
          <a:stretch>
            <a:fillRect/>
          </a:stretch>
        </p:blipFill>
        <p:spPr>
          <a:xfrm>
            <a:off x="9067800" y="2621429"/>
            <a:ext cx="1238250" cy="776941"/>
          </a:xfrm>
          <a:prstGeom prst="rect">
            <a:avLst/>
          </a:prstGeom>
        </p:spPr>
      </p:pic>
      <p:sp>
        <p:nvSpPr>
          <p:cNvPr id="37" name="Rounded Rectangle 36"/>
          <p:cNvSpPr/>
          <p:nvPr/>
        </p:nvSpPr>
        <p:spPr>
          <a:xfrm>
            <a:off x="10420350" y="2209800"/>
            <a:ext cx="1314450" cy="1600200"/>
          </a:xfrm>
          <a:prstGeom prst="roundRect">
            <a:avLst>
              <a:gd name="adj" fmla="val 579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robot_overview.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10458450" y="2247900"/>
            <a:ext cx="1238250" cy="1524000"/>
          </a:xfrm>
          <a:prstGeom prst="rect">
            <a:avLst/>
          </a:prstGeom>
        </p:spPr>
      </p:pic>
      <p:sp>
        <p:nvSpPr>
          <p:cNvPr id="39" name="Rounded Rectangle 38"/>
          <p:cNvSpPr/>
          <p:nvPr/>
        </p:nvSpPr>
        <p:spPr>
          <a:xfrm>
            <a:off x="9029700" y="3905250"/>
            <a:ext cx="2705100" cy="800100"/>
          </a:xfrm>
          <a:prstGeom prst="roundRect">
            <a:avLst>
              <a:gd name="adj" fmla="val 14285"/>
            </a:avLst>
          </a:prstGeom>
          <a:solidFill>
            <a:srgbClr val="E3F2EC"/>
          </a:solidFill>
          <a:ln w="9525">
            <a:solidFill>
              <a:srgbClr val="E3F2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124950" y="3962400"/>
            <a:ext cx="2552700" cy="535781"/>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1E7B5A"/>
                </a:solidFill>
                <a:latin typeface="Arial"/>
                <a:ea typeface="微软雅黑"/>
                <a:cs typeface="微软雅黑"/>
              </a:rPr>
              <a:t>优点</a:t>
            </a:r>
            <a:r>
              <a:rPr sz="937" b="0" i="0">
                <a:solidFill>
                  <a:srgbClr val="1F1A22"/>
                </a:solidFill>
                <a:latin typeface="Arial"/>
                <a:ea typeface="微软雅黑"/>
                <a:cs typeface="微软雅黑"/>
              </a:rPr>
              <a:t>　个人智能体具备记忆与跨应用执行；Coding Agent 已能生成物理仿真与机器人程序</a:t>
            </a:r>
          </a:p>
        </p:txBody>
      </p:sp>
      <p:sp>
        <p:nvSpPr>
          <p:cNvPr id="41" name="Rounded Rectangle 40"/>
          <p:cNvSpPr/>
          <p:nvPr/>
        </p:nvSpPr>
        <p:spPr>
          <a:xfrm>
            <a:off x="9029700" y="4762500"/>
            <a:ext cx="2705100" cy="800100"/>
          </a:xfrm>
          <a:prstGeom prst="roundRect">
            <a:avLst>
              <a:gd name="adj" fmla="val 14285"/>
            </a:avLst>
          </a:prstGeom>
          <a:solidFill>
            <a:srgbClr val="FBE9E6"/>
          </a:solidFill>
          <a:ln w="9525">
            <a:solidFill>
              <a:srgbClr val="FBE9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124950" y="481965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C0392B"/>
                </a:solidFill>
                <a:latin typeface="Arial"/>
                <a:ea typeface="微软雅黑"/>
                <a:cs typeface="微软雅黑"/>
              </a:rPr>
              <a:t>不足</a:t>
            </a:r>
            <a:r>
              <a:rPr sz="937" b="0" i="0">
                <a:solidFill>
                  <a:srgbClr val="1F1A22"/>
                </a:solidFill>
                <a:latin typeface="Arial"/>
                <a:ea typeface="微软雅黑"/>
                <a:cs typeface="微软雅黑"/>
              </a:rPr>
              <a:t>　多在云端通用环境执行，职业特质不鲜明；以"看起来对"为准，缺跨条件物理验证</a:t>
            </a:r>
          </a:p>
        </p:txBody>
      </p:sp>
      <p:sp>
        <p:nvSpPr>
          <p:cNvPr id="43" name="Rounded Rectangle 4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共同缺口：缺少</a:t>
            </a:r>
            <a:r>
              <a:rPr sz="1350" b="1" i="0">
                <a:solidFill>
                  <a:srgbClr val="F6C8FF"/>
                </a:solidFill>
                <a:latin typeface="Arial"/>
                <a:ea typeface="微软雅黑"/>
                <a:cs typeface="微软雅黑"/>
              </a:rPr>
              <a:t>统一范式与过程可信的评测</a:t>
            </a:r>
            <a:r>
              <a:rPr sz="1350" b="0" i="0">
                <a:solidFill>
                  <a:srgbClr val="FFFFFF"/>
                </a:solidFill>
                <a:latin typeface="Arial"/>
                <a:ea typeface="微软雅黑"/>
                <a:cs typeface="微软雅黑"/>
              </a:rPr>
              <a:t>、</a:t>
            </a:r>
            <a:r>
              <a:rPr sz="1350" b="1" i="0">
                <a:solidFill>
                  <a:srgbClr val="F6C8FF"/>
                </a:solidFill>
                <a:latin typeface="Arial"/>
                <a:ea typeface="微软雅黑"/>
                <a:cs typeface="微软雅黑"/>
              </a:rPr>
              <a:t>可验证的混合训练环境</a:t>
            </a:r>
            <a:r>
              <a:rPr sz="1350" b="0" i="0">
                <a:solidFill>
                  <a:srgbClr val="FFFFFF"/>
                </a:solidFill>
                <a:latin typeface="Arial"/>
                <a:ea typeface="微软雅黑"/>
                <a:cs typeface="微软雅黑"/>
              </a:rPr>
              <a:t>，以及</a:t>
            </a:r>
            <a:r>
              <a:rPr sz="1350" b="1" i="0">
                <a:solidFill>
                  <a:srgbClr val="F6C8FF"/>
                </a:solidFill>
                <a:latin typeface="Arial"/>
                <a:ea typeface="微软雅黑"/>
                <a:cs typeface="微软雅黑"/>
              </a:rPr>
              <a:t>面向真实世界的落地验证</a:t>
            </a:r>
          </a:p>
        </p:txBody>
      </p:sp>
      <p:sp>
        <p:nvSpPr>
          <p:cNvPr id="45" name="TextBox 4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18</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video>
              <p:cMediaNode vol="80000">
                <p:cTn id="3" fill="hold" display="0">
                  <p:stCondLst>
                    <p:cond delay="indefinite"/>
                  </p:stCondLst>
                </p:cTn>
                <p:tgtEl>
                  <p:spTgt spid="38"/>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通用数字智能体的评测与训练仍然是一个</a:t>
            </a:r>
            <a:r>
              <a:rPr sz="1500" b="1" i="0">
                <a:solidFill>
                  <a:srgbClr val="C0392B"/>
                </a:solidFill>
                <a:latin typeface="Arial"/>
                <a:ea typeface="微软雅黑"/>
                <a:cs typeface="微软雅黑"/>
              </a:rPr>
              <a:t>极具挑战性</a:t>
            </a:r>
            <a:r>
              <a:rPr sz="1500" b="1" i="0">
                <a:solidFill>
                  <a:srgbClr val="1F1A22"/>
                </a:solidFill>
                <a:latin typeface="Arial"/>
                <a:ea typeface="微软雅黑"/>
                <a:cs typeface="微软雅黑"/>
              </a:rPr>
              <a:t>的课题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g_integrity-1.png"/>
          <p:cNvPicPr>
            <a:picLocks noChangeAspect="1"/>
          </p:cNvPicPr>
          <p:nvPr/>
        </p:nvPicPr>
        <p:blipFill>
          <a:blip r:embed="rId2"/>
          <a:stretch>
            <a:fillRect/>
          </a:stretch>
        </p:blipFill>
        <p:spPr>
          <a:xfrm>
            <a:off x="514350" y="1721749"/>
            <a:ext cx="3505200" cy="1985751"/>
          </a:xfrm>
          <a:prstGeom prst="rect">
            <a:avLst/>
          </a:prstGeom>
        </p:spPr>
      </p:pic>
      <p:sp>
        <p:nvSpPr>
          <p:cNvPr id="7" name="TextBox 6"/>
          <p:cNvSpPr txBox="1"/>
          <p:nvPr/>
        </p:nvSpPr>
        <p:spPr>
          <a:xfrm>
            <a:off x="457200" y="411480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任务范式与能力度量失配</a:t>
            </a:r>
          </a:p>
        </p:txBody>
      </p:sp>
      <p:sp>
        <p:nvSpPr>
          <p:cNvPr id="8" name="Rounded Rectangle 7"/>
          <p:cNvSpPr/>
          <p:nvPr/>
        </p:nvSpPr>
        <p:spPr>
          <a:xfrm>
            <a:off x="3086100" y="409575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067050" y="410527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研究一 评测</a:t>
            </a:r>
          </a:p>
        </p:txBody>
      </p:sp>
      <p:sp>
        <p:nvSpPr>
          <p:cNvPr id="10" name="TextBox 9"/>
          <p:cNvSpPr txBox="1"/>
          <p:nvPr/>
        </p:nvSpPr>
        <p:spPr>
          <a:xfrm>
            <a:off x="457200" y="443865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纯 GUI 范式天然偏重；现有基准割裂评测 CLI 与 GUI，任务可在单一能力内完成；仅依据最终结果判分，通过率虚高 10–20 个百分点。</a:t>
            </a:r>
          </a:p>
        </p:txBody>
      </p:sp>
      <p:sp>
        <p:nvSpPr>
          <p:cNvPr id="11" name="Rounded Rectangle 10"/>
          <p:cNvSpPr/>
          <p:nvPr/>
        </p:nvSpPr>
        <p:spPr>
          <a:xfrm>
            <a:off x="4286250" y="1428750"/>
            <a:ext cx="3619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12_hacking.png"/>
          <p:cNvPicPr>
            <a:picLocks noChangeAspect="1"/>
          </p:cNvPicPr>
          <p:nvPr/>
        </p:nvPicPr>
        <p:blipFill>
          <a:blip r:embed="rId3"/>
          <a:stretch>
            <a:fillRect/>
          </a:stretch>
        </p:blipFill>
        <p:spPr>
          <a:xfrm>
            <a:off x="4343400" y="2158056"/>
            <a:ext cx="3505200" cy="1113137"/>
          </a:xfrm>
          <a:prstGeom prst="rect">
            <a:avLst/>
          </a:prstGeom>
        </p:spPr>
      </p:pic>
      <p:sp>
        <p:nvSpPr>
          <p:cNvPr id="13" name="TextBox 12"/>
          <p:cNvSpPr txBox="1"/>
          <p:nvPr/>
        </p:nvSpPr>
        <p:spPr>
          <a:xfrm>
            <a:off x="4286250" y="411480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14" name="Rounded Rectangle 13"/>
          <p:cNvSpPr/>
          <p:nvPr/>
        </p:nvSpPr>
        <p:spPr>
          <a:xfrm>
            <a:off x="6915150" y="409575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96100" y="410527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研究二 训练</a:t>
            </a:r>
          </a:p>
        </p:txBody>
      </p:sp>
      <p:sp>
        <p:nvSpPr>
          <p:cNvPr id="16" name="TextBox 15"/>
          <p:cNvSpPr txBox="1"/>
          <p:nvPr/>
        </p:nvSpPr>
        <p:spPr>
          <a:xfrm>
            <a:off x="4286250" y="443865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GUI 缺少天然的可验证奖励，混合训练环境与数据稀缺；仅依据结果的奖励易被违规取巧（Reward Hacking）利用，自主编排与自我验证难以习得。</a:t>
            </a:r>
          </a:p>
        </p:txBody>
      </p:sp>
      <p:sp>
        <p:nvSpPr>
          <p:cNvPr id="17" name="Rounded Rectangle 16"/>
          <p:cNvSpPr/>
          <p:nvPr/>
        </p:nvSpPr>
        <p:spPr>
          <a:xfrm>
            <a:off x="8115300" y="1428750"/>
            <a:ext cx="3619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real_world.png"/>
          <p:cNvPicPr>
            <a:picLocks noChangeAspect="1"/>
          </p:cNvPicPr>
          <p:nvPr/>
        </p:nvPicPr>
        <p:blipFill>
          <a:blip r:embed="rId4"/>
          <a:stretch>
            <a:fillRect/>
          </a:stretch>
        </p:blipFill>
        <p:spPr>
          <a:xfrm>
            <a:off x="8172450" y="1904503"/>
            <a:ext cx="3505200" cy="1620242"/>
          </a:xfrm>
          <a:prstGeom prst="rect">
            <a:avLst/>
          </a:prstGeom>
        </p:spPr>
      </p:pic>
      <p:sp>
        <p:nvSpPr>
          <p:cNvPr id="19" name="TextBox 18"/>
          <p:cNvSpPr txBox="1"/>
          <p:nvPr/>
        </p:nvSpPr>
        <p:spPr>
          <a:xfrm>
            <a:off x="8115300" y="411480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通用能力难以落到真实世界</a:t>
            </a:r>
          </a:p>
        </p:txBody>
      </p:sp>
      <p:sp>
        <p:nvSpPr>
          <p:cNvPr id="20" name="Rounded Rectangle 19"/>
          <p:cNvSpPr/>
          <p:nvPr/>
        </p:nvSpPr>
        <p:spPr>
          <a:xfrm>
            <a:off x="10744200" y="409575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150" y="410527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研究三 应用</a:t>
            </a:r>
          </a:p>
        </p:txBody>
      </p:sp>
      <p:sp>
        <p:nvSpPr>
          <p:cNvPr id="22" name="TextBox 21"/>
          <p:cNvSpPr txBox="1"/>
          <p:nvPr/>
        </p:nvSpPr>
        <p:spPr>
          <a:xfrm>
            <a:off x="8115300" y="443865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现有智能体缺少个人电脑环境与职业业务知识；生成的代码与内容不受物理规律约束，"看起来对"不代表机制对。</a:t>
            </a:r>
          </a:p>
        </p:txBody>
      </p:sp>
      <p:sp>
        <p:nvSpPr>
          <p:cNvPr id="23" name="Rounded Rectangle 2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a:t>
            </a:r>
            <a:r>
              <a:rPr sz="1350" b="1" i="0">
                <a:solidFill>
                  <a:srgbClr val="F6C8FF"/>
                </a:solidFill>
                <a:latin typeface="Arial"/>
                <a:ea typeface="微软雅黑"/>
                <a:cs typeface="微软雅黑"/>
              </a:rPr>
              <a:t>可扩展地</a:t>
            </a:r>
            <a:r>
              <a:rPr sz="1350" b="0" i="0">
                <a:solidFill>
                  <a:srgbClr val="FFFFFF"/>
                </a:solidFill>
                <a:latin typeface="Arial"/>
                <a:ea typeface="微软雅黑"/>
                <a:cs typeface="微软雅黑"/>
              </a:rPr>
              <a:t>测准、练好通用数字智能体，并使其能力在真实世界中</a:t>
            </a:r>
            <a:r>
              <a:rPr sz="1350" b="1" i="0">
                <a:solidFill>
                  <a:srgbClr val="F6C8FF"/>
                </a:solidFill>
                <a:latin typeface="Arial"/>
                <a:ea typeface="微软雅黑"/>
                <a:cs typeface="微软雅黑"/>
              </a:rPr>
              <a:t>可信落地</a:t>
            </a:r>
            <a:r>
              <a:rPr sz="1350" b="0" i="0">
                <a:solidFill>
                  <a:srgbClr val="FFFFFF"/>
                </a:solidFill>
                <a:latin typeface="Arial"/>
                <a:ea typeface="微软雅黑"/>
                <a:cs typeface="微软雅黑"/>
              </a:rPr>
              <a:t>？</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研究框架：评测 → 训练 → 应用，前一项研究的结论构成后一项研究的动机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1722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ramework.png"/>
          <p:cNvPicPr>
            <a:picLocks noChangeAspect="1"/>
          </p:cNvPicPr>
          <p:nvPr/>
        </p:nvPicPr>
        <p:blipFill>
          <a:blip r:embed="rId2"/>
          <a:stretch>
            <a:fillRect/>
          </a:stretch>
        </p:blipFill>
        <p:spPr>
          <a:xfrm>
            <a:off x="514350" y="1510010"/>
            <a:ext cx="6057900" cy="3628429"/>
          </a:xfrm>
          <a:prstGeom prst="rect">
            <a:avLst/>
          </a:prstGeom>
        </p:spPr>
      </p:pic>
      <p:sp>
        <p:nvSpPr>
          <p:cNvPr id="7" name="TextBox 6"/>
          <p:cNvSpPr txBox="1"/>
          <p:nvPr/>
        </p:nvSpPr>
        <p:spPr>
          <a:xfrm>
            <a:off x="485775" y="5200650"/>
            <a:ext cx="6115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可扩展评测与训练框架总览（示意图）</a:t>
            </a:r>
          </a:p>
        </p:txBody>
      </p:sp>
      <p:sp>
        <p:nvSpPr>
          <p:cNvPr id="8" name="Rounded Rectangle 7"/>
          <p:cNvSpPr/>
          <p:nvPr/>
        </p:nvSpPr>
        <p:spPr>
          <a:xfrm>
            <a:off x="6781800" y="14287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781800" y="1428750"/>
            <a:ext cx="76200" cy="1295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991350" y="1543050"/>
            <a:ext cx="11239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124700" y="15430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 · 评测</a:t>
            </a:r>
          </a:p>
        </p:txBody>
      </p:sp>
      <p:sp>
        <p:nvSpPr>
          <p:cNvPr id="12" name="TextBox 11"/>
          <p:cNvSpPr txBox="1"/>
          <p:nvPr/>
        </p:nvSpPr>
        <p:spPr>
          <a:xfrm>
            <a:off x="10610850" y="15621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13" name="TextBox 12"/>
          <p:cNvSpPr txBox="1"/>
          <p:nvPr/>
        </p:nvSpPr>
        <p:spPr>
          <a:xfrm>
            <a:off x="6991350" y="18478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面向混合能力范式的可信评测</a:t>
            </a:r>
          </a:p>
        </p:txBody>
      </p:sp>
      <p:sp>
        <p:nvSpPr>
          <p:cNvPr id="14" name="TextBox 13"/>
          <p:cNvSpPr txBox="1"/>
          <p:nvPr/>
        </p:nvSpPr>
        <p:spPr>
          <a:xfrm>
            <a:off x="6991350" y="20955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GUIPruner · ST-Lite → WeaveBench</a:t>
            </a:r>
          </a:p>
        </p:txBody>
      </p:sp>
      <p:sp>
        <p:nvSpPr>
          <p:cNvPr id="15" name="TextBox 14"/>
          <p:cNvSpPr txBox="1"/>
          <p:nvPr/>
        </p:nvSpPr>
        <p:spPr>
          <a:xfrm>
            <a:off x="6991350" y="23241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结论：瓶颈在自主编排与自我验证 → 需要训练新的行为模式</a:t>
            </a:r>
          </a:p>
        </p:txBody>
      </p:sp>
      <p:sp>
        <p:nvSpPr>
          <p:cNvPr id="16" name="Rounded Rectangle 15"/>
          <p:cNvSpPr/>
          <p:nvPr/>
        </p:nvSpPr>
        <p:spPr>
          <a:xfrm>
            <a:off x="6781800" y="28384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781800" y="2838450"/>
            <a:ext cx="76200" cy="1295400"/>
          </a:xfrm>
          <a:prstGeom prst="roundRect">
            <a:avLst>
              <a:gd name="adj" fmla="val 5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991350" y="2952750"/>
            <a:ext cx="112395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24700" y="29527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 · 训练</a:t>
            </a:r>
          </a:p>
        </p:txBody>
      </p:sp>
      <p:sp>
        <p:nvSpPr>
          <p:cNvPr id="20" name="TextBox 19"/>
          <p:cNvSpPr txBox="1"/>
          <p:nvPr/>
        </p:nvSpPr>
        <p:spPr>
          <a:xfrm>
            <a:off x="10610850" y="29718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21" name="TextBox 20"/>
          <p:cNvSpPr txBox="1"/>
          <p:nvPr/>
        </p:nvSpPr>
        <p:spPr>
          <a:xfrm>
            <a:off x="6991350" y="32575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基于可验证复刻环境的混合行为训练</a:t>
            </a:r>
          </a:p>
        </p:txBody>
      </p:sp>
      <p:sp>
        <p:nvSpPr>
          <p:cNvPr id="22" name="TextBox 21"/>
          <p:cNvSpPr txBox="1"/>
          <p:nvPr/>
        </p:nvSpPr>
        <p:spPr>
          <a:xfrm>
            <a:off x="6991350" y="35052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RecreationWorld</a:t>
            </a:r>
          </a:p>
        </p:txBody>
      </p:sp>
      <p:sp>
        <p:nvSpPr>
          <p:cNvPr id="23" name="TextBox 22"/>
          <p:cNvSpPr txBox="1"/>
          <p:nvPr/>
        </p:nvSpPr>
        <p:spPr>
          <a:xfrm>
            <a:off x="6991350" y="37338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结论：可验证环境中习得的行为可迁移 → 推广到真实世界</a:t>
            </a:r>
          </a:p>
        </p:txBody>
      </p:sp>
      <p:sp>
        <p:nvSpPr>
          <p:cNvPr id="24" name="Rounded Rectangle 23"/>
          <p:cNvSpPr/>
          <p:nvPr/>
        </p:nvSpPr>
        <p:spPr>
          <a:xfrm>
            <a:off x="6781800" y="42481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781800" y="4248150"/>
            <a:ext cx="76200" cy="1295400"/>
          </a:xfrm>
          <a:prstGeom prst="roundRect">
            <a:avLst>
              <a:gd name="adj" fmla="val 50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991350" y="4362450"/>
            <a:ext cx="1123950" cy="247650"/>
          </a:xfrm>
          <a:prstGeom prst="roundRect">
            <a:avLst>
              <a:gd name="adj" fmla="val 23076"/>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124700" y="43624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 · 应用</a:t>
            </a:r>
          </a:p>
        </p:txBody>
      </p:sp>
      <p:sp>
        <p:nvSpPr>
          <p:cNvPr id="28" name="TextBox 27"/>
          <p:cNvSpPr txBox="1"/>
          <p:nvPr/>
        </p:nvSpPr>
        <p:spPr>
          <a:xfrm>
            <a:off x="10610850" y="43815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待完成</a:t>
            </a:r>
          </a:p>
        </p:txBody>
      </p:sp>
      <p:sp>
        <p:nvSpPr>
          <p:cNvPr id="29" name="TextBox 28"/>
          <p:cNvSpPr txBox="1"/>
          <p:nvPr/>
        </p:nvSpPr>
        <p:spPr>
          <a:xfrm>
            <a:off x="6991350" y="46672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走向真实世界：职业化个人智能体与物理智能体</a:t>
            </a:r>
          </a:p>
        </p:txBody>
      </p:sp>
      <p:sp>
        <p:nvSpPr>
          <p:cNvPr id="30" name="TextBox 29"/>
          <p:cNvSpPr txBox="1"/>
          <p:nvPr/>
        </p:nvSpPr>
        <p:spPr>
          <a:xfrm>
            <a:off x="6991350" y="49149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多职业环境扩展 · 物理落地的验证与修复</a:t>
            </a:r>
          </a:p>
        </p:txBody>
      </p:sp>
      <p:sp>
        <p:nvSpPr>
          <p:cNvPr id="31" name="TextBox 30"/>
          <p:cNvSpPr txBox="1"/>
          <p:nvPr/>
        </p:nvSpPr>
        <p:spPr>
          <a:xfrm>
            <a:off x="6991350" y="51435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复用研究一的评测思想与研究二的训练流程，形成闭环</a:t>
            </a:r>
          </a:p>
        </p:txBody>
      </p:sp>
      <p:sp>
        <p:nvSpPr>
          <p:cNvPr id="32" name="Rounded Rectangle 31"/>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贯穿主线 </a:t>
            </a:r>
            <a:r>
              <a:rPr sz="1350" b="1" i="0">
                <a:solidFill>
                  <a:srgbClr val="F6C8FF"/>
                </a:solidFill>
                <a:latin typeface="Arial"/>
                <a:ea typeface="微软雅黑"/>
                <a:cs typeface="微软雅黑"/>
              </a:rPr>
              <a:t>可扩展（Scalable）</a:t>
            </a:r>
            <a:r>
              <a:rPr sz="1350" b="0" i="0">
                <a:solidFill>
                  <a:srgbClr val="FFFFFF"/>
                </a:solidFill>
                <a:latin typeface="Arial"/>
                <a:ea typeface="微软雅黑"/>
                <a:cs typeface="微软雅黑"/>
              </a:rPr>
              <a:t>：任务、环境与 verifier 均可自动、批量构造，不依赖人工逐题设计</a:t>
            </a:r>
          </a:p>
        </p:txBody>
      </p:sp>
      <p:sp>
        <p:nvSpPr>
          <p:cNvPr id="34" name="TextBox 33"/>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课题一：面向混合能力范式的可信评测（已完成）—— 从效率优化到范式反思</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457200" y="1428750"/>
            <a:ext cx="3619500" cy="2495550"/>
          </a:xfrm>
          <a:prstGeom prst="roundRect">
            <a:avLst>
              <a:gd name="adj" fmla="val 305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gp_fig3_overview.png"/>
          <p:cNvPicPr>
            <a:picLocks noChangeAspect="1"/>
          </p:cNvPicPr>
          <p:nvPr/>
        </p:nvPicPr>
        <p:blipFill>
          <a:blip r:embed="rId2"/>
          <a:stretch>
            <a:fillRect/>
          </a:stretch>
        </p:blipFill>
        <p:spPr>
          <a:xfrm>
            <a:off x="529951" y="1485900"/>
            <a:ext cx="3473997" cy="2057400"/>
          </a:xfrm>
          <a:prstGeom prst="rect">
            <a:avLst/>
          </a:prstGeom>
        </p:spPr>
      </p:pic>
      <p:sp>
        <p:nvSpPr>
          <p:cNvPr id="11" name="TextBox 10"/>
          <p:cNvSpPr txBox="1"/>
          <p:nvPr/>
        </p:nvSpPr>
        <p:spPr>
          <a:xfrm>
            <a:off x="485775" y="35814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a:t>
            </a:r>
            <a:r>
              <a:rPr sz="937" b="0" i="0">
                <a:solidFill>
                  <a:srgbClr val="4A4450"/>
                </a:solidFill>
                <a:latin typeface="Arial"/>
                <a:ea typeface="微软雅黑"/>
                <a:cs typeface="微软雅黑"/>
              </a:rPr>
              <a:t>（投稿 KDD 2027）：视觉 token 压缩</a:t>
            </a:r>
          </a:p>
        </p:txBody>
      </p:sp>
      <p:sp>
        <p:nvSpPr>
          <p:cNvPr id="12" name="Rounded Rectangle 11"/>
          <p:cNvSpPr/>
          <p:nvPr/>
        </p:nvSpPr>
        <p:spPr>
          <a:xfrm>
            <a:off x="4191000" y="1428750"/>
            <a:ext cx="3619500" cy="2495550"/>
          </a:xfrm>
          <a:prstGeom prst="roundRect">
            <a:avLst>
              <a:gd name="adj" fmla="val 305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st_fig4_arch.png"/>
          <p:cNvPicPr>
            <a:picLocks noChangeAspect="1"/>
          </p:cNvPicPr>
          <p:nvPr/>
        </p:nvPicPr>
        <p:blipFill>
          <a:blip r:embed="rId3"/>
          <a:stretch>
            <a:fillRect/>
          </a:stretch>
        </p:blipFill>
        <p:spPr>
          <a:xfrm>
            <a:off x="4248150" y="1596397"/>
            <a:ext cx="3505200" cy="1836404"/>
          </a:xfrm>
          <a:prstGeom prst="rect">
            <a:avLst/>
          </a:prstGeom>
        </p:spPr>
      </p:pic>
      <p:sp>
        <p:nvSpPr>
          <p:cNvPr id="14" name="TextBox 13"/>
          <p:cNvSpPr txBox="1"/>
          <p:nvPr/>
        </p:nvSpPr>
        <p:spPr>
          <a:xfrm>
            <a:off x="4219575" y="35814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a:t>
            </a:r>
            <a:r>
              <a:rPr sz="937" b="0" i="0">
                <a:solidFill>
                  <a:srgbClr val="4A4450"/>
                </a:solidFill>
                <a:latin typeface="Arial"/>
                <a:ea typeface="微软雅黑"/>
                <a:cs typeface="微软雅黑"/>
              </a:rPr>
              <a:t>（EMNLP 2026）：KV Cache 压缩</a:t>
            </a:r>
          </a:p>
        </p:txBody>
      </p:sp>
      <p:sp>
        <p:nvSpPr>
          <p:cNvPr id="15" name="TextBox 14"/>
          <p:cNvSpPr txBox="1"/>
          <p:nvPr/>
        </p:nvSpPr>
        <p:spPr>
          <a:xfrm>
            <a:off x="457200" y="4038600"/>
            <a:ext cx="1866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3.4×</a:t>
            </a:r>
          </a:p>
        </p:txBody>
      </p:sp>
      <p:sp>
        <p:nvSpPr>
          <p:cNvPr id="16" name="TextBox 15"/>
          <p:cNvSpPr txBox="1"/>
          <p:nvPr/>
        </p:nvSpPr>
        <p:spPr>
          <a:xfrm>
            <a:off x="457200" y="4324350"/>
            <a:ext cx="1866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 &gt;94%</a:t>
            </a:r>
          </a:p>
        </p:txBody>
      </p:sp>
      <p:sp>
        <p:nvSpPr>
          <p:cNvPr id="17" name="TextBox 16"/>
          <p:cNvSpPr txBox="1"/>
          <p:nvPr/>
        </p:nvSpPr>
        <p:spPr>
          <a:xfrm>
            <a:off x="2266950" y="4038600"/>
            <a:ext cx="1866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3.3×</a:t>
            </a:r>
          </a:p>
        </p:txBody>
      </p:sp>
      <p:sp>
        <p:nvSpPr>
          <p:cNvPr id="18" name="TextBox 17"/>
          <p:cNvSpPr txBox="1"/>
          <p:nvPr/>
        </p:nvSpPr>
        <p:spPr>
          <a:xfrm>
            <a:off x="2266950" y="4324350"/>
            <a:ext cx="1866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19" name="TextBox 18"/>
          <p:cNvSpPr txBox="1"/>
          <p:nvPr/>
        </p:nvSpPr>
        <p:spPr>
          <a:xfrm>
            <a:off x="4191000" y="4038600"/>
            <a:ext cx="1866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20% KV</a:t>
            </a:r>
          </a:p>
        </p:txBody>
      </p:sp>
      <p:sp>
        <p:nvSpPr>
          <p:cNvPr id="20" name="TextBox 19"/>
          <p:cNvSpPr txBox="1"/>
          <p:nvPr/>
        </p:nvSpPr>
        <p:spPr>
          <a:xfrm>
            <a:off x="4191000" y="4324350"/>
            <a:ext cx="1866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预算下持平完整缓存</a:t>
            </a:r>
          </a:p>
        </p:txBody>
      </p:sp>
      <p:sp>
        <p:nvSpPr>
          <p:cNvPr id="21" name="TextBox 20"/>
          <p:cNvSpPr txBox="1"/>
          <p:nvPr/>
        </p:nvSpPr>
        <p:spPr>
          <a:xfrm>
            <a:off x="6000750" y="4038600"/>
            <a:ext cx="1866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2.35×</a:t>
            </a:r>
          </a:p>
        </p:txBody>
      </p:sp>
      <p:sp>
        <p:nvSpPr>
          <p:cNvPr id="22" name="TextBox 21"/>
          <p:cNvSpPr txBox="1"/>
          <p:nvPr/>
        </p:nvSpPr>
        <p:spPr>
          <a:xfrm>
            <a:off x="6000750" y="4324350"/>
            <a:ext cx="1866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5 倍压缩下解码加速</a:t>
            </a:r>
          </a:p>
        </p:txBody>
      </p:sp>
      <p:sp>
        <p:nvSpPr>
          <p:cNvPr id="23" name="TextBox 22"/>
          <p:cNvSpPr txBox="1"/>
          <p:nvPr/>
        </p:nvSpPr>
        <p:spPr>
          <a:xfrm>
            <a:off x="7839075" y="2495550"/>
            <a:ext cx="342900" cy="371475"/>
          </a:xfrm>
          <a:prstGeom prst="rect">
            <a:avLst/>
          </a:prstGeom>
          <a:noFill/>
        </p:spPr>
        <p:txBody>
          <a:bodyPr wrap="none" lIns="0" rIns="0" tIns="0" bIns="0" anchor="ctr">
            <a:noAutofit/>
          </a:bodyPr>
          <a:lstStyle/>
          <a:p>
            <a:pPr algn="ctr">
              <a:lnSpc>
                <a:spcPct val="100000"/>
              </a:lnSpc>
              <a:spcBef>
                <a:spcPts val="0"/>
              </a:spcBef>
              <a:spcAft>
                <a:spcPts val="0"/>
              </a:spcAft>
            </a:pPr>
            <a:r>
              <a:rPr sz="1950" b="0" i="0">
                <a:solidFill>
                  <a:srgbClr val="81308C"/>
                </a:solidFill>
                <a:latin typeface="Arial"/>
                <a:ea typeface="微软雅黑"/>
                <a:cs typeface="微软雅黑"/>
              </a:rPr>
              <a:t>➜</a:t>
            </a:r>
          </a:p>
        </p:txBody>
      </p:sp>
      <p:sp>
        <p:nvSpPr>
          <p:cNvPr id="24" name="Rounded Rectangle 23"/>
          <p:cNvSpPr/>
          <p:nvPr/>
        </p:nvSpPr>
        <p:spPr>
          <a:xfrm>
            <a:off x="8210550" y="1428750"/>
            <a:ext cx="3524250" cy="2495550"/>
          </a:xfrm>
          <a:prstGeom prst="roundRect">
            <a:avLst>
              <a:gd name="adj" fmla="val 305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181975" y="1524000"/>
            <a:ext cx="3581400" cy="173533"/>
          </a:xfrm>
          <a:prstGeom prst="rect">
            <a:avLst/>
          </a:prstGeom>
          <a:noFill/>
        </p:spPr>
        <p:txBody>
          <a:bodyPr wrap="none" lIns="0" rIns="0" tIns="0" bIns="0" anchor="ctr">
            <a:noAutofit/>
          </a:bodyPr>
          <a:lstStyle/>
          <a:p>
            <a:pPr algn="ctr">
              <a:lnSpc>
                <a:spcPct val="100000"/>
              </a:lnSpc>
              <a:spcBef>
                <a:spcPts val="0"/>
              </a:spcBef>
              <a:spcAft>
                <a:spcPts val="0"/>
              </a:spcAft>
            </a:pPr>
            <a:r>
              <a:rPr sz="1012" b="1" i="0">
                <a:solidFill>
                  <a:srgbClr val="1F1A22"/>
                </a:solidFill>
                <a:latin typeface="Arial"/>
                <a:ea typeface="微软雅黑"/>
                <a:cs typeface="微软雅黑"/>
              </a:rPr>
              <a:t>发现①：纯 GUI 范式天然偏重（OSWorld · 同一模型）</a:t>
            </a:r>
          </a:p>
        </p:txBody>
      </p:sp>
      <p:sp>
        <p:nvSpPr>
          <p:cNvPr id="26" name="Rounded Rectangle 25"/>
          <p:cNvSpPr/>
          <p:nvPr/>
        </p:nvSpPr>
        <p:spPr>
          <a:xfrm>
            <a:off x="8572500" y="2114550"/>
            <a:ext cx="381000" cy="1428750"/>
          </a:xfrm>
          <a:prstGeom prst="roundRect">
            <a:avLst>
              <a:gd name="adj" fmla="val 1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9010650" y="2143125"/>
            <a:ext cx="381000" cy="1400175"/>
          </a:xfrm>
          <a:prstGeom prst="roundRect">
            <a:avLst>
              <a:gd name="adj" fmla="val 1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486775" y="19240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9" name="TextBox 28"/>
          <p:cNvSpPr txBox="1"/>
          <p:nvPr/>
        </p:nvSpPr>
        <p:spPr>
          <a:xfrm>
            <a:off x="8924925" y="19526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30" name="Rounded Rectangle 29"/>
          <p:cNvSpPr/>
          <p:nvPr/>
        </p:nvSpPr>
        <p:spPr>
          <a:xfrm>
            <a:off x="10287000" y="2876550"/>
            <a:ext cx="381000" cy="666750"/>
          </a:xfrm>
          <a:prstGeom prst="roundRect">
            <a:avLst>
              <a:gd name="adj" fmla="val 1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10725150" y="2190750"/>
            <a:ext cx="381000" cy="1352550"/>
          </a:xfrm>
          <a:prstGeom prst="roundRect">
            <a:avLst>
              <a:gd name="adj" fmla="val 1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201275" y="26860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33" name="TextBox 32"/>
          <p:cNvSpPr txBox="1"/>
          <p:nvPr/>
        </p:nvSpPr>
        <p:spPr>
          <a:xfrm>
            <a:off x="106394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34" name="Rectangle 33"/>
          <p:cNvSpPr/>
          <p:nvPr/>
        </p:nvSpPr>
        <p:spPr>
          <a:xfrm>
            <a:off x="8458200" y="3543300"/>
            <a:ext cx="30289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8458200" y="3543300"/>
            <a:ext cx="30289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29625" y="3600450"/>
            <a:ext cx="11049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7" name="TextBox 36"/>
          <p:cNvSpPr txBox="1"/>
          <p:nvPr/>
        </p:nvSpPr>
        <p:spPr>
          <a:xfrm>
            <a:off x="10144125" y="3600450"/>
            <a:ext cx="11049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8" name="TextBox 37"/>
          <p:cNvSpPr txBox="1"/>
          <p:nvPr/>
        </p:nvSpPr>
        <p:spPr>
          <a:xfrm>
            <a:off x="8210550" y="4038600"/>
            <a:ext cx="3562350" cy="357187"/>
          </a:xfrm>
          <a:prstGeom prst="rect">
            <a:avLst/>
          </a:prstGeom>
          <a:noFill/>
        </p:spPr>
        <p:txBody>
          <a:bodyPr wrap="square" lIns="0" rIns="0" tIns="0" bIns="0" anchor="t">
            <a:noAutofit/>
          </a:bodyPr>
          <a:lstStyle/>
          <a:p>
            <a:pPr algn="ctr">
              <a:lnSpc>
                <a:spcPts val="1406"/>
              </a:lnSpc>
              <a:spcBef>
                <a:spcPts val="0"/>
              </a:spcBef>
              <a:spcAft>
                <a:spcPts val="0"/>
              </a:spcAft>
            </a:pPr>
            <a:r>
              <a:rPr sz="937" b="1" i="0">
                <a:solidFill>
                  <a:srgbClr val="660874"/>
                </a:solidFill>
                <a:latin typeface="Arial"/>
                <a:ea typeface="微软雅黑"/>
                <a:cs typeface="微软雅黑"/>
              </a:rPr>
              <a:t>■</a:t>
            </a:r>
            <a:r>
              <a:rPr sz="937" b="0" i="0">
                <a:solidFill>
                  <a:srgbClr val="4A4450"/>
                </a:solidFill>
                <a:latin typeface="Arial"/>
                <a:ea typeface="微软雅黑"/>
                <a:cs typeface="微软雅黑"/>
              </a:rPr>
              <a:t> OpenClaw CLI 智能体（不看像素）　</a:t>
            </a:r>
            <a:r>
              <a:rPr sz="937" b="1" i="0">
                <a:solidFill>
                  <a:srgbClr val="1F6F8B"/>
                </a:solidFill>
                <a:latin typeface="Arial"/>
                <a:ea typeface="微软雅黑"/>
                <a:cs typeface="微软雅黑"/>
              </a:rPr>
              <a:t>■</a:t>
            </a:r>
            <a:r>
              <a:rPr sz="937" b="0" i="0">
                <a:solidFill>
                  <a:srgbClr val="4A4450"/>
                </a:solidFill>
                <a:latin typeface="Arial"/>
                <a:ea typeface="微软雅黑"/>
                <a:cs typeface="微软雅黑"/>
              </a:rPr>
              <a:t> 纯视觉智能体</a:t>
            </a:r>
          </a:p>
          <a:p>
            <a:pPr algn="ctr">
              <a:lnSpc>
                <a:spcPts val="1406"/>
              </a:lnSpc>
              <a:spcBef>
                <a:spcPts val="0"/>
              </a:spcBef>
              <a:spcAft>
                <a:spcPts val="0"/>
              </a:spcAft>
            </a:pPr>
            <a:r>
              <a:rPr sz="937" b="0" i="0">
                <a:solidFill>
                  <a:srgbClr val="4A4450"/>
                </a:solidFill>
                <a:latin typeface="Arial"/>
                <a:ea typeface="微软雅黑"/>
                <a:cs typeface="微软雅黑"/>
              </a:rPr>
              <a:t>[WeaveBench 附录 E]：CLI 以一半步数取得相当成功率</a:t>
            </a:r>
          </a:p>
        </p:txBody>
      </p:sp>
      <p:sp>
        <p:nvSpPr>
          <p:cNvPr id="39" name="Rounded Rectangle 38"/>
          <p:cNvSpPr/>
          <p:nvPr/>
        </p:nvSpPr>
        <p:spPr>
          <a:xfrm>
            <a:off x="457200" y="4629150"/>
            <a:ext cx="11277600" cy="876300"/>
          </a:xfrm>
          <a:prstGeom prst="roundRect">
            <a:avLst>
              <a:gd name="adj" fmla="val 13043"/>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8650" y="4724400"/>
            <a:ext cx="10991850" cy="469403"/>
          </a:xfrm>
          <a:prstGeom prst="rect">
            <a:avLst/>
          </a:prstGeom>
          <a:noFill/>
        </p:spPr>
        <p:txBody>
          <a:bodyPr wrap="square" lIns="0" rIns="0" tIns="0" bIns="0" anchor="t">
            <a:noAutofit/>
          </a:bodyPr>
          <a:lstStyle/>
          <a:p>
            <a:pPr algn="l">
              <a:lnSpc>
                <a:spcPts val="1848"/>
              </a:lnSpc>
              <a:spcBef>
                <a:spcPts val="0"/>
              </a:spcBef>
              <a:spcAft>
                <a:spcPts val="0"/>
              </a:spcAft>
            </a:pPr>
            <a:r>
              <a:rPr sz="1087" b="1" i="0">
                <a:solidFill>
                  <a:srgbClr val="B7791F"/>
                </a:solidFill>
                <a:latin typeface="Arial"/>
                <a:ea typeface="微软雅黑"/>
                <a:cs typeface="微软雅黑"/>
              </a:rPr>
              <a:t>发现②：OpenClaw 的启发（2026 年初）</a:t>
            </a:r>
            <a:r>
              <a:rPr sz="1087" b="0" i="0">
                <a:solidFill>
                  <a:srgbClr val="1F1A22"/>
                </a:solidFill>
                <a:latin typeface="Arial"/>
                <a:ea typeface="微软雅黑"/>
                <a:cs typeface="微软雅黑"/>
              </a:rPr>
              <a:t>　以 CLI 为主、运行在用户个人电脑上的开源智能体迅速普及；以标准 OpenClaw CLI 智能体重跑 OSWorld 即得上图结论。</a:t>
            </a:r>
          </a:p>
          <a:p>
            <a:pPr algn="l">
              <a:lnSpc>
                <a:spcPts val="1848"/>
              </a:lnSpc>
              <a:spcBef>
                <a:spcPts val="0"/>
              </a:spcBef>
              <a:spcAft>
                <a:spcPts val="0"/>
              </a:spcAft>
            </a:pPr>
            <a:r>
              <a:rPr sz="1087" b="0" i="0">
                <a:solidFill>
                  <a:srgbClr val="1F1A22"/>
                </a:solidFill>
                <a:latin typeface="Arial"/>
                <a:ea typeface="微软雅黑"/>
                <a:cs typeface="微软雅黑"/>
              </a:rPr>
              <a:t>→ 压缩只能缓解开销，</a:t>
            </a:r>
            <a:r>
              <a:rPr sz="1087" b="1" i="0">
                <a:solidFill>
                  <a:srgbClr val="1F1A22"/>
                </a:solidFill>
                <a:latin typeface="Arial"/>
                <a:ea typeface="微软雅黑"/>
                <a:cs typeface="微软雅黑"/>
              </a:rPr>
              <a:t>纯 GUI 范式本身并非天然合理</a:t>
            </a:r>
            <a:r>
              <a:rPr sz="1087" b="0" i="0">
                <a:solidFill>
                  <a:srgbClr val="1F1A22"/>
                </a:solidFill>
                <a:latin typeface="Arial"/>
                <a:ea typeface="微软雅黑"/>
                <a:cs typeface="微软雅黑"/>
              </a:rPr>
              <a:t>；真实工作需要 CLI 与 GUI 按需交织。</a:t>
            </a:r>
          </a:p>
        </p:txBody>
      </p:sp>
      <p:sp>
        <p:nvSpPr>
          <p:cNvPr id="41" name="Rounded Rectangle 4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结论：效率优化只能缓解开销，关键在于</a:t>
            </a:r>
            <a:r>
              <a:rPr sz="1350" b="1" i="0">
                <a:solidFill>
                  <a:srgbClr val="F6C8FF"/>
                </a:solidFill>
                <a:latin typeface="Arial"/>
                <a:ea typeface="微软雅黑"/>
                <a:cs typeface="微软雅黑"/>
              </a:rPr>
              <a:t>任务范式与能力度量</a:t>
            </a:r>
            <a:r>
              <a:rPr sz="1350" b="0" i="0">
                <a:solidFill>
                  <a:srgbClr val="FFFFFF"/>
                </a:solidFill>
                <a:latin typeface="Arial"/>
                <a:ea typeface="微软雅黑"/>
                <a:cs typeface="微软雅黑"/>
              </a:rPr>
              <a:t> → 定义 CLI 与 GUI 交织的综合数字智能体范式并可信评测</a:t>
            </a:r>
          </a:p>
        </p:txBody>
      </p:sp>
      <p:sp>
        <p:nvSpPr>
          <p:cNvPr id="43" name="TextBox 4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课题一（续）：WeaveBench —— 综合数字智能体范式与轨迹感知的可信评测</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 CLI 与 GUI 割裂评测，任务可在单一能力内完成；仅依据最终结果判分，难以度量能力协同</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以已部署的 CLI 智能体运行时为底座、加入最小桌面控制插件；只收录 CLI 与 GUI </a:t>
            </a:r>
            <a:r>
              <a:rPr sz="1125" b="1" i="0">
                <a:solidFill>
                  <a:srgbClr val="1F1A22"/>
                </a:solidFill>
                <a:latin typeface="Arial"/>
                <a:ea typeface="微软雅黑"/>
                <a:cs typeface="微软雅黑"/>
              </a:rPr>
              <a:t>缺一不可</a:t>
            </a:r>
            <a:r>
              <a:rPr sz="1125" b="0" i="0">
                <a:solidFill>
                  <a:srgbClr val="1F1A22"/>
                </a:solidFill>
                <a:latin typeface="Arial"/>
                <a:ea typeface="微软雅黑"/>
                <a:cs typeface="微软雅黑"/>
              </a:rPr>
              <a:t>的长程任务；轨迹感知判官审计全过程</a:t>
            </a: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2"/>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a:t>
            </a:r>
            <a:r>
              <a:rPr sz="937" b="0" i="0">
                <a:solidFill>
                  <a:srgbClr val="4A4450"/>
                </a:solidFill>
                <a:latin typeface="Arial"/>
                <a:ea typeface="微软雅黑"/>
                <a:cs typeface="微软雅黑"/>
              </a:rPr>
              <a:t>（EMNLP 2026）：任务构造 → 真实运行时 → 轨迹感知判官</a:t>
            </a: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3"/>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1,735 个失败的归因分析</a:t>
            </a:r>
          </a:p>
        </p:txBody>
      </p:sp>
      <p:sp>
        <p:nvSpPr>
          <p:cNvPr id="19" name="TextBox 18"/>
          <p:cNvSpPr txBox="1"/>
          <p:nvPr/>
        </p:nvSpPr>
        <p:spPr>
          <a:xfrm>
            <a:off x="67056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20" name="TextBox 19"/>
          <p:cNvSpPr txBox="1"/>
          <p:nvPr/>
        </p:nvSpPr>
        <p:spPr>
          <a:xfrm>
            <a:off x="67056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最强组合成功率（OSWorld &gt;78%）</a:t>
            </a:r>
          </a:p>
        </p:txBody>
      </p:sp>
      <p:sp>
        <p:nvSpPr>
          <p:cNvPr id="21" name="TextBox 20"/>
          <p:cNvSpPr txBox="1"/>
          <p:nvPr/>
        </p:nvSpPr>
        <p:spPr>
          <a:xfrm>
            <a:off x="92583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≤3.5%</a:t>
            </a:r>
          </a:p>
        </p:txBody>
      </p:sp>
      <p:sp>
        <p:nvSpPr>
          <p:cNvPr id="22" name="TextBox 21"/>
          <p:cNvSpPr txBox="1"/>
          <p:nvPr/>
        </p:nvSpPr>
        <p:spPr>
          <a:xfrm>
            <a:off x="92583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 GUI 或仅 CLI；混合增益 +31.6 pp</a:t>
            </a:r>
          </a:p>
        </p:txBody>
      </p:sp>
      <p:sp>
        <p:nvSpPr>
          <p:cNvPr id="23" name="TextBox 22"/>
          <p:cNvSpPr txBox="1"/>
          <p:nvPr/>
        </p:nvSpPr>
        <p:spPr>
          <a:xfrm>
            <a:off x="67056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−20 pp</a:t>
            </a:r>
          </a:p>
        </p:txBody>
      </p:sp>
      <p:sp>
        <p:nvSpPr>
          <p:cNvPr id="24" name="TextBox 23"/>
          <p:cNvSpPr txBox="1"/>
          <p:nvPr/>
        </p:nvSpPr>
        <p:spPr>
          <a:xfrm>
            <a:off x="67056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过程审计修正结果判分虚高</a:t>
            </a:r>
          </a:p>
        </p:txBody>
      </p:sp>
      <p:sp>
        <p:nvSpPr>
          <p:cNvPr id="25" name="TextBox 24"/>
          <p:cNvSpPr txBox="1"/>
          <p:nvPr/>
        </p:nvSpPr>
        <p:spPr>
          <a:xfrm>
            <a:off x="92583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65.6%</a:t>
            </a:r>
          </a:p>
        </p:txBody>
      </p:sp>
      <p:sp>
        <p:nvSpPr>
          <p:cNvPr id="26" name="TextBox 25"/>
          <p:cNvSpPr txBox="1"/>
          <p:nvPr/>
        </p:nvSpPr>
        <p:spPr>
          <a:xfrm>
            <a:off x="92583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违规取巧与长程失控</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结论：瓶颈不在视觉感知，而在</a:t>
            </a:r>
            <a:r>
              <a:rPr sz="1350" b="1" i="0">
                <a:solidFill>
                  <a:srgbClr val="F6C8FF"/>
                </a:solidFill>
                <a:latin typeface="Arial"/>
                <a:ea typeface="微软雅黑"/>
                <a:cs typeface="微软雅黑"/>
              </a:rPr>
              <a:t>自主编排（Orchestration）与自我验证（Self-verification）</a:t>
            </a:r>
            <a:r>
              <a:rPr sz="1350" b="0" i="0">
                <a:solidFill>
                  <a:srgbClr val="FFFFFF"/>
                </a:solidFill>
                <a:latin typeface="Arial"/>
                <a:ea typeface="微软雅黑"/>
                <a:cs typeface="微软雅黑"/>
              </a:rPr>
              <a:t>→ 研究二训练该行为模式</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课题二：基于可验证复刻环境的混合行为训练（已完成）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自主编排与自我验证需在</a:t>
            </a:r>
            <a:r>
              <a:rPr sz="1125" b="1" i="0">
                <a:solidFill>
                  <a:srgbClr val="1F1A22"/>
                </a:solidFill>
                <a:latin typeface="Arial"/>
                <a:ea typeface="微软雅黑"/>
                <a:cs typeface="微软雅黑"/>
              </a:rPr>
              <a:t>能力交织、结果可验证</a:t>
            </a:r>
            <a:r>
              <a:rPr sz="1125" b="0" i="0">
                <a:solidFill>
                  <a:srgbClr val="1F1A22"/>
                </a:solidFill>
                <a:latin typeface="Arial"/>
                <a:ea typeface="微软雅黑"/>
                <a:cs typeface="微软雅黑"/>
              </a:rPr>
              <a:t>的场景中习得；GUI 缺少天然奖励，现有环境局限于单一界面</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以</a:t>
            </a:r>
            <a:r>
              <a:rPr sz="1125" b="1" i="0">
                <a:solidFill>
                  <a:srgbClr val="1F1A22"/>
                </a:solidFill>
                <a:latin typeface="Arial"/>
                <a:ea typeface="微软雅黑"/>
                <a:cs typeface="微软雅黑"/>
              </a:rPr>
              <a:t>应用复刻（App Recreation）</a:t>
            </a:r>
            <a:r>
              <a:rPr sz="1125" b="0" i="0">
                <a:solidFill>
                  <a:srgbClr val="1F1A22"/>
                </a:solidFill>
                <a:latin typeface="Arial"/>
                <a:ea typeface="微软雅黑"/>
                <a:cs typeface="微软雅黑"/>
              </a:rPr>
              <a:t>为训练场景：规格在界面中、交付物是代码、对错需运行后视觉核验；</a:t>
            </a:r>
            <a:r>
              <a:rPr sz="1125" b="1" i="0">
                <a:solidFill>
                  <a:srgbClr val="1F1A22"/>
                </a:solidFill>
                <a:latin typeface="Arial"/>
                <a:ea typeface="微软雅黑"/>
                <a:cs typeface="微软雅黑"/>
              </a:rPr>
              <a:t>原版应用即 oracle</a:t>
            </a:r>
            <a:r>
              <a:rPr sz="1125" b="0" i="0">
                <a:solidFill>
                  <a:srgbClr val="1F1A22"/>
                </a:solidFill>
                <a:latin typeface="Arial"/>
                <a:ea typeface="微软雅黑"/>
                <a:cs typeface="微软雅黑"/>
              </a:rPr>
              <a:t>，自动合成隐藏行为测试作为可验证奖励</a:t>
            </a:r>
          </a:p>
        </p:txBody>
      </p:sp>
      <p:sp>
        <p:nvSpPr>
          <p:cNvPr id="13" name="Rounded Rectangle 12"/>
          <p:cNvSpPr/>
          <p:nvPr/>
        </p:nvSpPr>
        <p:spPr>
          <a:xfrm>
            <a:off x="457200" y="2038350"/>
            <a:ext cx="6667500" cy="1638300"/>
          </a:xfrm>
          <a:prstGeom prst="roundRect">
            <a:avLst>
              <a:gd name="adj" fmla="val 46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w_fig2_recreation.png"/>
          <p:cNvPicPr>
            <a:picLocks noChangeAspect="1"/>
          </p:cNvPicPr>
          <p:nvPr/>
        </p:nvPicPr>
        <p:blipFill>
          <a:blip r:embed="rId2"/>
          <a:stretch>
            <a:fillRect/>
          </a:stretch>
        </p:blipFill>
        <p:spPr>
          <a:xfrm>
            <a:off x="1286515" y="2095500"/>
            <a:ext cx="5008868" cy="1200149"/>
          </a:xfrm>
          <a:prstGeom prst="rect">
            <a:avLst/>
          </a:prstGeom>
        </p:spPr>
      </p:pic>
      <p:sp>
        <p:nvSpPr>
          <p:cNvPr id="15" name="TextBox 14"/>
          <p:cNvSpPr txBox="1"/>
          <p:nvPr/>
        </p:nvSpPr>
        <p:spPr>
          <a:xfrm>
            <a:off x="485775" y="333375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6" name="Rounded Rectangle 15"/>
          <p:cNvSpPr/>
          <p:nvPr/>
        </p:nvSpPr>
        <p:spPr>
          <a:xfrm>
            <a:off x="457200" y="3752850"/>
            <a:ext cx="6667500" cy="1809750"/>
          </a:xfrm>
          <a:prstGeom prst="roundRect">
            <a:avLst>
              <a:gd name="adj" fmla="val 421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rw_fig5_transfer.png"/>
          <p:cNvPicPr>
            <a:picLocks noChangeAspect="1"/>
          </p:cNvPicPr>
          <p:nvPr/>
        </p:nvPicPr>
        <p:blipFill>
          <a:blip r:embed="rId3"/>
          <a:stretch>
            <a:fillRect/>
          </a:stretch>
        </p:blipFill>
        <p:spPr>
          <a:xfrm>
            <a:off x="1617178" y="3810000"/>
            <a:ext cx="4347542" cy="1371600"/>
          </a:xfrm>
          <a:prstGeom prst="rect">
            <a:avLst/>
          </a:prstGeom>
        </p:spPr>
      </p:pic>
      <p:sp>
        <p:nvSpPr>
          <p:cNvPr id="18" name="TextBox 17"/>
          <p:cNvSpPr txBox="1"/>
          <p:nvPr/>
        </p:nvSpPr>
        <p:spPr>
          <a:xfrm>
            <a:off x="485775" y="521970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个分布外（OOD）基准：两种初始化均一致提升</a:t>
            </a:r>
          </a:p>
        </p:txBody>
      </p:sp>
      <p:sp>
        <p:nvSpPr>
          <p:cNvPr id="19" name="Rounded Rectangle 18"/>
          <p:cNvSpPr/>
          <p:nvPr/>
        </p:nvSpPr>
        <p:spPr>
          <a:xfrm>
            <a:off x="7277100" y="2038350"/>
            <a:ext cx="4457700" cy="361950"/>
          </a:xfrm>
          <a:prstGeom prst="roundRect">
            <a:avLst>
              <a:gd name="adj" fmla="val 31578"/>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10450" y="2038350"/>
            <a:ext cx="4305300" cy="36195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660874"/>
                </a:solidFill>
                <a:latin typeface="Arial"/>
                <a:ea typeface="微软雅黑"/>
                <a:cs typeface="微软雅黑"/>
              </a:rPr>
              <a:t>① 任务构造</a:t>
            </a:r>
            <a:r>
              <a:rPr sz="975" b="0" i="0">
                <a:solidFill>
                  <a:srgbClr val="1F1A22"/>
                </a:solidFill>
                <a:latin typeface="Arial"/>
                <a:ea typeface="微软雅黑"/>
                <a:cs typeface="微软雅黑"/>
              </a:rPr>
              <a:t>　GitHub 开源 GUI 应用 · 5 平台 · 与评测集去重</a:t>
            </a:r>
          </a:p>
        </p:txBody>
      </p:sp>
      <p:sp>
        <p:nvSpPr>
          <p:cNvPr id="21" name="Rounded Rectangle 20"/>
          <p:cNvSpPr/>
          <p:nvPr/>
        </p:nvSpPr>
        <p:spPr>
          <a:xfrm>
            <a:off x="7277100" y="2457450"/>
            <a:ext cx="4457700" cy="361950"/>
          </a:xfrm>
          <a:prstGeom prst="roundRect">
            <a:avLst>
              <a:gd name="adj" fmla="val 31578"/>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10450" y="2457450"/>
            <a:ext cx="4305300" cy="36195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660874"/>
                </a:solidFill>
                <a:latin typeface="Arial"/>
                <a:ea typeface="微软雅黑"/>
                <a:cs typeface="微软雅黑"/>
              </a:rPr>
              <a:t>② 轨迹生成</a:t>
            </a:r>
            <a:r>
              <a:rPr sz="975" b="0" i="0">
                <a:solidFill>
                  <a:srgbClr val="1F1A22"/>
                </a:solidFill>
                <a:latin typeface="Arial"/>
                <a:ea typeface="微软雅黑"/>
                <a:cs typeface="微软雅黑"/>
              </a:rPr>
              <a:t>　Qwen3.8-Max 并发执行"探索—实现—运行—核验"</a:t>
            </a:r>
          </a:p>
        </p:txBody>
      </p:sp>
      <p:sp>
        <p:nvSpPr>
          <p:cNvPr id="23" name="Rounded Rectangle 22"/>
          <p:cNvSpPr/>
          <p:nvPr/>
        </p:nvSpPr>
        <p:spPr>
          <a:xfrm>
            <a:off x="7277100" y="2876550"/>
            <a:ext cx="4457700" cy="361950"/>
          </a:xfrm>
          <a:prstGeom prst="roundRect">
            <a:avLst>
              <a:gd name="adj" fmla="val 31578"/>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10450" y="2876550"/>
            <a:ext cx="4305300" cy="36195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660874"/>
                </a:solidFill>
                <a:latin typeface="Arial"/>
                <a:ea typeface="微软雅黑"/>
                <a:cs typeface="微软雅黑"/>
              </a:rPr>
              <a:t>③ 可验证筛选</a:t>
            </a:r>
            <a:r>
              <a:rPr sz="975" b="0" i="0">
                <a:solidFill>
                  <a:srgbClr val="1F1A22"/>
                </a:solidFill>
                <a:latin typeface="Arial"/>
                <a:ea typeface="微软雅黑"/>
                <a:cs typeface="微软雅黑"/>
              </a:rPr>
              <a:t>　行为 verifier 拒绝采样，共 3.5 万条轨迹</a:t>
            </a:r>
          </a:p>
        </p:txBody>
      </p:sp>
      <p:sp>
        <p:nvSpPr>
          <p:cNvPr id="25" name="Rounded Rectangle 24"/>
          <p:cNvSpPr/>
          <p:nvPr/>
        </p:nvSpPr>
        <p:spPr>
          <a:xfrm>
            <a:off x="7277100" y="3295650"/>
            <a:ext cx="4457700" cy="361950"/>
          </a:xfrm>
          <a:prstGeom prst="roundRect">
            <a:avLst>
              <a:gd name="adj" fmla="val 31578"/>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410450" y="3295650"/>
            <a:ext cx="4305300" cy="36195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660874"/>
                </a:solidFill>
                <a:latin typeface="Arial"/>
                <a:ea typeface="微软雅黑"/>
                <a:cs typeface="微软雅黑"/>
              </a:rPr>
              <a:t>④ 模型后训练</a:t>
            </a:r>
            <a:r>
              <a:rPr sz="975" b="0" i="0">
                <a:solidFill>
                  <a:srgbClr val="1F1A22"/>
                </a:solidFill>
                <a:latin typeface="Arial"/>
                <a:ea typeface="微软雅黑"/>
                <a:cs typeface="微软雅黑"/>
              </a:rPr>
              <a:t>　SFT Qwen3.7-Plus 与 CPT 后的 Qwen-Flash</a:t>
            </a:r>
          </a:p>
        </p:txBody>
      </p:sp>
      <p:sp>
        <p:nvSpPr>
          <p:cNvPr id="27" name="TextBox 26"/>
          <p:cNvSpPr txBox="1"/>
          <p:nvPr/>
        </p:nvSpPr>
        <p:spPr>
          <a:xfrm>
            <a:off x="7277100" y="3848100"/>
            <a:ext cx="2247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a:t>
            </a:r>
          </a:p>
        </p:txBody>
      </p:sp>
      <p:sp>
        <p:nvSpPr>
          <p:cNvPr id="28" name="TextBox 27"/>
          <p:cNvSpPr txBox="1"/>
          <p:nvPr/>
        </p:nvSpPr>
        <p:spPr>
          <a:xfrm>
            <a:off x="7277100" y="4133850"/>
            <a:ext cx="2247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 5 平台</a:t>
            </a:r>
          </a:p>
        </p:txBody>
      </p:sp>
      <p:sp>
        <p:nvSpPr>
          <p:cNvPr id="29" name="TextBox 28"/>
          <p:cNvSpPr txBox="1"/>
          <p:nvPr/>
        </p:nvSpPr>
        <p:spPr>
          <a:xfrm>
            <a:off x="9544050" y="3848100"/>
            <a:ext cx="2247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30" name="TextBox 29"/>
          <p:cNvSpPr txBox="1"/>
          <p:nvPr/>
        </p:nvSpPr>
        <p:spPr>
          <a:xfrm>
            <a:off x="9544050" y="4133850"/>
            <a:ext cx="2247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最强模型全部通过的比例</a:t>
            </a:r>
          </a:p>
        </p:txBody>
      </p:sp>
      <p:sp>
        <p:nvSpPr>
          <p:cNvPr id="31" name="TextBox 30"/>
          <p:cNvSpPr txBox="1"/>
          <p:nvPr/>
        </p:nvSpPr>
        <p:spPr>
          <a:xfrm>
            <a:off x="7277100" y="4705350"/>
            <a:ext cx="2247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pp</a:t>
            </a:r>
          </a:p>
        </p:txBody>
      </p:sp>
      <p:sp>
        <p:nvSpPr>
          <p:cNvPr id="32" name="TextBox 31"/>
          <p:cNvSpPr txBox="1"/>
          <p:nvPr/>
        </p:nvSpPr>
        <p:spPr>
          <a:xfrm>
            <a:off x="7277100" y="4991100"/>
            <a:ext cx="2247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分布外基准最大提升</a:t>
            </a:r>
          </a:p>
        </p:txBody>
      </p:sp>
      <p:sp>
        <p:nvSpPr>
          <p:cNvPr id="33" name="TextBox 32"/>
          <p:cNvSpPr txBox="1"/>
          <p:nvPr/>
        </p:nvSpPr>
        <p:spPr>
          <a:xfrm>
            <a:off x="9544050" y="4705350"/>
            <a:ext cx="2247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35.7→48.2</a:t>
            </a:r>
          </a:p>
        </p:txBody>
      </p:sp>
      <p:sp>
        <p:nvSpPr>
          <p:cNvPr id="34" name="TextBox 33"/>
          <p:cNvSpPr txBox="1"/>
          <p:nvPr/>
        </p:nvSpPr>
        <p:spPr>
          <a:xfrm>
            <a:off x="9544050" y="4991100"/>
            <a:ext cx="2247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WeaveBench（研究一）</a:t>
            </a:r>
          </a:p>
        </p:txBody>
      </p:sp>
      <p:sp>
        <p:nvSpPr>
          <p:cNvPr id="35" name="Rounded Rectangle 3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研究三推广到真实世界</a:t>
            </a:r>
          </a:p>
        </p:txBody>
      </p:sp>
      <p:sp>
        <p:nvSpPr>
          <p:cNvPr id="37" name="TextBox 3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课题三（一）：职业化个人智能体（Professional Personal Agent）（待完成）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dots、Muse、Manus 等产品的"个人化"停留在记忆与人设，多在云端通用环境执行；缺少</a:t>
            </a:r>
            <a:r>
              <a:rPr sz="1125" b="1" i="0">
                <a:solidFill>
                  <a:srgbClr val="1F1A22"/>
                </a:solidFill>
                <a:latin typeface="Arial"/>
                <a:ea typeface="微软雅黑"/>
                <a:cs typeface="微软雅黑"/>
              </a:rPr>
              <a:t>个人电脑环境、职业业务知识与专业软件技能</a:t>
            </a:r>
          </a:p>
        </p:txBody>
      </p:sp>
      <p:sp>
        <p:nvSpPr>
          <p:cNvPr id="12" name="Rounded Rectangle 11"/>
          <p:cNvSpPr/>
          <p:nvPr/>
        </p:nvSpPr>
        <p:spPr>
          <a:xfrm>
            <a:off x="457200" y="1771650"/>
            <a:ext cx="5715000" cy="3143250"/>
          </a:xfrm>
          <a:prstGeom prst="roundRect">
            <a:avLst>
              <a:gd name="adj" fmla="val 242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pa_overview2.png"/>
          <p:cNvPicPr>
            <a:picLocks noChangeAspect="1"/>
          </p:cNvPicPr>
          <p:nvPr/>
        </p:nvPicPr>
        <p:blipFill>
          <a:blip r:embed="rId2"/>
          <a:stretch>
            <a:fillRect/>
          </a:stretch>
        </p:blipFill>
        <p:spPr>
          <a:xfrm>
            <a:off x="717804" y="1828800"/>
            <a:ext cx="5193792" cy="2705100"/>
          </a:xfrm>
          <a:prstGeom prst="rect">
            <a:avLst/>
          </a:prstGeom>
        </p:spPr>
      </p:pic>
      <p:sp>
        <p:nvSpPr>
          <p:cNvPr id="14" name="TextBox 13"/>
          <p:cNvSpPr txBox="1"/>
          <p:nvPr/>
        </p:nvSpPr>
        <p:spPr>
          <a:xfrm>
            <a:off x="485775" y="4572000"/>
            <a:ext cx="5657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职业化个人智能体：个人电脑环境 × 职业知识 × 软件技能（示意图）</a:t>
            </a:r>
          </a:p>
        </p:txBody>
      </p:sp>
      <p:sp>
        <p:nvSpPr>
          <p:cNvPr id="15" name="Rounded Rectangle 14"/>
          <p:cNvSpPr/>
          <p:nvPr/>
        </p:nvSpPr>
        <p:spPr>
          <a:xfrm>
            <a:off x="457200" y="4991100"/>
            <a:ext cx="5715000" cy="552450"/>
          </a:xfrm>
          <a:prstGeom prst="roundRect">
            <a:avLst>
              <a:gd name="adj" fmla="val 20689"/>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0550" y="5048250"/>
            <a:ext cx="5524500" cy="411360"/>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660874"/>
                </a:solidFill>
                <a:latin typeface="Arial"/>
                <a:ea typeface="微软雅黑"/>
                <a:cs typeface="微软雅黑"/>
              </a:rPr>
              <a:t>真正的个人智能体</a:t>
            </a:r>
            <a:r>
              <a:rPr sz="1012" b="0" i="0">
                <a:solidFill>
                  <a:srgbClr val="1F1A22"/>
                </a:solidFill>
                <a:latin typeface="Arial"/>
                <a:ea typeface="微软雅黑"/>
                <a:cs typeface="微软雅黑"/>
              </a:rPr>
              <a:t>：在用户自己的电脑中工作 · 具备职业业务世界知识 · 掌握专业软件 → 成为不同职业的</a:t>
            </a:r>
            <a:r>
              <a:rPr sz="1012" b="1" i="0">
                <a:solidFill>
                  <a:srgbClr val="1F1A22"/>
                </a:solidFill>
                <a:latin typeface="Arial"/>
                <a:ea typeface="微软雅黑"/>
                <a:cs typeface="微软雅黑"/>
              </a:rPr>
              <a:t>数字员工</a:t>
            </a:r>
          </a:p>
        </p:txBody>
      </p:sp>
      <p:sp>
        <p:nvSpPr>
          <p:cNvPr id="17" name="Rounded Rectangle 16"/>
          <p:cNvSpPr/>
          <p:nvPr/>
        </p:nvSpPr>
        <p:spPr>
          <a:xfrm>
            <a:off x="6324600" y="1771650"/>
            <a:ext cx="1295400" cy="1143000"/>
          </a:xfrm>
          <a:prstGeom prst="roundRect">
            <a:avLst>
              <a:gd name="adj" fmla="val 6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pp_dots.png"/>
          <p:cNvPicPr>
            <a:picLocks noChangeAspect="1"/>
          </p:cNvPicPr>
          <p:nvPr/>
        </p:nvPicPr>
        <p:blipFill>
          <a:blip r:embed="rId3"/>
          <a:stretch>
            <a:fillRect/>
          </a:stretch>
        </p:blipFill>
        <p:spPr>
          <a:xfrm>
            <a:off x="6355644" y="1800225"/>
            <a:ext cx="1233311" cy="876300"/>
          </a:xfrm>
          <a:prstGeom prst="rect">
            <a:avLst/>
          </a:prstGeom>
        </p:spPr>
      </p:pic>
      <p:sp>
        <p:nvSpPr>
          <p:cNvPr id="19" name="TextBox 18"/>
          <p:cNvSpPr txBox="1"/>
          <p:nvPr/>
        </p:nvSpPr>
        <p:spPr>
          <a:xfrm>
            <a:off x="6353175" y="2686050"/>
            <a:ext cx="12382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dots · 云端</a:t>
            </a:r>
          </a:p>
        </p:txBody>
      </p:sp>
      <p:sp>
        <p:nvSpPr>
          <p:cNvPr id="20" name="Rounded Rectangle 19"/>
          <p:cNvSpPr/>
          <p:nvPr/>
        </p:nvSpPr>
        <p:spPr>
          <a:xfrm>
            <a:off x="7696200" y="1771650"/>
            <a:ext cx="1295400" cy="1143000"/>
          </a:xfrm>
          <a:prstGeom prst="roundRect">
            <a:avLst>
              <a:gd name="adj" fmla="val 6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pp_muse.png"/>
          <p:cNvPicPr>
            <a:picLocks noChangeAspect="1"/>
          </p:cNvPicPr>
          <p:nvPr/>
        </p:nvPicPr>
        <p:blipFill>
          <a:blip r:embed="rId4"/>
          <a:stretch>
            <a:fillRect/>
          </a:stretch>
        </p:blipFill>
        <p:spPr>
          <a:xfrm>
            <a:off x="7746422" y="1800225"/>
            <a:ext cx="1194954" cy="876300"/>
          </a:xfrm>
          <a:prstGeom prst="rect">
            <a:avLst/>
          </a:prstGeom>
        </p:spPr>
      </p:pic>
      <p:sp>
        <p:nvSpPr>
          <p:cNvPr id="22" name="TextBox 21"/>
          <p:cNvSpPr txBox="1"/>
          <p:nvPr/>
        </p:nvSpPr>
        <p:spPr>
          <a:xfrm>
            <a:off x="7724775" y="2686050"/>
            <a:ext cx="12382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Muse · 云端 VM</a:t>
            </a:r>
          </a:p>
        </p:txBody>
      </p:sp>
      <p:sp>
        <p:nvSpPr>
          <p:cNvPr id="23" name="Rounded Rectangle 22"/>
          <p:cNvSpPr/>
          <p:nvPr/>
        </p:nvSpPr>
        <p:spPr>
          <a:xfrm>
            <a:off x="9067800" y="1771650"/>
            <a:ext cx="1295400" cy="1143000"/>
          </a:xfrm>
          <a:prstGeom prst="roundRect">
            <a:avLst>
              <a:gd name="adj" fmla="val 6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pp_manus.png"/>
          <p:cNvPicPr>
            <a:picLocks noChangeAspect="1"/>
          </p:cNvPicPr>
          <p:nvPr/>
        </p:nvPicPr>
        <p:blipFill>
          <a:blip r:embed="rId5"/>
          <a:stretch>
            <a:fillRect/>
          </a:stretch>
        </p:blipFill>
        <p:spPr>
          <a:xfrm>
            <a:off x="9096375" y="1890117"/>
            <a:ext cx="1238250" cy="696515"/>
          </a:xfrm>
          <a:prstGeom prst="rect">
            <a:avLst/>
          </a:prstGeom>
        </p:spPr>
      </p:pic>
      <p:sp>
        <p:nvSpPr>
          <p:cNvPr id="25" name="TextBox 24"/>
          <p:cNvSpPr txBox="1"/>
          <p:nvPr/>
        </p:nvSpPr>
        <p:spPr>
          <a:xfrm>
            <a:off x="9096375" y="2686050"/>
            <a:ext cx="12382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Manus · 云 / 本机</a:t>
            </a:r>
          </a:p>
        </p:txBody>
      </p:sp>
      <p:sp>
        <p:nvSpPr>
          <p:cNvPr id="26" name="Rounded Rectangle 25"/>
          <p:cNvSpPr/>
          <p:nvPr/>
        </p:nvSpPr>
        <p:spPr>
          <a:xfrm>
            <a:off x="10439400" y="1771650"/>
            <a:ext cx="1295400" cy="1143000"/>
          </a:xfrm>
          <a:prstGeom prst="roundRect">
            <a:avLst>
              <a:gd name="adj" fmla="val 6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pp_openclaw.png"/>
          <p:cNvPicPr>
            <a:picLocks noChangeAspect="1"/>
          </p:cNvPicPr>
          <p:nvPr/>
        </p:nvPicPr>
        <p:blipFill>
          <a:blip r:embed="rId6"/>
          <a:stretch>
            <a:fillRect/>
          </a:stretch>
        </p:blipFill>
        <p:spPr>
          <a:xfrm>
            <a:off x="10467975" y="1849904"/>
            <a:ext cx="1238250" cy="776941"/>
          </a:xfrm>
          <a:prstGeom prst="rect">
            <a:avLst/>
          </a:prstGeom>
        </p:spPr>
      </p:pic>
      <p:sp>
        <p:nvSpPr>
          <p:cNvPr id="28" name="TextBox 27"/>
          <p:cNvSpPr txBox="1"/>
          <p:nvPr/>
        </p:nvSpPr>
        <p:spPr>
          <a:xfrm>
            <a:off x="10467975" y="2686050"/>
            <a:ext cx="12382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OpenClaw · 本机</a:t>
            </a:r>
          </a:p>
        </p:txBody>
      </p:sp>
      <p:sp>
        <p:nvSpPr>
          <p:cNvPr id="29" name="Rounded Rectangle 28"/>
          <p:cNvSpPr/>
          <p:nvPr/>
        </p:nvSpPr>
        <p:spPr>
          <a:xfrm>
            <a:off x="6324600" y="300990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77000" y="310515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① App Mock：职业业务系统仿真</a:t>
            </a:r>
          </a:p>
        </p:txBody>
      </p:sp>
      <p:sp>
        <p:nvSpPr>
          <p:cNvPr id="31" name="TextBox 30"/>
          <p:cNvSpPr txBox="1"/>
          <p:nvPr/>
        </p:nvSpPr>
        <p:spPr>
          <a:xfrm>
            <a:off x="6477000" y="337185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以研究二的复刻能力把 ERP、合同审阅、电商后台、病历系统等构建为可交互、可重置的个人电脑环境</a:t>
            </a:r>
          </a:p>
        </p:txBody>
      </p:sp>
      <p:sp>
        <p:nvSpPr>
          <p:cNvPr id="32" name="Rounded Rectangle 31"/>
          <p:cNvSpPr/>
          <p:nvPr/>
        </p:nvSpPr>
        <p:spPr>
          <a:xfrm>
            <a:off x="6324600" y="4038600"/>
            <a:ext cx="5029200" cy="704850"/>
          </a:xfrm>
          <a:prstGeom prst="roundRect">
            <a:avLst>
              <a:gd name="adj" fmla="val 16216"/>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77000" y="4095750"/>
            <a:ext cx="478155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真实数据驱动的环境模拟</a:t>
            </a:r>
          </a:p>
        </p:txBody>
      </p:sp>
      <p:sp>
        <p:nvSpPr>
          <p:cNvPr id="34" name="TextBox 33"/>
          <p:cNvSpPr txBox="1"/>
          <p:nvPr/>
        </p:nvSpPr>
        <p:spPr>
          <a:xfrm>
            <a:off x="6477000" y="4343400"/>
            <a:ext cx="47815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1F1A22"/>
                </a:solidFill>
                <a:latin typeface="Arial"/>
                <a:ea typeface="微软雅黑"/>
                <a:cs typeface="微软雅黑"/>
              </a:rPr>
              <a:t>脱敏业务数据驱动状态与事件，支持跨应用长程任务</a:t>
            </a:r>
          </a:p>
        </p:txBody>
      </p:sp>
      <p:sp>
        <p:nvSpPr>
          <p:cNvPr id="35" name="Rounded Rectangle 34"/>
          <p:cNvSpPr/>
          <p:nvPr/>
        </p:nvSpPr>
        <p:spPr>
          <a:xfrm>
            <a:off x="6324600" y="4819650"/>
            <a:ext cx="5029200" cy="704850"/>
          </a:xfrm>
          <a:prstGeom prst="roundRect">
            <a:avLst>
              <a:gd name="adj" fmla="val 16216"/>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477000" y="4876800"/>
            <a:ext cx="478155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SFT &amp; RL 任务构造流水线</a:t>
            </a:r>
          </a:p>
        </p:txBody>
      </p:sp>
      <p:sp>
        <p:nvSpPr>
          <p:cNvPr id="37" name="TextBox 36"/>
          <p:cNvSpPr txBox="1"/>
          <p:nvPr/>
        </p:nvSpPr>
        <p:spPr>
          <a:xfrm>
            <a:off x="6477000" y="5124450"/>
            <a:ext cx="47815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1F1A22"/>
                </a:solidFill>
                <a:latin typeface="Arial"/>
                <a:ea typeface="微软雅黑"/>
                <a:cs typeface="微软雅黑"/>
              </a:rPr>
              <a:t>任务生成 → 轨迹 → 状态优先 verifier → SFT 数据 / RL 奖励</a:t>
            </a:r>
          </a:p>
        </p:txBody>
      </p:sp>
      <p:sp>
        <p:nvSpPr>
          <p:cNvPr id="38" name="Rounded Rectangle 37"/>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复用研究一的</a:t>
            </a:r>
            <a:r>
              <a:rPr sz="1350" b="1" i="0">
                <a:solidFill>
                  <a:srgbClr val="F6C8FF"/>
                </a:solidFill>
                <a:latin typeface="Arial"/>
                <a:ea typeface="微软雅黑"/>
                <a:cs typeface="微软雅黑"/>
              </a:rPr>
              <a:t>评测</a:t>
            </a:r>
            <a:r>
              <a:rPr sz="1350" b="0" i="0">
                <a:solidFill>
                  <a:srgbClr val="FFFFFF"/>
                </a:solidFill>
                <a:latin typeface="Arial"/>
                <a:ea typeface="微软雅黑"/>
                <a:cs typeface="微软雅黑"/>
              </a:rPr>
              <a:t>与研究二的</a:t>
            </a:r>
            <a:r>
              <a:rPr sz="1350" b="1" i="0">
                <a:solidFill>
                  <a:srgbClr val="F6C8FF"/>
                </a:solidFill>
                <a:latin typeface="Arial"/>
                <a:ea typeface="微软雅黑"/>
                <a:cs typeface="微软雅黑"/>
              </a:rPr>
              <a:t>训练</a:t>
            </a:r>
            <a:r>
              <a:rPr sz="1350" b="0" i="0">
                <a:solidFill>
                  <a:srgbClr val="FFFFFF"/>
                </a:solidFill>
                <a:latin typeface="Arial"/>
                <a:ea typeface="微软雅黑"/>
                <a:cs typeface="微软雅黑"/>
              </a:rPr>
              <a:t>流程，把可扩展框架推广到职业化个人环境</a:t>
            </a:r>
          </a:p>
        </p:txBody>
      </p:sp>
      <p:sp>
        <p:nvSpPr>
          <p:cNvPr id="40" name="TextBox 39"/>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课题三（二）：物理世界智能体（Physical Agent，初步构想）</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Coding Agent 已能生成"会动的 3D 世界"，但看起来对不代表物理机制对；现有工作尚未统一考察</a:t>
            </a:r>
            <a:r>
              <a:rPr sz="1125" b="1" i="0">
                <a:solidFill>
                  <a:srgbClr val="1F1A22"/>
                </a:solidFill>
                <a:latin typeface="Arial"/>
                <a:ea typeface="微软雅黑"/>
                <a:cs typeface="微软雅黑"/>
              </a:rPr>
              <a:t>跨条件泛化、错误定位与修复后回归</a:t>
            </a:r>
          </a:p>
        </p:txBody>
      </p:sp>
      <p:sp>
        <p:nvSpPr>
          <p:cNvPr id="10" name="Rounded Rectangle 9"/>
          <p:cNvSpPr/>
          <p:nvPr/>
        </p:nvSpPr>
        <p:spPr>
          <a:xfrm>
            <a:off x="457200" y="1771650"/>
            <a:ext cx="5619750" cy="3790950"/>
          </a:xfrm>
          <a:prstGeom prst="roundRect">
            <a:avLst>
              <a:gd name="adj" fmla="val 201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phys_cf.png"/>
          <p:cNvPicPr>
            <a:picLocks noChangeAspect="1"/>
          </p:cNvPicPr>
          <p:nvPr/>
        </p:nvPicPr>
        <p:blipFill>
          <a:blip r:embed="rId2"/>
          <a:stretch>
            <a:fillRect/>
          </a:stretch>
        </p:blipFill>
        <p:spPr>
          <a:xfrm>
            <a:off x="752475" y="1828800"/>
            <a:ext cx="5029200" cy="3352800"/>
          </a:xfrm>
          <a:prstGeom prst="rect">
            <a:avLst/>
          </a:prstGeom>
        </p:spPr>
      </p:pic>
      <p:sp>
        <p:nvSpPr>
          <p:cNvPr id="12" name="TextBox 11"/>
          <p:cNvSpPr txBox="1"/>
          <p:nvPr/>
        </p:nvSpPr>
        <p:spPr>
          <a:xfrm>
            <a:off x="485775" y="5219700"/>
            <a:ext cx="5562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反事实干预：拉大第 10、11 块骨牌间距后，关键帧动画仍"全部倒下"，物理仿真正确中断</a:t>
            </a:r>
          </a:p>
        </p:txBody>
      </p:sp>
      <p:sp>
        <p:nvSpPr>
          <p:cNvPr id="13" name="Rounded Rectangle 12"/>
          <p:cNvSpPr/>
          <p:nvPr/>
        </p:nvSpPr>
        <p:spPr>
          <a:xfrm>
            <a:off x="6229350" y="1771650"/>
            <a:ext cx="5505450" cy="285750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hys_loop.png"/>
          <p:cNvPicPr>
            <a:picLocks noChangeAspect="1"/>
          </p:cNvPicPr>
          <p:nvPr/>
        </p:nvPicPr>
        <p:blipFill>
          <a:blip r:embed="rId3"/>
          <a:stretch>
            <a:fillRect/>
          </a:stretch>
        </p:blipFill>
        <p:spPr>
          <a:xfrm>
            <a:off x="7167562" y="1828800"/>
            <a:ext cx="3629025" cy="2419350"/>
          </a:xfrm>
          <a:prstGeom prst="rect">
            <a:avLst/>
          </a:prstGeom>
        </p:spPr>
      </p:pic>
      <p:sp>
        <p:nvSpPr>
          <p:cNvPr id="15" name="TextBox 14"/>
          <p:cNvSpPr txBox="1"/>
          <p:nvPr/>
        </p:nvSpPr>
        <p:spPr>
          <a:xfrm>
            <a:off x="6257925" y="4286250"/>
            <a:ext cx="54483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方法：物理落地的验证与因果修复（Physics-Grounded Verification + Causal Repair）</a:t>
            </a:r>
          </a:p>
        </p:txBody>
      </p:sp>
      <p:sp>
        <p:nvSpPr>
          <p:cNvPr id="16" name="Rounded Rectangle 15"/>
          <p:cNvSpPr/>
          <p:nvPr/>
        </p:nvSpPr>
        <p:spPr>
          <a:xfrm>
            <a:off x="6229350" y="4743450"/>
            <a:ext cx="11049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62700" y="4743450"/>
            <a:ext cx="895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RQ1 物理泛化</a:t>
            </a:r>
          </a:p>
        </p:txBody>
      </p:sp>
      <p:sp>
        <p:nvSpPr>
          <p:cNvPr id="18" name="Rounded Rectangle 17"/>
          <p:cNvSpPr/>
          <p:nvPr/>
        </p:nvSpPr>
        <p:spPr>
          <a:xfrm>
            <a:off x="7620000" y="4743450"/>
            <a:ext cx="11049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753350" y="4743450"/>
            <a:ext cx="895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RQ2 错误诊断</a:t>
            </a:r>
          </a:p>
        </p:txBody>
      </p:sp>
      <p:sp>
        <p:nvSpPr>
          <p:cNvPr id="20" name="Rounded Rectangle 19"/>
          <p:cNvSpPr/>
          <p:nvPr/>
        </p:nvSpPr>
        <p:spPr>
          <a:xfrm>
            <a:off x="9010650" y="4743450"/>
            <a:ext cx="11049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0" y="4743450"/>
            <a:ext cx="895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RQ3 可靠修复</a:t>
            </a:r>
          </a:p>
        </p:txBody>
      </p:sp>
      <p:sp>
        <p:nvSpPr>
          <p:cNvPr id="22" name="TextBox 21"/>
          <p:cNvSpPr txBox="1"/>
          <p:nvPr/>
        </p:nvSpPr>
        <p:spPr>
          <a:xfrm>
            <a:off x="6229350" y="5086350"/>
            <a:ext cx="55435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4A4450"/>
                </a:solidFill>
                <a:latin typeface="Arial"/>
                <a:ea typeface="微软雅黑"/>
                <a:cs typeface="微软雅黑"/>
              </a:rPr>
              <a:t>核心消融：One-shot / 执行反馈 / 视觉反馈 / 物理状态反馈 / Ours；指标：反事实通过率 · 修复成功率 · 回归率</a:t>
            </a:r>
          </a:p>
        </p:txBody>
      </p:sp>
      <p:sp>
        <p:nvSpPr>
          <p:cNvPr id="23" name="Rounded Rectangle 2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目标：从评测"能否生成会动的世界"推进到评测"能否构建</a:t>
            </a:r>
            <a:r>
              <a:rPr sz="1350" b="1" i="0">
                <a:solidFill>
                  <a:srgbClr val="F6C8FF"/>
                </a:solidFill>
                <a:latin typeface="Arial"/>
                <a:ea typeface="微软雅黑"/>
                <a:cs typeface="微软雅黑"/>
              </a:rPr>
              <a:t>条件变化下仍遵守物理规律</a:t>
            </a:r>
            <a:r>
              <a:rPr sz="1350" b="0" i="0">
                <a:solidFill>
                  <a:srgbClr val="FFFFFF"/>
                </a:solidFill>
                <a:latin typeface="Arial"/>
                <a:ea typeface="微软雅黑"/>
                <a:cs typeface="微软雅黑"/>
              </a:rPr>
              <a:t>的世界"</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已完成工作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研究二 · 训练</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8002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5906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研究型实习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研究一、二的评测环境与训练数据已应用于模型优化，参与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研发，深入接触前沿基础模型在计算机操作与长程智能体任务中的</a:t>
            </a:r>
            <a:r>
              <a:rPr sz="1087" b="1" i="0">
                <a:solidFill>
                  <a:srgbClr val="1F1A22"/>
                </a:solidFill>
                <a:latin typeface="Arial"/>
                <a:ea typeface="微软雅黑"/>
                <a:cs typeface="微软雅黑"/>
              </a:rPr>
              <a:t>关键痛点</a:t>
            </a:r>
            <a:r>
              <a:rPr sz="1087" b="0" i="0">
                <a:solidFill>
                  <a:srgbClr val="1F1A22"/>
                </a:solidFill>
                <a:latin typeface="Arial"/>
                <a:ea typeface="微软雅黑"/>
                <a:cs typeface="微软雅黑"/>
              </a:rPr>
              <a:t>；本课题的研究问题源于一线训练与评测需求，所构建的评测、环境与数据可直接服务于基础模型后训练。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研究一（评测）与研究二（训练）已完成，形成可扩展评测与训练框架的基础；后续聚焦</a:t>
            </a:r>
            <a:r>
              <a:rPr sz="1350" b="1" i="0">
                <a:solidFill>
                  <a:srgbClr val="F6C8FF"/>
                </a:solidFill>
                <a:latin typeface="Arial"/>
                <a:ea typeface="微软雅黑"/>
                <a:cs typeface="微软雅黑"/>
              </a:rPr>
              <a:t>研究三（应用）</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研究计划：研究三（应用）的推进安排</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职业化个人电脑环境构建</a:t>
            </a:r>
          </a:p>
        </p:txBody>
      </p:sp>
      <p:sp>
        <p:nvSpPr>
          <p:cNvPr id="10" name="TextBox 9"/>
          <p:cNvSpPr txBox="1"/>
          <p:nvPr/>
        </p:nvSpPr>
        <p:spPr>
          <a:xfrm>
            <a:off x="609600" y="2266950"/>
            <a:ext cx="2438400" cy="1166812"/>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会计 / 法律 / 电商 / 医疗 / 设计 / 芯片等职业调研</a:t>
            </a:r>
          </a:p>
          <a:p>
            <a:pPr algn="l">
              <a:lnSpc>
                <a:spcPts val="1837"/>
              </a:lnSpc>
              <a:spcBef>
                <a:spcPts val="0"/>
              </a:spcBef>
              <a:spcAft>
                <a:spcPts val="0"/>
              </a:spcAft>
            </a:pPr>
            <a:r>
              <a:rPr sz="1050" b="0" i="0">
                <a:solidFill>
                  <a:srgbClr val="4A4450"/>
                </a:solidFill>
                <a:latin typeface="Arial"/>
                <a:ea typeface="微软雅黑"/>
                <a:cs typeface="微软雅黑"/>
              </a:rPr>
              <a:t>• App Mock：基于复刻能力仿真业务系统</a:t>
            </a:r>
          </a:p>
          <a:p>
            <a:pPr algn="l">
              <a:lnSpc>
                <a:spcPts val="1837"/>
              </a:lnSpc>
              <a:spcBef>
                <a:spcPts val="0"/>
              </a:spcBef>
              <a:spcAft>
                <a:spcPts val="0"/>
              </a:spcAft>
            </a:pPr>
            <a:r>
              <a:rPr sz="1050" b="0" i="0">
                <a:solidFill>
                  <a:srgbClr val="4A4450"/>
                </a:solidFill>
                <a:latin typeface="Arial"/>
                <a:ea typeface="微软雅黑"/>
                <a:cs typeface="微软雅黑"/>
              </a:rPr>
              <a:t>• 个人文件、账户与状态数据库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真实数据驱动与任务流水线</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脱敏真实数据驱动状态与事件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任务生成 → 轨迹 → 状态优先 verifier</a:t>
            </a:r>
          </a:p>
          <a:p>
            <a:pPr algn="l">
              <a:lnSpc>
                <a:spcPts val="1837"/>
              </a:lnSpc>
              <a:spcBef>
                <a:spcPts val="0"/>
              </a:spcBef>
              <a:spcAft>
                <a:spcPts val="0"/>
              </a:spcAft>
            </a:pPr>
            <a:r>
              <a:rPr sz="1050" b="0" i="0">
                <a:solidFill>
                  <a:srgbClr val="4A4450"/>
                </a:solidFill>
                <a:latin typeface="Arial"/>
                <a:ea typeface="微软雅黑"/>
                <a:cs typeface="微软雅黑"/>
              </a:rPr>
              <a:t>• 拒绝采样 SFT + 可验证奖励 RL</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物理世界智能体</a:t>
            </a:r>
          </a:p>
        </p:txBody>
      </p:sp>
      <p:sp>
        <p:nvSpPr>
          <p:cNvPr id="20" name="TextBox 19"/>
          <p:cNvSpPr txBox="1"/>
          <p:nvPr/>
        </p:nvSpPr>
        <p:spPr>
          <a:xfrm>
            <a:off x="63246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反事实干预基准（RQ1–RQ3）</a:t>
            </a:r>
          </a:p>
          <a:p>
            <a:pPr algn="l">
              <a:lnSpc>
                <a:spcPts val="1837"/>
              </a:lnSpc>
              <a:spcBef>
                <a:spcPts val="0"/>
              </a:spcBef>
              <a:spcAft>
                <a:spcPts val="0"/>
              </a:spcAft>
            </a:pPr>
            <a:r>
              <a:rPr sz="1050" b="0" i="0">
                <a:solidFill>
                  <a:srgbClr val="4A4450"/>
                </a:solidFill>
                <a:latin typeface="Arial"/>
                <a:ea typeface="微软雅黑"/>
                <a:cs typeface="微软雅黑"/>
              </a:rPr>
              <a:t>• 物理落地的验证与因果修复</a:t>
            </a:r>
          </a:p>
          <a:p>
            <a:pPr algn="l">
              <a:lnSpc>
                <a:spcPts val="1837"/>
              </a:lnSpc>
              <a:spcBef>
                <a:spcPts val="0"/>
              </a:spcBef>
              <a:spcAft>
                <a:spcPts val="0"/>
              </a:spcAft>
            </a:pPr>
            <a:r>
              <a:rPr sz="1050" b="0" i="0">
                <a:solidFill>
                  <a:srgbClr val="4A4450"/>
                </a:solidFill>
                <a:latin typeface="Arial"/>
                <a:ea typeface="微软雅黑"/>
                <a:cs typeface="微软雅黑"/>
              </a:rPr>
              <a:t>• 核心消融；中期检查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1809750"/>
          </a:xfrm>
          <a:prstGeom prst="roundRect">
            <a:avLst>
              <a:gd name="adj" fmla="val 6315"/>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评测—训练—应用整合为统一框架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3790950"/>
            <a:ext cx="11277600" cy="1428750"/>
          </a:xfrm>
          <a:prstGeom prst="roundRect">
            <a:avLst>
              <a:gd name="adj" fmla="val 800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39052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210050"/>
            <a:ext cx="10991850" cy="771525"/>
          </a:xfrm>
          <a:prstGeom prst="rect">
            <a:avLst/>
          </a:prstGeom>
          <a:noFill/>
        </p:spPr>
        <p:txBody>
          <a:bodyPr wrap="square" lIns="0" rIns="0" tIns="0" bIns="0" anchor="t">
            <a:noAutofit/>
          </a:bodyPr>
          <a:lstStyle/>
          <a:p>
            <a:pPr algn="l">
              <a:lnSpc>
                <a:spcPts val="2025"/>
              </a:lnSpc>
              <a:spcBef>
                <a:spcPts val="0"/>
              </a:spcBef>
              <a:spcAft>
                <a:spcPts val="0"/>
              </a:spcAft>
            </a:pPr>
            <a:r>
              <a:rPr sz="1125" b="0" i="0">
                <a:solidFill>
                  <a:srgbClr val="1F1A22"/>
                </a:solidFill>
                <a:latin typeface="Arial"/>
                <a:ea typeface="微软雅黑"/>
                <a:cs typeface="微软雅黑"/>
              </a:rPr>
              <a:t>• 构建覆盖多个职业的个人电脑可验证环境与 SFT / RL 任务流水线，验证其对职业化个人智能体能力的提升</a:t>
            </a:r>
          </a:p>
          <a:p>
            <a:pPr algn="l">
              <a:lnSpc>
                <a:spcPts val="2025"/>
              </a:lnSpc>
              <a:spcBef>
                <a:spcPts val="0"/>
              </a:spcBef>
              <a:spcAft>
                <a:spcPts val="0"/>
              </a:spcAft>
            </a:pPr>
            <a:r>
              <a:rPr sz="1125" b="0" i="0">
                <a:solidFill>
                  <a:srgbClr val="1F1A22"/>
                </a:solidFill>
                <a:latin typeface="Arial"/>
                <a:ea typeface="微软雅黑"/>
                <a:cs typeface="微软雅黑"/>
              </a:rPr>
              <a:t>• 建立物理世界生成的反事实干预基准与因果修复方法，验证其对跨条件物理泛化的提升</a:t>
            </a:r>
          </a:p>
          <a:p>
            <a:pPr algn="l">
              <a:lnSpc>
                <a:spcPts val="2025"/>
              </a:lnSpc>
              <a:spcBef>
                <a:spcPts val="0"/>
              </a:spcBef>
              <a:spcAft>
                <a:spcPts val="0"/>
              </a:spcAft>
            </a:pPr>
            <a:r>
              <a:rPr sz="1125" b="0" i="0">
                <a:solidFill>
                  <a:srgbClr val="1F1A22"/>
                </a:solidFill>
                <a:latin typeface="Arial"/>
                <a:ea typeface="微软雅黑"/>
                <a:cs typeface="微软雅黑"/>
              </a:rPr>
              <a:t>• 形成"评测—训练—应用"的可扩展框架，产出高水平论文并开源基准、环境与代码；完成学位论文</a:t>
            </a:r>
          </a:p>
        </p:txBody>
      </p:sp>
      <p:sp>
        <p:nvSpPr>
          <p:cNvPr id="29" name="Rounded Rectangle 2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预期成果：研究三形成 1–2 篇高水平论文（职业化个人智能体；物理世界智能体），开源环境、基准与代码</a:t>
            </a:r>
          </a:p>
        </p:txBody>
      </p:sp>
      <p:sp>
        <p:nvSpPr>
          <p:cNvPr id="31" name="TextBox 3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研究生：周博文　｜　导师：王好谦 教授</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