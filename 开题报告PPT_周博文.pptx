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秒】各位老师好，我是周博文，导师是王好谦老师。我的开题题目是《面向通用数字智能体的可扩展评测与训练框架研究》。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秒】通用数字智能体要在真实电脑里自主完成长程工作。它有两类能力：命令行和代码代表的 CLI 能力，精确、可验证；截图和键鼠代表的 GUI 能力，通用、能看见界面。真实任务往往要在两者之间反复切换。</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秒】现有研究分三类方法和一个新前沿。纯 CLI 看不见界面；纯 GUI 开销高、缺少验证信号；混合方法刚出现，评测仍只看结果；走向真实世界的个人智能体和物理世界生成，缺少职业环境和物理验证。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秒】由此归纳出三个挑战。左图：只看结果判分，GPT-5.5 的成功率从 53.5 被审计降到 33.3；中图：失败主要来自违规取巧和跨通道失控，视觉错误不到 4%。三个挑战——任务范式与能力度量不匹配、混合行为难以习得、通用能力难以落到真实世界——分别对应评测、训练、应用三项研究。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秒】三项研究前后衔接，贯穿主线是可扩展：每一项都设计一种可自动构造的验证器，让评测和训练能随任务规模扩展。研究一、二已经完成，研究三是后续主体。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秒】研究一是评测。我最初在纯 GUI 范式下做效率优化：GUIPruner 把 FLOPs 降低 3.4 倍，ST-Lite 用 20% 的 KV 缓存持平完整缓存。但每一步看整屏的本质没变。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秒】受 2026 年初 OpenClaw 的启发，我们在 OSWorld 上做了受控对照：同一模型、同一判官，不看像素的 CLI 智能体成功率 79.1%，与纯视觉的 77.3% 相近。但反过来，仅用 CLI 难以观测渲染结果，需要视觉的任务上 GUI 更强。两类能力互补，关键在于范式与度量。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秒】于是我们提出 WeaveBench：只收录仅用任一通道都无法完成的长程任务，用轨迹感知判官审计全过程。最佳组合仅 41.2%；只看结果会比审计口径高 10 到 20 个点；失败主要集中在自主编排与自我验证。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秒】研究二训练这种行为。我们以应用复刻为场景：对错要运行后看界面，天然需要两类能力交织；以原版应用为验证参照，自动生成隐藏测试来筛选轨迹。3.5 万条轨迹微调后，分布外基准最高提升 17.9 个点，WeaveBench 从 35.7 升到 48.2。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秒】研究三是后续主体，先做职业化个人智能体。现有产品的个人化停留在记忆和人设。我们要回答：个人环境和职业知识能否构造成可验证的训练环境，训练后能否跨职业泛化。方法是仿真业务系统、用脱敏数据驱动环境、以数据库状态为验证器构造 SFT 与 RL 流水线；先做深财务、电商、法律两到三个职业。</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秒】拓展方向是物理仿真：代码智能体生成的世界表象正确，不代表机制正确。拉大骨牌间距后，关键帧动画仍然全部倒下。我们用反事实干预作为可自动构造的验证器，只做刚体场景。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秒】目前研究一、二形成 EMNLP 2026 两篇、KDD 2027 在投一篇和一份技术报告，相关环境与数据已用于模型优化。</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秒】三个创新点：轨迹感知的可信评测，以复刻为 oracle 的可验证训练，以及把验证从结果审计扩展到业务状态与物理干预。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秒】后续一年先保证必达目标：两到三个职业的可验证环境与训练；强化学习和物理仿真作为拓展目标。汇报完毕，请各位老师批评指正。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可靠修复。方法是物理落地的验证与因果修复：智能体构建物理世界，执行仿真并记录状态轨迹，由基于干预的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microsoft.com/office/2007/relationships/media" Target="../media/media2.mp4"/><Relationship Id="rId9" Type="http://schemas.openxmlformats.org/officeDocument/2006/relationships/video" Target="../media/media2.mp4"/><Relationship Id="rId10" Type="http://schemas.openxmlformats.org/officeDocument/2006/relationships/image" Target="../media/image18.jp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4.jpg"/><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image" Target="../media/image14.jpg"/><Relationship Id="rId8" Type="http://schemas.microsoft.com/office/2007/relationships/media" Target="../media/media4.mp4"/><Relationship Id="rId9" Type="http://schemas.openxmlformats.org/officeDocument/2006/relationships/video" Target="../media/media4.mp4"/><Relationship Id="rId10" Type="http://schemas.openxmlformats.org/officeDocument/2006/relationships/image" Target="../media/image35.jpg"/><Relationship Id="rId11" Type="http://schemas.openxmlformats.org/officeDocument/2006/relationships/image" Target="../media/image36.png"/><Relationship Id="rId1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7.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microsoft.com/office/2007/relationships/media" Target="../media/media2.mp4"/><Relationship Id="rId10" Type="http://schemas.openxmlformats.org/officeDocument/2006/relationships/video" Target="../media/media2.mp4"/><Relationship Id="rId11" Type="http://schemas.openxmlformats.org/officeDocument/2006/relationships/image" Target="../media/image18.jpg"/><Relationship Id="rId1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1.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Agent，涵盖计算机操作智能体 CUA）旨在真实电脑中</a:t>
            </a:r>
            <a:r>
              <a:rPr sz="1500" b="1" i="0">
                <a:solidFill>
                  <a:srgbClr val="C0392B"/>
                </a:solidFill>
                <a:latin typeface="Arial"/>
                <a:ea typeface="微软雅黑"/>
                <a:cs typeface="微软雅黑"/>
              </a:rPr>
              <a:t>自主完成长程数字任务</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 </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（命令行与编程）与 </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（界面感知与交互）的协同实现任务闭环。</a:t>
            </a:r>
          </a:p>
        </p:txBody>
      </p:sp>
      <p:sp>
        <p:nvSpPr>
          <p:cNvPr id="4" name="Rounded Rectangle 3"/>
          <p:cNvSpPr/>
          <p:nvPr/>
        </p:nvSpPr>
        <p:spPr>
          <a:xfrm>
            <a:off x="457200" y="1676400"/>
            <a:ext cx="78105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hybridtraj.png"/>
          <p:cNvPicPr>
            <a:picLocks noChangeAspect="1"/>
          </p:cNvPicPr>
          <p:nvPr/>
        </p:nvPicPr>
        <p:blipFill>
          <a:blip r:embed="rId2"/>
          <a:stretch>
            <a:fillRect/>
          </a:stretch>
        </p:blipFill>
        <p:spPr>
          <a:xfrm>
            <a:off x="514350" y="1920329"/>
            <a:ext cx="7696200" cy="3036391"/>
          </a:xfrm>
          <a:prstGeom prst="rect">
            <a:avLst/>
          </a:prstGeom>
        </p:spPr>
      </p:pic>
      <p:sp>
        <p:nvSpPr>
          <p:cNvPr id="6" name="TextBox 5"/>
          <p:cNvSpPr txBox="1"/>
          <p:nvPr/>
        </p:nvSpPr>
        <p:spPr>
          <a:xfrm>
            <a:off x="485775" y="518160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一条典型混合轨迹：CLI 读日志、改配置、重启服务，GUI 观察页面并核验渲染结果（示意图）</a:t>
            </a:r>
          </a:p>
        </p:txBody>
      </p:sp>
      <p:sp>
        <p:nvSpPr>
          <p:cNvPr id="7" name="Rounded Rectangle 6"/>
          <p:cNvSpPr/>
          <p:nvPr/>
        </p:nvSpPr>
        <p:spPr>
          <a:xfrm>
            <a:off x="8420100" y="1676400"/>
            <a:ext cx="3314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591550" y="1828800"/>
            <a:ext cx="7715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24900" y="1828800"/>
            <a:ext cx="5619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8591550" y="2171700"/>
            <a:ext cx="30289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命令行与编程</a:t>
            </a:r>
          </a:p>
        </p:txBody>
      </p:sp>
      <p:sp>
        <p:nvSpPr>
          <p:cNvPr id="11" name="TextBox 10"/>
          <p:cNvSpPr txBox="1"/>
          <p:nvPr/>
        </p:nvSpPr>
        <p:spPr>
          <a:xfrm>
            <a:off x="8591550" y="2457450"/>
            <a:ext cx="30099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读写文件、管理服务、编写并运行程序</a:t>
            </a:r>
          </a:p>
          <a:p>
            <a:pPr algn="l">
              <a:lnSpc>
                <a:spcPts val="1670"/>
              </a:lnSpc>
              <a:spcBef>
                <a:spcPts val="0"/>
              </a:spcBef>
              <a:spcAft>
                <a:spcPts val="0"/>
              </a:spcAft>
            </a:pPr>
            <a:r>
              <a:rPr sz="1012" b="1" i="0">
                <a:solidFill>
                  <a:srgbClr val="1E7B5A"/>
                </a:solidFill>
                <a:latin typeface="Arial"/>
                <a:ea typeface="微软雅黑"/>
                <a:cs typeface="微软雅黑"/>
              </a:rPr>
              <a:t>优势</a:t>
            </a:r>
            <a:r>
              <a:rPr sz="1012" b="0" i="0">
                <a:solidFill>
                  <a:srgbClr val="1F1A22"/>
                </a:solidFill>
                <a:latin typeface="Arial"/>
                <a:ea typeface="微软雅黑"/>
                <a:cs typeface="微软雅黑"/>
              </a:rPr>
              <a:t>　精确、高效、结果可验证</a:t>
            </a:r>
          </a:p>
          <a:p>
            <a:pPr algn="l">
              <a:lnSpc>
                <a:spcPts val="1670"/>
              </a:lnSpc>
              <a:spcBef>
                <a:spcPts val="0"/>
              </a:spcBef>
              <a:spcAft>
                <a:spcPts val="0"/>
              </a:spcAft>
            </a:pPr>
            <a:r>
              <a:rPr sz="1012" b="0" i="0">
                <a:solidFill>
                  <a:srgbClr val="8A8490"/>
                </a:solidFill>
                <a:latin typeface="Arial"/>
                <a:ea typeface="微软雅黑"/>
                <a:cs typeface="微软雅黑"/>
              </a:rPr>
              <a:t>Terminal-Bench · SWE-bench · OpenClaw</a:t>
            </a:r>
          </a:p>
        </p:txBody>
      </p:sp>
      <p:sp>
        <p:nvSpPr>
          <p:cNvPr id="12" name="Rounded Rectangle 11"/>
          <p:cNvSpPr/>
          <p:nvPr/>
        </p:nvSpPr>
        <p:spPr>
          <a:xfrm>
            <a:off x="8420100" y="3657600"/>
            <a:ext cx="3314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591550" y="381000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24900" y="381000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15" name="TextBox 14"/>
          <p:cNvSpPr txBox="1"/>
          <p:nvPr/>
        </p:nvSpPr>
        <p:spPr>
          <a:xfrm>
            <a:off x="8591550" y="4152900"/>
            <a:ext cx="30289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6F8B"/>
                </a:solidFill>
                <a:latin typeface="Arial"/>
                <a:ea typeface="微软雅黑"/>
                <a:cs typeface="微软雅黑"/>
              </a:rPr>
              <a:t>界面感知与交互</a:t>
            </a:r>
          </a:p>
        </p:txBody>
      </p:sp>
      <p:sp>
        <p:nvSpPr>
          <p:cNvPr id="16" name="TextBox 15"/>
          <p:cNvSpPr txBox="1"/>
          <p:nvPr/>
        </p:nvSpPr>
        <p:spPr>
          <a:xfrm>
            <a:off x="8591550" y="4438650"/>
            <a:ext cx="30099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基于截图感知界面，以键鼠操作软件</a:t>
            </a:r>
          </a:p>
          <a:p>
            <a:pPr algn="l">
              <a:lnSpc>
                <a:spcPts val="1670"/>
              </a:lnSpc>
              <a:spcBef>
                <a:spcPts val="0"/>
              </a:spcBef>
              <a:spcAft>
                <a:spcPts val="0"/>
              </a:spcAft>
            </a:pPr>
            <a:r>
              <a:rPr sz="1012" b="1" i="0">
                <a:solidFill>
                  <a:srgbClr val="1E7B5A"/>
                </a:solidFill>
                <a:latin typeface="Arial"/>
                <a:ea typeface="微软雅黑"/>
                <a:cs typeface="微软雅黑"/>
              </a:rPr>
              <a:t>优势</a:t>
            </a:r>
            <a:r>
              <a:rPr sz="1012" b="0" i="0">
                <a:solidFill>
                  <a:srgbClr val="1F1A22"/>
                </a:solidFill>
                <a:latin typeface="Arial"/>
                <a:ea typeface="微软雅黑"/>
                <a:cs typeface="微软雅黑"/>
              </a:rPr>
              <a:t>　适用于各类图形界面软件，可见渲染结果</a:t>
            </a:r>
          </a:p>
          <a:p>
            <a:pPr algn="l">
              <a:lnSpc>
                <a:spcPts val="1670"/>
              </a:lnSpc>
              <a:spcBef>
                <a:spcPts val="0"/>
              </a:spcBef>
              <a:spcAft>
                <a:spcPts val="0"/>
              </a:spcAft>
            </a:pPr>
            <a:r>
              <a:rPr sz="1012" b="0" i="0">
                <a:solidFill>
                  <a:srgbClr val="8A8490"/>
                </a:solidFill>
                <a:latin typeface="Arial"/>
                <a:ea typeface="微软雅黑"/>
                <a:cs typeface="微软雅黑"/>
              </a:rPr>
              <a:t>OSWorld · UI-TARS</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两类能力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：真实任务要求智能体在同一轨迹中按需选择并切换</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通用数字智能体方法：三类方法 + 一个新前沿</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705100" cy="38100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28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CLI 能力方法</a:t>
            </a:r>
          </a:p>
        </p:txBody>
      </p:sp>
      <p:sp>
        <p:nvSpPr>
          <p:cNvPr id="7" name="TextBox 6"/>
          <p:cNvSpPr txBox="1"/>
          <p:nvPr/>
        </p:nvSpPr>
        <p:spPr>
          <a:xfrm>
            <a:off x="428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Terminal-Bench · SWE-agent · OpenClaw</a:t>
            </a:r>
          </a:p>
        </p:txBody>
      </p:sp>
      <p:sp>
        <p:nvSpPr>
          <p:cNvPr id="8" name="Rounded Rectangle 7"/>
          <p:cNvSpPr/>
          <p:nvPr/>
        </p:nvSpPr>
        <p:spPr>
          <a:xfrm>
            <a:off x="457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95300" y="2247900"/>
            <a:ext cx="2628900" cy="1524000"/>
          </a:xfrm>
          <a:prstGeom prst="rect">
            <a:avLst/>
          </a:prstGeom>
        </p:spPr>
      </p:pic>
      <p:sp>
        <p:nvSpPr>
          <p:cNvPr id="10" name="Rounded Rectangle 9"/>
          <p:cNvSpPr/>
          <p:nvPr/>
        </p:nvSpPr>
        <p:spPr>
          <a:xfrm>
            <a:off x="457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2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动作精确高效，状态可直接读取；单元测试即可验证，强化学习已规模化</a:t>
            </a:r>
          </a:p>
        </p:txBody>
      </p:sp>
      <p:sp>
        <p:nvSpPr>
          <p:cNvPr id="12" name="Rounded Rectangle 11"/>
          <p:cNvSpPr/>
          <p:nvPr/>
        </p:nvSpPr>
        <p:spPr>
          <a:xfrm>
            <a:off x="457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52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看不见渲染结果；仅覆盖具备命令行或 API 的软件</a:t>
            </a:r>
          </a:p>
        </p:txBody>
      </p:sp>
      <p:sp>
        <p:nvSpPr>
          <p:cNvPr id="14" name="Rounded Rectangle 13"/>
          <p:cNvSpPr/>
          <p:nvPr/>
        </p:nvSpPr>
        <p:spPr>
          <a:xfrm>
            <a:off x="3314700" y="1428750"/>
            <a:ext cx="2705100" cy="38100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86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GUI 能力方法</a:t>
            </a:r>
          </a:p>
        </p:txBody>
      </p:sp>
      <p:sp>
        <p:nvSpPr>
          <p:cNvPr id="16" name="TextBox 15"/>
          <p:cNvSpPr txBox="1"/>
          <p:nvPr/>
        </p:nvSpPr>
        <p:spPr>
          <a:xfrm>
            <a:off x="32861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OSWorld · UI-TARS-2 · FastV · SnapKV</a:t>
            </a:r>
          </a:p>
        </p:txBody>
      </p:sp>
      <p:sp>
        <p:nvSpPr>
          <p:cNvPr id="17" name="Rounded Rectangle 16"/>
          <p:cNvSpPr/>
          <p:nvPr/>
        </p:nvSpPr>
        <p:spPr>
          <a:xfrm>
            <a:off x="33147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f_uitars2_demo.png"/>
          <p:cNvPicPr>
            <a:picLocks noChangeAspect="1"/>
          </p:cNvPicPr>
          <p:nvPr/>
        </p:nvPicPr>
        <p:blipFill>
          <a:blip r:embed="rId5"/>
          <a:stretch>
            <a:fillRect/>
          </a:stretch>
        </p:blipFill>
        <p:spPr>
          <a:xfrm>
            <a:off x="3654219" y="2247900"/>
            <a:ext cx="2026061" cy="1524000"/>
          </a:xfrm>
          <a:prstGeom prst="rect">
            <a:avLst/>
          </a:prstGeom>
        </p:spPr>
      </p:pic>
      <p:sp>
        <p:nvSpPr>
          <p:cNvPr id="19" name="Rounded Rectangle 18"/>
          <p:cNvSpPr/>
          <p:nvPr/>
        </p:nvSpPr>
        <p:spPr>
          <a:xfrm>
            <a:off x="3314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099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截图 + 键鼠为通用接口，可操作任意软件；OSWorld 两年由 12% 升至 80%+</a:t>
            </a:r>
          </a:p>
        </p:txBody>
      </p:sp>
      <p:sp>
        <p:nvSpPr>
          <p:cNvPr id="21" name="Rounded Rectangle 20"/>
          <p:cNvSpPr/>
          <p:nvPr/>
        </p:nvSpPr>
        <p:spPr>
          <a:xfrm>
            <a:off x="3314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4099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截图累积致开销高、步数多；通用压缩未利用 GUI 结构；缺天然 verifier</a:t>
            </a:r>
          </a:p>
        </p:txBody>
      </p:sp>
      <p:sp>
        <p:nvSpPr>
          <p:cNvPr id="23" name="Rounded Rectangle 22"/>
          <p:cNvSpPr/>
          <p:nvPr/>
        </p:nvSpPr>
        <p:spPr>
          <a:xfrm>
            <a:off x="6172200" y="1428750"/>
            <a:ext cx="2705100" cy="381000"/>
          </a:xfrm>
          <a:prstGeom prst="roundRect">
            <a:avLst>
              <a:gd name="adj" fmla="val 2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143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混合能力方法</a:t>
            </a:r>
          </a:p>
        </p:txBody>
      </p:sp>
      <p:sp>
        <p:nvSpPr>
          <p:cNvPr id="25" name="TextBox 24"/>
          <p:cNvSpPr txBox="1"/>
          <p:nvPr/>
        </p:nvSpPr>
        <p:spPr>
          <a:xfrm>
            <a:off x="6143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CoAct-1 · OSWorld-MCP · GUI-Genesis</a:t>
            </a:r>
          </a:p>
        </p:txBody>
      </p:sp>
      <p:sp>
        <p:nvSpPr>
          <p:cNvPr id="26" name="Rounded Rectangle 25"/>
          <p:cNvSpPr/>
          <p:nvPr/>
        </p:nvSpPr>
        <p:spPr>
          <a:xfrm>
            <a:off x="6172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ref_guigenesis.png"/>
          <p:cNvPicPr>
            <a:picLocks noChangeAspect="1"/>
          </p:cNvPicPr>
          <p:nvPr/>
        </p:nvPicPr>
        <p:blipFill>
          <a:blip r:embed="rId6"/>
          <a:stretch>
            <a:fillRect/>
          </a:stretch>
        </p:blipFill>
        <p:spPr>
          <a:xfrm>
            <a:off x="6210300" y="2522719"/>
            <a:ext cx="2628900" cy="974360"/>
          </a:xfrm>
          <a:prstGeom prst="rect">
            <a:avLst/>
          </a:prstGeom>
        </p:spPr>
      </p:pic>
      <p:sp>
        <p:nvSpPr>
          <p:cNvPr id="28" name="Rounded Rectangle 27"/>
          <p:cNvSpPr/>
          <p:nvPr/>
        </p:nvSpPr>
        <p:spPr>
          <a:xfrm>
            <a:off x="6172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67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混合动作空间缩短轨迹；以参考应用为 oracle 构建可验证环境</a:t>
            </a:r>
          </a:p>
        </p:txBody>
      </p:sp>
      <p:sp>
        <p:nvSpPr>
          <p:cNvPr id="30" name="Rounded Rectangle 29"/>
          <p:cNvSpPr/>
          <p:nvPr/>
        </p:nvSpPr>
        <p:spPr>
          <a:xfrm>
            <a:off x="6172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67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第二能力多为辅助（+3–5 pp），仅依据结果判分；可验证环境局限于单一界面</a:t>
            </a:r>
          </a:p>
        </p:txBody>
      </p:sp>
      <p:sp>
        <p:nvSpPr>
          <p:cNvPr id="32" name="Rounded Rectangle 31"/>
          <p:cNvSpPr/>
          <p:nvPr/>
        </p:nvSpPr>
        <p:spPr>
          <a:xfrm>
            <a:off x="9029700" y="1428750"/>
            <a:ext cx="2705100" cy="381000"/>
          </a:xfrm>
          <a:prstGeom prst="roundRect">
            <a:avLst>
              <a:gd name="adj" fmla="val 20000"/>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01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新前沿：走向真实世界</a:t>
            </a:r>
          </a:p>
        </p:txBody>
      </p:sp>
      <p:sp>
        <p:nvSpPr>
          <p:cNvPr id="34" name="TextBox 33"/>
          <p:cNvSpPr txBox="1"/>
          <p:nvPr/>
        </p:nvSpPr>
        <p:spPr>
          <a:xfrm>
            <a:off x="9029700" y="1866900"/>
            <a:ext cx="2743200" cy="319980"/>
          </a:xfrm>
          <a:prstGeom prst="rect">
            <a:avLst/>
          </a:prstGeom>
          <a:noFill/>
        </p:spPr>
        <p:txBody>
          <a:bodyPr wrap="square" lIns="0" rIns="0" tIns="0" bIns="0" anchor="t">
            <a:noAutofit/>
          </a:bodyPr>
          <a:lstStyle/>
          <a:p>
            <a:pPr algn="ctr">
              <a:lnSpc>
                <a:spcPts val="1260"/>
              </a:lnSpc>
              <a:spcBef>
                <a:spcPts val="0"/>
              </a:spcBef>
              <a:spcAft>
                <a:spcPts val="0"/>
              </a:spcAft>
            </a:pPr>
            <a:r>
              <a:rPr sz="900" b="0" i="0">
                <a:solidFill>
                  <a:srgbClr val="8A8490"/>
                </a:solidFill>
                <a:latin typeface="Arial"/>
                <a:ea typeface="微软雅黑"/>
                <a:cs typeface="微软雅黑"/>
              </a:rPr>
              <a:t>dots · Muse · OpenClaw · SimWorlds · RobotWorld</a:t>
            </a:r>
          </a:p>
        </p:txBody>
      </p:sp>
      <p:sp>
        <p:nvSpPr>
          <p:cNvPr id="35" name="Rounded Rectangle 34"/>
          <p:cNvSpPr/>
          <p:nvPr/>
        </p:nvSpPr>
        <p:spPr>
          <a:xfrm>
            <a:off x="902970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p_openclaw.png"/>
          <p:cNvPicPr>
            <a:picLocks noChangeAspect="1"/>
          </p:cNvPicPr>
          <p:nvPr/>
        </p:nvPicPr>
        <p:blipFill>
          <a:blip r:embed="rId7"/>
          <a:stretch>
            <a:fillRect/>
          </a:stretch>
        </p:blipFill>
        <p:spPr>
          <a:xfrm>
            <a:off x="9067800" y="2621429"/>
            <a:ext cx="1238250" cy="776941"/>
          </a:xfrm>
          <a:prstGeom prst="rect">
            <a:avLst/>
          </a:prstGeom>
        </p:spPr>
      </p:pic>
      <p:sp>
        <p:nvSpPr>
          <p:cNvPr id="37" name="Rounded Rectangle 36"/>
          <p:cNvSpPr/>
          <p:nvPr/>
        </p:nvSpPr>
        <p:spPr>
          <a:xfrm>
            <a:off x="1042035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robot_overview.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10458450" y="2247900"/>
            <a:ext cx="1238250" cy="1524000"/>
          </a:xfrm>
          <a:prstGeom prst="rect">
            <a:avLst/>
          </a:prstGeom>
        </p:spPr>
      </p:pic>
      <p:sp>
        <p:nvSpPr>
          <p:cNvPr id="39" name="Rounded Rectangle 38"/>
          <p:cNvSpPr/>
          <p:nvPr/>
        </p:nvSpPr>
        <p:spPr>
          <a:xfrm>
            <a:off x="9029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124950" y="3962400"/>
            <a:ext cx="2552700" cy="535781"/>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个人智能体具备记忆与跨应用执行；Coding Agent 已能生成物理仿真与机器人程序</a:t>
            </a:r>
          </a:p>
        </p:txBody>
      </p:sp>
      <p:sp>
        <p:nvSpPr>
          <p:cNvPr id="41" name="Rounded Rectangle 40"/>
          <p:cNvSpPr/>
          <p:nvPr/>
        </p:nvSpPr>
        <p:spPr>
          <a:xfrm>
            <a:off x="9029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4950" y="4819650"/>
            <a:ext cx="2552700" cy="535781"/>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多在云端通用环境执行，职业特质不鲜明；主要评估原始条件下的生成结果，跨条件物理验证不足</a:t>
            </a:r>
          </a:p>
        </p:txBody>
      </p:sp>
      <p:sp>
        <p:nvSpPr>
          <p:cNvPr id="43" name="Rounded Rectangle 4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共同缺口：缺少</a:t>
            </a:r>
            <a:r>
              <a:rPr sz="1350" b="1" i="0">
                <a:solidFill>
                  <a:srgbClr val="F6C8FF"/>
                </a:solidFill>
                <a:latin typeface="Arial"/>
                <a:ea typeface="微软雅黑"/>
                <a:cs typeface="微软雅黑"/>
              </a:rPr>
              <a:t>统一范式与过程可信的评测</a:t>
            </a:r>
            <a:r>
              <a:rPr sz="1350" b="0" i="0">
                <a:solidFill>
                  <a:srgbClr val="FFFFFF"/>
                </a:solidFill>
                <a:latin typeface="Arial"/>
                <a:ea typeface="微软雅黑"/>
                <a:cs typeface="微软雅黑"/>
              </a:rPr>
              <a:t>、</a:t>
            </a:r>
            <a:r>
              <a:rPr sz="1350" b="1" i="0">
                <a:solidFill>
                  <a:srgbClr val="F6C8FF"/>
                </a:solidFill>
                <a:latin typeface="Arial"/>
                <a:ea typeface="微软雅黑"/>
                <a:cs typeface="微软雅黑"/>
              </a:rPr>
              <a:t>可验证的混合训练环境</a:t>
            </a:r>
            <a:r>
              <a:rPr sz="1350" b="0" i="0">
                <a:solidFill>
                  <a:srgbClr val="FFFFFF"/>
                </a:solidFill>
                <a:latin typeface="Arial"/>
                <a:ea typeface="微软雅黑"/>
                <a:cs typeface="微软雅黑"/>
              </a:rPr>
              <a:t>，以及</a:t>
            </a:r>
            <a:r>
              <a:rPr sz="1350" b="1" i="0">
                <a:solidFill>
                  <a:srgbClr val="F6C8FF"/>
                </a:solidFill>
                <a:latin typeface="Arial"/>
                <a:ea typeface="微软雅黑"/>
                <a:cs typeface="微软雅黑"/>
              </a:rPr>
              <a:t>面向真实世界的落地验证</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38"/>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三个关键挑战 → 三项研究</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28625" y="1524000"/>
            <a:ext cx="36766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仅结果评分 vs 轨迹审计后（成功率 %，OpenClaw 运行时）</a:t>
            </a:r>
          </a:p>
        </p:txBody>
      </p:sp>
      <p:sp>
        <p:nvSpPr>
          <p:cNvPr id="7" name="Rounded Rectangle 6"/>
          <p:cNvSpPr/>
          <p:nvPr/>
        </p:nvSpPr>
        <p:spPr>
          <a:xfrm>
            <a:off x="742950" y="2428875"/>
            <a:ext cx="285750" cy="1476375"/>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47750" y="2990850"/>
            <a:ext cx="285750" cy="914400"/>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8175" y="225742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53.5</a:t>
            </a:r>
          </a:p>
        </p:txBody>
      </p:sp>
      <p:sp>
        <p:nvSpPr>
          <p:cNvPr id="10" name="TextBox 9"/>
          <p:cNvSpPr txBox="1"/>
          <p:nvPr/>
        </p:nvSpPr>
        <p:spPr>
          <a:xfrm>
            <a:off x="942975" y="281940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33.3</a:t>
            </a:r>
          </a:p>
        </p:txBody>
      </p:sp>
      <p:sp>
        <p:nvSpPr>
          <p:cNvPr id="11" name="TextBox 10"/>
          <p:cNvSpPr txBox="1"/>
          <p:nvPr/>
        </p:nvSpPr>
        <p:spPr>
          <a:xfrm>
            <a:off x="5810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GPT-5.5</a:t>
            </a:r>
          </a:p>
        </p:txBody>
      </p:sp>
      <p:sp>
        <p:nvSpPr>
          <p:cNvPr id="12" name="Rounded Rectangle 11"/>
          <p:cNvSpPr/>
          <p:nvPr/>
        </p:nvSpPr>
        <p:spPr>
          <a:xfrm>
            <a:off x="1581150" y="2857500"/>
            <a:ext cx="285750" cy="1047750"/>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885950" y="3276600"/>
            <a:ext cx="285750" cy="628650"/>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76375" y="268605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38.1</a:t>
            </a:r>
          </a:p>
        </p:txBody>
      </p:sp>
      <p:sp>
        <p:nvSpPr>
          <p:cNvPr id="15" name="TextBox 14"/>
          <p:cNvSpPr txBox="1"/>
          <p:nvPr/>
        </p:nvSpPr>
        <p:spPr>
          <a:xfrm>
            <a:off x="1781175" y="310515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22.8</a:t>
            </a:r>
          </a:p>
        </p:txBody>
      </p:sp>
      <p:sp>
        <p:nvSpPr>
          <p:cNvPr id="16" name="TextBox 15"/>
          <p:cNvSpPr txBox="1"/>
          <p:nvPr/>
        </p:nvSpPr>
        <p:spPr>
          <a:xfrm>
            <a:off x="14192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GPT-5.4</a:t>
            </a:r>
          </a:p>
        </p:txBody>
      </p:sp>
      <p:sp>
        <p:nvSpPr>
          <p:cNvPr id="17" name="Rounded Rectangle 16"/>
          <p:cNvSpPr/>
          <p:nvPr/>
        </p:nvSpPr>
        <p:spPr>
          <a:xfrm>
            <a:off x="2419350" y="2952750"/>
            <a:ext cx="285750" cy="952500"/>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724150" y="3400425"/>
            <a:ext cx="285750" cy="504825"/>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314575" y="278130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34.8</a:t>
            </a:r>
          </a:p>
        </p:txBody>
      </p:sp>
      <p:sp>
        <p:nvSpPr>
          <p:cNvPr id="20" name="TextBox 19"/>
          <p:cNvSpPr txBox="1"/>
          <p:nvPr/>
        </p:nvSpPr>
        <p:spPr>
          <a:xfrm>
            <a:off x="2619375" y="322897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18.4</a:t>
            </a:r>
          </a:p>
        </p:txBody>
      </p:sp>
      <p:sp>
        <p:nvSpPr>
          <p:cNvPr id="21" name="TextBox 20"/>
          <p:cNvSpPr txBox="1"/>
          <p:nvPr/>
        </p:nvSpPr>
        <p:spPr>
          <a:xfrm>
            <a:off x="22574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GPT-5.3-codex</a:t>
            </a:r>
          </a:p>
        </p:txBody>
      </p:sp>
      <p:sp>
        <p:nvSpPr>
          <p:cNvPr id="22" name="Rounded Rectangle 21"/>
          <p:cNvSpPr/>
          <p:nvPr/>
        </p:nvSpPr>
        <p:spPr>
          <a:xfrm>
            <a:off x="3257550" y="3457575"/>
            <a:ext cx="285750" cy="447675"/>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562350" y="3743325"/>
            <a:ext cx="285750" cy="161925"/>
          </a:xfrm>
          <a:prstGeom prst="roundRect">
            <a:avLst>
              <a:gd name="adj" fmla="val 2352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775" y="328612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16.4</a:t>
            </a:r>
          </a:p>
        </p:txBody>
      </p:sp>
      <p:sp>
        <p:nvSpPr>
          <p:cNvPr id="25" name="TextBox 24"/>
          <p:cNvSpPr txBox="1"/>
          <p:nvPr/>
        </p:nvSpPr>
        <p:spPr>
          <a:xfrm>
            <a:off x="3457575" y="357187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6.1</a:t>
            </a:r>
          </a:p>
        </p:txBody>
      </p:sp>
      <p:sp>
        <p:nvSpPr>
          <p:cNvPr id="26" name="TextBox 25"/>
          <p:cNvSpPr txBox="1"/>
          <p:nvPr/>
        </p:nvSpPr>
        <p:spPr>
          <a:xfrm>
            <a:off x="30956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GPT-5.2-codex</a:t>
            </a:r>
          </a:p>
        </p:txBody>
      </p:sp>
      <p:sp>
        <p:nvSpPr>
          <p:cNvPr id="27" name="Rectangle 26"/>
          <p:cNvSpPr/>
          <p:nvPr/>
        </p:nvSpPr>
        <p:spPr>
          <a:xfrm>
            <a:off x="628650" y="3905250"/>
            <a:ext cx="33337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28650" y="3905250"/>
            <a:ext cx="33337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8625" y="1771650"/>
            <a:ext cx="36766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B9A6C0"/>
                </a:solidFill>
                <a:latin typeface="Arial"/>
                <a:ea typeface="微软雅黑"/>
                <a:cs typeface="微软雅黑"/>
              </a:rPr>
              <a:t>■</a:t>
            </a:r>
            <a:r>
              <a:rPr sz="862" b="0" i="0">
                <a:solidFill>
                  <a:srgbClr val="4A4450"/>
                </a:solidFill>
                <a:latin typeface="Arial"/>
                <a:ea typeface="微软雅黑"/>
                <a:cs typeface="微软雅黑"/>
              </a:rPr>
              <a:t> 仅结果评分　</a:t>
            </a:r>
            <a:r>
              <a:rPr sz="862" b="1" i="0">
                <a:solidFill>
                  <a:srgbClr val="660874"/>
                </a:solidFill>
                <a:latin typeface="Arial"/>
                <a:ea typeface="微软雅黑"/>
                <a:cs typeface="微软雅黑"/>
              </a:rPr>
              <a:t>■</a:t>
            </a:r>
            <a:r>
              <a:rPr sz="862" b="0" i="0">
                <a:solidFill>
                  <a:srgbClr val="4A4450"/>
                </a:solidFill>
                <a:latin typeface="Arial"/>
                <a:ea typeface="微软雅黑"/>
                <a:cs typeface="微软雅黑"/>
              </a:rPr>
              <a:t> 轨迹审计后　[WeaveBench]</a:t>
            </a:r>
          </a:p>
        </p:txBody>
      </p:sp>
      <p:sp>
        <p:nvSpPr>
          <p:cNvPr id="30" name="Rounded Rectangle 29"/>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257675" y="1524000"/>
            <a:ext cx="36766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1,735 条失败轨迹的归因（%）[WeaveBench]</a:t>
            </a:r>
          </a:p>
        </p:txBody>
      </p:sp>
      <p:sp>
        <p:nvSpPr>
          <p:cNvPr id="32" name="TextBox 31"/>
          <p:cNvSpPr txBox="1"/>
          <p:nvPr/>
        </p:nvSpPr>
        <p:spPr>
          <a:xfrm>
            <a:off x="4438650" y="1943100"/>
            <a:ext cx="1085850" cy="309562"/>
          </a:xfrm>
          <a:prstGeom prst="rect">
            <a:avLst/>
          </a:prstGeom>
          <a:noFill/>
        </p:spPr>
        <p:txBody>
          <a:bodyPr wrap="square" lIns="0" rIns="0" tIns="0" bIns="0" anchor="t">
            <a:noAutofit/>
          </a:bodyPr>
          <a:lstStyle/>
          <a:p>
            <a:pPr algn="l">
              <a:lnSpc>
                <a:spcPts val="1218"/>
              </a:lnSpc>
              <a:spcBef>
                <a:spcPts val="0"/>
              </a:spcBef>
              <a:spcAft>
                <a:spcPts val="0"/>
              </a:spcAft>
            </a:pPr>
            <a:r>
              <a:rPr sz="937" b="0" i="0">
                <a:solidFill>
                  <a:srgbClr val="1F1A22"/>
                </a:solidFill>
                <a:latin typeface="Arial"/>
                <a:ea typeface="微软雅黑"/>
                <a:cs typeface="微软雅黑"/>
              </a:rPr>
              <a:t>违规取巧</a:t>
            </a:r>
          </a:p>
          <a:p>
            <a:pPr algn="l">
              <a:lnSpc>
                <a:spcPts val="1218"/>
              </a:lnSpc>
              <a:spcBef>
                <a:spcPts val="0"/>
              </a:spcBef>
              <a:spcAft>
                <a:spcPts val="0"/>
              </a:spcAft>
            </a:pPr>
            <a:r>
              <a:rPr sz="787" b="0" i="0">
                <a:solidFill>
                  <a:srgbClr val="8A8490"/>
                </a:solidFill>
                <a:latin typeface="Arial"/>
                <a:ea typeface="微软雅黑"/>
                <a:cs typeface="微软雅黑"/>
              </a:rPr>
              <a:t>伪造渲染、硬编码指标</a:t>
            </a:r>
          </a:p>
        </p:txBody>
      </p:sp>
      <p:sp>
        <p:nvSpPr>
          <p:cNvPr id="33" name="Rounded Rectangle 32"/>
          <p:cNvSpPr/>
          <p:nvPr/>
        </p:nvSpPr>
        <p:spPr>
          <a:xfrm>
            <a:off x="5524500" y="1943100"/>
            <a:ext cx="2000250" cy="209550"/>
          </a:xfrm>
          <a:prstGeom prst="roundRect">
            <a:avLst>
              <a:gd name="adj" fmla="val 18181"/>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581900" y="19431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35</a:t>
            </a:r>
          </a:p>
        </p:txBody>
      </p:sp>
      <p:sp>
        <p:nvSpPr>
          <p:cNvPr id="35" name="TextBox 34"/>
          <p:cNvSpPr txBox="1"/>
          <p:nvPr/>
        </p:nvSpPr>
        <p:spPr>
          <a:xfrm>
            <a:off x="4438650" y="2362200"/>
            <a:ext cx="1085850" cy="309562"/>
          </a:xfrm>
          <a:prstGeom prst="rect">
            <a:avLst/>
          </a:prstGeom>
          <a:noFill/>
        </p:spPr>
        <p:txBody>
          <a:bodyPr wrap="square" lIns="0" rIns="0" tIns="0" bIns="0" anchor="t">
            <a:noAutofit/>
          </a:bodyPr>
          <a:lstStyle/>
          <a:p>
            <a:pPr algn="l">
              <a:lnSpc>
                <a:spcPts val="1218"/>
              </a:lnSpc>
              <a:spcBef>
                <a:spcPts val="0"/>
              </a:spcBef>
              <a:spcAft>
                <a:spcPts val="0"/>
              </a:spcAft>
            </a:pPr>
            <a:r>
              <a:rPr sz="937" b="0" i="0">
                <a:solidFill>
                  <a:srgbClr val="1F1A22"/>
                </a:solidFill>
                <a:latin typeface="Arial"/>
                <a:ea typeface="微软雅黑"/>
                <a:cs typeface="微软雅黑"/>
              </a:rPr>
              <a:t>跨通道执行失控</a:t>
            </a:r>
          </a:p>
          <a:p>
            <a:pPr algn="l">
              <a:lnSpc>
                <a:spcPts val="1218"/>
              </a:lnSpc>
              <a:spcBef>
                <a:spcPts val="0"/>
              </a:spcBef>
              <a:spcAft>
                <a:spcPts val="0"/>
              </a:spcAft>
            </a:pPr>
            <a:r>
              <a:rPr sz="787" b="0" i="0">
                <a:solidFill>
                  <a:srgbClr val="8A8490"/>
                </a:solidFill>
                <a:latin typeface="Arial"/>
                <a:ea typeface="微软雅黑"/>
                <a:cs typeface="微软雅黑"/>
              </a:rPr>
              <a:t>过早停止、状态失同步</a:t>
            </a:r>
          </a:p>
        </p:txBody>
      </p:sp>
      <p:sp>
        <p:nvSpPr>
          <p:cNvPr id="36" name="Rounded Rectangle 35"/>
          <p:cNvSpPr/>
          <p:nvPr/>
        </p:nvSpPr>
        <p:spPr>
          <a:xfrm>
            <a:off x="5524500" y="2362200"/>
            <a:ext cx="1714500" cy="209550"/>
          </a:xfrm>
          <a:prstGeom prst="roundRect">
            <a:avLst>
              <a:gd name="adj" fmla="val 18181"/>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96150" y="23622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30</a:t>
            </a:r>
          </a:p>
        </p:txBody>
      </p:sp>
      <p:sp>
        <p:nvSpPr>
          <p:cNvPr id="38" name="TextBox 37"/>
          <p:cNvSpPr txBox="1"/>
          <p:nvPr/>
        </p:nvSpPr>
        <p:spPr>
          <a:xfrm>
            <a:off x="4438650" y="27813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推理错误</a:t>
            </a:r>
          </a:p>
        </p:txBody>
      </p:sp>
      <p:sp>
        <p:nvSpPr>
          <p:cNvPr id="39" name="Rounded Rectangle 38"/>
          <p:cNvSpPr/>
          <p:nvPr/>
        </p:nvSpPr>
        <p:spPr>
          <a:xfrm>
            <a:off x="5524500" y="2781300"/>
            <a:ext cx="1200150" cy="209550"/>
          </a:xfrm>
          <a:prstGeom prst="roundRect">
            <a:avLst>
              <a:gd name="adj" fmla="val 18181"/>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81800" y="27813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21</a:t>
            </a:r>
          </a:p>
        </p:txBody>
      </p:sp>
      <p:sp>
        <p:nvSpPr>
          <p:cNvPr id="41" name="TextBox 40"/>
          <p:cNvSpPr txBox="1"/>
          <p:nvPr/>
        </p:nvSpPr>
        <p:spPr>
          <a:xfrm>
            <a:off x="4438650" y="32004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工具与执行</a:t>
            </a:r>
          </a:p>
        </p:txBody>
      </p:sp>
      <p:sp>
        <p:nvSpPr>
          <p:cNvPr id="42" name="Rounded Rectangle 41"/>
          <p:cNvSpPr/>
          <p:nvPr/>
        </p:nvSpPr>
        <p:spPr>
          <a:xfrm>
            <a:off x="5524500" y="3200400"/>
            <a:ext cx="571500" cy="209550"/>
          </a:xfrm>
          <a:prstGeom prst="roundRect">
            <a:avLst>
              <a:gd name="adj" fmla="val 18181"/>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53150" y="32004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10</a:t>
            </a:r>
          </a:p>
        </p:txBody>
      </p:sp>
      <p:sp>
        <p:nvSpPr>
          <p:cNvPr id="44" name="TextBox 43"/>
          <p:cNvSpPr txBox="1"/>
          <p:nvPr/>
        </p:nvSpPr>
        <p:spPr>
          <a:xfrm>
            <a:off x="4438650" y="36195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视觉感知</a:t>
            </a:r>
          </a:p>
        </p:txBody>
      </p:sp>
      <p:sp>
        <p:nvSpPr>
          <p:cNvPr id="45" name="Rounded Rectangle 44"/>
          <p:cNvSpPr/>
          <p:nvPr/>
        </p:nvSpPr>
        <p:spPr>
          <a:xfrm>
            <a:off x="5524500" y="3619500"/>
            <a:ext cx="228600" cy="209550"/>
          </a:xfrm>
          <a:prstGeom prst="roundRect">
            <a:avLst>
              <a:gd name="adj" fmla="val 1818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810250" y="36195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4</a:t>
            </a:r>
          </a:p>
        </p:txBody>
      </p:sp>
      <p:sp>
        <p:nvSpPr>
          <p:cNvPr id="47" name="TextBox 46"/>
          <p:cNvSpPr txBox="1"/>
          <p:nvPr/>
        </p:nvSpPr>
        <p:spPr>
          <a:xfrm>
            <a:off x="4257675" y="4000500"/>
            <a:ext cx="36766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取巧 + 跨通道失控 = 65.6% → 编排与自我验证不足；视觉不足 4%</a:t>
            </a:r>
          </a:p>
        </p:txBody>
      </p:sp>
      <p:sp>
        <p:nvSpPr>
          <p:cNvPr id="48" name="Rounded Rectangle 47"/>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real_world.png"/>
          <p:cNvPicPr>
            <a:picLocks noChangeAspect="1"/>
          </p:cNvPicPr>
          <p:nvPr/>
        </p:nvPicPr>
        <p:blipFill>
          <a:blip r:embed="rId2"/>
          <a:stretch>
            <a:fillRect/>
          </a:stretch>
        </p:blipFill>
        <p:spPr>
          <a:xfrm>
            <a:off x="8172450" y="1888063"/>
            <a:ext cx="3505200" cy="1900772"/>
          </a:xfrm>
          <a:prstGeom prst="rect">
            <a:avLst/>
          </a:prstGeom>
        </p:spPr>
      </p:pic>
      <p:sp>
        <p:nvSpPr>
          <p:cNvPr id="50" name="TextBox 49"/>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51" name="Rounded Rectangle 50"/>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53" name="TextBox 52"/>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54" name="TextBox 53"/>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任务范式与能力度量不匹配</a:t>
            </a:r>
          </a:p>
        </p:txBody>
      </p:sp>
      <p:sp>
        <p:nvSpPr>
          <p:cNvPr id="55" name="Rounded Rectangle 54"/>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57" name="TextBox 56"/>
          <p:cNvSpPr txBox="1"/>
          <p:nvPr/>
        </p:nvSpPr>
        <p:spPr>
          <a:xfrm>
            <a:off x="45720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范式开销高；现有基准割裂评测 CLI 与 GUI；仅结果判分的成功率比审计口径高 10–20 个百分点（4 个模型）。</a:t>
            </a:r>
          </a:p>
        </p:txBody>
      </p:sp>
      <p:sp>
        <p:nvSpPr>
          <p:cNvPr id="58" name="TextBox 57"/>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59" name="Rounded Rectangle 58"/>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61" name="TextBox 60"/>
          <p:cNvSpPr txBox="1"/>
          <p:nvPr/>
        </p:nvSpPr>
        <p:spPr>
          <a:xfrm>
            <a:off x="428625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失败主要源于自主编排与自我验证不足，而非视觉感知；GUI 缺少天然验证信号，混合训练环境稀缺。</a:t>
            </a:r>
          </a:p>
        </p:txBody>
      </p:sp>
      <p:sp>
        <p:nvSpPr>
          <p:cNvPr id="62" name="Rounded Rectangle 6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准确评估、有效训练通用数字智能体，并使其能力在真实世界中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64" name="TextBox 6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733281"/>
            <a:ext cx="6057900" cy="3181887"/>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verifier：轨迹感知审计（WeaveBench）｜ 前期：GUIPruner · ST-Lite 降开销</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verifier：以参考应用为参照的隐藏行为测试 ｜ 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verifier：状态数据库 · 反事实干预 ｜ 职业环境（主体）· 物理仿真（拓展）</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a:t>
            </a:r>
            <a:r>
              <a:rPr sz="1350" b="0" i="0">
                <a:solidFill>
                  <a:srgbClr val="FFFFFF"/>
                </a:solidFill>
                <a:latin typeface="Arial"/>
                <a:ea typeface="微软雅黑"/>
                <a:cs typeface="微软雅黑"/>
              </a:rPr>
              <a:t>：verifier 可自动构造，使评测与训练随任务规模扩展；GUIPruner / ST-Lite 降低 GUI 通道的计算开销</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 · 前期探索：纯 GUI 范式下的推理效率优化（已完成）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前期·效率</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 —— 时间自适应分辨率 + 结构感知剪枝</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 —— 轨迹门控 + 组件显著性</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KV 缓存预算即与完整缓存持平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压缩至 20% 时的解码加速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a:t>
            </a:r>
            <a:r>
              <a:rPr sz="1350" b="1" i="0">
                <a:solidFill>
                  <a:srgbClr val="F6C8FF"/>
                </a:solidFill>
                <a:latin typeface="Arial"/>
                <a:ea typeface="微软雅黑"/>
                <a:cs typeface="微软雅黑"/>
              </a:rPr>
              <a:t>以逐步截图为主要观测</a:t>
            </a:r>
            <a:r>
              <a:rPr sz="1350" b="0" i="0">
                <a:solidFill>
                  <a:srgbClr val="FFFFFF"/>
                </a:solidFill>
                <a:latin typeface="Arial"/>
                <a:ea typeface="微软雅黑"/>
                <a:cs typeface="微软雅黑"/>
              </a:rPr>
              <a:t>的方式未变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开销高、纯 CLI 缺少渲染观测，二者互补</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radigm3.png"/>
          <p:cNvPicPr>
            <a:picLocks noChangeAspect="1"/>
          </p:cNvPicPr>
          <p:nvPr/>
        </p:nvPicPr>
        <p:blipFill>
          <a:blip r:embed="rId2"/>
          <a:stretch>
            <a:fillRect/>
          </a:stretch>
        </p:blipFill>
        <p:spPr>
          <a:xfrm>
            <a:off x="594837" y="1485900"/>
            <a:ext cx="582072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三种范式：纯 GUI 逐步截图；CLI 优先、不观察像素；混合以 CLI 为主干、GUI 观察与核验（示意图）</a:t>
            </a:r>
          </a:p>
        </p:txBody>
      </p:sp>
      <p:sp>
        <p:nvSpPr>
          <p:cNvPr id="14" name="Rounded Rectangle 13"/>
          <p:cNvSpPr/>
          <p:nvPr/>
        </p:nvSpPr>
        <p:spPr>
          <a:xfrm>
            <a:off x="6705600" y="1428750"/>
            <a:ext cx="5029200" cy="2343150"/>
          </a:xfrm>
          <a:prstGeom prst="roundRect">
            <a:avLst>
              <a:gd name="adj" fmla="val 325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819650" cy="17993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正面：纯 GUI 开销高 —— OSWorld 受控对照 [WeaveBench 附录 E]</a:t>
            </a:r>
          </a:p>
        </p:txBody>
      </p:sp>
      <p:sp>
        <p:nvSpPr>
          <p:cNvPr id="16" name="TextBox 15"/>
          <p:cNvSpPr txBox="1"/>
          <p:nvPr/>
        </p:nvSpPr>
        <p:spPr>
          <a:xfrm>
            <a:off x="6772275" y="1790700"/>
            <a:ext cx="1962150" cy="160734"/>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成功率（%）</a:t>
            </a:r>
          </a:p>
        </p:txBody>
      </p:sp>
      <p:sp>
        <p:nvSpPr>
          <p:cNvPr id="17" name="Rounded Rectangle 16"/>
          <p:cNvSpPr/>
          <p:nvPr/>
        </p:nvSpPr>
        <p:spPr>
          <a:xfrm>
            <a:off x="7181850" y="2200275"/>
            <a:ext cx="438150" cy="1000125"/>
          </a:xfrm>
          <a:prstGeom prst="roundRect">
            <a:avLst>
              <a:gd name="adj" fmla="val 869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96125" y="2009775"/>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Rounded Rectangle 18"/>
          <p:cNvSpPr/>
          <p:nvPr/>
        </p:nvSpPr>
        <p:spPr>
          <a:xfrm>
            <a:off x="7848600" y="2219325"/>
            <a:ext cx="438150" cy="981075"/>
          </a:xfrm>
          <a:prstGeom prst="roundRect">
            <a:avLst>
              <a:gd name="adj" fmla="val 8695"/>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62875" y="2028825"/>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1" name="Rectangle 20"/>
          <p:cNvSpPr/>
          <p:nvPr/>
        </p:nvSpPr>
        <p:spPr>
          <a:xfrm>
            <a:off x="7029450" y="3200400"/>
            <a:ext cx="15240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029450" y="3200400"/>
            <a:ext cx="15240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72275" y="3238500"/>
            <a:ext cx="19621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8A8490"/>
                </a:solidFill>
                <a:latin typeface="Arial"/>
                <a:ea typeface="微软雅黑"/>
                <a:cs typeface="微软雅黑"/>
              </a:rPr>
              <a:t>gpt-5.5 · 同一判官</a:t>
            </a:r>
          </a:p>
        </p:txBody>
      </p:sp>
      <p:sp>
        <p:nvSpPr>
          <p:cNvPr id="24" name="TextBox 23"/>
          <p:cNvSpPr txBox="1"/>
          <p:nvPr/>
        </p:nvSpPr>
        <p:spPr>
          <a:xfrm>
            <a:off x="9048750" y="2038350"/>
            <a:ext cx="2609850" cy="792360"/>
          </a:xfrm>
          <a:prstGeom prst="rect">
            <a:avLst/>
          </a:prstGeom>
          <a:noFill/>
        </p:spPr>
        <p:txBody>
          <a:bodyPr wrap="square" lIns="0" rIns="0" tIns="0" bIns="0" anchor="t">
            <a:noAutofit/>
          </a:bodyPr>
          <a:lstStyle/>
          <a:p>
            <a:pPr algn="l">
              <a:lnSpc>
                <a:spcPts val="1560"/>
              </a:lnSpc>
              <a:spcBef>
                <a:spcPts val="0"/>
              </a:spcBef>
              <a:spcAft>
                <a:spcPts val="0"/>
              </a:spcAft>
            </a:pPr>
            <a:r>
              <a:rPr sz="975" b="0" i="0">
                <a:solidFill>
                  <a:srgbClr val="1F1A22"/>
                </a:solidFill>
                <a:latin typeface="Arial"/>
                <a:ea typeface="微软雅黑"/>
                <a:cs typeface="微软雅黑"/>
              </a:rPr>
              <a:t>受控设置：同一环境、同一模型、同一指令与判官，仅更换工具接口；两组均剔除 8 个需凭据任务。</a:t>
            </a:r>
          </a:p>
          <a:p>
            <a:pPr algn="l">
              <a:lnSpc>
                <a:spcPts val="1560"/>
              </a:lnSpc>
              <a:spcBef>
                <a:spcPts val="0"/>
              </a:spcBef>
              <a:spcAft>
                <a:spcPts val="0"/>
              </a:spcAft>
            </a:pPr>
            <a:r>
              <a:rPr sz="975" b="1" i="0">
                <a:solidFill>
                  <a:srgbClr val="660874"/>
                </a:solidFill>
                <a:latin typeface="Arial"/>
                <a:ea typeface="微软雅黑"/>
                <a:cs typeface="微软雅黑"/>
              </a:rPr>
              <a:t>不观察像素的 CLI 智能体取得相近成功率</a:t>
            </a:r>
          </a:p>
        </p:txBody>
      </p:sp>
      <p:sp>
        <p:nvSpPr>
          <p:cNvPr id="25" name="TextBox 24"/>
          <p:cNvSpPr txBox="1"/>
          <p:nvPr/>
        </p:nvSpPr>
        <p:spPr>
          <a:xfrm>
            <a:off x="6677025" y="3486150"/>
            <a:ext cx="50863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OpenClaw CLI 智能体（不观察像素）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纯视觉 GUI 智能体</a:t>
            </a:r>
          </a:p>
        </p:txBody>
      </p:sp>
      <p:sp>
        <p:nvSpPr>
          <p:cNvPr id="26" name="Rounded Rectangle 25"/>
          <p:cNvSpPr/>
          <p:nvPr/>
        </p:nvSpPr>
        <p:spPr>
          <a:xfrm>
            <a:off x="6705600" y="3848100"/>
            <a:ext cx="5029200" cy="781050"/>
          </a:xfrm>
          <a:prstGeom prst="roundRect">
            <a:avLst>
              <a:gd name="adj" fmla="val 14634"/>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8000" y="3905250"/>
            <a:ext cx="4800600" cy="383678"/>
          </a:xfrm>
          <a:prstGeom prst="rect">
            <a:avLst/>
          </a:prstGeom>
          <a:noFill/>
        </p:spPr>
        <p:txBody>
          <a:bodyPr wrap="square" lIns="0" rIns="0" tIns="0" bIns="0" anchor="t">
            <a:noAutofit/>
          </a:bodyPr>
          <a:lstStyle/>
          <a:p>
            <a:pPr algn="l">
              <a:lnSpc>
                <a:spcPts val="1511"/>
              </a:lnSpc>
              <a:spcBef>
                <a:spcPts val="0"/>
              </a:spcBef>
              <a:spcAft>
                <a:spcPts val="0"/>
              </a:spcAft>
            </a:pPr>
            <a:r>
              <a:rPr sz="975" b="1" i="0">
                <a:solidFill>
                  <a:srgbClr val="C0392B"/>
                </a:solidFill>
                <a:latin typeface="Arial"/>
                <a:ea typeface="微软雅黑"/>
                <a:cs typeface="微软雅黑"/>
              </a:rPr>
              <a:t>反面：纯 CLI 缺少渲染观测</a:t>
            </a:r>
            <a:r>
              <a:rPr sz="975" b="0" i="0">
                <a:solidFill>
                  <a:srgbClr val="1F1A22"/>
                </a:solidFill>
                <a:latin typeface="Arial"/>
                <a:ea typeface="微软雅黑"/>
                <a:cs typeface="微软雅黑"/>
              </a:rPr>
              <a:t>　SWE-bench Multimodal 最佳约 12%；模态对齐任务上 GUI 59.1% 高于 CLI 48.2% [GUI vs. CLI, 2026]</a:t>
            </a:r>
          </a:p>
        </p:txBody>
      </p:sp>
      <p:sp>
        <p:nvSpPr>
          <p:cNvPr id="28" name="Rounded Rectangle 27"/>
          <p:cNvSpPr/>
          <p:nvPr/>
        </p:nvSpPr>
        <p:spPr>
          <a:xfrm>
            <a:off x="6705600" y="4705350"/>
            <a:ext cx="5029200" cy="838200"/>
          </a:xfrm>
          <a:prstGeom prst="roundRect">
            <a:avLst>
              <a:gd name="adj" fmla="val 13636"/>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0" y="4762500"/>
            <a:ext cx="4800600" cy="383678"/>
          </a:xfrm>
          <a:prstGeom prst="rect">
            <a:avLst/>
          </a:prstGeom>
          <a:noFill/>
        </p:spPr>
        <p:txBody>
          <a:bodyPr wrap="square" lIns="0" rIns="0" tIns="0" bIns="0" anchor="t">
            <a:noAutofit/>
          </a:bodyPr>
          <a:lstStyle/>
          <a:p>
            <a:pPr algn="l">
              <a:lnSpc>
                <a:spcPts val="1511"/>
              </a:lnSpc>
              <a:spcBef>
                <a:spcPts val="0"/>
              </a:spcBef>
              <a:spcAft>
                <a:spcPts val="0"/>
              </a:spcAft>
            </a:pPr>
            <a:r>
              <a:rPr sz="975" b="1" i="0">
                <a:solidFill>
                  <a:srgbClr val="B7791F"/>
                </a:solidFill>
                <a:latin typeface="Arial"/>
                <a:ea typeface="微软雅黑"/>
                <a:cs typeface="微软雅黑"/>
              </a:rPr>
              <a:t>OpenClaw 的启发（2026 年初）</a:t>
            </a:r>
            <a:r>
              <a:rPr sz="975" b="0" i="0">
                <a:solidFill>
                  <a:srgbClr val="1F1A22"/>
                </a:solidFill>
                <a:latin typeface="Arial"/>
                <a:ea typeface="微软雅黑"/>
                <a:cs typeface="微软雅黑"/>
              </a:rPr>
              <a:t>　以 CLI 为主、运行于个人电脑的智能体提供了实现参考 → 以 CLI 为主干、GUI 负责观察与核验的</a:t>
            </a:r>
            <a:r>
              <a:rPr sz="975" b="1" i="0">
                <a:solidFill>
                  <a:srgbClr val="1F1A22"/>
                </a:solidFill>
                <a:latin typeface="Arial"/>
                <a:ea typeface="微软雅黑"/>
                <a:cs typeface="微软雅黑"/>
              </a:rPr>
              <a:t>混合能力范式</a:t>
            </a:r>
          </a:p>
        </p:txBody>
      </p:sp>
      <p:sp>
        <p:nvSpPr>
          <p:cNvPr id="30" name="Rounded Rectangle 2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结论：两类能力互补 → 关键在于</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：只收录仅用任一通道无法完成的任务，并审计全过程</a:t>
            </a:r>
          </a:p>
        </p:txBody>
      </p:sp>
      <p:sp>
        <p:nvSpPr>
          <p:cNvPr id="32" name="TextBox 3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混合能力范式的轨迹感知可信评测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智能体运行时为底座、加入轻量桌面控制插件；只收录仅用任一通道无法完成的长程任务；轨迹感知判官审计全过程</a:t>
            </a:r>
          </a:p>
        </p:txBody>
      </p:sp>
      <p:sp>
        <p:nvSpPr>
          <p:cNvPr id="13" name="Rounded Rectangle 12"/>
          <p:cNvSpPr/>
          <p:nvPr/>
        </p:nvSpPr>
        <p:spPr>
          <a:xfrm>
            <a:off x="457200" y="2038350"/>
            <a:ext cx="65151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weavepipe.png"/>
          <p:cNvPicPr>
            <a:picLocks noChangeAspect="1"/>
          </p:cNvPicPr>
          <p:nvPr/>
        </p:nvPicPr>
        <p:blipFill>
          <a:blip r:embed="rId2"/>
          <a:stretch>
            <a:fillRect/>
          </a:stretch>
        </p:blipFill>
        <p:spPr>
          <a:xfrm>
            <a:off x="749025" y="2095500"/>
            <a:ext cx="5931448" cy="3067050"/>
          </a:xfrm>
          <a:prstGeom prst="rect">
            <a:avLst/>
          </a:prstGeom>
        </p:spPr>
      </p:pic>
      <p:sp>
        <p:nvSpPr>
          <p:cNvPr id="15" name="TextBox 14"/>
          <p:cNvSpPr txBox="1"/>
          <p:nvPr/>
        </p:nvSpPr>
        <p:spPr>
          <a:xfrm>
            <a:off x="485775" y="5200650"/>
            <a:ext cx="64579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2026）：任务构造（仅用任一通道无法完成）→ 混合运行时 → 轨迹感知审计（示意图）</a:t>
            </a:r>
          </a:p>
        </p:txBody>
      </p:sp>
      <p:sp>
        <p:nvSpPr>
          <p:cNvPr id="16" name="Rounded Rectangle 15"/>
          <p:cNvSpPr/>
          <p:nvPr/>
        </p:nvSpPr>
        <p:spPr>
          <a:xfrm>
            <a:off x="7124700" y="2038350"/>
            <a:ext cx="4610100" cy="2152650"/>
          </a:xfrm>
          <a:prstGeom prst="roundRect">
            <a:avLst>
              <a:gd name="adj" fmla="val 353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096125" y="2095500"/>
            <a:ext cx="46672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通道消融：同一设置下成功率（%）</a:t>
            </a:r>
          </a:p>
        </p:txBody>
      </p:sp>
      <p:sp>
        <p:nvSpPr>
          <p:cNvPr id="18" name="Rounded Rectangle 17"/>
          <p:cNvSpPr/>
          <p:nvPr/>
        </p:nvSpPr>
        <p:spPr>
          <a:xfrm>
            <a:off x="7905750" y="3781425"/>
            <a:ext cx="609600" cy="66675"/>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62875" y="3571875"/>
            <a:ext cx="895350" cy="200025"/>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4A4450"/>
                </a:solidFill>
                <a:latin typeface="Arial"/>
                <a:ea typeface="微软雅黑"/>
                <a:cs typeface="微软雅黑"/>
              </a:rPr>
              <a:t>1.8</a:t>
            </a:r>
          </a:p>
        </p:txBody>
      </p:sp>
      <p:sp>
        <p:nvSpPr>
          <p:cNvPr id="20" name="TextBox 19"/>
          <p:cNvSpPr txBox="1"/>
          <p:nvPr/>
        </p:nvSpPr>
        <p:spPr>
          <a:xfrm>
            <a:off x="7591425" y="3905250"/>
            <a:ext cx="12382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仅 GUI</a:t>
            </a:r>
          </a:p>
        </p:txBody>
      </p:sp>
      <p:sp>
        <p:nvSpPr>
          <p:cNvPr id="21" name="Rounded Rectangle 20"/>
          <p:cNvSpPr/>
          <p:nvPr/>
        </p:nvSpPr>
        <p:spPr>
          <a:xfrm>
            <a:off x="9048750" y="3714750"/>
            <a:ext cx="609600" cy="133350"/>
          </a:xfrm>
          <a:prstGeom prst="roundRect">
            <a:avLst>
              <a:gd name="adj" fmla="val 2857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05875" y="3505200"/>
            <a:ext cx="895350" cy="200025"/>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4A4450"/>
                </a:solidFill>
                <a:latin typeface="Arial"/>
                <a:ea typeface="微软雅黑"/>
                <a:cs typeface="微软雅黑"/>
              </a:rPr>
              <a:t>3.5</a:t>
            </a:r>
          </a:p>
        </p:txBody>
      </p:sp>
      <p:sp>
        <p:nvSpPr>
          <p:cNvPr id="23" name="TextBox 22"/>
          <p:cNvSpPr txBox="1"/>
          <p:nvPr/>
        </p:nvSpPr>
        <p:spPr>
          <a:xfrm>
            <a:off x="8734425" y="3905250"/>
            <a:ext cx="12382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仅 CLI</a:t>
            </a:r>
          </a:p>
        </p:txBody>
      </p:sp>
      <p:sp>
        <p:nvSpPr>
          <p:cNvPr id="24" name="Rounded Rectangle 23"/>
          <p:cNvSpPr/>
          <p:nvPr/>
        </p:nvSpPr>
        <p:spPr>
          <a:xfrm>
            <a:off x="10191750" y="2447925"/>
            <a:ext cx="609600" cy="1400175"/>
          </a:xfrm>
          <a:prstGeom prst="roundRect">
            <a:avLst>
              <a:gd name="adj" fmla="val 625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048875" y="2238375"/>
            <a:ext cx="895350" cy="200025"/>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4A4450"/>
                </a:solidFill>
                <a:latin typeface="Arial"/>
                <a:ea typeface="微软雅黑"/>
                <a:cs typeface="微软雅黑"/>
              </a:rPr>
              <a:t>35.1</a:t>
            </a:r>
          </a:p>
        </p:txBody>
      </p:sp>
      <p:sp>
        <p:nvSpPr>
          <p:cNvPr id="26" name="TextBox 25"/>
          <p:cNvSpPr txBox="1"/>
          <p:nvPr/>
        </p:nvSpPr>
        <p:spPr>
          <a:xfrm>
            <a:off x="9877425" y="3905250"/>
            <a:ext cx="12382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a:t>
            </a:r>
          </a:p>
        </p:txBody>
      </p:sp>
      <p:sp>
        <p:nvSpPr>
          <p:cNvPr id="27" name="Rectangle 26"/>
          <p:cNvSpPr/>
          <p:nvPr/>
        </p:nvSpPr>
        <p:spPr>
          <a:xfrm>
            <a:off x="7620000" y="3848100"/>
            <a:ext cx="36195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620000" y="3848100"/>
            <a:ext cx="36195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24700" y="4343400"/>
            <a:ext cx="23431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30" name="TextBox 29"/>
          <p:cNvSpPr txBox="1"/>
          <p:nvPr/>
        </p:nvSpPr>
        <p:spPr>
          <a:xfrm>
            <a:off x="7124700" y="4648200"/>
            <a:ext cx="232410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最佳模型–运行时组合（OSWorld 成绩仅作背景参考）</a:t>
            </a:r>
          </a:p>
        </p:txBody>
      </p:sp>
      <p:sp>
        <p:nvSpPr>
          <p:cNvPr id="31" name="TextBox 30"/>
          <p:cNvSpPr txBox="1"/>
          <p:nvPr/>
        </p:nvSpPr>
        <p:spPr>
          <a:xfrm>
            <a:off x="9486900" y="4343400"/>
            <a:ext cx="23050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10–20 pp</a:t>
            </a:r>
          </a:p>
        </p:txBody>
      </p:sp>
      <p:sp>
        <p:nvSpPr>
          <p:cNvPr id="32" name="TextBox 31"/>
          <p:cNvSpPr txBox="1"/>
          <p:nvPr/>
        </p:nvSpPr>
        <p:spPr>
          <a:xfrm>
            <a:off x="9486900" y="4648200"/>
            <a:ext cx="23050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4 个模型上仅结果判分高于审计口径</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结论：失败中违规取巧与长程失控占 65.6%，提示</a:t>
            </a:r>
            <a:r>
              <a:rPr sz="1350" b="1" i="0">
                <a:solidFill>
                  <a:srgbClr val="F6C8FF"/>
                </a:solidFill>
                <a:latin typeface="Arial"/>
                <a:ea typeface="微软雅黑"/>
                <a:cs typeface="微软雅黑"/>
              </a:rPr>
              <a:t>自主编排与自我验证</a:t>
            </a:r>
            <a:r>
              <a:rPr sz="1350" b="0" i="0">
                <a:solidFill>
                  <a:srgbClr val="FFFFFF"/>
                </a:solidFill>
                <a:latin typeface="Arial"/>
                <a:ea typeface="微软雅黑"/>
                <a:cs typeface="微软雅黑"/>
              </a:rPr>
              <a:t>是优先改进方向 → 研究二针对其开展训练</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自主编排与自我验证需在</a:t>
            </a:r>
            <a:r>
              <a:rPr sz="1125" b="1" i="0">
                <a:solidFill>
                  <a:srgbClr val="1F1A22"/>
                </a:solidFill>
                <a:latin typeface="Arial"/>
                <a:ea typeface="微软雅黑"/>
                <a:cs typeface="微软雅黑"/>
              </a:rPr>
              <a:t>能力交织、结果可验证</a:t>
            </a:r>
            <a:r>
              <a:rPr sz="1125" b="0" i="0">
                <a:solidFill>
                  <a:srgbClr val="1F1A22"/>
                </a:solidFill>
                <a:latin typeface="Arial"/>
                <a:ea typeface="微软雅黑"/>
                <a:cs typeface="微软雅黑"/>
              </a:rPr>
              <a:t>的场景中习得；GUI 缺少天然奖励，现有环境局限于单一界面</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a:t>
            </a:r>
            <a:r>
              <a:rPr sz="1125" b="1" i="0">
                <a:solidFill>
                  <a:srgbClr val="1F1A22"/>
                </a:solidFill>
                <a:latin typeface="Arial"/>
                <a:ea typeface="微软雅黑"/>
                <a:cs typeface="微软雅黑"/>
              </a:rPr>
              <a:t>应用复刻（App Recreation）</a:t>
            </a:r>
            <a:r>
              <a:rPr sz="1125" b="0" i="0">
                <a:solidFill>
                  <a:srgbClr val="1F1A22"/>
                </a:solidFill>
                <a:latin typeface="Arial"/>
                <a:ea typeface="微软雅黑"/>
                <a:cs typeface="微软雅黑"/>
              </a:rPr>
              <a:t>为训练场景：对错需运行后视觉核验；</a:t>
            </a:r>
            <a:r>
              <a:rPr sz="1125" b="1" i="0">
                <a:solidFill>
                  <a:srgbClr val="1F1A22"/>
                </a:solidFill>
                <a:latin typeface="Arial"/>
                <a:ea typeface="微软雅黑"/>
                <a:cs typeface="微软雅黑"/>
              </a:rPr>
              <a:t>以原版应用为验证参照（oracle）</a:t>
            </a:r>
            <a:r>
              <a:rPr sz="1125" b="0" i="0">
                <a:solidFill>
                  <a:srgbClr val="1F1A22"/>
                </a:solidFill>
                <a:latin typeface="Arial"/>
                <a:ea typeface="微软雅黑"/>
                <a:cs typeface="微软雅黑"/>
              </a:rPr>
              <a:t>，自动生成隐藏行为测试，经审核用于轨迹筛选</a:t>
            </a:r>
          </a:p>
        </p:txBody>
      </p:sp>
      <p:sp>
        <p:nvSpPr>
          <p:cNvPr id="13" name="Rounded Rectangle 12"/>
          <p:cNvSpPr/>
          <p:nvPr/>
        </p:nvSpPr>
        <p:spPr>
          <a:xfrm>
            <a:off x="457200" y="2038350"/>
            <a:ext cx="6667500" cy="1638300"/>
          </a:xfrm>
          <a:prstGeom prst="roundRect">
            <a:avLst>
              <a:gd name="adj" fmla="val 46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2_recreation.png"/>
          <p:cNvPicPr>
            <a:picLocks noChangeAspect="1"/>
          </p:cNvPicPr>
          <p:nvPr/>
        </p:nvPicPr>
        <p:blipFill>
          <a:blip r:embed="rId2"/>
          <a:stretch>
            <a:fillRect/>
          </a:stretch>
        </p:blipFill>
        <p:spPr>
          <a:xfrm>
            <a:off x="1286515" y="2095500"/>
            <a:ext cx="5008868" cy="1200149"/>
          </a:xfrm>
          <a:prstGeom prst="rect">
            <a:avLst/>
          </a:prstGeom>
        </p:spPr>
      </p:pic>
      <p:sp>
        <p:nvSpPr>
          <p:cNvPr id="15" name="TextBox 14"/>
          <p:cNvSpPr txBox="1"/>
          <p:nvPr/>
        </p:nvSpPr>
        <p:spPr>
          <a:xfrm>
            <a:off x="485775" y="33337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6" name="Rounded Rectangle 15"/>
          <p:cNvSpPr/>
          <p:nvPr/>
        </p:nvSpPr>
        <p:spPr>
          <a:xfrm>
            <a:off x="457200" y="3752850"/>
            <a:ext cx="6667500" cy="1809750"/>
          </a:xfrm>
          <a:prstGeom prst="roundRect">
            <a:avLst>
              <a:gd name="adj" fmla="val 42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0550" y="3810000"/>
            <a:ext cx="64579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1F1A22"/>
                </a:solidFill>
                <a:latin typeface="Arial"/>
                <a:ea typeface="微软雅黑"/>
                <a:cs typeface="微软雅黑"/>
              </a:rPr>
              <a:t>分布外迁移（首个检查点 → 训练后；各基准指标独立）</a:t>
            </a:r>
            <a:r>
              <a:rPr sz="900" b="0" i="0">
                <a:solidFill>
                  <a:srgbClr val="4A4450"/>
                </a:solidFill>
                <a:latin typeface="Arial"/>
                <a:ea typeface="微软雅黑"/>
                <a:cs typeface="微软雅黑"/>
              </a:rPr>
              <a:t>　</a:t>
            </a:r>
            <a:r>
              <a:rPr sz="900" b="1" i="0">
                <a:solidFill>
                  <a:srgbClr val="C9A8D0"/>
                </a:solidFill>
                <a:latin typeface="Arial"/>
                <a:ea typeface="微软雅黑"/>
                <a:cs typeface="微软雅黑"/>
              </a:rPr>
              <a:t>■</a:t>
            </a: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Qwen3.7-Plus　</a:t>
            </a:r>
            <a:r>
              <a:rPr sz="900" b="1" i="0">
                <a:solidFill>
                  <a:srgbClr val="9CC3CF"/>
                </a:solidFill>
                <a:latin typeface="Arial"/>
                <a:ea typeface="微软雅黑"/>
                <a:cs typeface="微软雅黑"/>
              </a:rPr>
              <a:t>■</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Qwen-Flash-CPT</a:t>
            </a:r>
          </a:p>
        </p:txBody>
      </p:sp>
      <p:sp>
        <p:nvSpPr>
          <p:cNvPr id="18" name="Rounded Rectangle 17"/>
          <p:cNvSpPr/>
          <p:nvPr/>
        </p:nvSpPr>
        <p:spPr>
          <a:xfrm>
            <a:off x="742950" y="4543425"/>
            <a:ext cx="190500" cy="752475"/>
          </a:xfrm>
          <a:prstGeom prst="roundRect">
            <a:avLst>
              <a:gd name="adj" fmla="val 20000"/>
            </a:avLst>
          </a:prstGeom>
          <a:solidFill>
            <a:srgbClr val="C9A8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71550" y="4495800"/>
            <a:ext cx="190500" cy="80010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200150" y="4457700"/>
            <a:ext cx="190500" cy="838200"/>
          </a:xfrm>
          <a:prstGeom prst="roundRect">
            <a:avLst>
              <a:gd name="adj" fmla="val 20000"/>
            </a:avLst>
          </a:prstGeom>
          <a:solidFill>
            <a:srgbClr val="9CC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428750" y="4248150"/>
            <a:ext cx="190500" cy="104775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1975" y="4057650"/>
            <a:ext cx="12763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1" i="0">
                <a:solidFill>
                  <a:srgbClr val="1F1A22"/>
                </a:solidFill>
                <a:latin typeface="Arial"/>
                <a:ea typeface="微软雅黑"/>
                <a:cs typeface="微软雅黑"/>
              </a:rPr>
              <a:t>+2.7</a:t>
            </a:r>
            <a:r>
              <a:rPr sz="825" b="0" i="0">
                <a:solidFill>
                  <a:srgbClr val="1F1A22"/>
                </a:solidFill>
                <a:latin typeface="Arial"/>
                <a:ea typeface="微软雅黑"/>
                <a:cs typeface="微软雅黑"/>
              </a:rPr>
              <a:t> / </a:t>
            </a:r>
            <a:r>
              <a:rPr sz="825" b="1" i="0">
                <a:solidFill>
                  <a:srgbClr val="1F1A22"/>
                </a:solidFill>
                <a:latin typeface="Arial"/>
                <a:ea typeface="微软雅黑"/>
                <a:cs typeface="微软雅黑"/>
              </a:rPr>
              <a:t>+11.4</a:t>
            </a:r>
          </a:p>
        </p:txBody>
      </p:sp>
      <p:sp>
        <p:nvSpPr>
          <p:cNvPr id="23" name="TextBox 22"/>
          <p:cNvSpPr txBox="1"/>
          <p:nvPr/>
        </p:nvSpPr>
        <p:spPr>
          <a:xfrm>
            <a:off x="561975" y="5334000"/>
            <a:ext cx="12763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ProgramBench</a:t>
            </a:r>
          </a:p>
        </p:txBody>
      </p:sp>
      <p:sp>
        <p:nvSpPr>
          <p:cNvPr id="24" name="Rounded Rectangle 23"/>
          <p:cNvSpPr/>
          <p:nvPr/>
        </p:nvSpPr>
        <p:spPr>
          <a:xfrm>
            <a:off x="2019300" y="4972050"/>
            <a:ext cx="190500" cy="323850"/>
          </a:xfrm>
          <a:prstGeom prst="roundRect">
            <a:avLst>
              <a:gd name="adj" fmla="val 20000"/>
            </a:avLst>
          </a:prstGeom>
          <a:solidFill>
            <a:srgbClr val="C9A8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2247900" y="4819650"/>
            <a:ext cx="190500" cy="47625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476500" y="4743450"/>
            <a:ext cx="190500" cy="552450"/>
          </a:xfrm>
          <a:prstGeom prst="roundRect">
            <a:avLst>
              <a:gd name="adj" fmla="val 20000"/>
            </a:avLst>
          </a:prstGeom>
          <a:solidFill>
            <a:srgbClr val="9CC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2705100" y="4438650"/>
            <a:ext cx="190500" cy="85725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838325" y="4248150"/>
            <a:ext cx="12763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1" i="0">
                <a:solidFill>
                  <a:srgbClr val="1F1A22"/>
                </a:solidFill>
                <a:latin typeface="Arial"/>
                <a:ea typeface="微软雅黑"/>
                <a:cs typeface="微软雅黑"/>
              </a:rPr>
              <a:t>+8.6</a:t>
            </a:r>
            <a:r>
              <a:rPr sz="825" b="0" i="0">
                <a:solidFill>
                  <a:srgbClr val="1F1A22"/>
                </a:solidFill>
                <a:latin typeface="Arial"/>
                <a:ea typeface="微软雅黑"/>
                <a:cs typeface="微软雅黑"/>
              </a:rPr>
              <a:t> / </a:t>
            </a:r>
            <a:r>
              <a:rPr sz="825" b="1" i="0">
                <a:solidFill>
                  <a:srgbClr val="1F1A22"/>
                </a:solidFill>
                <a:latin typeface="Arial"/>
                <a:ea typeface="微软雅黑"/>
                <a:cs typeface="微软雅黑"/>
              </a:rPr>
              <a:t>+17.0</a:t>
            </a:r>
          </a:p>
        </p:txBody>
      </p:sp>
      <p:sp>
        <p:nvSpPr>
          <p:cNvPr id="29" name="TextBox 28"/>
          <p:cNvSpPr txBox="1"/>
          <p:nvPr/>
        </p:nvSpPr>
        <p:spPr>
          <a:xfrm>
            <a:off x="1838325" y="5334000"/>
            <a:ext cx="12763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GameCraft</a:t>
            </a:r>
          </a:p>
        </p:txBody>
      </p:sp>
      <p:sp>
        <p:nvSpPr>
          <p:cNvPr id="30" name="Rounded Rectangle 29"/>
          <p:cNvSpPr/>
          <p:nvPr/>
        </p:nvSpPr>
        <p:spPr>
          <a:xfrm>
            <a:off x="3295650" y="4352925"/>
            <a:ext cx="190500" cy="942975"/>
          </a:xfrm>
          <a:prstGeom prst="roundRect">
            <a:avLst>
              <a:gd name="adj" fmla="val 20000"/>
            </a:avLst>
          </a:prstGeom>
          <a:solidFill>
            <a:srgbClr val="C9A8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3524250" y="4276725"/>
            <a:ext cx="190500" cy="1019175"/>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752850" y="4400550"/>
            <a:ext cx="190500" cy="895350"/>
          </a:xfrm>
          <a:prstGeom prst="roundRect">
            <a:avLst>
              <a:gd name="adj" fmla="val 20000"/>
            </a:avLst>
          </a:prstGeom>
          <a:solidFill>
            <a:srgbClr val="9CC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3981450" y="4257675"/>
            <a:ext cx="190500" cy="1038225"/>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114675" y="4067175"/>
            <a:ext cx="12763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1" i="0">
                <a:solidFill>
                  <a:srgbClr val="1F1A22"/>
                </a:solidFill>
                <a:latin typeface="Arial"/>
                <a:ea typeface="微软雅黑"/>
                <a:cs typeface="微软雅黑"/>
              </a:rPr>
              <a:t>+4.4</a:t>
            </a:r>
            <a:r>
              <a:rPr sz="825" b="0" i="0">
                <a:solidFill>
                  <a:srgbClr val="1F1A22"/>
                </a:solidFill>
                <a:latin typeface="Arial"/>
                <a:ea typeface="微软雅黑"/>
                <a:cs typeface="微软雅黑"/>
              </a:rPr>
              <a:t> / </a:t>
            </a:r>
            <a:r>
              <a:rPr sz="825" b="1" i="0">
                <a:solidFill>
                  <a:srgbClr val="1F1A22"/>
                </a:solidFill>
                <a:latin typeface="Arial"/>
                <a:ea typeface="微软雅黑"/>
                <a:cs typeface="微软雅黑"/>
              </a:rPr>
              <a:t>+7.9</a:t>
            </a:r>
          </a:p>
        </p:txBody>
      </p:sp>
      <p:sp>
        <p:nvSpPr>
          <p:cNvPr id="35" name="TextBox 34"/>
          <p:cNvSpPr txBox="1"/>
          <p:nvPr/>
        </p:nvSpPr>
        <p:spPr>
          <a:xfrm>
            <a:off x="3114675" y="5334000"/>
            <a:ext cx="12763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Vision2Web</a:t>
            </a:r>
          </a:p>
        </p:txBody>
      </p:sp>
      <p:sp>
        <p:nvSpPr>
          <p:cNvPr id="36" name="Rounded Rectangle 35"/>
          <p:cNvSpPr/>
          <p:nvPr/>
        </p:nvSpPr>
        <p:spPr>
          <a:xfrm>
            <a:off x="4572000" y="4981575"/>
            <a:ext cx="190500" cy="314325"/>
          </a:xfrm>
          <a:prstGeom prst="roundRect">
            <a:avLst>
              <a:gd name="adj" fmla="val 20000"/>
            </a:avLst>
          </a:prstGeom>
          <a:solidFill>
            <a:srgbClr val="C9A8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4800600" y="4972050"/>
            <a:ext cx="190500" cy="32385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5029200" y="4791075"/>
            <a:ext cx="190500" cy="504825"/>
          </a:xfrm>
          <a:prstGeom prst="roundRect">
            <a:avLst>
              <a:gd name="adj" fmla="val 20000"/>
            </a:avLst>
          </a:prstGeom>
          <a:solidFill>
            <a:srgbClr val="9CC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5257800" y="4467225"/>
            <a:ext cx="190500" cy="828675"/>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391025" y="4276725"/>
            <a:ext cx="12763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1" i="0">
                <a:solidFill>
                  <a:srgbClr val="1F1A22"/>
                </a:solidFill>
                <a:latin typeface="Arial"/>
                <a:ea typeface="微软雅黑"/>
                <a:cs typeface="微软雅黑"/>
              </a:rPr>
              <a:t>+1.0</a:t>
            </a:r>
            <a:r>
              <a:rPr sz="825" b="0" i="0">
                <a:solidFill>
                  <a:srgbClr val="1F1A22"/>
                </a:solidFill>
                <a:latin typeface="Arial"/>
                <a:ea typeface="微软雅黑"/>
                <a:cs typeface="微软雅黑"/>
              </a:rPr>
              <a:t> / </a:t>
            </a:r>
            <a:r>
              <a:rPr sz="825" b="1" i="0">
                <a:solidFill>
                  <a:srgbClr val="1F1A22"/>
                </a:solidFill>
                <a:latin typeface="Arial"/>
                <a:ea typeface="微软雅黑"/>
                <a:cs typeface="微软雅黑"/>
              </a:rPr>
              <a:t>+17.9</a:t>
            </a:r>
          </a:p>
        </p:txBody>
      </p:sp>
      <p:sp>
        <p:nvSpPr>
          <p:cNvPr id="41" name="TextBox 40"/>
          <p:cNvSpPr txBox="1"/>
          <p:nvPr/>
        </p:nvSpPr>
        <p:spPr>
          <a:xfrm>
            <a:off x="4391025" y="5334000"/>
            <a:ext cx="12763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OSWorld 2.0</a:t>
            </a:r>
          </a:p>
        </p:txBody>
      </p:sp>
      <p:sp>
        <p:nvSpPr>
          <p:cNvPr id="42" name="Rounded Rectangle 41"/>
          <p:cNvSpPr/>
          <p:nvPr/>
        </p:nvSpPr>
        <p:spPr>
          <a:xfrm>
            <a:off x="5848350" y="4657725"/>
            <a:ext cx="190500" cy="638175"/>
          </a:xfrm>
          <a:prstGeom prst="roundRect">
            <a:avLst>
              <a:gd name="adj" fmla="val 20000"/>
            </a:avLst>
          </a:prstGeom>
          <a:solidFill>
            <a:srgbClr val="C9A8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6076950" y="4429125"/>
            <a:ext cx="190500" cy="866775"/>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6305550" y="4324350"/>
            <a:ext cx="190500" cy="971550"/>
          </a:xfrm>
          <a:prstGeom prst="roundRect">
            <a:avLst>
              <a:gd name="adj" fmla="val 20000"/>
            </a:avLst>
          </a:prstGeom>
          <a:solidFill>
            <a:srgbClr val="9CC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6534150" y="4210050"/>
            <a:ext cx="190500" cy="108585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667375" y="4019550"/>
            <a:ext cx="12763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1" i="0">
                <a:solidFill>
                  <a:srgbClr val="1F1A22"/>
                </a:solidFill>
                <a:latin typeface="Arial"/>
                <a:ea typeface="微软雅黑"/>
                <a:cs typeface="微软雅黑"/>
              </a:rPr>
              <a:t>+12.5</a:t>
            </a:r>
            <a:r>
              <a:rPr sz="825" b="0" i="0">
                <a:solidFill>
                  <a:srgbClr val="1F1A22"/>
                </a:solidFill>
                <a:latin typeface="Arial"/>
                <a:ea typeface="微软雅黑"/>
                <a:cs typeface="微软雅黑"/>
              </a:rPr>
              <a:t> / </a:t>
            </a:r>
            <a:r>
              <a:rPr sz="825" b="1" i="0">
                <a:solidFill>
                  <a:srgbClr val="1F1A22"/>
                </a:solidFill>
                <a:latin typeface="Arial"/>
                <a:ea typeface="微软雅黑"/>
                <a:cs typeface="微软雅黑"/>
              </a:rPr>
              <a:t>+6.0</a:t>
            </a:r>
          </a:p>
        </p:txBody>
      </p:sp>
      <p:sp>
        <p:nvSpPr>
          <p:cNvPr id="47" name="TextBox 46"/>
          <p:cNvSpPr txBox="1"/>
          <p:nvPr/>
        </p:nvSpPr>
        <p:spPr>
          <a:xfrm>
            <a:off x="5667375" y="5334000"/>
            <a:ext cx="12763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WeaveBench</a:t>
            </a:r>
          </a:p>
        </p:txBody>
      </p:sp>
      <p:sp>
        <p:nvSpPr>
          <p:cNvPr id="48" name="Rectangle 47"/>
          <p:cNvSpPr/>
          <p:nvPr/>
        </p:nvSpPr>
        <p:spPr>
          <a:xfrm>
            <a:off x="590550" y="5295900"/>
            <a:ext cx="64008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90550" y="5295900"/>
            <a:ext cx="64008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277100" y="20383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410450" y="20383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① 任务构造</a:t>
            </a:r>
            <a:r>
              <a:rPr sz="975" b="0" i="0">
                <a:solidFill>
                  <a:srgbClr val="1F1A22"/>
                </a:solidFill>
                <a:latin typeface="Arial"/>
                <a:ea typeface="微软雅黑"/>
                <a:cs typeface="微软雅黑"/>
              </a:rPr>
              <a:t>　GitHub 开源 GUI 应用 · 5 平台 · 与评测集去重</a:t>
            </a:r>
          </a:p>
        </p:txBody>
      </p:sp>
      <p:sp>
        <p:nvSpPr>
          <p:cNvPr id="52" name="Rounded Rectangle 51"/>
          <p:cNvSpPr/>
          <p:nvPr/>
        </p:nvSpPr>
        <p:spPr>
          <a:xfrm>
            <a:off x="7277100" y="24574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410450" y="24574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② 轨迹生成</a:t>
            </a:r>
            <a:r>
              <a:rPr sz="975" b="0" i="0">
                <a:solidFill>
                  <a:srgbClr val="1F1A22"/>
                </a:solidFill>
                <a:latin typeface="Arial"/>
                <a:ea typeface="微软雅黑"/>
                <a:cs typeface="微软雅黑"/>
              </a:rPr>
              <a:t>　Qwen3.8-Max 并发执行"探索—实现—运行—核验"</a:t>
            </a:r>
          </a:p>
        </p:txBody>
      </p:sp>
      <p:sp>
        <p:nvSpPr>
          <p:cNvPr id="54" name="Rounded Rectangle 53"/>
          <p:cNvSpPr/>
          <p:nvPr/>
        </p:nvSpPr>
        <p:spPr>
          <a:xfrm>
            <a:off x="7277100" y="28765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410450" y="28765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③ 可验证筛选</a:t>
            </a:r>
            <a:r>
              <a:rPr sz="975" b="0" i="0">
                <a:solidFill>
                  <a:srgbClr val="1F1A22"/>
                </a:solidFill>
                <a:latin typeface="Arial"/>
                <a:ea typeface="微软雅黑"/>
                <a:cs typeface="微软雅黑"/>
              </a:rPr>
              <a:t>　行为 verifier 拒绝采样，共 3.5 万条轨迹</a:t>
            </a:r>
          </a:p>
        </p:txBody>
      </p:sp>
      <p:sp>
        <p:nvSpPr>
          <p:cNvPr id="56" name="Rounded Rectangle 55"/>
          <p:cNvSpPr/>
          <p:nvPr/>
        </p:nvSpPr>
        <p:spPr>
          <a:xfrm>
            <a:off x="7277100" y="32956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410450" y="32956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④ 模型后训练</a:t>
            </a:r>
            <a:r>
              <a:rPr sz="975" b="0" i="0">
                <a:solidFill>
                  <a:srgbClr val="1F1A22"/>
                </a:solidFill>
                <a:latin typeface="Arial"/>
                <a:ea typeface="微软雅黑"/>
                <a:cs typeface="微软雅黑"/>
              </a:rPr>
              <a:t>　SFT Qwen3.7-Plus 与 CPT 后的 Qwen-Flash</a:t>
            </a:r>
          </a:p>
        </p:txBody>
      </p:sp>
      <p:sp>
        <p:nvSpPr>
          <p:cNvPr id="58" name="TextBox 57"/>
          <p:cNvSpPr txBox="1"/>
          <p:nvPr/>
        </p:nvSpPr>
        <p:spPr>
          <a:xfrm>
            <a:off x="727710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a:t>
            </a:r>
          </a:p>
        </p:txBody>
      </p:sp>
      <p:sp>
        <p:nvSpPr>
          <p:cNvPr id="59" name="TextBox 58"/>
          <p:cNvSpPr txBox="1"/>
          <p:nvPr/>
        </p:nvSpPr>
        <p:spPr>
          <a:xfrm>
            <a:off x="7277100" y="413385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 5 平台</a:t>
            </a:r>
          </a:p>
        </p:txBody>
      </p:sp>
      <p:sp>
        <p:nvSpPr>
          <p:cNvPr id="60" name="TextBox 59"/>
          <p:cNvSpPr txBox="1"/>
          <p:nvPr/>
        </p:nvSpPr>
        <p:spPr>
          <a:xfrm>
            <a:off x="954405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58.1% / 2.8%</a:t>
            </a:r>
          </a:p>
        </p:txBody>
      </p:sp>
      <p:sp>
        <p:nvSpPr>
          <p:cNvPr id="61" name="TextBox 60"/>
          <p:cNvSpPr txBox="1"/>
          <p:nvPr/>
        </p:nvSpPr>
        <p:spPr>
          <a:xfrm>
            <a:off x="9544050" y="4133850"/>
            <a:ext cx="222885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最强模型：测试平均得分 / 全部测试通过的任务比例</a:t>
            </a:r>
          </a:p>
        </p:txBody>
      </p:sp>
      <p:sp>
        <p:nvSpPr>
          <p:cNvPr id="62" name="TextBox 61"/>
          <p:cNvSpPr txBox="1"/>
          <p:nvPr/>
        </p:nvSpPr>
        <p:spPr>
          <a:xfrm>
            <a:off x="727710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最高 +17.9</a:t>
            </a:r>
          </a:p>
        </p:txBody>
      </p:sp>
      <p:sp>
        <p:nvSpPr>
          <p:cNvPr id="63" name="TextBox 62"/>
          <p:cNvSpPr txBox="1"/>
          <p:nvPr/>
        </p:nvSpPr>
        <p:spPr>
          <a:xfrm>
            <a:off x="7277100" y="499110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分布外基准提升（个百分点）</a:t>
            </a:r>
          </a:p>
        </p:txBody>
      </p:sp>
      <p:sp>
        <p:nvSpPr>
          <p:cNvPr id="64" name="TextBox 63"/>
          <p:cNvSpPr txBox="1"/>
          <p:nvPr/>
        </p:nvSpPr>
        <p:spPr>
          <a:xfrm>
            <a:off x="954405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35.7→48.2</a:t>
            </a:r>
          </a:p>
        </p:txBody>
      </p:sp>
      <p:sp>
        <p:nvSpPr>
          <p:cNvPr id="65" name="TextBox 64"/>
          <p:cNvSpPr txBox="1"/>
          <p:nvPr/>
        </p:nvSpPr>
        <p:spPr>
          <a:xfrm>
            <a:off x="9544050" y="4991100"/>
            <a:ext cx="222885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Qwen3.7-Plus · WeaveBench（研究一）</a:t>
            </a:r>
          </a:p>
        </p:txBody>
      </p:sp>
      <p:sp>
        <p:nvSpPr>
          <p:cNvPr id="66" name="Rounded Rectangle 6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结论：复刻数据训练在 5 个分布外基准上均带来提升，支持其迁移价值 → </a:t>
            </a:r>
            <a:r>
              <a:rPr sz="1350" b="1" i="0">
                <a:solidFill>
                  <a:srgbClr val="F6C8FF"/>
                </a:solidFill>
                <a:latin typeface="Arial"/>
                <a:ea typeface="微软雅黑"/>
                <a:cs typeface="微软雅黑"/>
              </a:rPr>
              <a:t>研究三推广到真实职业环境</a:t>
            </a:r>
          </a:p>
        </p:txBody>
      </p:sp>
      <p:sp>
        <p:nvSpPr>
          <p:cNvPr id="68" name="TextBox 6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 研究三主体（待完成）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dots、Muse、Manus 等产品侧重记忆与偏好适配，多在云端通用环境执行；对</a:t>
            </a:r>
            <a:r>
              <a:rPr sz="1125" b="1" i="0">
                <a:solidFill>
                  <a:srgbClr val="1F1A22"/>
                </a:solidFill>
                <a:latin typeface="Arial"/>
                <a:ea typeface="微软雅黑"/>
                <a:cs typeface="微软雅黑"/>
              </a:rPr>
              <a:t>个人电脑环境、职业业务知识与专业软件技能</a:t>
            </a:r>
            <a:r>
              <a:rPr sz="1125" b="0" i="0">
                <a:solidFill>
                  <a:srgbClr val="1F1A22"/>
                </a:solidFill>
                <a:latin typeface="Arial"/>
                <a:ea typeface="微软雅黑"/>
                <a:cs typeface="微软雅黑"/>
              </a:rPr>
              <a:t>的支持仍有限</a:t>
            </a:r>
          </a:p>
        </p:txBody>
      </p:sp>
      <p:sp>
        <p:nvSpPr>
          <p:cNvPr id="12" name="Rounded Rectangle 11"/>
          <p:cNvSpPr/>
          <p:nvPr/>
        </p:nvSpPr>
        <p:spPr>
          <a:xfrm>
            <a:off x="457200" y="1771650"/>
            <a:ext cx="60960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_overview2.png"/>
          <p:cNvPicPr>
            <a:picLocks noChangeAspect="1"/>
          </p:cNvPicPr>
          <p:nvPr/>
        </p:nvPicPr>
        <p:blipFill>
          <a:blip r:embed="rId2"/>
          <a:stretch>
            <a:fillRect/>
          </a:stretch>
        </p:blipFill>
        <p:spPr>
          <a:xfrm>
            <a:off x="961813" y="1828800"/>
            <a:ext cx="5086773" cy="2590800"/>
          </a:xfrm>
          <a:prstGeom prst="rect">
            <a:avLst/>
          </a:prstGeom>
        </p:spPr>
      </p:pic>
      <p:sp>
        <p:nvSpPr>
          <p:cNvPr id="14" name="TextBox 13"/>
          <p:cNvSpPr txBox="1"/>
          <p:nvPr/>
        </p:nvSpPr>
        <p:spPr>
          <a:xfrm>
            <a:off x="485775" y="445770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15" name="Rounded Rectangle 14"/>
          <p:cNvSpPr/>
          <p:nvPr/>
        </p:nvSpPr>
        <p:spPr>
          <a:xfrm>
            <a:off x="457200" y="4876800"/>
            <a:ext cx="6096000" cy="666750"/>
          </a:xfrm>
          <a:prstGeom prst="roundRect">
            <a:avLst>
              <a:gd name="adj" fmla="val 1714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0550" y="4933950"/>
            <a:ext cx="5905500" cy="396180"/>
          </a:xfrm>
          <a:prstGeom prst="rect">
            <a:avLst/>
          </a:prstGeom>
          <a:noFill/>
        </p:spPr>
        <p:txBody>
          <a:bodyPr wrap="square" lIns="0" rIns="0" tIns="0" bIns="0" anchor="t">
            <a:noAutofit/>
          </a:bodyPr>
          <a:lstStyle/>
          <a:p>
            <a:pPr algn="l">
              <a:lnSpc>
                <a:spcPts val="1560"/>
              </a:lnSpc>
              <a:spcBef>
                <a:spcPts val="0"/>
              </a:spcBef>
              <a:spcAft>
                <a:spcPts val="0"/>
              </a:spcAft>
            </a:pPr>
            <a:r>
              <a:rPr sz="975" b="1" i="0">
                <a:solidFill>
                  <a:srgbClr val="660874"/>
                </a:solidFill>
                <a:latin typeface="Arial"/>
                <a:ea typeface="微软雅黑"/>
                <a:cs typeface="微软雅黑"/>
              </a:rPr>
              <a:t>RQ</a:t>
            </a:r>
            <a:r>
              <a:rPr sz="975" b="0" i="0">
                <a:solidFill>
                  <a:srgbClr val="1F1A22"/>
                </a:solidFill>
                <a:latin typeface="Arial"/>
                <a:ea typeface="微软雅黑"/>
                <a:cs typeface="微软雅黑"/>
              </a:rPr>
              <a:t>　① 个人环境与职业知识能否构造为</a:t>
            </a:r>
            <a:r>
              <a:rPr sz="975" b="1" i="0">
                <a:solidFill>
                  <a:srgbClr val="1F1A22"/>
                </a:solidFill>
                <a:latin typeface="Arial"/>
                <a:ea typeface="微软雅黑"/>
                <a:cs typeface="微软雅黑"/>
              </a:rPr>
              <a:t>可扩展、可验证</a:t>
            </a:r>
            <a:r>
              <a:rPr sz="975" b="0" i="0">
                <a:solidFill>
                  <a:srgbClr val="1F1A22"/>
                </a:solidFill>
                <a:latin typeface="Arial"/>
                <a:ea typeface="微软雅黑"/>
                <a:cs typeface="微软雅黑"/>
              </a:rPr>
              <a:t>的训练环境？　② 在其上训练能否提升职业任务表现并</a:t>
            </a:r>
            <a:r>
              <a:rPr sz="975" b="1" i="0">
                <a:solidFill>
                  <a:srgbClr val="1F1A22"/>
                </a:solidFill>
                <a:latin typeface="Arial"/>
                <a:ea typeface="微软雅黑"/>
                <a:cs typeface="微软雅黑"/>
              </a:rPr>
              <a:t>跨职业泛化</a:t>
            </a:r>
            <a:r>
              <a:rPr sz="975" b="0" i="0">
                <a:solidFill>
                  <a:srgbClr val="1F1A22"/>
                </a:solidFill>
                <a:latin typeface="Arial"/>
                <a:ea typeface="微软雅黑"/>
                <a:cs typeface="微软雅黑"/>
              </a:rPr>
              <a:t>？</a:t>
            </a:r>
          </a:p>
        </p:txBody>
      </p:sp>
      <p:sp>
        <p:nvSpPr>
          <p:cNvPr id="17" name="Rounded Rectangle 16"/>
          <p:cNvSpPr/>
          <p:nvPr/>
        </p:nvSpPr>
        <p:spPr>
          <a:xfrm>
            <a:off x="6705600" y="17716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18478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① 业务应用仿真（App Mock）</a:t>
            </a:r>
          </a:p>
        </p:txBody>
      </p:sp>
      <p:sp>
        <p:nvSpPr>
          <p:cNvPr id="19" name="TextBox 18"/>
          <p:cNvSpPr txBox="1"/>
          <p:nvPr/>
        </p:nvSpPr>
        <p:spPr>
          <a:xfrm>
            <a:off x="6858000" y="2095500"/>
            <a:ext cx="480060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以研究二的复刻能力把 ERP、电商后台、合同审阅等构建为可交互、可重置的个人电脑仿真环境</a:t>
            </a:r>
          </a:p>
        </p:txBody>
      </p:sp>
      <p:sp>
        <p:nvSpPr>
          <p:cNvPr id="20" name="Rounded Rectangle 19"/>
          <p:cNvSpPr/>
          <p:nvPr/>
        </p:nvSpPr>
        <p:spPr>
          <a:xfrm>
            <a:off x="6705600" y="25717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26479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② 真实数据驱动的环境模拟</a:t>
            </a:r>
          </a:p>
        </p:txBody>
      </p:sp>
      <p:sp>
        <p:nvSpPr>
          <p:cNvPr id="22" name="TextBox 21"/>
          <p:cNvSpPr txBox="1"/>
          <p:nvPr/>
        </p:nvSpPr>
        <p:spPr>
          <a:xfrm>
            <a:off x="6858000" y="2895600"/>
            <a:ext cx="481965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以脱敏 / 合成业务数据驱动状态与事件，支持跨应用长程任务；不接触真实用户账户</a:t>
            </a:r>
          </a:p>
        </p:txBody>
      </p:sp>
      <p:sp>
        <p:nvSpPr>
          <p:cNvPr id="23" name="Rounded Rectangle 22"/>
          <p:cNvSpPr/>
          <p:nvPr/>
        </p:nvSpPr>
        <p:spPr>
          <a:xfrm>
            <a:off x="6705600" y="33718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34480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③ SFT 与 RL 任务流水线</a:t>
            </a:r>
          </a:p>
        </p:txBody>
      </p:sp>
      <p:sp>
        <p:nvSpPr>
          <p:cNvPr id="25" name="TextBox 24"/>
          <p:cNvSpPr txBox="1"/>
          <p:nvPr/>
        </p:nvSpPr>
        <p:spPr>
          <a:xfrm>
            <a:off x="6858000" y="3695700"/>
            <a:ext cx="481965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任务生成 → 轨迹 → 以数据库状态校验为主的验证器 → SFT 数据 / RL 奖励</a:t>
            </a:r>
          </a:p>
        </p:txBody>
      </p:sp>
      <p:sp>
        <p:nvSpPr>
          <p:cNvPr id="26" name="Rounded Rectangle 25"/>
          <p:cNvSpPr/>
          <p:nvPr/>
        </p:nvSpPr>
        <p:spPr>
          <a:xfrm>
            <a:off x="6705600" y="4171950"/>
            <a:ext cx="5029200" cy="1371600"/>
          </a:xfrm>
          <a:prstGeom prst="roundRect">
            <a:avLst>
              <a:gd name="adj" fmla="val 8333"/>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8000" y="4248150"/>
            <a:ext cx="4800600" cy="650081"/>
          </a:xfrm>
          <a:prstGeom prst="rect">
            <a:avLst/>
          </a:prstGeom>
          <a:noFill/>
        </p:spPr>
        <p:txBody>
          <a:bodyPr wrap="square" lIns="0" rIns="0" tIns="0" bIns="0" anchor="t">
            <a:noAutofit/>
          </a:bodyPr>
          <a:lstStyle/>
          <a:p>
            <a:pPr algn="l">
              <a:lnSpc>
                <a:spcPts val="1706"/>
              </a:lnSpc>
              <a:spcBef>
                <a:spcPts val="0"/>
              </a:spcBef>
              <a:spcAft>
                <a:spcPts val="0"/>
              </a:spcAft>
            </a:pPr>
            <a:r>
              <a:rPr sz="975" b="1" i="0">
                <a:solidFill>
                  <a:srgbClr val="B7791F"/>
                </a:solidFill>
                <a:latin typeface="Arial"/>
                <a:ea typeface="微软雅黑"/>
                <a:cs typeface="微软雅黑"/>
              </a:rPr>
              <a:t>范围</a:t>
            </a:r>
            <a:r>
              <a:rPr sz="975" b="0" i="0">
                <a:solidFill>
                  <a:srgbClr val="1F1A22"/>
                </a:solidFill>
                <a:latin typeface="Arial"/>
                <a:ea typeface="微软雅黑"/>
                <a:cs typeface="微软雅黑"/>
              </a:rPr>
              <a:t>　重点研究财务、电商运营、法律中的 2–3 类职业，其余职业留出用于跨职业评估</a:t>
            </a:r>
          </a:p>
          <a:p>
            <a:pPr algn="l">
              <a:lnSpc>
                <a:spcPts val="1706"/>
              </a:lnSpc>
              <a:spcBef>
                <a:spcPts val="0"/>
              </a:spcBef>
              <a:spcAft>
                <a:spcPts val="0"/>
              </a:spcAft>
            </a:pPr>
            <a:r>
              <a:rPr sz="975" b="1" i="0">
                <a:solidFill>
                  <a:srgbClr val="B7791F"/>
                </a:solidFill>
                <a:latin typeface="Arial"/>
                <a:ea typeface="微软雅黑"/>
                <a:cs typeface="微软雅黑"/>
              </a:rPr>
              <a:t>指标</a:t>
            </a:r>
            <a:r>
              <a:rPr sz="975" b="0" i="0">
                <a:solidFill>
                  <a:srgbClr val="1F1A22"/>
                </a:solidFill>
                <a:latin typeface="Arial"/>
                <a:ea typeface="微软雅黑"/>
                <a:cs typeface="微软雅黑"/>
              </a:rPr>
              <a:t>　状态通过率 · 过程审计分 · 未见职业泛化 · 仿真与真实软件成功率差</a:t>
            </a:r>
          </a:p>
          <a:p>
            <a:pPr algn="l">
              <a:lnSpc>
                <a:spcPts val="1706"/>
              </a:lnSpc>
              <a:spcBef>
                <a:spcPts val="0"/>
              </a:spcBef>
              <a:spcAft>
                <a:spcPts val="0"/>
              </a:spcAft>
            </a:pPr>
            <a:r>
              <a:rPr sz="975" b="1" i="0">
                <a:solidFill>
                  <a:srgbClr val="B7791F"/>
                </a:solidFill>
                <a:latin typeface="Arial"/>
                <a:ea typeface="微软雅黑"/>
                <a:cs typeface="微软雅黑"/>
              </a:rPr>
              <a:t>基线</a:t>
            </a:r>
            <a:r>
              <a:rPr sz="975" b="0" i="0">
                <a:solidFill>
                  <a:srgbClr val="1F1A22"/>
                </a:solidFill>
                <a:latin typeface="Arial"/>
                <a:ea typeface="微软雅黑"/>
                <a:cs typeface="微软雅黑"/>
              </a:rPr>
              <a:t>　通用 CUA 模型 · 仅 CLI / 仅 GUI · 无职业数据训练</a:t>
            </a:r>
          </a:p>
        </p:txBody>
      </p:sp>
      <p:sp>
        <p:nvSpPr>
          <p:cNvPr id="28" name="Rounded Rectangle 27"/>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复用研究一的</a:t>
            </a:r>
            <a:r>
              <a:rPr sz="1350" b="1" i="0">
                <a:solidFill>
                  <a:srgbClr val="F6C8FF"/>
                </a:solidFill>
                <a:latin typeface="Arial"/>
                <a:ea typeface="微软雅黑"/>
                <a:cs typeface="微软雅黑"/>
              </a:rPr>
              <a:t>评测</a:t>
            </a:r>
            <a:r>
              <a:rPr sz="1350" b="0" i="0">
                <a:solidFill>
                  <a:srgbClr val="FFFFFF"/>
                </a:solidFill>
                <a:latin typeface="Arial"/>
                <a:ea typeface="微软雅黑"/>
                <a:cs typeface="微软雅黑"/>
              </a:rPr>
              <a:t>与研究二的</a:t>
            </a:r>
            <a:r>
              <a:rPr sz="1350" b="1" i="0">
                <a:solidFill>
                  <a:srgbClr val="F6C8FF"/>
                </a:solidFill>
                <a:latin typeface="Arial"/>
                <a:ea typeface="微软雅黑"/>
                <a:cs typeface="微软雅黑"/>
              </a:rPr>
              <a:t>训练</a:t>
            </a:r>
            <a:r>
              <a:rPr sz="1350" b="0" i="0">
                <a:solidFill>
                  <a:srgbClr val="FFFFFF"/>
                </a:solidFill>
                <a:latin typeface="Arial"/>
                <a:ea typeface="微软雅黑"/>
                <a:cs typeface="微软雅黑"/>
              </a:rPr>
              <a:t>流程，把可扩展框架推广到职业化个人环境</a:t>
            </a:r>
          </a:p>
        </p:txBody>
      </p:sp>
      <p:sp>
        <p:nvSpPr>
          <p:cNvPr id="30" name="TextBox 2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研究三（二）：面向物理仿真程序的代码智能体验证（拓展方向）</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Coding Agent 已能生成"会动的 3D 世界"，但表象正确不等于机制正确；现有工作尚未统一考察</a:t>
            </a:r>
            <a:r>
              <a:rPr sz="1125" b="1" i="0">
                <a:solidFill>
                  <a:srgbClr val="1F1A22"/>
                </a:solidFill>
                <a:latin typeface="Arial"/>
                <a:ea typeface="微软雅黑"/>
                <a:cs typeface="微软雅黑"/>
              </a:rPr>
              <a:t>跨条件泛化、错误定位与修复后回归</a:t>
            </a:r>
          </a:p>
        </p:txBody>
      </p:sp>
      <p:sp>
        <p:nvSpPr>
          <p:cNvPr id="10" name="Rounded Rectangle 9"/>
          <p:cNvSpPr/>
          <p:nvPr/>
        </p:nvSpPr>
        <p:spPr>
          <a:xfrm>
            <a:off x="457200" y="1771650"/>
            <a:ext cx="5619750" cy="3790950"/>
          </a:xfrm>
          <a:prstGeom prst="roundRect">
            <a:avLst>
              <a:gd name="adj" fmla="val 20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hys_cf.png"/>
          <p:cNvPicPr>
            <a:picLocks noChangeAspect="1"/>
          </p:cNvPicPr>
          <p:nvPr/>
        </p:nvPicPr>
        <p:blipFill>
          <a:blip r:embed="rId2"/>
          <a:stretch>
            <a:fillRect/>
          </a:stretch>
        </p:blipFill>
        <p:spPr>
          <a:xfrm>
            <a:off x="514350" y="1965752"/>
            <a:ext cx="5505450" cy="3078894"/>
          </a:xfrm>
          <a:prstGeom prst="rect">
            <a:avLst/>
          </a:prstGeom>
        </p:spPr>
      </p:pic>
      <p:sp>
        <p:nvSpPr>
          <p:cNvPr id="12" name="TextBox 11"/>
          <p:cNvSpPr txBox="1"/>
          <p:nvPr/>
        </p:nvSpPr>
        <p:spPr>
          <a:xfrm>
            <a:off x="485775" y="5219700"/>
            <a:ext cx="5562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块骨牌间距后，关键帧动画仍"全部倒下"，物理仿真正确中断</a:t>
            </a:r>
          </a:p>
        </p:txBody>
      </p:sp>
      <p:sp>
        <p:nvSpPr>
          <p:cNvPr id="13" name="Rounded Rectangle 12"/>
          <p:cNvSpPr/>
          <p:nvPr/>
        </p:nvSpPr>
        <p:spPr>
          <a:xfrm>
            <a:off x="6229350" y="1771650"/>
            <a:ext cx="550545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hys_loop.png"/>
          <p:cNvPicPr>
            <a:picLocks noChangeAspect="1"/>
          </p:cNvPicPr>
          <p:nvPr/>
        </p:nvPicPr>
        <p:blipFill>
          <a:blip r:embed="rId3"/>
          <a:stretch>
            <a:fillRect/>
          </a:stretch>
        </p:blipFill>
        <p:spPr>
          <a:xfrm>
            <a:off x="7117841" y="1828800"/>
            <a:ext cx="3728467" cy="2419350"/>
          </a:xfrm>
          <a:prstGeom prst="rect">
            <a:avLst/>
          </a:prstGeom>
        </p:spPr>
      </p:pic>
      <p:sp>
        <p:nvSpPr>
          <p:cNvPr id="15" name="TextBox 14"/>
          <p:cNvSpPr txBox="1"/>
          <p:nvPr/>
        </p:nvSpPr>
        <p:spPr>
          <a:xfrm>
            <a:off x="6257925" y="4286250"/>
            <a:ext cx="54483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方法：基于物理状态与干预测试的验证、诊断与定向修复</a:t>
            </a:r>
          </a:p>
        </p:txBody>
      </p:sp>
      <p:sp>
        <p:nvSpPr>
          <p:cNvPr id="16" name="Rounded Rectangle 15"/>
          <p:cNvSpPr/>
          <p:nvPr/>
        </p:nvSpPr>
        <p:spPr>
          <a:xfrm>
            <a:off x="62293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27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物理泛化</a:t>
            </a:r>
          </a:p>
        </p:txBody>
      </p:sp>
      <p:sp>
        <p:nvSpPr>
          <p:cNvPr id="18" name="Rounded Rectangle 17"/>
          <p:cNvSpPr/>
          <p:nvPr/>
        </p:nvSpPr>
        <p:spPr>
          <a:xfrm>
            <a:off x="762000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5335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错误诊断</a:t>
            </a:r>
          </a:p>
        </p:txBody>
      </p:sp>
      <p:sp>
        <p:nvSpPr>
          <p:cNvPr id="20" name="Rounded Rectangle 19"/>
          <p:cNvSpPr/>
          <p:nvPr/>
        </p:nvSpPr>
        <p:spPr>
          <a:xfrm>
            <a:off x="90106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可靠修复</a:t>
            </a:r>
          </a:p>
        </p:txBody>
      </p:sp>
      <p:sp>
        <p:nvSpPr>
          <p:cNvPr id="22" name="TextBox 21"/>
          <p:cNvSpPr txBox="1"/>
          <p:nvPr/>
        </p:nvSpPr>
        <p:spPr>
          <a:xfrm>
            <a:off x="6229350" y="5086350"/>
            <a:ext cx="55435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4A4450"/>
                </a:solidFill>
                <a:latin typeface="Arial"/>
                <a:ea typeface="微软雅黑"/>
                <a:cs typeface="微软雅黑"/>
              </a:rPr>
              <a:t>消融：单次生成 / 执行反馈 / 视觉反馈 / 物理状态反馈 / 本文（状态 + 干预验证 + 定向修复）；指标：干预条件测试通过率 · 修复成功率 · 修复后回归测试通过率</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反事实干预即一种</a:t>
            </a:r>
            <a:r>
              <a:rPr sz="1350" b="1" i="0">
                <a:solidFill>
                  <a:srgbClr val="F6C8FF"/>
                </a:solidFill>
                <a:latin typeface="Arial"/>
                <a:ea typeface="微软雅黑"/>
                <a:cs typeface="微软雅黑"/>
              </a:rPr>
              <a:t>可自动构造的 verifier</a:t>
            </a:r>
            <a:r>
              <a:rPr sz="1350" b="0" i="0">
                <a:solidFill>
                  <a:srgbClr val="FFFFFF"/>
                </a:solidFill>
                <a:latin typeface="Arial"/>
                <a:ea typeface="微软雅黑"/>
                <a:cs typeface="微软雅黑"/>
              </a:rPr>
              <a:t>（借鉴蜕变测试思想）；限定刚体场景，进度受限时降级为小规模基准 + 诊断分析</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已完成研究与成果状态</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110490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前期效率</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110490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前期效率</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研究一、二的评测环境与训练数据已应用于模型优化；在一线训练与评测中接触前沿基础模型在计算机操作与长程任务上的实际问题；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创新点：验证器从结果表象推进到状态与机制</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6675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adder.png"/>
          <p:cNvPicPr>
            <a:picLocks noChangeAspect="1"/>
          </p:cNvPicPr>
          <p:nvPr/>
        </p:nvPicPr>
        <p:blipFill>
          <a:blip r:embed="rId2"/>
          <a:stretch>
            <a:fillRect/>
          </a:stretch>
        </p:blipFill>
        <p:spPr>
          <a:xfrm>
            <a:off x="563809" y="1485900"/>
            <a:ext cx="6454280" cy="3676650"/>
          </a:xfrm>
          <a:prstGeom prst="rect">
            <a:avLst/>
          </a:prstGeom>
        </p:spPr>
      </p:pic>
      <p:sp>
        <p:nvSpPr>
          <p:cNvPr id="7" name="TextBox 6"/>
          <p:cNvSpPr txBox="1"/>
          <p:nvPr/>
        </p:nvSpPr>
        <p:spPr>
          <a:xfrm>
            <a:off x="485775" y="52006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验证器演进：从结果判分到过程、行为、状态与机制（示意图）</a:t>
            </a:r>
          </a:p>
        </p:txBody>
      </p:sp>
      <p:sp>
        <p:nvSpPr>
          <p:cNvPr id="8" name="Rounded Rectangle 7"/>
          <p:cNvSpPr/>
          <p:nvPr/>
        </p:nvSpPr>
        <p:spPr>
          <a:xfrm>
            <a:off x="7277100" y="1428750"/>
            <a:ext cx="44577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29500" y="1524000"/>
            <a:ext cx="628650" cy="293340"/>
          </a:xfrm>
          <a:prstGeom prst="rect">
            <a:avLst/>
          </a:prstGeom>
          <a:noFill/>
        </p:spPr>
        <p:txBody>
          <a:bodyPr wrap="none" lIns="0" rIns="0" tIns="0" bIns="0" anchor="ctr">
            <a:noAutofit/>
          </a:bodyPr>
          <a:lstStyle/>
          <a:p>
            <a:pPr algn="l">
              <a:lnSpc>
                <a:spcPct val="100000"/>
              </a:lnSpc>
              <a:spcBef>
                <a:spcPts val="0"/>
              </a:spcBef>
              <a:spcAft>
                <a:spcPts val="0"/>
              </a:spcAft>
            </a:pPr>
            <a:r>
              <a:rPr sz="2100" b="1" i="0">
                <a:solidFill>
                  <a:srgbClr val="660874"/>
                </a:solidFill>
                <a:latin typeface="Arial"/>
                <a:ea typeface="微软雅黑"/>
                <a:cs typeface="微软雅黑"/>
              </a:rPr>
              <a:t>01</a:t>
            </a:r>
          </a:p>
        </p:txBody>
      </p:sp>
      <p:sp>
        <p:nvSpPr>
          <p:cNvPr id="10" name="Rounded Rectangle 9"/>
          <p:cNvSpPr/>
          <p:nvPr/>
        </p:nvSpPr>
        <p:spPr>
          <a:xfrm>
            <a:off x="10820400" y="1562100"/>
            <a:ext cx="7620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1825" y="1562100"/>
            <a:ext cx="8191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已形成</a:t>
            </a:r>
          </a:p>
        </p:txBody>
      </p:sp>
      <p:sp>
        <p:nvSpPr>
          <p:cNvPr id="12" name="TextBox 11"/>
          <p:cNvSpPr txBox="1"/>
          <p:nvPr/>
        </p:nvSpPr>
        <p:spPr>
          <a:xfrm>
            <a:off x="7962900" y="15811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混合能力范式下的轨迹感知可信评测</a:t>
            </a:r>
          </a:p>
        </p:txBody>
      </p:sp>
      <p:sp>
        <p:nvSpPr>
          <p:cNvPr id="13" name="TextBox 12"/>
          <p:cNvSpPr txBox="1"/>
          <p:nvPr/>
        </p:nvSpPr>
        <p:spPr>
          <a:xfrm>
            <a:off x="7429500" y="1943100"/>
            <a:ext cx="4191000" cy="396180"/>
          </a:xfrm>
          <a:prstGeom prst="rect">
            <a:avLst/>
          </a:prstGeom>
          <a:noFill/>
        </p:spPr>
        <p:txBody>
          <a:bodyPr wrap="square" lIns="0" rIns="0" tIns="0" bIns="0" anchor="t">
            <a:noAutofit/>
          </a:bodyPr>
          <a:lstStyle/>
          <a:p>
            <a:pPr algn="l">
              <a:lnSpc>
                <a:spcPts val="1560"/>
              </a:lnSpc>
              <a:spcBef>
                <a:spcPts val="0"/>
              </a:spcBef>
              <a:spcAft>
                <a:spcPts val="0"/>
              </a:spcAft>
            </a:pPr>
            <a:r>
              <a:rPr sz="975" b="0" i="0">
                <a:solidFill>
                  <a:srgbClr val="1F1A22"/>
                </a:solidFill>
                <a:latin typeface="Arial"/>
                <a:ea typeface="微软雅黑"/>
                <a:cs typeface="微软雅黑"/>
              </a:rPr>
              <a:t>以"仅用任一通道无法完成"为选题标准，轨迹审计与结果验证结合，揭示编排与自我验证短板</a:t>
            </a:r>
          </a:p>
        </p:txBody>
      </p:sp>
      <p:sp>
        <p:nvSpPr>
          <p:cNvPr id="14" name="Rounded Rectangle 13"/>
          <p:cNvSpPr/>
          <p:nvPr/>
        </p:nvSpPr>
        <p:spPr>
          <a:xfrm>
            <a:off x="7277100" y="2819400"/>
            <a:ext cx="44577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29500" y="2914650"/>
            <a:ext cx="628650" cy="293340"/>
          </a:xfrm>
          <a:prstGeom prst="rect">
            <a:avLst/>
          </a:prstGeom>
          <a:noFill/>
        </p:spPr>
        <p:txBody>
          <a:bodyPr wrap="none" lIns="0" rIns="0" tIns="0" bIns="0" anchor="ctr">
            <a:noAutofit/>
          </a:bodyPr>
          <a:lstStyle/>
          <a:p>
            <a:pPr algn="l">
              <a:lnSpc>
                <a:spcPct val="100000"/>
              </a:lnSpc>
              <a:spcBef>
                <a:spcPts val="0"/>
              </a:spcBef>
              <a:spcAft>
                <a:spcPts val="0"/>
              </a:spcAft>
            </a:pPr>
            <a:r>
              <a:rPr sz="2100" b="1" i="0">
                <a:solidFill>
                  <a:srgbClr val="660874"/>
                </a:solidFill>
                <a:latin typeface="Arial"/>
                <a:ea typeface="微软雅黑"/>
                <a:cs typeface="微软雅黑"/>
              </a:rPr>
              <a:t>02</a:t>
            </a:r>
          </a:p>
        </p:txBody>
      </p:sp>
      <p:sp>
        <p:nvSpPr>
          <p:cNvPr id="16" name="Rounded Rectangle 15"/>
          <p:cNvSpPr/>
          <p:nvPr/>
        </p:nvSpPr>
        <p:spPr>
          <a:xfrm>
            <a:off x="10820400" y="2952750"/>
            <a:ext cx="7620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91825" y="2952750"/>
            <a:ext cx="8191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已形成</a:t>
            </a:r>
          </a:p>
        </p:txBody>
      </p:sp>
      <p:sp>
        <p:nvSpPr>
          <p:cNvPr id="18" name="TextBox 17"/>
          <p:cNvSpPr txBox="1"/>
          <p:nvPr/>
        </p:nvSpPr>
        <p:spPr>
          <a:xfrm>
            <a:off x="7962900" y="297180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以参考应用为验证参照的可扩展复刻训练</a:t>
            </a:r>
          </a:p>
        </p:txBody>
      </p:sp>
      <p:sp>
        <p:nvSpPr>
          <p:cNvPr id="19" name="TextBox 18"/>
          <p:cNvSpPr txBox="1"/>
          <p:nvPr/>
        </p:nvSpPr>
        <p:spPr>
          <a:xfrm>
            <a:off x="7429500" y="3333750"/>
            <a:ext cx="4191000" cy="396180"/>
          </a:xfrm>
          <a:prstGeom prst="rect">
            <a:avLst/>
          </a:prstGeom>
          <a:noFill/>
        </p:spPr>
        <p:txBody>
          <a:bodyPr wrap="square" lIns="0" rIns="0" tIns="0" bIns="0" anchor="t">
            <a:noAutofit/>
          </a:bodyPr>
          <a:lstStyle/>
          <a:p>
            <a:pPr algn="l">
              <a:lnSpc>
                <a:spcPts val="1560"/>
              </a:lnSpc>
              <a:spcBef>
                <a:spcPts val="0"/>
              </a:spcBef>
              <a:spcAft>
                <a:spcPts val="0"/>
              </a:spcAft>
            </a:pPr>
            <a:r>
              <a:rPr sz="975" b="0" i="0">
                <a:solidFill>
                  <a:srgbClr val="1F1A22"/>
                </a:solidFill>
                <a:latin typeface="Arial"/>
                <a:ea typeface="微软雅黑"/>
                <a:cs typeface="微软雅黑"/>
              </a:rPr>
              <a:t>开源 GUI 应用经审核转化为"环境 + 隐藏行为测试"，为混合行为提供可验证筛选信号</a:t>
            </a:r>
          </a:p>
        </p:txBody>
      </p:sp>
      <p:sp>
        <p:nvSpPr>
          <p:cNvPr id="20" name="Rounded Rectangle 19"/>
          <p:cNvSpPr/>
          <p:nvPr/>
        </p:nvSpPr>
        <p:spPr>
          <a:xfrm>
            <a:off x="7277100" y="4210050"/>
            <a:ext cx="44577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29500" y="4305300"/>
            <a:ext cx="628650" cy="293340"/>
          </a:xfrm>
          <a:prstGeom prst="rect">
            <a:avLst/>
          </a:prstGeom>
          <a:noFill/>
        </p:spPr>
        <p:txBody>
          <a:bodyPr wrap="none" lIns="0" rIns="0" tIns="0" bIns="0" anchor="ctr">
            <a:noAutofit/>
          </a:bodyPr>
          <a:lstStyle/>
          <a:p>
            <a:pPr algn="l">
              <a:lnSpc>
                <a:spcPct val="100000"/>
              </a:lnSpc>
              <a:spcBef>
                <a:spcPts val="0"/>
              </a:spcBef>
              <a:spcAft>
                <a:spcPts val="0"/>
              </a:spcAft>
            </a:pPr>
            <a:r>
              <a:rPr sz="2100" b="1" i="0">
                <a:solidFill>
                  <a:srgbClr val="660874"/>
                </a:solidFill>
                <a:latin typeface="Arial"/>
                <a:ea typeface="微软雅黑"/>
                <a:cs typeface="微软雅黑"/>
              </a:rPr>
              <a:t>03</a:t>
            </a:r>
          </a:p>
        </p:txBody>
      </p:sp>
      <p:sp>
        <p:nvSpPr>
          <p:cNvPr id="22" name="Rounded Rectangle 21"/>
          <p:cNvSpPr/>
          <p:nvPr/>
        </p:nvSpPr>
        <p:spPr>
          <a:xfrm>
            <a:off x="10820400" y="4343400"/>
            <a:ext cx="7620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01350" y="4352925"/>
            <a:ext cx="8001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待验证</a:t>
            </a:r>
          </a:p>
        </p:txBody>
      </p:sp>
      <p:sp>
        <p:nvSpPr>
          <p:cNvPr id="24" name="TextBox 23"/>
          <p:cNvSpPr txBox="1"/>
          <p:nvPr/>
        </p:nvSpPr>
        <p:spPr>
          <a:xfrm>
            <a:off x="7962900" y="43624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面向真实世界的环境扩展与物理落地验证</a:t>
            </a:r>
          </a:p>
        </p:txBody>
      </p:sp>
      <p:sp>
        <p:nvSpPr>
          <p:cNvPr id="25" name="TextBox 24"/>
          <p:cNvSpPr txBox="1"/>
          <p:nvPr/>
        </p:nvSpPr>
        <p:spPr>
          <a:xfrm>
            <a:off x="7429500" y="4724400"/>
            <a:ext cx="4210050" cy="19809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1F1A22"/>
                </a:solidFill>
                <a:latin typeface="Arial"/>
                <a:ea typeface="微软雅黑"/>
                <a:cs typeface="微软雅黑"/>
              </a:rPr>
              <a:t>验证从结果审计扩展到业务状态校验（职业环境）与反事实干预（物理仿真）</a:t>
            </a:r>
          </a:p>
        </p:txBody>
      </p:sp>
      <p:sp>
        <p:nvSpPr>
          <p:cNvPr id="26" name="Rounded Rectangle 2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8" name="TextBox 2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核心职业：财务、电商运营、法律</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 / 合成数据驱动状态与事件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状态优先 verifier 与任务流水线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物理仿真验证（拓展）</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刚体场景反事实干预基准</a:t>
            </a:r>
          </a:p>
          <a:p>
            <a:pPr algn="l">
              <a:lnSpc>
                <a:spcPts val="1837"/>
              </a:lnSpc>
              <a:spcBef>
                <a:spcPts val="0"/>
              </a:spcBef>
              <a:spcAft>
                <a:spcPts val="0"/>
              </a:spcAft>
            </a:pPr>
            <a:r>
              <a:rPr sz="1050" b="0" i="0">
                <a:solidFill>
                  <a:srgbClr val="4A4450"/>
                </a:solidFill>
                <a:latin typeface="Arial"/>
                <a:ea typeface="微软雅黑"/>
                <a:cs typeface="微软雅黑"/>
              </a:rPr>
              <a:t>• 验证与因果修复；核心消融</a:t>
            </a:r>
          </a:p>
          <a:p>
            <a:pPr algn="l">
              <a:lnSpc>
                <a:spcPts val="1837"/>
              </a:lnSpc>
              <a:spcBef>
                <a:spcPts val="0"/>
              </a:spcBef>
              <a:spcAft>
                <a:spcPts val="0"/>
              </a:spcAft>
            </a:pPr>
            <a:r>
              <a:rPr sz="1050" b="0" i="0">
                <a:solidFill>
                  <a:srgbClr val="4A4450"/>
                </a:solidFill>
                <a:latin typeface="Arial"/>
                <a:ea typeface="微软雅黑"/>
                <a:cs typeface="微软雅黑"/>
              </a:rPr>
              <a:t>• 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a:t>
            </a:r>
            <a:r>
              <a:rPr sz="1125" b="1" i="0">
                <a:solidFill>
                  <a:srgbClr val="1F1A22"/>
                </a:solidFill>
                <a:latin typeface="Arial"/>
                <a:ea typeface="微软雅黑"/>
                <a:cs typeface="微软雅黑"/>
              </a:rPr>
              <a:t>必达目标</a:t>
            </a:r>
            <a:r>
              <a:rPr sz="1125" b="0" i="0">
                <a:solidFill>
                  <a:srgbClr val="1F1A22"/>
                </a:solidFill>
                <a:latin typeface="Arial"/>
                <a:ea typeface="微软雅黑"/>
                <a:cs typeface="微软雅黑"/>
              </a:rPr>
              <a:t>：2–3 类职业的可验证个人电脑仿真环境 + SFT 训练，并评估跨职业泛化</a:t>
            </a:r>
          </a:p>
          <a:p>
            <a:pPr algn="l">
              <a:lnSpc>
                <a:spcPts val="2025"/>
              </a:lnSpc>
              <a:spcBef>
                <a:spcPts val="0"/>
              </a:spcBef>
              <a:spcAft>
                <a:spcPts val="0"/>
              </a:spcAft>
            </a:pPr>
            <a:r>
              <a:rPr sz="1125" b="0" i="0">
                <a:solidFill>
                  <a:srgbClr val="1F1A22"/>
                </a:solidFill>
                <a:latin typeface="Arial"/>
                <a:ea typeface="微软雅黑"/>
                <a:cs typeface="微软雅黑"/>
              </a:rPr>
              <a:t>• </a:t>
            </a:r>
            <a:r>
              <a:rPr sz="1125" b="1" i="0">
                <a:solidFill>
                  <a:srgbClr val="1F1A22"/>
                </a:solidFill>
                <a:latin typeface="Arial"/>
                <a:ea typeface="微软雅黑"/>
                <a:cs typeface="微软雅黑"/>
              </a:rPr>
              <a:t>拓展目标</a:t>
            </a:r>
            <a:r>
              <a:rPr sz="1125" b="0" i="0">
                <a:solidFill>
                  <a:srgbClr val="1F1A22"/>
                </a:solidFill>
                <a:latin typeface="Arial"/>
                <a:ea typeface="微软雅黑"/>
                <a:cs typeface="微软雅黑"/>
              </a:rPr>
              <a:t>：可验证奖励 RL；刚体物理仿真的反事实干预基准与因果修复</a:t>
            </a:r>
          </a:p>
          <a:p>
            <a:pPr algn="l">
              <a:lnSpc>
                <a:spcPts val="2025"/>
              </a:lnSpc>
              <a:spcBef>
                <a:spcPts val="0"/>
              </a:spcBef>
              <a:spcAft>
                <a:spcPts val="0"/>
              </a:spcAft>
            </a:pPr>
            <a:r>
              <a:rPr sz="1125" b="0" i="0">
                <a:solidFill>
                  <a:srgbClr val="1F1A22"/>
                </a:solidFill>
                <a:latin typeface="Arial"/>
                <a:ea typeface="微软雅黑"/>
                <a:cs typeface="微软雅黑"/>
              </a:rPr>
              <a:t>• 在开源模型上检验主要结论的可复现性，开源基准、环境与代码；完成学位论文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风险预案：职业环境与真实软件存在差距 → 小规模真实软件对照；物理方向资源受限 → 采用最小验证方案（基准 + 诊断分析）</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81250"/>
            <a:ext cx="8610600" cy="1188541"/>
          </a:xfrm>
          <a:prstGeom prst="rect">
            <a:avLst/>
          </a:prstGeom>
          <a:noFill/>
        </p:spPr>
        <p:txBody>
          <a:bodyPr wrap="square" lIns="0" rIns="0" tIns="0" bIns="0" anchor="t">
            <a:noAutofit/>
          </a:bodyPr>
          <a:lstStyle/>
          <a:p>
            <a:pPr algn="l">
              <a:lnSpc>
                <a:spcPts val="4680"/>
              </a:lnSpc>
              <a:spcBef>
                <a:spcPts val="0"/>
              </a:spcBef>
              <a:spcAft>
                <a:spcPts val="0"/>
              </a:spcAft>
            </a:pPr>
            <a:r>
              <a:rPr sz="3600" b="1" i="0">
                <a:solidFill>
                  <a:srgbClr val="660874"/>
                </a:solidFill>
                <a:latin typeface="Arial"/>
                <a:ea typeface="微软雅黑"/>
                <a:cs typeface="微软雅黑"/>
              </a:rPr>
              <a:t>备用页</a:t>
            </a:r>
          </a:p>
          <a:p>
            <a:pPr algn="l">
              <a:lnSpc>
                <a:spcPts val="4680"/>
              </a:lnSpc>
              <a:spcBef>
                <a:spcPts val="0"/>
              </a:spcBef>
              <a:spcAft>
                <a:spcPts val="0"/>
              </a:spcAft>
            </a:pPr>
            <a:r>
              <a:rPr sz="1950" b="1" i="0">
                <a:solidFill>
                  <a:srgbClr val="8A8490"/>
                </a:solidFill>
                <a:latin typeface="Arial"/>
                <a:ea typeface="微软雅黑"/>
                <a:cs typeface="微软雅黑"/>
              </a:rPr>
              <a:t>问答环节按需展示：研究现状细节 · 研究二训练细节 · 研究三方法细节</a:t>
            </a:r>
          </a:p>
        </p:txBody>
      </p:sp>
      <p:sp>
        <p:nvSpPr>
          <p:cNvPr id="3" name="Rounded Rectangle 2"/>
          <p:cNvSpPr/>
          <p:nvPr/>
        </p:nvSpPr>
        <p:spPr>
          <a:xfrm>
            <a:off x="914400" y="39052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产业趋势：两类能力正在整合于同一智能体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CLI 步数约减半、成功率相当</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结论：复刻数据训练在 5 个分布外基准上均带来提升，支持其迁移价值 → </a:t>
            </a:r>
            <a:r>
              <a:rPr sz="1350" b="1" i="0">
                <a:solidFill>
                  <a:srgbClr val="F6C8FF"/>
                </a:solidFill>
                <a:latin typeface="Arial"/>
                <a:ea typeface="微软雅黑"/>
                <a:cs typeface="微软雅黑"/>
              </a:rPr>
              <a:t>研究三推广到真实职业环境</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芯片工程师（示意图）</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Agent，初步构想）——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514350" y="1672778"/>
            <a:ext cx="6553200" cy="3664842"/>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反事实干预（Counterfactual Intervention）：拉大第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研究三（二·续）：基于物理状态与干预测试的验证、诊断与定向修复</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14350" y="1497592"/>
            <a:ext cx="5600700" cy="3634215"/>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因果修复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31 / 31</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