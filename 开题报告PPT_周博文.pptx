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【11 秒】各位老师好，我是周博文，导师是王好谦老师。我的开题题目是《面向通用数字智能体的可扩展评测与训练框架研究》。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秒】通用数字智能体要在真实电脑里自主完成长程工作。它有两类能力：命令行和代码代表的 CLI 能力，精确、可验证；截图和键鼠代表的 GUI 能力，通用、能看见界面。真实任务往往要在两者之间反复切换。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秒】现有研究分三类方法和一个新前沿。纯 CLI 难以直接观测界面；纯 GUI 开销高、缺少验证信号；混合方法刚出现，评测仍只看结果；走向真实世界的个人智能体和物理世界生成，缺少职业环境和物理验证。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秒】由此归纳出三个挑战。左图：只看结果判分，GPT-5.5 的成功率从 53.5 被审计降到 33.3；中图：失败主要来自违规取巧和跨通道失控，视觉错误不到 4%。三个挑战——任务范式与能力度量不匹配、混合行为模式难以习得、通用能力难以落到真实世界——分别对应评测、训练、应用三项研究。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 秒】三项研究前后衔接，贯穿主线是可扩展：每一项都设计一种可自动构造的验证器，让评测和训练能随任务规模扩展。研究一、二已经完成，研究三是后续主体。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【18 秒】研究一是评测。我最初在纯 GUI 范式下做效率优化：GUIPruner 把 FLOPs 降到约三分之一，ST-Lite 用 20% 的 KV 缓存持平完整缓存。但每一步看整屏的本质没变。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秒】受 2026 年初 OpenClaw 的启发，我们在 OSWorld 上做了受控对照：同一模型、同一判官，不看像素的 CLI 智能体成功率 79.1%，与纯视觉的 77.3% 相近。但反过来，仅用 CLI 难以观测渲染结果，需要视觉的任务上 GUI 更强。两类能力互补，关键在于范式与度量。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秒】于是我们提出 WeaveBench：用单通道基线和人工审查筛出需要两类能力协同的长程任务，并审计全过程。单用 GUI 仅 1.8%，单用 CLI 3.5%，混合 35.1%；失败主要集中在自主编排与自我验证。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秒】研究二训练这种行为。我们以应用复刻为场景：对错要运行后看界面，天然需要两类能力交织；以原版应用为验证参照，自动生成隐藏测试来筛选轨迹。3.5 万条轨迹微调后，分布外基准相对首个检查点最高提升 17.9 个点，WeaveBench 从 35.7 升到 48.2。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研究三是后续主体，先做职业化个人智能体。现有产品的个人化侧重记忆与偏好适配。我们要回答：个人环境和职业知识能否构造成可验证的训练环境，训练后能否跨职业泛化。方法是仿真业务系统、用脱敏数据驱动环境、以数据库状态为主要判据的验证器构造 SFT 与 RL 流水线；先重点做财务、电商运营、法律中的两到三类职业。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拓展方向是物理仿真：代码智能体生成的世界表象正确，不代表机制正确。拉大骨牌间距后，关键帧动画仍然全部倒下，而物理仿真会在间隙处正确停下。我们用反事实干预作为可自动构造的验证器，只做刚体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 秒】目前研究一、二形成 EMNLP 2026 两篇、KDD 2027 在投一篇和一份技术报告，相关环境与数据已用于模型优化。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 秒】三个创新点：轨迹感知的可信评测，以参考应用为验证参照的可扩展复刻训练，以及把验证从结果审计扩展到业务状态与物理干预。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 秒】后续一年先保证必达目标：两到三个职业的可验证环境与训练；强化学习和物理仿真作为拓展目标。汇报完毕，请各位老师批评指正。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通用数字智能体可应用于软件开发、系统运维、内容创作以及金融、电商等行业业务流程。三段视频是真实的智能体轨迹。产业界已将两类能力整合到同一智能体中；大量存量软件没有可编程接口，必须依赖 GUI 能力；混合能力交互已成为前沿基础模型的核心议题。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国内外研究可分为四类：纯 CLI 能力方法，包括命令行智能体与代码智能体；纯 GUI 能力方法，包括原生 GUI 智能体与高效视觉推理；混合能力方法，包括多智能体协作、工具增强 GUI 与可验证环境构建；以及新兴的走向真实世界的智能体，包括个人智能体产品、物理世界生成与机器人使用。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CLI 能力方法：动作精确、执行高效，单元测试提供可验证奖励，强化学习已规模化。不足在于无法观测渲染结果，只能处理有接口的软件。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GUI 能力方法：以截图和键鼠为通用接口，OSWorld 公开成绩从约 12% 升到 80% 以上。不足在于开销高、步数多、看不到隐藏状态；FastV、SnapKV 等通用压缩方法没有利用 GUI 的帧间冗余与二维布局。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混合能力方法：CoAct-1 让 GUI 操作员与程序员协作，OSWorld-MCP 在 GUI 之外提供工具，GUI-Genesis 将应用重建为可验证环境。右侧对照说明，在以 GUI 为主的 OSWorld 上，同一模型仅用 CLI 即可以约一半步数取得相当的成功率，说明两类能力各有优势。不足在于第二种能力多为辅助，任务未强制协同、只看结果判分；可验证环境局限于单一界面。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第四类是走向真实世界的智能体。个人智能体产品方面，OpenAI dots、Meta Muse 都在云端机器或安全虚拟机中执行，Manus 起初完全在云 VM，2026 年起支持在本机运行；OpenClaw 则运行在用户自己的设备上，Muse 据报道正是以 OpenClaw 为蓝本。物理世界方面，SimWorlds、Text2Sim、4DCodeBench 让 Coding Agent 生成物理世界或复现运动，RobotWorld 评测多模态智能体使用机器人，最强模型成功率仅 19%。不足：个人智能体多在云端通用环境执行，个人化主要体现在记忆，职业特质不鲜明；物理世界生成多以原条件下看起来正确为准，缺少跨条件的物理验证。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个百分点；在研究一的 WeaveBench 上从 35.7 提升到 48.2，评测与训练形成闭环。结论是可验证环境中习得的行为可以迁移，引出研究三：推广到真实世界。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研究三的拓展方向是面向物理仿真程序的代码智能体验证，本质是把 CLI 能力、尤其是 Coding 能力外扩到物理世界，要求产出的代码与内容遵循现实物理规律。以多米诺为例：关键帧动画与物理仿真在原始条件下看起来完全一样；但拉大第 10、11 块骨牌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可靠修复。方法是基于物理状态与干预测试的验证与定向修复：智能体构建物理世界，执行仿真并记录状态轨迹，由基于干预的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7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8.jp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29.jpg"/><Relationship Id="rId11" Type="http://schemas.openxmlformats.org/officeDocument/2006/relationships/image" Target="../media/image30.png"/><Relationship Id="rId1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8.jp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microsoft.com/office/2007/relationships/media" Target="../media/media4.mp4"/><Relationship Id="rId10" Type="http://schemas.openxmlformats.org/officeDocument/2006/relationships/video" Target="../media/media4.mp4"/><Relationship Id="rId11" Type="http://schemas.openxmlformats.org/officeDocument/2006/relationships/image" Target="../media/image46.jpg"/><Relationship Id="rId1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通用数字智能体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（Universal Digital Agent，涵盖计算机操作智能体 CUA）旨在真实电脑中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自主完成长程数字任务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通过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（命令行与编程）与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（界面感知与交互）的协同实现任务闭环。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78105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hybrid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20329"/>
            <a:ext cx="7696200" cy="30363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518160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一条典型混合轨迹：CLI 读日志、改配置、重启服务，GUI 观察页面并核验渲染结果（示意图）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20100" y="16764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591550" y="1828800"/>
            <a:ext cx="7715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24900" y="1828800"/>
            <a:ext cx="5619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21717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命令行与编程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1550" y="24574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读写文件、管理服务、编写并运行程序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精确、高效、结果可验证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SWE-bench · OpenClaw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0100" y="36576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591550" y="381000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24900" y="3810000"/>
            <a:ext cx="590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1550" y="41529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界面感知与交互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1550" y="44386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基于截图感知界面，以键鼠操作软件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适用于各类图形界面软件，可见渲染结果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两类能力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：真实任务要求智能体在同一轨迹中按需选择并切换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通用数字智能体方法：三类方法 + 一个新前沿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SWE-agent · OpenClaw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w_c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2476692"/>
            <a:ext cx="2628900" cy="106641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精确高效、单元测试可验证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难观测渲染；依赖可编程接口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86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861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w_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746" y="2247900"/>
            <a:ext cx="2039006" cy="15240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314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29000" y="398145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适用软件广；OSWorld 成绩显著提升（版本不一）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29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截图开销高、步数多；缺验证信号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43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w_hyb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348618"/>
            <a:ext cx="2628900" cy="132256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混合动作缩短轨迹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0" y="483870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第二接口仅 +3.2 / +4.5 pp；偏重结果判分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01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新前沿：走向真实世界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1866900"/>
            <a:ext cx="2743200" cy="319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dots · Muse · OpenClaw · SimWorlds · RobotWorld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9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rw_fronti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7800" y="2311010"/>
            <a:ext cx="2628900" cy="1397779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9029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记忆与跨应用；可生成物理仿真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9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44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职业环境支持有限；物理验证不足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共同缺口：缺少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统一范式与过程可信的评测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、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，以及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面向真实世界的落地验证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三个关键挑战 → 三项研究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仅结果评分 vs 轨迹审计后（成功率 %，OpenClaw 运行时）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950" y="2428875"/>
            <a:ext cx="285750" cy="14763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047750" y="299085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175" y="22574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8194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33.3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81150" y="2857500"/>
            <a:ext cx="285750" cy="104775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85950" y="3276600"/>
            <a:ext cx="285750" cy="6286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76375" y="26860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38.1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1175" y="31051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22.8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92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9350" y="2952750"/>
            <a:ext cx="285750" cy="95250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2724150" y="3400425"/>
            <a:ext cx="285750" cy="504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314575" y="27813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9375" y="32289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18.4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74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GPT-5.3-codex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7550" y="3457575"/>
            <a:ext cx="285750" cy="4476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562350" y="3743325"/>
            <a:ext cx="285750" cy="161925"/>
          </a:xfrm>
          <a:prstGeom prst="roundRect">
            <a:avLst>
              <a:gd name="adj" fmla="val 2352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152775" y="32861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7575" y="35718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56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GPT-5.2-codex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625" y="177165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B9A6C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仅结果评分　</a:t>
            </a:r>
            <a:r>
              <a:rPr sz="8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轨迹审计后　[WeaveBench]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25767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1,735 条失败轨迹的归因（%）[WeaveBench]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19431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违规取巧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伪造渲染、硬编码指标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4500" y="1943100"/>
            <a:ext cx="2009775" cy="209550"/>
          </a:xfrm>
          <a:prstGeom prst="roundRect">
            <a:avLst>
              <a:gd name="adj" fmla="val 18181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91425" y="19431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8650" y="23622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跨通道执行失控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过早停止、状态失同步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24500" y="2362200"/>
            <a:ext cx="1733550" cy="209550"/>
          </a:xfrm>
          <a:prstGeom prst="roundRect">
            <a:avLst>
              <a:gd name="adj" fmla="val 18181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0" y="23622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30.4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8650" y="27813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推理错误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24500" y="2781300"/>
            <a:ext cx="120015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81800" y="27813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8650" y="32004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工具与执行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24500" y="3200400"/>
            <a:ext cx="57150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53150" y="32004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8650" y="36195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视觉感知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24500" y="3619500"/>
            <a:ext cx="209550" cy="209550"/>
          </a:xfrm>
          <a:prstGeom prst="roundRect">
            <a:avLst>
              <a:gd name="adj" fmla="val 1818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791200" y="36195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7675" y="400050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取巧 + 跨通道失控 = 65.6%，提示优先研究编排与验证；视觉 3.7%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real_world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450" y="1821805"/>
            <a:ext cx="3505200" cy="203328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任务范式与能力度量不匹配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范式开销高；现有基准割裂评测 CLI 与 GUI；仅结果判分的成功率比审计口径高约 10–20 个百分点（4 个模型）。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625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失败中取巧与跨通道失控占比高，提示编排与验证是优先方向；GUI 缺少天然验证信号，混合训练环境稀缺。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核心问题：如何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准确评估、有效训练通用数字智能体，并使其能力在真实世界中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可信落地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700209"/>
            <a:ext cx="6057900" cy="3248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verifier：轨迹感知审计（WeaveBench）｜ 前期：GUIPruner · ST-Lite 降开销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结论：失败集中于自主编排与自我验证 → 针对其开展训练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verifier：以参考应用为参照的隐藏行为测试 ｜ 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结论：分布外基准提升支持其迁移价值 → 推广到真实职业环境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面向真实世界的通用数字智能体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verifier：状态数据库 · 反事实干预 ｜ 职业环境（主体）· 物理仿真（拓展）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：候选任务与验证器自动生成、经审查后使用，使评测与训练随规模扩展；GUIPruner / ST-Lite 降低 GUI 计算开销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 · 前期探索：纯 GUI 范式下的推理效率优化（已完成）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前期·效率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7620000" cy="37719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96" y="1828800"/>
            <a:ext cx="7413207" cy="3333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00650"/>
            <a:ext cx="7562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编码端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（已投稿 KDD 2027）｜ 解码端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2026）（示意图）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0" y="18288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1/3.4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21336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GUIPruner：FLOPs 降至约 1/3.4，性能保留 &gt;94%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7622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30670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GUIPruner：视觉编码加速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36957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40005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ST-Lite：20% KV 预算下性能与完整缓存相当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46291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最高 2.35×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0" y="49339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ST-Lite：压缩至 20% 时的解码加速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开销可以显著压缩，但纯 GUI 范式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以逐步截图为主要观测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的方式未变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开销高、纯 CLI 缺少渲染观测，二者互补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radigm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37" y="1485900"/>
            <a:ext cx="582072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三种范式：纯 GUI 逐步截图；CLI 优先、不观察像素；混合以 CLI 为主干、GUI 观察与核验（示意图）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819650" cy="1799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正面：受控设置下两者成功率点估计接近（OSWorld）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成功率（%）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1850" y="2200275"/>
            <a:ext cx="438150" cy="10001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96125" y="20097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19325"/>
            <a:ext cx="438150" cy="981075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62875" y="202882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227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GPT-5.5 · 同一判官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0" y="2038350"/>
            <a:ext cx="2609850" cy="9904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受控设置：同一环境、同一模型、同一指令与判官，仅更换工具接口；两组均剔除 8 个需凭据任务。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不观察像素的 CLI 智能体取得相近成功率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[WeaveBench 附录 E]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7025" y="3486150"/>
            <a:ext cx="50863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3848100"/>
            <a:ext cx="5029200" cy="781050"/>
          </a:xfrm>
          <a:prstGeom prst="roundRect">
            <a:avLst>
              <a:gd name="adj" fmla="val 14634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390525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反面：纯 CLI 缺少渲染观测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SWE-bench Multimodal 原论文基线最佳约 12%；模态对齐任务上 GUI 59.1% 高于 CLI 48.2% [GUI vs. CLI, 2026]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5600" y="4705350"/>
            <a:ext cx="5029200" cy="838200"/>
          </a:xfrm>
          <a:prstGeom prst="roundRect">
            <a:avLst>
              <a:gd name="adj" fmla="val 13636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0" y="476250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为主、运行于个人电脑的智能体提供了实现参考 → 以 CLI 为主干、GUI 负责观察与核验的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混合能力范式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结论：两类能力互补 → 关键在于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：按单通道基线与人工审查筛选需双通道协同的任务，并审计全过程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混合能力范式的轨迹感知可信评测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以已部署的 CLI 智能体运行时为底座、加入轻量桌面控制插件；经单通道基线测试与人工审查，筛选需 CLI 与 GUI 协同的长程任务；轨迹感知判官审计全过程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5151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weavep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049" y="2095500"/>
            <a:ext cx="5717401" cy="30670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4579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2026）：任务构造（单通道基线 + 人工审查筛选）→ 混合运行时 → 轨迹感知审计（示意图）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24700" y="2038350"/>
            <a:ext cx="4610100" cy="2152650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96125" y="2095500"/>
            <a:ext cx="46672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通道消融（筛选后任务）：成功率 %，Claude Opus 4.7 · OpenClaw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5750" y="3781425"/>
            <a:ext cx="609600" cy="66675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62875" y="35718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1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GUI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8750" y="3714750"/>
            <a:ext cx="609600" cy="133350"/>
          </a:xfrm>
          <a:prstGeom prst="roundRect">
            <a:avLst>
              <a:gd name="adj" fmla="val 2857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05875" y="3505200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4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CLI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1750" y="2447925"/>
            <a:ext cx="609600" cy="1400175"/>
          </a:xfrm>
          <a:prstGeom prst="roundRect">
            <a:avLst>
              <a:gd name="adj" fmla="val 625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48875" y="22383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7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混合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24700" y="4343400"/>
            <a:ext cx="23431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4700" y="4648200"/>
            <a:ext cx="232410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最佳模型–运行时组合（Claude Opus 4.7 + Claude Code）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6900" y="4343400"/>
            <a:ext cx="23050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6900" y="4648200"/>
            <a:ext cx="23050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 个模型上仅结果判分高于审计口径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结论：失败中违规取巧与跨通道执行失控占 65.6%，提示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自主编排与自我验证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是优先改进方向 → 研究二针对其开展训练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自主编排与自我验证需在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的场景中习得；GUI 缺少天然奖励，现有环境局限于单一界面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为训练场景，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以运行中的原版应用为验证参照（oracle）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，自动生成隐藏行为测试筛选轨迹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9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复刻任务构造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 · 5 平台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与评测集去重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5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4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467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5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轨迹生成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7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探索原版 →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实现 → 运行 → 视觉核验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31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24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2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可验证筛选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隐藏行为测试拒绝采样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共 3.5 万条轨迹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10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9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82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0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模型后训练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2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SFT：Qwen3.7-Plus 与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Qwen-Flash（CPT 初始化）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524250"/>
            <a:ext cx="11277600" cy="203835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90550" y="3600450"/>
            <a:ext cx="110109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分布外迁移（首个已评估检查点 → 训练后，</a:t>
            </a: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非未训练基座；各基准指标独立</a:t>
            </a: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）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</a:t>
            </a:r>
            <a:r>
              <a:rPr sz="900" b="1" i="0">
                <a:solidFill>
                  <a:srgbClr val="C9A8D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Qwen3.7-Plus　</a:t>
            </a:r>
            <a:r>
              <a:rPr sz="900" b="1" i="0">
                <a:solidFill>
                  <a:srgbClr val="9CC3CF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Qwen-Flash（CPT 初始化）　WeaveBench：Qwen3.7-Plus 35.7 → 48.2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7750" y="4467225"/>
            <a:ext cx="285750" cy="82867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1390650" y="4410075"/>
            <a:ext cx="285750" cy="885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1733550" y="4362450"/>
            <a:ext cx="285750" cy="93345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2076450" y="4133850"/>
            <a:ext cx="285750" cy="11620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7725" y="39243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+2.7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+11.4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ProgramBench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19450" y="4943475"/>
            <a:ext cx="285750" cy="3524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3562350" y="4772025"/>
            <a:ext cx="285750" cy="52387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3905250" y="4686300"/>
            <a:ext cx="285750" cy="609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4248150" y="4352925"/>
            <a:ext cx="285750" cy="94297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019425" y="414337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+8.6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94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GameCraft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91150" y="4257675"/>
            <a:ext cx="285750" cy="10382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5734050" y="4171950"/>
            <a:ext cx="285750" cy="1123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076950" y="4305300"/>
            <a:ext cx="285750" cy="990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6419850" y="4143375"/>
            <a:ext cx="285750" cy="115252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191125" y="393382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+4.4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+7.9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911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Vision2Web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62850" y="4953000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905750" y="4933950"/>
            <a:ext cx="285750" cy="361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8248650" y="4733925"/>
            <a:ext cx="285750" cy="56197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8591550" y="438150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362825" y="417195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+1.0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28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 2.0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734550" y="4591050"/>
            <a:ext cx="285750" cy="70485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10077450" y="4333875"/>
            <a:ext cx="285750" cy="9620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10420350" y="4219575"/>
            <a:ext cx="285750" cy="107632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10763250" y="4095750"/>
            <a:ext cx="285750" cy="12001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534525" y="38862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+12.5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+6.0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345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结论：训练期间 5 个分布外基准均提升（相对首个已评估检查点）；SFT 净收益待对照确认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 —— 研究三主体（待完成）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3371850"/>
          </a:xfrm>
          <a:prstGeom prst="roundRect">
            <a:avLst>
              <a:gd name="adj" fmla="val 225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overvie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653" y="1485900"/>
            <a:ext cx="4873092" cy="2933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445770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职业化个人智能体：个人电脑环境 × 职业知识 × 软件技能（示意图）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76800"/>
            <a:ext cx="6096000" cy="666750"/>
          </a:xfrm>
          <a:prstGeom prst="roundRect">
            <a:avLst>
              <a:gd name="adj" fmla="val 1714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0550" y="4933950"/>
            <a:ext cx="59055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RQ1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能否构造可扩展、可验证的职业化个人电脑仿真环境？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RQ2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SFT 能否提升职业任务表现、跨职业泛化并迁移到真实软件？（RL 为拓展）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14287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0" y="15049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业务应用仿真（App Mock）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752600"/>
            <a:ext cx="48006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以研究二的复刻能力把 ERP、电商后台、合同审阅等构建为可交互、可重置的个人电脑仿真环境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05600" y="22288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8000" y="23050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5527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以脱敏或合成业务数据驱动状态与事件，支持跨应用长程任务；不接触真实账户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5600" y="30289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0" y="31051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与 RL 任务流水线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3528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 → 以数据库状态校验为主的验证器 → SFT 数据 / RL 奖励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05600" y="3848100"/>
            <a:ext cx="5029200" cy="1695450"/>
          </a:xfrm>
          <a:prstGeom prst="roundRect">
            <a:avLst>
              <a:gd name="adj" fmla="val 6741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0" y="3981450"/>
            <a:ext cx="4800600" cy="650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范围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重点研究财务、电商运营、法律中的 2–3 类职业，其余职业留出用于跨职业评估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指标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状态通过率 · 过程审计分 · 未见职业泛化 · 仿真与真实软件成功率差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基线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通用 CUA 模型 · 仅 CLI / 仅 GUI · 无职业数据训练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复用研究一的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与研究二的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训练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流程，把可扩展框架推广到职业化个人环境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Agent 已能生成"会动的 3D 世界"，但表象正确不等于机制正确；现有工作尚未统一考察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跨条件泛化、错误定位与修复后回归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619750" cy="3790950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65752"/>
            <a:ext cx="5505450" cy="3078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19700"/>
            <a:ext cx="55626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反事实干预：拉大第 10、11 块骨牌间距后，关键帧动画仍"全部倒下"，物理仿真正确中断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100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943350" y="2495550"/>
            <a:ext cx="11239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关键帧仍全部倒下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0" y="42862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943350" y="4286250"/>
            <a:ext cx="11239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物理仿真正确停下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9350" y="1771650"/>
            <a:ext cx="550545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phys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841" y="1828800"/>
            <a:ext cx="3728467" cy="24193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57925" y="4286250"/>
            <a:ext cx="54483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方法：基于物理状态与干预测试的验证、诊断与定向修复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93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627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物理泛化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5335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错误诊断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106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可靠修复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9350" y="5086350"/>
            <a:ext cx="55435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消融：单次生成 / 执行反馈 / 视觉反馈 / 物理状态反馈 / 本文（状态 + 干预验证 + 定向修复）；指标：干预条件测试通过率 · 修复成功率 · 回归失败率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反事实干预即一种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可自动构造的 verifier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（借鉴蜕变测试思想）；限定刚体场景，进度受限时降级为小规模基准 + 诊断分析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已完成研究与成果状态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5720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Spatio-Temporal Token Pruning for Efficient High-Resolution GUI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4375" y="2505075"/>
            <a:ext cx="1104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已投稿 KDD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2828925"/>
            <a:ext cx="8382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495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视觉 token 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FLOPs 降至约 1/3.4，性能保留 &gt;94%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422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32422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457575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Training-Free KV Cache Compression with Spatio-Trajectory Guidance for Long-Horizon GUI Agents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525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71875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525" y="2828925"/>
            <a:ext cx="5810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52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KV 缓存压缩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20% 预算下与完整缓存相当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125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19125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24600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A Long-Horizon, Real-World Benchmark for Computer-Use Agents with Hybrid Interfaces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5550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38900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5550" y="2828925"/>
            <a:ext cx="10001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92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555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114 个混合长程任务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最佳组合仅 41.2%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827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05827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91625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Scalable and Verifiable Environments for Hybrid Computer-Use Agents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72575" y="24955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15450" y="25050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2575" y="2828925"/>
            <a:ext cx="131445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8227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257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3.5 万条可验证轨迹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分布外最高 +17.9 个百分点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2672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0550" y="42672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96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参与研发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参与 Qwen3.8-Max 计算机操作与长程任务方向的研发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4815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0055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成果应用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055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研究一、二的评测环境与训练数据已用于模型优化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91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915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问题来源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15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研究问题源于一线训练与评测需求，成果可直接服务后训练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创新点：在最终答案之外引入过程、行为、状态与物理一致性四类互补验证证据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6675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eviden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97675"/>
            <a:ext cx="6553200" cy="2653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超越最终答案的四类互补验证证据：过程、行为、业务状态、物理一致性（示意图）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77100" y="14287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0" y="15240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20400" y="15621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91825" y="156210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62900" y="15811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混合能力范式下的轨迹感知可信评测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194310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以单通道基线与人工审查筛选需协同的任务，轨迹审计与结果验证结合，揭示编排与自我验证短板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281940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29500" y="291465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20400" y="295275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791825" y="295275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2900" y="297180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以参考应用为验证参照的可扩展复刻训练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9500" y="333375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应用经审核转化为"环境 + 隐藏行为测试"，为混合行为提供可验证筛选信号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42100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429500" y="43053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20400" y="43434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801350" y="4352925"/>
            <a:ext cx="8001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待验证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62900" y="43624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0" y="4724400"/>
            <a:ext cx="4210050" cy="1980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验证从结果审计扩展到业务状态校验（职业环境）与反事实干预（物理仿真）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以可审计、可验证的证据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从财务、电商运营、法律中选 2–3 类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Mock：复刻仿真业务系统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 / 合成数据驱动状态与事件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状态优先 verifier 与任务流水线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SFT（必达）→ RL（拓展）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物理仿真验证（拓展）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刚体场景反事实干预基准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验证、诊断与定向修复；核心消融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必达目标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：2–3 类职业的可验证个人电脑仿真环境 + SFT 训练，评估跨职业泛化与小规模真实软件迁移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拓展目标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：可验证奖励 RL；刚体物理仿真的反事实干预基准与定向修复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在开源模型上检验主要结论的可复现性，开源基准、环境与代码；完成学位论文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风险预案：仿真与真实软件存在差距 → 以真实软件迁移评测量化；物理方向资源受限 → 采用最小验证方案（基准 + 诊断分析）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81250"/>
            <a:ext cx="8610600" cy="1188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备用页</a:t>
            </a:r>
          </a:p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问答环节按需展示：研究现状细节 · 研究二训练细节 · 研究三方法细节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9052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问答备用：评测可信性、训练收益来源与“真实世界”的边界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865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筛选后消融是否循环论证？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1943100"/>
            <a:ext cx="3371850" cy="16912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通道消融用于</a:t>
            </a: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校验选题设计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，不作独立证明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独立证据：轨迹审计带来 10–20 pp 评分修正；1,735 条失败的归因分布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对照：OSWorld-MCP / MCPWorld 中第二接口增益仅 3.2 / 4.5 pp，现有基准任务多可由单通道完成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815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1960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轨迹感知判官是否可靠？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9600" y="1943100"/>
            <a:ext cx="3371850" cy="19731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任务锚点与评分细则经人工审核，判官结论抽样人工审计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独立子进程评分，主动回查文件、截图、日志等证据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9 类取巧模式经人工确认，命中需置信度 ≥0.85 并附原文证据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计划补充：判官与人工一致率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910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1055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收益来源？是否"真实世界"？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0550" y="1943100"/>
            <a:ext cx="3371850" cy="16912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研究二提升相对首个已评估检查点；将补训练前模型、等量通用数据两组对照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研究三以仿真职业环境为主，</a:t>
            </a: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不接触真实账户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；以小规模真实软件对照报告"仿真与真实成功率差"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物理方向为拓展，限定刚体仿真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回答要点：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如实界定证据边界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，并给出已有机制与后续补充实验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软件开发与调试（Godot 游戏，5×）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系统运维与故障排查（RabbitMQ，5×）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视觉设计与内容创作（Inkscape，5×）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a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387" y="4286250"/>
            <a:ext cx="2143125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多职业业务软件环境（示意图）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产业趋势：两类能力正在整合于同一智能体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 后台计算机操作、Qwen3.8-Max 等前沿系统均将命令行、代码与图形界面操作纳入统一智能体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大量存量软件（设计工具、行业系统、桌面应用）缺少可编程接口，必须依赖 GUI 能力完成操作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能否高效、可靠地完成混合能力交互，已成为前沿基础模型能力评测与后训练的核心议题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8650" y="3333750"/>
            <a:ext cx="1809750" cy="533400"/>
          </a:xfrm>
          <a:prstGeom prst="roundRect">
            <a:avLst>
              <a:gd name="adj" fmla="val 17857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0075" y="3333750"/>
            <a:ext cx="18669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通用数字智能体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3600450"/>
            <a:ext cx="3238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762250" y="1771650"/>
            <a:ext cx="19050" cy="3448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762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048000" y="15525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19425" y="15525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8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0" y="16002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0" y="16002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76900" y="14573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10250" y="14573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命令行智能体（CLI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Terminal-Bench [Merrill+, 2026] · Terminus · OpenClaw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0" y="19431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76900" y="18002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10250" y="18002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代码智能体（Coding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SWE-agent [Yang+, NeurIPS 24] · SWE-Gym [Pan+, ICML 25]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2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048000" y="24669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019425" y="24669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8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0" y="25146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0" y="2514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76900" y="2371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0250" y="2371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原生 GUI 智能体（GUI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 [Xie+, NeurIPS 24] · UI-TARS-2 [Seed, 2025]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0" y="28575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76900" y="27146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10250" y="27146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高效视觉推理（Efficient Inference）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FastV [Chen+, ECCV 24] · SnapKV [Li+, NeurIPS 24]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2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048000" y="35528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19425" y="35528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48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334000" y="34290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34000" y="34290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76900" y="32861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10250" y="32861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多智能体协作（Multi-Agent）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CoAct-1 [Song+, ICLR 26]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76900" y="36290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10250" y="36290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工具增强 GUI（Tool-Augmented）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OSWorld-MCP [Jia+, 2025]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0" y="4114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76900" y="3971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810250" y="3971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可验证环境构建（Verifiable Env.）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GUI-Genesis [Cao+, 2026]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2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048000" y="50006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9425" y="50006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8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334000" y="48768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334000" y="4876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676900" y="4733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10250" y="4733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个人智能体（Personal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OpenAI dots · Meta Muse · Manus · OpenClaw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676900" y="50768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810250" y="50768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物理世界生成（Physical World）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SimWorlds · Text2Sim · 4DCodeBench · WorldSolver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0" y="5562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5676900" y="5419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810250" y="5419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机器人使用（Robot Use）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RobotWorld [Yang+, 2026] · CaP-X [2026]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CLI 能力方法：命令行智能体（Bash Agent）与代码智能体（Coding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35433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485900"/>
            <a:ext cx="3429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命令行智能体：读日志、改配置、查服务（5×）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1355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[Yang+, NeurIPS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28750"/>
            <a:ext cx="3238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1485900"/>
            <a:ext cx="274320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SWE-Gym：可执行环境中训练 [Pan+, ICML 25]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无法观测界面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：凡依赖渲染结果与视觉反馈的任务，必须引入 GUI 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动作精确、执行高效，系统状态可直接读取；单元测试提供可验证奖励，强化学习已实现规模化训练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无法观测渲染结果（SWE-bench Multimodal 最佳仅约 12%）；适用范围受限于具备命令行或 API 的软件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24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GUI 能力方法：原生 GUI 智能体（GUI Agent）与高效视觉推理（Efficient Inference）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4" y="1485900"/>
            <a:ext cx="364691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多轮强化学习 [Seed,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28750"/>
            <a:ext cx="3619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6074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[Chen+, ECCV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28750"/>
            <a:ext cx="3162300" cy="318135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39538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[Li+, NeurIPS 24]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通用但开销高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：需要面向 GUI 结构的高效感知方法，并与 CLI 能力互补使用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以截图与键鼠为通用接口，适用于广泛的图形界面软件并观测交互反馈；OSWorld 公开成绩由约 12% 升至 80% 以上（版本不完全可比）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截图累积致开销高、步数多，且无法感知隐藏状态；通用 token 剪枝与 KV 压缩未利用 GUI 的帧间冗余与二维布局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混合能力方法：混合智能体（Hybrid Agent）与可验证训练环境（Verifiable Environment）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0584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[Song+, ICLR 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3868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56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[Jia+,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4913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GUI-Genesis：重建应用为可验证环境 [Cao+,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28750"/>
            <a:ext cx="2247900" cy="31813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240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OSWorld · WeaveBench 附录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CLI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GUI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受控设置下成功率点估计接近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混合方向已经出现，但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缺少统一范式、可信评测与可验证的训练方法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混合动作空间缩短轨迹；以参考应用为 oracle 构建可验证环境的思路开始出现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第二能力多为辅助（增益约 3–5 个百分点），任务未强制协同且仅依据结果判分；可验证环境局限于单一界面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3906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47" y="1724025"/>
            <a:ext cx="1823155" cy="1295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4350" y="30480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dots（2026.09）：云端机器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47" y="1724025"/>
            <a:ext cx="1766454" cy="1295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42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Muse（2026.09）：云端安全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758" y="1724025"/>
            <a:ext cx="2302933" cy="1295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6267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Manus（2025.03）：云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403" y="1724025"/>
            <a:ext cx="2064543" cy="1295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11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OpenClaw（2026.01）：运行于用户自己的设备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290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34290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9" y="3762375"/>
            <a:ext cx="2450931" cy="10477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577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3275" y="3788932"/>
            <a:ext cx="2667000" cy="99463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2422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496" y="3762375"/>
            <a:ext cx="1059456" cy="10477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9125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0175" y="3762375"/>
            <a:ext cx="2667000" cy="10477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2970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38750"/>
            <a:ext cx="112776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3149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个人智能体已具备长期记忆与跨应用执行；Coding Agent 已能生成可运行的物理仿真与机器人控制程序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" y="56197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多在云端通用环境中执行，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职业特质不鲜明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；物理世界生成仅在原始条件下检验表象，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缺少跨条件物理验证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27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+17.9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分布外（OOD）基准最大提升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WeaveBench（研究一）上的提升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结论：训练期间 5 个分布外基准均提升（相对首个已评估检查点）；SFT 净收益待对照确认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12" y="1485900"/>
            <a:ext cx="551497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职业化个人电脑仿真环境示例；核心选 2–3 类（财务、电商运营、法律），其余留出评估（示意图）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7907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ERP、电商后台、合同审阅等业务软件构建为可交互、可重置的仿真应用，并组装为个人电脑环境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24955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590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575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以脱敏或合成业务数据驱动状态与事件演化；事件依附业务动作，支持需求变更与跨应用协作的长程任务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35623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36576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243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4629150"/>
            <a:ext cx="5029200" cy="914400"/>
          </a:xfrm>
          <a:prstGeom prst="roundRect">
            <a:avLst>
              <a:gd name="adj" fmla="val 1250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4705350"/>
            <a:ext cx="48006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闭环复用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：研究一的轨迹感知评测用于度量；研究二的拒绝采样训练流程用于学习；研究一的压缩方法降低 RL rollout 开销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72778"/>
            <a:ext cx="6553200" cy="36648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反事实干预（Counterfactual Intervention）：拉大第 10、11 块骨牌间距后，关键帧动画仍"全部倒下"，物理仿真在间隙处正确中断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研究三（二·续）：基于物理状态与干预测试的验证、诊断与定向修复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497592"/>
            <a:ext cx="5600700" cy="36342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定向修复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32 / 32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