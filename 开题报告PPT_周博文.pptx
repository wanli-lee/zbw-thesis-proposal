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6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"/>
  </p:notesMasterIdLst>
  <p:handoutMasterIdLst>
    <p:handoutMasterId r:id="rId12"/>
  </p:handoutMasterIdLst>
  <p:sldIdLst>
    <p:sldId id="256" r:id="rId11"/>
    <p:sldId id="257" r:id="rId10"/>
    <p:sldId id="259" r:id="rId8"/>
    <p:sldId id="260" r:id="rId7"/>
    <p:sldId id="262" r:id="rId5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</p:sldIdLst>
  <p:sldSz cx="12192000" cy="6858000"/>
  <p:notesSz cx="6858000" cy="9144000"/>
  <p:embeddedFontLst>
    <p:embeddedFont>
      <p:font typeface="方正小标宋简体" panose="02000000000000000000" charset="-122"/>
      <p:regular r:id="rId16"/>
    </p:embeddedFont>
    <p:embeddedFont>
      <p:font typeface="微软雅黑" panose="020B0503020204020204" charset="-122"/>
      <p:regular r:id="rId17"/>
    </p:embeddedFont>
    <p:embeddedFont>
      <p:font typeface="Calibri" panose="020F0502020204030204" charset="0"/>
      <p:regular r:id="rId18"/>
      <p:bold r:id="rId19"/>
      <p:italic r:id="rId20"/>
      <p:boldItalic r:id="rId21"/>
    </p:embeddedFont>
  </p:embeddedFontLst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71" userDrawn="1">
          <p15:clr>
            <a:srgbClr val="A4A3A4"/>
          </p15:clr>
        </p15:guide>
        <p15:guide id="2" pos="37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87A7"/>
    <a:srgbClr val="F3E8FF"/>
    <a:srgbClr val="E9ABE6"/>
    <a:srgbClr val="C0DC7A"/>
    <a:srgbClr val="A8E584"/>
    <a:srgbClr val="E1B5E1"/>
    <a:srgbClr val="685EB0"/>
    <a:srgbClr val="D47581"/>
    <a:srgbClr val="B48EB9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78" autoAdjust="0"/>
    <p:restoredTop sz="87978"/>
  </p:normalViewPr>
  <p:slideViewPr>
    <p:cSldViewPr snapToGrid="0" showGuides="1">
      <p:cViewPr varScale="1">
        <p:scale>
          <a:sx n="99" d="100"/>
          <a:sy n="99" d="100"/>
        </p:scale>
        <p:origin x="176" y="448"/>
      </p:cViewPr>
      <p:guideLst>
        <p:guide orient="horz" pos="1971"/>
        <p:guide pos="377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7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tags" Target="tags/tag61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第一部分：研究背景和选题意义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通用数字智能体可应用于软件开发、系统运维、内容创作以及金融、电商、芯片开发等绝大部分行业业务流程，是基础模型由对话助手走向数字生产力的关键形态。三段视频是真实的智能体轨迹。2025 到 2026 年，OpenAI dots、Meta Muse、Manus、OpenClaw 等个人智能体产品相继发布，Claude Cowork、Codex 等前沿系统也把计算机操作纳入统一智能体；能否在真实业务中高效、可靠地完成长程任务，已成为前沿基础模型评测与后训练的核心议题。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第二部分：国内外研究现状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国内外研究按能力分为三类。纯 CLI 方法动作精确、单元测试可验证，强化学习已规模化，但难以观测渲染结果；纯 GUI 方法以截图和键鼠为通用接口，适用软件广，但开销高、缺少验证信号；混合方法刚刚出现，第二种通道多为辅助，任务也多仅依据结果判分。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第二类是走向真实世界的智能体。个人智能体方面，OpenAI dots、Meta Muse 在云端机器或安全虚拟机中执行，Manus 起初在云 VM、2026 年起支持本机，OpenClaw 运行在用户自己的设备上。物理世界方面，SimWorlds、Text2Sim、4DCodeBench 让代码智能体生成物理世界或复现运动，RobotWorld 评测多模态智能体使用机器人。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三个挑战分别对应三项研究。第一，任务范式与能力度量失配：纯 GUI 范式偏重，基准割裂评测且只看结果判分。第二，混合行为模式难以习得：缺少可验证奖励与训练环境。第三，通用能力难以落到真实世界：缺少个人环境与职业知识，生成内容不受物理规律约束。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第三部分：课题研究内容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研究框架分三段：研究一做评测，研究二做训练，研究三做应用。前一项研究的结论构成后一项研究的动机。贯穿三项研究的是可扩展：任务、环境和 verifier 都能自动批量构造。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研究一是评测。我最初的两项工作是在纯 GUI 范式下做推理效率优化：GUIPruner 在编码端做视觉 token 压缩，ST-Lite 在解码端做 KV Cache 压缩，开销显著下降。但做完之后我们意识到，压缩并没有改变纯 GUI 范式每一步都要处理整屏截图的本质，于是反过来问：这个范式本身是否合理？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 年初，以 CLI 为主、运行在用户个人电脑上的开源智能体 OpenClaw 迅速普及，给了我们启发。我们把这个观察做成受控实验：在 OSWorld 上固定模型、指令和判官，只把纯视觉智能体换成不观察像素的标准 OpenClaw CLI 智能体，成功率 79.1% 对 77.3%，步数只有一半。这说明纯 GUI 范式并非天然合理。但 CLI 也看不到渲染结果，所以合理的范式是混合：以 CLI 为主干，在需要观察和核验时使用 GUI。问题的关键因此从压缩转向任务范式与能力度量，这就引出了 WeaveBench。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WeaveBench 以已部署的 CLI 智能体运行时为底座，加入最小桌面控制插件，形成真实的混合运行时；114 个长程任务覆盖 8 个真实工作领域，每个任务 CLI 与 GUI 需协同；轨迹感知判官审计交付物、文件、截图、日志与动作轨迹。最强组合仅 41.2%，单一能力不超过 3.5%；过程审计修正约 20 个百分点的偏高；65.6% 的失败源于违规取巧与长程失控。结论：瓶颈在自主编排与自我验证，需要训练这种新的行为模式。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研究二回答如何训练这种新的行为模式。自主编排与自我验证需要在能力交织、结果可验证的场景中习得。我们找到的场景是应用复刻：规格在界面里、交付物是代码、对错要运行后看界面，天然要求 CLI 与 GUI 交织；而原版应用本身就是 oracle，可以自动合成隐藏行为测试作为可验证奖励。右下图显示复刻任务中 GUI 与代码的切换频率远高于现有基准。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训练流程分四步：从 GitHub 高质量开源应用构造复刻任务，覆盖五个平台并与评测集去重；用 Qwen3.8-Max 在隔离的虚拟机池中并发生成轨迹；用任务级行为 verifier 做拒绝采样，每平台 7000 条、共 3.5 万条；在 Qwen3.7-Plus 和持续预训练后的 Qwen-Flash 上监督微调。结果在五个分布外基准上一致提升，最高 17.9 个百分点；在研究一的 WeaveBench 上从 35.7 提升到 48.2，评测与训练形成闭环。结论是可验证环境中习得的行为可以迁移，引出研究三：推广到真实世界。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研究三的第一个方向是职业化个人智能体。OpenAI dots、Meta Muse、Manus 等产品的个人化主要体现在记忆与对话人设上，任务多在云端通用环境中执行，职业特质并不鲜明。我们认为真正的个人智能体应当满足三点：在用户自己的电脑环境中工作，具备不同职业的业务世界知识，掌握专业软件的使用能力。三者兼备，才能真正作为数字员工帮助不同职业的人提高生产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方法上做多职业可验证环境扩展：第一，App Mock，用研究二的复刻能力把各行业业务软件构建为可交互、可重置的仿真应用，并组装为个人电脑环境；第二，用脱敏的真实业务数据驱动状态与事件演化；第三，构造 SFT 与 RL 任务流水线，verifier 以数据库状态为准。研究一的评测、研究二的训练流程与研究一的压缩方法都在这里复用。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研究三的第二个方向是物理世界智能体，本质是把 CLI 能力、尤其是 Coding 能力外扩到物理世界，要求产出的代码与内容遵循现实物理规律。以多米诺为例：关键帧动画与物理仿真在原始条件下看起来完全一样；但拉大第 10、11 块骨牌间距后，关键帧动画仍然全部倒下，物理仿真则在间隙处正确中断。只看原任务的视觉效果，无法判断智能体是否真正构建了正确的动力学模型。需要说明，解析式公式不一定错，物理引擎也不保证正确，判断标准是物理行为能否在不同条件下通过独立验证。现有工作分别考察了场景重建、运动复现、机制验证与仿真修复，但尚未统一考察跨条件泛化、错误因果定位和修复后的回归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据此提出三个研究问题：RQ1 物理泛化，RQ2 错误诊断，RQ3 可靠修复。方法是物理落地的验证与定向修复：智能体构建物理世界，执行仿真并记录状态轨迹，由基于干预的 verifier 改变参数与初始条件，结合轨迹、接触状态、物理约束与渲染图定位错误，再定向修复并对原始与干预条件做回归测试。核心消融比较 One-shot、执行反馈、视觉反馈、物理状态反馈和我们的方法。主要科学问题是 Coding Agent 能否构建物理上可泛化的世界；方法贡献是基于干预的反馈能否提升仿真修复。这与主线一致：反事实干预就是一种可扩展的 verifier，修复闭环可以作为训练环境。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第四部分：论文进度安排及预期达到目标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已完成工作：研究一对应 GUIPruner（投稿 KDD 2027）与 ST-Lite（EMNLP 2026）；WeaveBench（EMNLP 2026）同属研究一；研究二对应 RecreationWorld 技术报告。在 Qwen 团队实习期间参与 Qwen3.8-Max 研发，研究问题源于前沿基础模型的一线痛点。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预期创新点有三：一是综合数字智能体范式与轨迹感知评测；二是以原版应用为 oracle 的可扩展可验证训练；三是面向真实世界的环境扩展与物理落地验证。三者共享同一原则：以可执行、可验证的证据度量和训练智能体。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后续计划聚焦研究三：先构建职业化个人电脑环境，再以真实数据驱动环境并构造 SFT 与 RL 任务流水线，然后推进物理世界智能体的反事实干预基准与定向修复方法，最后整合评测、训练与应用三部分完成学位论文。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汇报结束，请各位老师批评指正。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tags" Target="../tags/tag1.xml"/><Relationship Id="rId4" Type="http://schemas.openxmlformats.org/officeDocument/2006/relationships/tags" Target="../tags/tag2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3" Type="http://schemas.openxmlformats.org/officeDocument/2006/relationships/image" Target="../media/image2.jpeg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image" Target="../media/image3.png"/><Relationship Id="rId12" Type="http://schemas.microsoft.com/office/2007/relationships/hdphoto" Target="../media/image4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image" Target="../media/image5.png"/><Relationship Id="rId6" Type="http://schemas.microsoft.com/office/2007/relationships/hdphoto" Target="../media/image6.wdp"/><Relationship Id="rId7" Type="http://schemas.openxmlformats.org/officeDocument/2006/relationships/tags" Target="../tags/tag14.xml"/><Relationship Id="rId8" Type="http://schemas.openxmlformats.org/officeDocument/2006/relationships/image" Target="../media/image7.png"/><Relationship Id="rId9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image9.wdp"/><Relationship Id="rId4" Type="http://schemas.openxmlformats.org/officeDocument/2006/relationships/image" Target="../media/image10.png"/><Relationship Id="rId5" Type="http://schemas.microsoft.com/office/2007/relationships/hdphoto" Target="../media/image11.wdp"/><Relationship Id="rId6" Type="http://schemas.openxmlformats.org/officeDocument/2006/relationships/image" Target="../media/image1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清华大学模板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730"/>
          </a:xfrm>
          <a:prstGeom prst="rect">
            <a:avLst/>
          </a:prstGeom>
        </p:spPr>
      </p:pic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灯片编号占位符 5"/>
          <p:cNvSpPr>
            <a:spLocks noGrp="1"/>
          </p:cNvSpPr>
          <p:nvPr userDrawn="1">
            <p:custDataLst>
              <p:tags r:id="rId4"/>
            </p:custDataLst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矩形 5"/>
          <p:cNvSpPr/>
          <p:nvPr userDrawn="1">
            <p:custDataLst>
              <p:tags r:id="rId5"/>
            </p:custDataLst>
          </p:nvPr>
        </p:nvSpPr>
        <p:spPr>
          <a:xfrm>
            <a:off x="1" y="0"/>
            <a:ext cx="8238932" cy="6858000"/>
          </a:xfrm>
          <a:custGeom>
            <a:avLst/>
            <a:gdLst>
              <a:gd name="connsiteX0" fmla="*/ 0 w 7675927"/>
              <a:gd name="connsiteY0" fmla="*/ 0 h 6858000"/>
              <a:gd name="connsiteX1" fmla="*/ 7675927 w 7675927"/>
              <a:gd name="connsiteY1" fmla="*/ 0 h 6858000"/>
              <a:gd name="connsiteX2" fmla="*/ 7675927 w 7675927"/>
              <a:gd name="connsiteY2" fmla="*/ 6858000 h 6858000"/>
              <a:gd name="connsiteX3" fmla="*/ 0 w 7675927"/>
              <a:gd name="connsiteY3" fmla="*/ 6858000 h 6858000"/>
              <a:gd name="connsiteX4" fmla="*/ 0 w 7675927"/>
              <a:gd name="connsiteY4" fmla="*/ 0 h 6858000"/>
              <a:gd name="connsiteX0-1" fmla="*/ 0 w 7675927"/>
              <a:gd name="connsiteY0-2" fmla="*/ 0 h 6858000"/>
              <a:gd name="connsiteX1-3" fmla="*/ 7675927 w 7675927"/>
              <a:gd name="connsiteY1-4" fmla="*/ 0 h 6858000"/>
              <a:gd name="connsiteX2-5" fmla="*/ 7669764 w 7675927"/>
              <a:gd name="connsiteY2-6" fmla="*/ 3433665 h 6858000"/>
              <a:gd name="connsiteX3-7" fmla="*/ 7675927 w 7675927"/>
              <a:gd name="connsiteY3-8" fmla="*/ 6858000 h 6858000"/>
              <a:gd name="connsiteX4-9" fmla="*/ 0 w 7675927"/>
              <a:gd name="connsiteY4-10" fmla="*/ 6858000 h 6858000"/>
              <a:gd name="connsiteX5" fmla="*/ 0 w 7675927"/>
              <a:gd name="connsiteY5" fmla="*/ 0 h 6858000"/>
              <a:gd name="connsiteX0-11" fmla="*/ 0 w 9181326"/>
              <a:gd name="connsiteY0-12" fmla="*/ 0 h 6858000"/>
              <a:gd name="connsiteX1-13" fmla="*/ 7675927 w 9181326"/>
              <a:gd name="connsiteY1-14" fmla="*/ 0 h 6858000"/>
              <a:gd name="connsiteX2-15" fmla="*/ 9181324 w 9181326"/>
              <a:gd name="connsiteY2-16" fmla="*/ 3461657 h 6858000"/>
              <a:gd name="connsiteX3-17" fmla="*/ 7675927 w 9181326"/>
              <a:gd name="connsiteY3-18" fmla="*/ 6858000 h 6858000"/>
              <a:gd name="connsiteX4-19" fmla="*/ 0 w 9181326"/>
              <a:gd name="connsiteY4-20" fmla="*/ 6858000 h 6858000"/>
              <a:gd name="connsiteX5-21" fmla="*/ 0 w 9181326"/>
              <a:gd name="connsiteY5-22" fmla="*/ 0 h 6858000"/>
              <a:gd name="connsiteX0-23" fmla="*/ 0 w 9181328"/>
              <a:gd name="connsiteY0-24" fmla="*/ 0 h 6858000"/>
              <a:gd name="connsiteX1-25" fmla="*/ 7675927 w 9181328"/>
              <a:gd name="connsiteY1-26" fmla="*/ 0 h 6858000"/>
              <a:gd name="connsiteX2-27" fmla="*/ 9181324 w 9181328"/>
              <a:gd name="connsiteY2-28" fmla="*/ 3461657 h 6858000"/>
              <a:gd name="connsiteX3-29" fmla="*/ 7675927 w 9181328"/>
              <a:gd name="connsiteY3-30" fmla="*/ 6858000 h 6858000"/>
              <a:gd name="connsiteX4-31" fmla="*/ 0 w 9181328"/>
              <a:gd name="connsiteY4-32" fmla="*/ 6858000 h 6858000"/>
              <a:gd name="connsiteX5-33" fmla="*/ 0 w 9181328"/>
              <a:gd name="connsiteY5-34" fmla="*/ 0 h 6858000"/>
              <a:gd name="connsiteX0-35" fmla="*/ 0 w 9153337"/>
              <a:gd name="connsiteY0-36" fmla="*/ 0 h 6858000"/>
              <a:gd name="connsiteX1-37" fmla="*/ 7675927 w 9153337"/>
              <a:gd name="connsiteY1-38" fmla="*/ 0 h 6858000"/>
              <a:gd name="connsiteX2-39" fmla="*/ 9153333 w 9153337"/>
              <a:gd name="connsiteY2-40" fmla="*/ 3582955 h 6858000"/>
              <a:gd name="connsiteX3-41" fmla="*/ 7675927 w 9153337"/>
              <a:gd name="connsiteY3-42" fmla="*/ 6858000 h 6858000"/>
              <a:gd name="connsiteX4-43" fmla="*/ 0 w 9153337"/>
              <a:gd name="connsiteY4-44" fmla="*/ 6858000 h 6858000"/>
              <a:gd name="connsiteX5-45" fmla="*/ 0 w 9153337"/>
              <a:gd name="connsiteY5-46" fmla="*/ 0 h 6858000"/>
              <a:gd name="connsiteX0-47" fmla="*/ 0 w 9153339"/>
              <a:gd name="connsiteY0-48" fmla="*/ 0 h 6858000"/>
              <a:gd name="connsiteX1-49" fmla="*/ 7675927 w 9153339"/>
              <a:gd name="connsiteY1-50" fmla="*/ 0 h 6858000"/>
              <a:gd name="connsiteX2-51" fmla="*/ 9153333 w 9153339"/>
              <a:gd name="connsiteY2-52" fmla="*/ 3582955 h 6858000"/>
              <a:gd name="connsiteX3-53" fmla="*/ 7675927 w 9153339"/>
              <a:gd name="connsiteY3-54" fmla="*/ 6858000 h 6858000"/>
              <a:gd name="connsiteX4-55" fmla="*/ 0 w 9153339"/>
              <a:gd name="connsiteY4-56" fmla="*/ 6858000 h 6858000"/>
              <a:gd name="connsiteX5-57" fmla="*/ 0 w 9153339"/>
              <a:gd name="connsiteY5-58" fmla="*/ 0 h 6858000"/>
              <a:gd name="connsiteX0-59" fmla="*/ 0 w 9144008"/>
              <a:gd name="connsiteY0-60" fmla="*/ 0 h 6858000"/>
              <a:gd name="connsiteX1-61" fmla="*/ 7675927 w 9144008"/>
              <a:gd name="connsiteY1-62" fmla="*/ 0 h 6858000"/>
              <a:gd name="connsiteX2-63" fmla="*/ 9144002 w 9144008"/>
              <a:gd name="connsiteY2-64" fmla="*/ 3433665 h 6858000"/>
              <a:gd name="connsiteX3-65" fmla="*/ 7675927 w 9144008"/>
              <a:gd name="connsiteY3-66" fmla="*/ 6858000 h 6858000"/>
              <a:gd name="connsiteX4-67" fmla="*/ 0 w 9144008"/>
              <a:gd name="connsiteY4-68" fmla="*/ 6858000 h 6858000"/>
              <a:gd name="connsiteX5-69" fmla="*/ 0 w 9144008"/>
              <a:gd name="connsiteY5-70" fmla="*/ 0 h 6858000"/>
              <a:gd name="connsiteX0-71" fmla="*/ 0 w 9153339"/>
              <a:gd name="connsiteY0-72" fmla="*/ 0 h 6858000"/>
              <a:gd name="connsiteX1-73" fmla="*/ 7675927 w 9153339"/>
              <a:gd name="connsiteY1-74" fmla="*/ 0 h 6858000"/>
              <a:gd name="connsiteX2-75" fmla="*/ 9153333 w 9153339"/>
              <a:gd name="connsiteY2-76" fmla="*/ 3480318 h 6858000"/>
              <a:gd name="connsiteX3-77" fmla="*/ 7675927 w 9153339"/>
              <a:gd name="connsiteY3-78" fmla="*/ 6858000 h 6858000"/>
              <a:gd name="connsiteX4-79" fmla="*/ 0 w 9153339"/>
              <a:gd name="connsiteY4-80" fmla="*/ 6858000 h 6858000"/>
              <a:gd name="connsiteX5-81" fmla="*/ 0 w 9153339"/>
              <a:gd name="connsiteY5-82" fmla="*/ 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9153339" h="6858000">
                <a:moveTo>
                  <a:pt x="0" y="0"/>
                </a:moveTo>
                <a:lnTo>
                  <a:pt x="7675927" y="0"/>
                </a:lnTo>
                <a:cubicBezTo>
                  <a:pt x="8644256" y="1088571"/>
                  <a:pt x="9155387" y="2335763"/>
                  <a:pt x="9153333" y="3480318"/>
                </a:cubicBezTo>
                <a:cubicBezTo>
                  <a:pt x="9155387" y="4621763"/>
                  <a:pt x="8485636" y="6024465"/>
                  <a:pt x="7675927" y="6858000"/>
                </a:cubicBez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702F73">
              <a:alpha val="90000"/>
            </a:srgb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2" name="椭圆 11"/>
          <p:cNvSpPr/>
          <p:nvPr userDrawn="1">
            <p:custDataLst>
              <p:tags r:id="rId6"/>
            </p:custDataLst>
          </p:nvPr>
        </p:nvSpPr>
        <p:spPr>
          <a:xfrm>
            <a:off x="7961878" y="3151946"/>
            <a:ext cx="554111" cy="554111"/>
          </a:xfrm>
          <a:prstGeom prst="ellipse">
            <a:avLst/>
          </a:prstGeom>
          <a:solidFill>
            <a:srgbClr val="702F73">
              <a:alpha val="99000"/>
            </a:srgbClr>
          </a:solidFill>
          <a:ln w="57150">
            <a:solidFill>
              <a:schemeClr val="bg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 rotWithShape="1">
          <a:blip r:embed="rId11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50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40000" contrast="-40000"/>
                    </a14:imgEffect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721" t="45442" r="4115" b="13605"/>
          <a:stretch>
            <a:fillRect/>
          </a:stretch>
        </p:blipFill>
        <p:spPr>
          <a:xfrm>
            <a:off x="223937" y="214603"/>
            <a:ext cx="2528596" cy="880912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组合 73"/>
          <p:cNvGrpSpPr>
            <a:grpSpLocks noChangeAspect="1"/>
          </p:cNvGrpSpPr>
          <p:nvPr userDrawn="1"/>
        </p:nvGrpSpPr>
        <p:grpSpPr>
          <a:xfrm>
            <a:off x="9505950" y="336023"/>
            <a:ext cx="2325831" cy="699934"/>
            <a:chOff x="2685028" y="2876682"/>
            <a:chExt cx="5502784" cy="1656004"/>
          </a:xfrm>
        </p:grpSpPr>
        <p:sp>
          <p:nvSpPr>
            <p:cNvPr id="75" name="i$ľïdê"/>
            <p:cNvSpPr/>
            <p:nvPr userDrawn="1">
              <p:custDataLst>
                <p:tags r:id="rId2"/>
              </p:custDataLst>
            </p:nvPr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76" name="îṥlîḋê"/>
            <p:cNvSpPr/>
            <p:nvPr userDrawn="1">
              <p:custDataLst>
                <p:tags r:id="rId3"/>
              </p:custDataLst>
            </p:nvPr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77" name="图片 76"/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pic>
        <p:nvPicPr>
          <p:cNvPr id="16" name="图片 15" descr="建筑的设计&#10;&#10;描述已自动生成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048" y="3076575"/>
            <a:ext cx="5635327" cy="3781425"/>
          </a:xfrm>
          <a:prstGeom prst="rect">
            <a:avLst/>
          </a:prstGeom>
        </p:spPr>
      </p:pic>
      <p:sp>
        <p:nvSpPr>
          <p:cNvPr id="7" name="矩形 6"/>
          <p:cNvSpPr/>
          <p:nvPr userDrawn="1">
            <p:custDataLst>
              <p:tags r:id="rId9"/>
            </p:custDataLst>
          </p:nvPr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/>
          <p:cNvGrpSpPr>
            <a:grpSpLocks noChangeAspect="1"/>
          </p:cNvGrpSpPr>
          <p:nvPr userDrawn="1"/>
        </p:nvGrpSpPr>
        <p:grpSpPr>
          <a:xfrm>
            <a:off x="10386222" y="242117"/>
            <a:ext cx="1561684" cy="469972"/>
            <a:chOff x="2685028" y="2876682"/>
            <a:chExt cx="5502784" cy="1656004"/>
          </a:xfrm>
        </p:grpSpPr>
        <p:sp>
          <p:nvSpPr>
            <p:cNvPr id="24" name="i$ľïdê"/>
            <p:cNvSpPr/>
            <p:nvPr userDrawn="1"/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25" name="îṥlîḋê"/>
            <p:cNvSpPr/>
            <p:nvPr userDrawn="1"/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26" name="图片 25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cxnSp>
        <p:nvCxnSpPr>
          <p:cNvPr id="37" name="直接连接符 36"/>
          <p:cNvCxnSpPr/>
          <p:nvPr userDrawn="1"/>
        </p:nvCxnSpPr>
        <p:spPr>
          <a:xfrm>
            <a:off x="0" y="891159"/>
            <a:ext cx="12179808" cy="0"/>
          </a:xfrm>
          <a:prstGeom prst="line">
            <a:avLst/>
          </a:prstGeom>
          <a:ln w="12700">
            <a:gradFill>
              <a:gsLst>
                <a:gs pos="0">
                  <a:srgbClr val="703881"/>
                </a:gs>
                <a:gs pos="74000">
                  <a:srgbClr val="DA3C7F"/>
                </a:gs>
                <a:gs pos="83000">
                  <a:srgbClr val="DA3C7F"/>
                </a:gs>
                <a:gs pos="100000">
                  <a:srgbClr val="DA3C7F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/>
          <p:cNvSpPr/>
          <p:nvPr userDrawn="1"/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9" name="图片 48" descr="图片包含 游戏机, 建筑, 标志, 围栏&#10;&#10;描述已自动生成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7339" l="2737" r="98290">
                        <a14:foregroundMark x1="48945" y1="29798" x2="54989" y2="44073"/>
                        <a14:foregroundMark x1="44897" y1="27218" x2="65792" y2="69274"/>
                        <a14:foregroundMark x1="65792" y1="69274" x2="78278" y2="76008"/>
                        <a14:foregroundMark x1="78278" y1="76008" x2="80245" y2="62056"/>
                        <a14:foregroundMark x1="80245" y1="62056" x2="75912" y2="53710"/>
                        <a14:foregroundMark x1="80359" y1="50565" x2="82725" y2="84798"/>
                        <a14:foregroundMark x1="70410" y1="52056" x2="94897" y2="62944"/>
                        <a14:foregroundMark x1="78278" y1="41129" x2="81813" y2="97419"/>
                        <a14:foregroundMark x1="64652" y1="37581" x2="71066" y2="48710"/>
                        <a14:foregroundMark x1="40564" y1="58710" x2="55758" y2="81774"/>
                        <a14:foregroundMark x1="55758" y1="81774" x2="56414" y2="80000"/>
                        <a14:foregroundMark x1="41220" y1="90927" x2="82868" y2="89194"/>
                        <a14:foregroundMark x1="82868" y1="89194" x2="85205" y2="89274"/>
                        <a14:foregroundMark x1="95553" y1="45000" x2="98318" y2="72056"/>
                        <a14:foregroundMark x1="98318" y1="72056" x2="98318" y2="72056"/>
                        <a14:foregroundMark x1="92816" y1="29435" x2="93871" y2="37944"/>
                        <a14:foregroundMark x1="96351" y1="39798" x2="97263" y2="50000"/>
                        <a14:foregroundMark x1="92018" y1="28347" x2="93871" y2="44435"/>
                        <a14:foregroundMark x1="79447" y1="36492" x2="82212" y2="33710"/>
                        <a14:foregroundMark x1="82326" y1="33871" x2="79989" y2="42218"/>
                        <a14:foregroundMark x1="36659" y1="50927" x2="46152" y2="50242"/>
                        <a14:foregroundMark x1="46152" y1="50242" x2="53022" y2="51290"/>
                        <a14:foregroundMark x1="69641" y1="94435" x2="71608" y2="94073"/>
                        <a14:foregroundMark x1="43843" y1="93347" x2="59949" y2="96129"/>
                        <a14:foregroundMark x1="2737" y1="89435" x2="10063" y2="86855"/>
                        <a14:foregroundMark x1="10063" y1="86855" x2="10063" y2="86855"/>
                        <a14:foregroundMark x1="36374" y1="35202" x2="37030" y2="43508"/>
                        <a14:foregroundMark x1="25513" y1="41129" x2="25770" y2="42419"/>
                        <a14:foregroundMark x1="76311" y1="39274" x2="75656" y2="4165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300"/>
            <a:ext cx="860855" cy="608586"/>
          </a:xfrm>
          <a:prstGeom prst="rect">
            <a:avLst/>
          </a:prstGeom>
        </p:spPr>
      </p:pic>
      <p:pic>
        <p:nvPicPr>
          <p:cNvPr id="46" name="图片 45" descr="建筑的摆设布局&#10;&#10;描述已自动生成"/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42" t="55311"/>
          <a:stretch>
            <a:fillRect/>
          </a:stretch>
        </p:blipFill>
        <p:spPr>
          <a:xfrm>
            <a:off x="9237785" y="6143541"/>
            <a:ext cx="3036277" cy="913752"/>
          </a:xfrm>
          <a:prstGeom prst="rect">
            <a:avLst/>
          </a:prstGeom>
        </p:spPr>
      </p:pic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  <a:prstGeom prst="rect">
            <a:avLst/>
          </a:prstGeo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2.xml"/><Relationship Id="rId13" Type="http://schemas.openxmlformats.org/officeDocument/2006/relationships/tags" Target="../tags/tag53.xml"/><Relationship Id="rId14" Type="http://schemas.openxmlformats.org/officeDocument/2006/relationships/tags" Target="../tags/tag54.xml"/><Relationship Id="rId15" Type="http://schemas.openxmlformats.org/officeDocument/2006/relationships/tags" Target="../tags/tag55.xml"/><Relationship Id="rId16" Type="http://schemas.openxmlformats.org/officeDocument/2006/relationships/tags" Target="../tags/tag5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4.jp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15.jp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16.jpg"/><Relationship Id="rId11" Type="http://schemas.openxmlformats.org/officeDocument/2006/relationships/image" Target="../media/image17.png"/><Relationship Id="rId12" Type="http://schemas.openxmlformats.org/officeDocument/2006/relationships/notesSlide" Target="../notesSlides/notesSlide3.xml"/><Relationship Id="rId13" Type="http://schemas.microsoft.com/office/2007/relationships/media" Target="../media/media5.mp4"/><Relationship Id="rId14" Type="http://schemas.openxmlformats.org/officeDocument/2006/relationships/video" Target="../media/media5.mp4"/><Relationship Id="rId15" Type="http://schemas.openxmlformats.org/officeDocument/2006/relationships/image" Target="../media/image5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15.jp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notesSlide" Target="../notesSlides/notesSlide6.xml"/><Relationship Id="rId8" Type="http://schemas.openxmlformats.org/officeDocument/2006/relationships/image" Target="../media/image63.png"/><Relationship Id="rId9" Type="http://schemas.openxmlformats.org/officeDocument/2006/relationships/image" Target="../media/image23.png"/><Relationship Id="rId10" Type="http://schemas.openxmlformats.org/officeDocument/2006/relationships/image" Target="../media/image2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microsoft.com/office/2007/relationships/media" Target="../media/media4.mp4"/><Relationship Id="rId10" Type="http://schemas.openxmlformats.org/officeDocument/2006/relationships/video" Target="../media/media4.mp4"/><Relationship Id="rId11" Type="http://schemas.openxmlformats.org/officeDocument/2006/relationships/image" Target="../media/image33.jpg"/><Relationship Id="rId1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notesSlide" Target="../notesSlides/notesSlide10.xml"/><Relationship Id="rId6" Type="http://schemas.microsoft.com/office/2007/relationships/media" Target="../media/media6.mp4"/><Relationship Id="rId7" Type="http://schemas.openxmlformats.org/officeDocument/2006/relationships/video" Target="../media/media6.mp4"/><Relationship Id="rId8" Type="http://schemas.openxmlformats.org/officeDocument/2006/relationships/image" Target="../media/image5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12.xml"/><Relationship Id="rId4" Type="http://schemas.microsoft.com/office/2007/relationships/media" Target="../media/media7.mp4"/><Relationship Id="rId5" Type="http://schemas.openxmlformats.org/officeDocument/2006/relationships/video" Target="../media/media7.mp4"/><Relationship Id="rId6" Type="http://schemas.openxmlformats.org/officeDocument/2006/relationships/image" Target="../media/image5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14.xml"/><Relationship Id="rId4" Type="http://schemas.microsoft.com/office/2007/relationships/media" Target="../media/media8.mp4"/><Relationship Id="rId5" Type="http://schemas.openxmlformats.org/officeDocument/2006/relationships/video" Target="../media/media8.mp4"/><Relationship Id="rId6" Type="http://schemas.openxmlformats.org/officeDocument/2006/relationships/image" Target="../media/image5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17.xml"/><Relationship Id="rId4" Type="http://schemas.microsoft.com/office/2007/relationships/media" Target="../media/media9.mp4"/><Relationship Id="rId5" Type="http://schemas.openxmlformats.org/officeDocument/2006/relationships/video" Target="../media/media9.mp4"/><Relationship Id="rId6" Type="http://schemas.openxmlformats.org/officeDocument/2006/relationships/image" Target="../media/image5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18.xml"/><Relationship Id="rId4" Type="http://schemas.microsoft.com/office/2007/relationships/media" Target="../media/media10.mp4"/><Relationship Id="rId5" Type="http://schemas.openxmlformats.org/officeDocument/2006/relationships/video" Target="../media/media10.mp4"/><Relationship Id="rId6" Type="http://schemas.openxmlformats.org/officeDocument/2006/relationships/image" Target="../media/image5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9.xml"/><Relationship Id="rId4" Type="http://schemas.microsoft.com/office/2007/relationships/media" Target="../media/media5.mp4"/><Relationship Id="rId5" Type="http://schemas.openxmlformats.org/officeDocument/2006/relationships/video" Target="../media/media5.mp4"/><Relationship Id="rId6" Type="http://schemas.openxmlformats.org/officeDocument/2006/relationships/image" Target="../media/image5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20.xml"/><Relationship Id="rId4" Type="http://schemas.microsoft.com/office/2007/relationships/media" Target="../media/media11.mp4"/><Relationship Id="rId5" Type="http://schemas.openxmlformats.org/officeDocument/2006/relationships/video" Target="../media/media11.mp4"/><Relationship Id="rId6" Type="http://schemas.openxmlformats.org/officeDocument/2006/relationships/image" Target="../media/image6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21.xml"/><Relationship Id="rId4" Type="http://schemas.microsoft.com/office/2007/relationships/media" Target="../media/media12.mp4"/><Relationship Id="rId5" Type="http://schemas.openxmlformats.org/officeDocument/2006/relationships/video" Target="../media/media12.mp4"/><Relationship Id="rId6" Type="http://schemas.openxmlformats.org/officeDocument/2006/relationships/image" Target="../media/image6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1.png"/><Relationship Id="rId3" Type="http://schemas.openxmlformats.org/officeDocument/2006/relationships/image" Target="../media/image43.png"/><Relationship Id="rId4" Type="http://schemas.openxmlformats.org/officeDocument/2006/relationships/image" Target="../media/image48.png"/><Relationship Id="rId5" Type="http://schemas.openxmlformats.org/officeDocument/2006/relationships/notesSlide" Target="../notesSlides/notesSlide24.xml"/><Relationship Id="rId6" Type="http://schemas.microsoft.com/office/2007/relationships/media" Target="../media/media13.mp4"/><Relationship Id="rId7" Type="http://schemas.openxmlformats.org/officeDocument/2006/relationships/video" Target="../media/media13.mp4"/><Relationship Id="rId8" Type="http://schemas.openxmlformats.org/officeDocument/2006/relationships/image" Target="../media/image6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619250"/>
            <a:ext cx="16002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47750" y="1619250"/>
            <a:ext cx="13906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硕士学位论文开题报告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95500"/>
            <a:ext cx="86106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面向通用数字智能体的</a:t>
            </a:r>
          </a:p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可扩展评测与训练框架研究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337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3600450"/>
            <a:ext cx="6705600" cy="7599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</a:t>
            </a:r>
          </a:p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导　师：王好谦 教授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通用数字智能体可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应用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于软件开发、系统运维、内容创作及金融、电商、芯片开发等绝大部分行业业务流程，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是基础模型由对话助手走向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数字生产力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的关键形态。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godot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733550"/>
            <a:ext cx="3543300" cy="1962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软件开发与调试 · Godot 游戏 · 5×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324350" y="1733550"/>
            <a:ext cx="3543300" cy="1962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系统运维与故障排查 · RabbitMQ · 5×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nkscape_5x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134350" y="1733550"/>
            <a:ext cx="3543300" cy="1962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0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视觉设计与内容创作 · Inkscape · 5×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29100"/>
            <a:ext cx="28575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5775" y="57531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多职业业务软件环境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7100" y="4229100"/>
            <a:ext cx="8267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57600" y="4362450"/>
            <a:ext cx="7962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产业趋势：通用数字智能体正从对话助手走向数字生产力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686300"/>
            <a:ext cx="794385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OpenAI dots、Meta Muse、Manus、OpenClaw 等个人智能体产品相继发布，代用户处理办公、购物与开发事务</a:t>
            </a:r>
          </a:p>
          <a:p>
            <a:pPr algn="l" marL="0" indent="0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Claude Cowork、Codex、Qwen3.8-Max 等前沿系统将计算机操作纳入统一智能体，覆盖各行业专业软件</a:t>
            </a:r>
          </a:p>
          <a:p>
            <a:pPr algn="l" marL="0" indent="0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能否在真实业务中高效、可靠地完成长程任务，已成为前沿基础模型评测与后训练的核心议题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 / 23</a:t>
            </a:r>
          </a:p>
        </p:txBody>
      </p:sp>
      <p:pic>
        <p:nvPicPr>
          <p:cNvPr id="20" name="pa_matrix.mp4">
            <a:hlinkClick r:id="" action="ppaction://media"/>
          </p:cNvPr>
          <p:cNvPicPr>
            <a:picLocks noChangeAspect="1"/>
          </p:cNvPicPr>
          <p:nvPr>
            <a:videoFile r:link="rId14"/>
            <p:extLst>
              <p:ext uri="{DAA4B4D4-6D71-4841-9C94-3DE7FCFB9230}">
                <p14:media xmlns:p14="http://schemas.microsoft.com/office/powerpoint/2010/main" r:embed="rId13"/>
              </p:ext>
            </p:extLst>
          </p:nvPr>
        </p:nvPicPr>
        <p:blipFill>
          <a:blip r:embed="rId15"/>
          <a:stretch>
            <a:fillRect/>
          </a:stretch>
        </p:blipFill>
        <p:spPr>
          <a:xfrm>
            <a:off x="814387" y="4286250"/>
            <a:ext cx="2143125" cy="14287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0163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8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100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0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96600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2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3" dur="12000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4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>
                <p:cTn id="15" repeatCount="indefinite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16" repeatCount="indefinite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video>
              <p:cMediaNode vol="80000">
                <p:cTn id="17" repeatCount="indefinite" fill="hold" display="0">
                  <p:stCondLst>
                    <p:cond delay="indefinite"/>
                  </p:stCondLst>
                </p:cTn>
                <p:tgtEl>
                  <p:spTgt spid="20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4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能力方法：纯 CLI、纯 GUI 与混合能力方法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现有方法或割裂地发展单一能力，或初步混合而缺少统一范式、可信评测与可验证的训练方法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/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 / 23</a:t>
            </a:r>
          </a:p>
        </p:txBody>
      </p:sp>
      <p:sp>
        <p:nvSpPr>
          <p:cNvPr id="22" name="Rounded Rectangle 4"/>
          <p:cNvSpPr/>
          <p:nvPr/>
        </p:nvSpPr>
        <p:spPr>
          <a:xfrm>
            <a:off x="457200" y="1428750"/>
            <a:ext cx="3657600" cy="34290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5"/>
          <p:cNvSpPr txBox="1"/>
          <p:nvPr/>
        </p:nvSpPr>
        <p:spPr>
          <a:xfrm>
            <a:off x="457200" y="1428750"/>
            <a:ext cx="365760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24" name="TextBox 8"/>
          <p:cNvSpPr txBox="1"/>
          <p:nvPr/>
        </p:nvSpPr>
        <p:spPr>
          <a:xfrm>
            <a:off x="457200" y="1809750"/>
            <a:ext cx="3657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Terminal-Bench · SWE-agent · SWE-Gym · OpenClaw</a:t>
            </a:r>
          </a:p>
        </p:txBody>
      </p:sp>
      <p:sp>
        <p:nvSpPr>
          <p:cNvPr id="25" name="Rounded Rectangle 6"/>
          <p:cNvSpPr/>
          <p:nvPr/>
        </p:nvSpPr>
        <p:spPr>
          <a:xfrm>
            <a:off x="457200" y="2019300"/>
            <a:ext cx="3657600" cy="21526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17"/>
          <p:cNvSpPr/>
          <p:nvPr/>
        </p:nvSpPr>
        <p:spPr>
          <a:xfrm>
            <a:off x="457200" y="4248150"/>
            <a:ext cx="3657600" cy="609600"/>
          </a:xfrm>
          <a:prstGeom prst="roundRect">
            <a:avLst>
              <a:gd name="adj" fmla="val 13043"/>
            </a:avLst>
          </a:prstGeom>
          <a:solidFill>
            <a:srgbClr val="F1F8F4"/>
          </a:solidFill>
          <a:ln w="19050">
            <a:solidFill>
              <a:srgbClr val="1E7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18"/>
          <p:cNvSpPr txBox="1"/>
          <p:nvPr/>
        </p:nvSpPr>
        <p:spPr>
          <a:xfrm>
            <a:off x="571500" y="4305300"/>
            <a:ext cx="34290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动作精确高效，单元测试提供可验证奖励，强化学习已规模化</a:t>
            </a:r>
          </a:p>
        </p:txBody>
      </p:sp>
      <p:sp>
        <p:nvSpPr>
          <p:cNvPr id="28" name="Rounded Rectangle 17"/>
          <p:cNvSpPr/>
          <p:nvPr/>
        </p:nvSpPr>
        <p:spPr>
          <a:xfrm>
            <a:off x="457200" y="4914900"/>
            <a:ext cx="3657600" cy="609600"/>
          </a:xfrm>
          <a:prstGeom prst="roundRect">
            <a:avLst>
              <a:gd name="adj" fmla="val 13043"/>
            </a:avLst>
          </a:prstGeom>
          <a:solidFill>
            <a:srgbClr val="FDF3F2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18"/>
          <p:cNvSpPr txBox="1"/>
          <p:nvPr/>
        </p:nvSpPr>
        <p:spPr>
          <a:xfrm>
            <a:off x="571500" y="4972050"/>
            <a:ext cx="34290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难以观测渲染结果；依赖命令行或 API</a:t>
            </a:r>
          </a:p>
        </p:txBody>
      </p:sp>
      <p:sp>
        <p:nvSpPr>
          <p:cNvPr id="30" name="Rounded Rectangle 4"/>
          <p:cNvSpPr/>
          <p:nvPr/>
        </p:nvSpPr>
        <p:spPr>
          <a:xfrm>
            <a:off x="4267200" y="1428750"/>
            <a:ext cx="3657600" cy="34290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5"/>
          <p:cNvSpPr txBox="1"/>
          <p:nvPr/>
        </p:nvSpPr>
        <p:spPr>
          <a:xfrm>
            <a:off x="4267200" y="1428750"/>
            <a:ext cx="365760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32" name="TextBox 8"/>
          <p:cNvSpPr txBox="1"/>
          <p:nvPr/>
        </p:nvSpPr>
        <p:spPr>
          <a:xfrm>
            <a:off x="4267200" y="1809750"/>
            <a:ext cx="3657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 · UI-TARS-2 · FastV · SnapKV</a:t>
            </a:r>
          </a:p>
        </p:txBody>
      </p:sp>
      <p:sp>
        <p:nvSpPr>
          <p:cNvPr id="33" name="Rounded Rectangle 6"/>
          <p:cNvSpPr/>
          <p:nvPr/>
        </p:nvSpPr>
        <p:spPr>
          <a:xfrm>
            <a:off x="4267200" y="2019300"/>
            <a:ext cx="3657600" cy="21526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17"/>
          <p:cNvSpPr/>
          <p:nvPr/>
        </p:nvSpPr>
        <p:spPr>
          <a:xfrm>
            <a:off x="4267200" y="4248150"/>
            <a:ext cx="3657600" cy="609600"/>
          </a:xfrm>
          <a:prstGeom prst="roundRect">
            <a:avLst>
              <a:gd name="adj" fmla="val 13043"/>
            </a:avLst>
          </a:prstGeom>
          <a:solidFill>
            <a:srgbClr val="F1F8F4"/>
          </a:solidFill>
          <a:ln w="19050">
            <a:solidFill>
              <a:srgbClr val="1E7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18"/>
          <p:cNvSpPr txBox="1"/>
          <p:nvPr/>
        </p:nvSpPr>
        <p:spPr>
          <a:xfrm>
            <a:off x="4381500" y="4305300"/>
            <a:ext cx="34290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以截图与键鼠为通用接口，适用于各类图形界面软件</a:t>
            </a:r>
          </a:p>
        </p:txBody>
      </p:sp>
      <p:sp>
        <p:nvSpPr>
          <p:cNvPr id="36" name="Rounded Rectangle 17"/>
          <p:cNvSpPr/>
          <p:nvPr/>
        </p:nvSpPr>
        <p:spPr>
          <a:xfrm>
            <a:off x="4267200" y="4914900"/>
            <a:ext cx="3657600" cy="609600"/>
          </a:xfrm>
          <a:prstGeom prst="roundRect">
            <a:avLst>
              <a:gd name="adj" fmla="val 13043"/>
            </a:avLst>
          </a:prstGeom>
          <a:solidFill>
            <a:srgbClr val="FDF3F2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18"/>
          <p:cNvSpPr txBox="1"/>
          <p:nvPr/>
        </p:nvSpPr>
        <p:spPr>
          <a:xfrm>
            <a:off x="4381500" y="4972050"/>
            <a:ext cx="34290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截图开销高、步数多；缺少天然可验证信号</a:t>
            </a:r>
          </a:p>
        </p:txBody>
      </p:sp>
      <p:sp>
        <p:nvSpPr>
          <p:cNvPr id="38" name="Rounded Rectangle 4"/>
          <p:cNvSpPr/>
          <p:nvPr/>
        </p:nvSpPr>
        <p:spPr>
          <a:xfrm>
            <a:off x="8077200" y="1428750"/>
            <a:ext cx="3657600" cy="342900"/>
          </a:xfrm>
          <a:prstGeom prst="roundRect">
            <a:avLst>
              <a:gd name="adj" fmla="val 23076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5"/>
          <p:cNvSpPr txBox="1"/>
          <p:nvPr/>
        </p:nvSpPr>
        <p:spPr>
          <a:xfrm>
            <a:off x="8077200" y="1428750"/>
            <a:ext cx="365760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40" name="TextBox 8"/>
          <p:cNvSpPr txBox="1"/>
          <p:nvPr/>
        </p:nvSpPr>
        <p:spPr>
          <a:xfrm>
            <a:off x="8077200" y="1809750"/>
            <a:ext cx="3657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CoAct-1 · OSWorld-MCP · GUI-Genesis</a:t>
            </a:r>
          </a:p>
        </p:txBody>
      </p:sp>
      <p:sp>
        <p:nvSpPr>
          <p:cNvPr id="41" name="Rounded Rectangle 6"/>
          <p:cNvSpPr/>
          <p:nvPr/>
        </p:nvSpPr>
        <p:spPr>
          <a:xfrm>
            <a:off x="8077200" y="2019300"/>
            <a:ext cx="3657600" cy="21526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17"/>
          <p:cNvSpPr/>
          <p:nvPr/>
        </p:nvSpPr>
        <p:spPr>
          <a:xfrm>
            <a:off x="8077200" y="4248150"/>
            <a:ext cx="3657600" cy="609600"/>
          </a:xfrm>
          <a:prstGeom prst="roundRect">
            <a:avLst>
              <a:gd name="adj" fmla="val 13043"/>
            </a:avLst>
          </a:prstGeom>
          <a:solidFill>
            <a:srgbClr val="F1F8F4"/>
          </a:solidFill>
          <a:ln w="19050">
            <a:solidFill>
              <a:srgbClr val="1E7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18"/>
          <p:cNvSpPr txBox="1"/>
          <p:nvPr/>
        </p:nvSpPr>
        <p:spPr>
          <a:xfrm>
            <a:off x="8191500" y="4305300"/>
            <a:ext cx="34290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混合动作空间缩短轨迹；以参考应用构建可验证环境的思路出现</a:t>
            </a:r>
          </a:p>
        </p:txBody>
      </p:sp>
      <p:sp>
        <p:nvSpPr>
          <p:cNvPr id="44" name="Rounded Rectangle 17"/>
          <p:cNvSpPr/>
          <p:nvPr/>
        </p:nvSpPr>
        <p:spPr>
          <a:xfrm>
            <a:off x="8077200" y="4914900"/>
            <a:ext cx="3657600" cy="609600"/>
          </a:xfrm>
          <a:prstGeom prst="roundRect">
            <a:avLst>
              <a:gd name="adj" fmla="val 13043"/>
            </a:avLst>
          </a:prstGeom>
          <a:solidFill>
            <a:srgbClr val="FDF3F2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18"/>
          <p:cNvSpPr txBox="1"/>
          <p:nvPr/>
        </p:nvSpPr>
        <p:spPr>
          <a:xfrm>
            <a:off x="8191500" y="4972050"/>
            <a:ext cx="34290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第二种通道多为辅助；任务多仅依据结果判分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224" y="3276600"/>
            <a:ext cx="2713550" cy="857250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05300" y="2125164"/>
            <a:ext cx="3581400" cy="1959970"/>
          </a:xfrm>
          <a:prstGeom prst="rect">
            <a:avLst/>
          </a:prstGeom>
        </p:spPr>
      </p:pic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70437" y="2076450"/>
            <a:ext cx="3471125" cy="1143000"/>
          </a:xfrm>
          <a:prstGeom prst="rect">
            <a:avLst/>
          </a:prstGeom>
        </p:spPr>
      </p:pic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23837" y="3257550"/>
            <a:ext cx="2364324" cy="876300"/>
          </a:xfrm>
          <a:prstGeom prst="rect">
            <a:avLst/>
          </a:prstGeom>
        </p:spPr>
      </p:pic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33400" y="2076450"/>
            <a:ext cx="3505200" cy="1162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100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走向真实世界：个人智能体（Personal Agent）与物理世界智能体（Physical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120015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428750"/>
            <a:ext cx="9906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个人智能体产品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14500"/>
            <a:ext cx="2762250" cy="22098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p_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419" y="1771650"/>
            <a:ext cx="2439810" cy="17335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5300" y="35433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OpenAI dots · 2026.09：云端机器 + 应用连接器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5650" y="1714500"/>
            <a:ext cx="2762250" cy="22098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p_m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4809" y="1771650"/>
            <a:ext cx="2363931" cy="17335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33750" y="3543300"/>
            <a:ext cx="2686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Meta Muse · 2026.09：云端安全 VM 内执行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4100" y="1714500"/>
            <a:ext cx="2762250" cy="22098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p_man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0" y="1893688"/>
            <a:ext cx="2647950" cy="14894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72200" y="3543300"/>
            <a:ext cx="2686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Manus · 2025.03：云 VM，2026 年起支持本机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2550" y="1714500"/>
            <a:ext cx="2762250" cy="22098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p_opencl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9700" y="1807695"/>
            <a:ext cx="2647950" cy="166145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10650" y="3543300"/>
            <a:ext cx="2686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OpenClaw · 2026.01：运行于用户自己的设备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00500"/>
            <a:ext cx="18669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0550" y="4000500"/>
            <a:ext cx="1657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物理世界生成与机器人使用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86250"/>
            <a:ext cx="276225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h_simworld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350" y="4567988"/>
            <a:ext cx="2647950" cy="1131973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95300" y="5962650"/>
            <a:ext cx="2686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SimWorlds [Liu+, 2026]：文本生成物理世界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5650" y="4286250"/>
            <a:ext cx="276225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h_text2si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52800" y="4640210"/>
            <a:ext cx="2647950" cy="98752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333750" y="5962650"/>
            <a:ext cx="2686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Text2Sim [Xiong+, 2026]：生成并修复仿真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34100" y="4286250"/>
            <a:ext cx="276225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ph_4dco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15817" y="4343400"/>
            <a:ext cx="1598815" cy="15811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72200" y="596265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4DCodeBench [Shen+, 2026]：以代码复现 4D 运动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2550" y="4286250"/>
            <a:ext cx="276225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robot_overview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9029700" y="4613841"/>
            <a:ext cx="2647950" cy="104026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10650" y="596265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RobotWorld [Yang+, 2026]：84 个机器人使用任务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6 / 23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4000" fill="hold"/>
                                        <p:tgtEl>
                                          <p:spTgt spid="3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31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通用数字智能体的评测与训练仍然是一个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极具挑战性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的课题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ig_integrity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845574"/>
            <a:ext cx="3505200" cy="19857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任务范式与能力度量失配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861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0670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研究一 评测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686300"/>
            <a:ext cx="3657600" cy="6835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纯 GUI 范式天然偏重；现有基准割裂评测 CLI 与 GUI，任务可在单一能力内完成；仅依据最终结果判分，比轨迹审计口径高 10–20 个百分点。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ig12_hac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281881"/>
            <a:ext cx="3505200" cy="11131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8625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混合行为模式难以习得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1515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9610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研究二 训练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86250" y="4686300"/>
            <a:ext cx="3657600" cy="6835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 缺少天然的可验证奖励，混合训练环境与数据稀缺；仅依据结果的奖励易被违规取巧（Reward Hacking）利用，自主编排与自我验证难以习得。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1153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通用能力难以落到真实世界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7251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研究三 应用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530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现有智能体缺少个人电脑环境与职业业务知识；生成的代码与内容不受物理规律约束，表象正确不等于机制正确。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核心问题：如何定义好问题、建立可信评测，如何训练好相应能力，并使通用数字智能体在真实世界中可信落地？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/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/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/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7 / 23</a:t>
            </a:r>
          </a:p>
        </p:txBody>
      </p:sp>
      <p:pic>
        <p:nvPicPr>
          <p:cNvPr id="26" name="real_world.mp4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172450" y="1705502"/>
            <a:ext cx="3505200" cy="226589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2000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26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8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研究框架：评测 → 训练 → 应用，前一项研究的结论构成后一项研究的动机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1722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85775" y="5200650"/>
            <a:ext cx="6115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可扩展评测与训练框架总览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1800" y="14287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781800" y="14287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991350" y="15430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24700" y="15430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0850" y="15621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1350" y="18478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面向混合能力范式的可信评测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1350" y="20955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GUIPruner · ST-Lite → WeaveBench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1350" y="23241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结论：瓶颈在自主编排与自我验证 → 需要训练新的行为模式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81800" y="28384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781800" y="28384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991350" y="29527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24700" y="29527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0850" y="29718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1350" y="32575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基于可验证复刻环境的混合行为训练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1350" y="35052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RecreationWorld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1350" y="37338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结论：复刻训练在分布外基准上带来提升 → 推广到真实世界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1800" y="42481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781800" y="42481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991350" y="43624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24700" y="43624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研究三 · 应用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43815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待完成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1350" y="46672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通用数字智能体走向真实世界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1350" y="49149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职业化个人智能体 · 物理世界智能体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1350" y="51435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复用研究一的评测思想与研究二的训练流程，形成闭环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贯穿主线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可扩展（Scalable）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：任务、环境与 verifier 均可自动、批量构造，不依赖人工逐题设计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9 / 23</a:t>
            </a:r>
          </a:p>
        </p:txBody>
      </p:sp>
      <p:pic>
        <p:nvPicPr>
          <p:cNvPr id="35" name="framework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14350" y="1667922"/>
            <a:ext cx="6057900" cy="331260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2000" fill="hold"/>
                                        <p:tgtEl>
                                          <p:spTgt spid="3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35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研究一：面向混合能力范式的可信评测（已完成）—— 前期探索：纯 GUI 范式下的推理效率优化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长程 GUI 轨迹中高分辨率截图持续累积，视觉 token 与 KV 缓存（KV Cache）线性膨胀；通用压缩方法忽视帧间冗余与界面二维结构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556260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gp_fig3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668" y="1828800"/>
            <a:ext cx="4567662" cy="27051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4572000"/>
            <a:ext cx="5505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 · KDD 2027 在投：视觉 token 压缩 —— 时间自适应分辨率 + 结构感知剪枝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771650"/>
            <a:ext cx="556260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st_fig4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1847" y="1828800"/>
            <a:ext cx="5163305" cy="27051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00775" y="4572000"/>
            <a:ext cx="5505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 · EMNLP 2026：KV Cache 压缩 —— 轨迹门控 + 组件显著性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029200"/>
            <a:ext cx="27241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3.4×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314950"/>
            <a:ext cx="2724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FLOPs 降低，性能保持 &gt;94%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76600" y="5029200"/>
            <a:ext cx="27241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3.3×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76600" y="5314950"/>
            <a:ext cx="2724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视觉编码加速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5029200"/>
            <a:ext cx="27241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20% KV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314950"/>
            <a:ext cx="2724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预算下与完整缓存持平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1600" y="5029200"/>
            <a:ext cx="27241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2.35×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1600" y="5314950"/>
            <a:ext cx="2724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5 倍压缩下解码加速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开销可以显著压缩，但纯 GUI 范式"每一步都处理整屏截图"的本质未变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范式本身是否合理？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10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研究一（续）：范式反思 —— 纯 GUI 范式并非天然合理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6675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5775" y="52006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三种范式对比：纯 GUI 逐步截图；CLI 优先、不观察像素；混合范式以 CLI 为主干、GUI 观察与核验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77100" y="1428750"/>
            <a:ext cx="4457700" cy="2495550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248525" y="1524000"/>
            <a:ext cx="45148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受控对照：OSWorld · 同一模型 · 同一判官 [WeaveBench 附录 E]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5750" y="2114550"/>
            <a:ext cx="419100" cy="1428750"/>
          </a:xfrm>
          <a:prstGeom prst="roundRect">
            <a:avLst>
              <a:gd name="adj" fmla="val 909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382000" y="2143125"/>
            <a:ext cx="419100" cy="1400175"/>
          </a:xfrm>
          <a:prstGeom prst="roundRect">
            <a:avLst>
              <a:gd name="adj" fmla="val 909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39075" y="1924050"/>
            <a:ext cx="5524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5325" y="1952625"/>
            <a:ext cx="5524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91750" y="2876550"/>
            <a:ext cx="419100" cy="666750"/>
          </a:xfrm>
          <a:prstGeom prst="roundRect">
            <a:avLst>
              <a:gd name="adj" fmla="val 909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0668000" y="2190750"/>
            <a:ext cx="419100" cy="1352550"/>
          </a:xfrm>
          <a:prstGeom prst="roundRect">
            <a:avLst>
              <a:gd name="adj" fmla="val 909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125075" y="2686050"/>
            <a:ext cx="5524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14.3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1325" y="2000250"/>
            <a:ext cx="5524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29.0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20000" y="3543300"/>
            <a:ext cx="37719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20000" y="3543300"/>
            <a:ext cx="37719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00975" y="3600450"/>
            <a:ext cx="11049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成功率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86975" y="3600450"/>
            <a:ext cx="11049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平均步数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8525" y="4000500"/>
            <a:ext cx="45148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OpenClaw CLI 智能体（不观察像素）　</a:t>
            </a:r>
            <a:r>
              <a:rPr sz="937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纯视觉 GUI 智能体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77100" y="4305300"/>
            <a:ext cx="4457700" cy="1238250"/>
          </a:xfrm>
          <a:prstGeom prst="roundRect">
            <a:avLst>
              <a:gd name="adj" fmla="val 9230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429500" y="4381500"/>
            <a:ext cx="42291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OpenClaw 的启发（2026 年初）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以 CLI 为主、运行在用户个人电脑上的开源智能体迅速普及。我们以标准 OpenClaw CLI 智能体重跑 OSWorld：成功率相当 —— 大量任务无需逐帧观察屏幕。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结论：关键不在压缩，而在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任务范式与能力度量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 → 定义 CLI 与 GUI 交织的综合数字智能体范式并可信评测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11 / 23</a:t>
            </a:r>
          </a:p>
        </p:txBody>
      </p:sp>
      <p:pic>
        <p:nvPicPr>
          <p:cNvPr id="34" name="paradigm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80587" y="1485900"/>
            <a:ext cx="5820725" cy="36766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2000" fill="hold"/>
                                        <p:tgtEl>
                                          <p:spTgt spid="3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34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研究一（续）：WeaveBench —— 综合数字智能体范式与轨迹感知的可信评测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现有基准将 CLI 与 GUI 割裂评测，任务可在单一能力内完成；仅依据最终结果判分，难以度量能力协同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解决方法：以已部署的 CLI 智能体运行时为底座、加入最小桌面控制插件；以单通道基线与人工审查筛选需 CLI 与 GUI 协同的长程任务；轨迹感知判官审计全过程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/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/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6096000" cy="3505200"/>
          </a:xfrm>
          <a:prstGeom prst="roundRect">
            <a:avLst>
              <a:gd name="adj" fmla="val 217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fig_overview_new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39891"/>
            <a:ext cx="5981700" cy="23782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 · EMNLP 2026：任务构造 → 真实运行时 → 轨迹感知判官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05600" y="2038350"/>
            <a:ext cx="502920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fig_failure_mechanism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5214" y="2095500"/>
            <a:ext cx="4889970" cy="1752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34175" y="3886200"/>
            <a:ext cx="4972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1,735 个失败的归因分析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05600" y="4343400"/>
            <a:ext cx="2533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41.2%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5600" y="4648200"/>
            <a:ext cx="2533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最强组合成功率（OSWorld &gt;78%）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8300" y="4343400"/>
            <a:ext cx="2533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≤3.5%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8300" y="4648200"/>
            <a:ext cx="2533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GUI 或仅 CLI；混合增益 +31.6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600" y="4953000"/>
            <a:ext cx="2533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10–20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05600" y="5257800"/>
            <a:ext cx="2533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仅结果判分高于轨迹审计口径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300" y="4953000"/>
            <a:ext cx="2533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65.6%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8300" y="5257800"/>
            <a:ext cx="2533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违规取巧与长程失控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结论：瓶颈不在视觉感知，而在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自主编排（Orchestration）与自我验证（Self-verification）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→ 研究二训练该行为模式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12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7818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630" y="1485900"/>
            <a:ext cx="5962939" cy="14287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295275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：探索原版 → 实现 → 运行 → 视觉核验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09950"/>
            <a:ext cx="6781800" cy="268605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rw_fig4_constr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834" y="3467100"/>
            <a:ext cx="5516530" cy="2247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775" y="575310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环境构建：开源应用 → 行为探查 → 测试合成 → 参考回放校验 → 冻结隐藏测试集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0" y="1428750"/>
            <a:ext cx="4343400" cy="662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自主编排（Orchestration）与自我验证（Self-verification）需在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的场景中习得；图形界面缺少天然奖励，现有环境局限于单一界面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381250"/>
            <a:ext cx="4343400" cy="883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为训练场景：规格存在于界面中、交付物为代码、正确性需运行后视觉核验，天然要求 CLI 与 GUI 交织；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原版应用即 oracle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，自动合成隐藏行为测试作为可验证奖励（Verifiable Reward）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29500" y="4114800"/>
            <a:ext cx="4305300" cy="19812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rw_fig3_horiz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1973" y="4171950"/>
            <a:ext cx="2440353" cy="15430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58075" y="5753100"/>
            <a:ext cx="4248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每百次调用的 GUI↔代码切换：复刻任务远高于现有基准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13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研究二（续）：训练流程与实验结果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复刻任务构造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GitHub 高质量开源 GUI 应用，覆盖 Ubuntu / macOS / Windows / Android / Web，与评测集去重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422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5757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7575" y="1771650"/>
            <a:ext cx="24574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在隔离虚拟机池中并发执行"探索—实现—构建运行—核验修正"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125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2460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可验证筛选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以任务级行为 verifier 拒绝采样（Rejection Sampling），每平台取 7,000 条，共 3.5 万条轨迹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827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9162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 模型后训练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1625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同一数据分别监督微调（SFT）Qwen3.7-Plus 与持续预训练（CPT）后的 Qwen-Flash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57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062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514600"/>
            <a:ext cx="7810500" cy="302895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85775" y="520065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迁移到 5 个分布外（OOD）基准（代码、视觉代码、混合计算机操作）：两种初始化均一致提升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300" y="25717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250 题 · 5 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6300" y="28575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RecreationBench 评测集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33147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2.8%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6300" y="36004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最强模型全部通过的题目比例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6300" y="40576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+17.9 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6300" y="43434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分布外（OOD）基准最大提升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6300" y="48006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35.7 → 48.2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300" y="50863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WeaveBench（研究一）上的提升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结论：可验证环境中习得的混合行为模式可迁移至分布外任务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研究三推广到真实世界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14 / 23</a:t>
            </a:r>
          </a:p>
        </p:txBody>
      </p:sp>
      <p:pic>
        <p:nvPicPr>
          <p:cNvPr id="34" name="rw_transfer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14350" y="2653118"/>
            <a:ext cx="7696200" cy="24280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2000" fill="hold"/>
                                        <p:tgtEl>
                                          <p:spTgt spid="3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34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研究三（一）：职业化个人智能体（Professional Personal Agent）（待完成）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现有个人智能体的"个人化"主要体现在记忆与对话人设，任务多在云端通用环境中执行；缺少个人电脑环境、职业业务知识与专业软件技能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771650"/>
            <a:ext cx="6667500" cy="3695700"/>
          </a:xfrm>
          <a:prstGeom prst="roundRect">
            <a:avLst>
              <a:gd name="adj" fmla="val 20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85775" y="51244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职业化个人智能体：个人电脑环境 × 职业知识 × 软件技能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77100" y="1771650"/>
            <a:ext cx="4457700" cy="1181100"/>
          </a:xfrm>
          <a:prstGeom prst="roundRect">
            <a:avLst>
              <a:gd name="adj" fmla="val 967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29500" y="1885950"/>
            <a:ext cx="53340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5750" y="1905000"/>
            <a:ext cx="3771900" cy="2120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在用户自己的电脑环境中工作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5750" y="2190750"/>
            <a:ext cx="371475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本地文件、已登录的应用与历史记录均为任务上下文，云端通用沙箱无法复现这些状态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7100" y="3028950"/>
            <a:ext cx="4457700" cy="1181100"/>
          </a:xfrm>
          <a:prstGeom prst="roundRect">
            <a:avLst>
              <a:gd name="adj" fmla="val 967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29500" y="3143250"/>
            <a:ext cx="53340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5750" y="3162300"/>
            <a:ext cx="3771900" cy="2120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具备职业业务世界知识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5750" y="3448050"/>
            <a:ext cx="371475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账务规则、合同条款与判例、定价与库存策略等，决定任务的正确性标准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77100" y="4286250"/>
            <a:ext cx="4457700" cy="1181100"/>
          </a:xfrm>
          <a:prstGeom prst="roundRect">
            <a:avLst>
              <a:gd name="adj" fmla="val 967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429500" y="4400550"/>
            <a:ext cx="53340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5750" y="4419600"/>
            <a:ext cx="3771900" cy="2120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掌握职业专业软件的使用能力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5750" y="4705350"/>
            <a:ext cx="371475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ERP、合同审阅、EDA、设计工具等长程操作，需要 CLI 与 GUI 按需交织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三者兼备，方能成为面向不同职业的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数字员工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；研究三把可扩展的评测与训练框架推广到职业化个人环境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15 / 23</a:t>
            </a:r>
          </a:p>
        </p:txBody>
      </p:sp>
      <p:pic>
        <p:nvPicPr>
          <p:cNvPr id="30" name="pa_overview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93015" y="1828800"/>
            <a:ext cx="6395869" cy="32575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2000" fill="hold"/>
                                        <p:tgtEl>
                                          <p:spTgt spid="3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30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研究三（一·续）：多职业可验证环境扩展（Env Scaling）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多职业个人电脑环境：会计 · 律师 · 设计师 · 电商运营 · 医生 · 芯片工程师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12954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621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App Mock：职业业务系统仿真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866900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以研究二的复刻能力，将 ERP、合同审阅、电商后台、病历系统等业务软件构建为可交互、可重置的仿真应用，并组装为个人电脑环境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5600" y="2838450"/>
            <a:ext cx="5029200" cy="12954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29718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真实数据驱动的环境模拟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276600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以脱敏真实业务数据驱动状态与事件演化；事件依附业务动作，支持需求变更与跨应用协作的长程任务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600" y="4248150"/>
            <a:ext cx="5029200" cy="12954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43815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&amp; RL 任务构造流水线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686300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轨迹采样 → 状态优先的 verifier（以数据库状态校验结果，抑制奖励利用）→ SFT 数据 / RL 奖励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 / 23</a:t>
            </a:r>
          </a:p>
        </p:txBody>
      </p:sp>
      <p:pic>
        <p:nvPicPr>
          <p:cNvPr id="26" name="pa_matrix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47712" y="1485900"/>
            <a:ext cx="5514975" cy="36766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2000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26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研究三（二）：物理世界智能体（Physical Agent）—— 表象正确不等于机制正确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6667500" cy="447675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4350" y="5562600"/>
            <a:ext cx="659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反事实干预：拉大第 10、11 块骨牌间距后，关键帧动画仍全部倒下，物理仿真在间隙处正确中断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77100" y="1428750"/>
            <a:ext cx="4457700" cy="1143000"/>
          </a:xfrm>
          <a:prstGeom prst="roundRect">
            <a:avLst>
              <a:gd name="adj" fmla="val 10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29500" y="1504950"/>
            <a:ext cx="42291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核心问题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：Coding Agent 已能自动生成"会动的 3D 世界"，但它构建的是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遵守物理机制、可跨条件泛化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的世界，还是只在当前条件下看起来正确的运动程序？出错时能否依据执行反馈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定位并修复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3300" y="2686050"/>
            <a:ext cx="11811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相关工作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0" y="2686050"/>
            <a:ext cx="15811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已考察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686050"/>
            <a:ext cx="1695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尚未充分考察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77100" y="28956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53300" y="28956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LEGO-Anything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0" y="29241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重建静态 3D 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9241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能否按物理规律运动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77100" y="32956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3300" y="32956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Code4Scene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0" y="33242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精确构建 / 编辑 3D 环境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242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动态行为是否正确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77100" y="36957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53300" y="36957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4DCodeBench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0" y="37242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复现参考视频的运动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242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换初始条件是否仍正确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77100" y="40957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53300" y="40957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SimWorlds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7250" y="41243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建立并验证物理机制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1243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参数与跨条件行为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77100" y="44958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353300" y="44958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Text2Sim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0" y="45243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生成、运行并修复仿真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5243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未见干预下是否可靠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7100" y="48958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53300" y="48958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WorldSolver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0" y="49244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实现物理求解器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49244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复杂场景中自主诊断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77100" y="5353050"/>
            <a:ext cx="4495800" cy="398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研究空白：尚未统一考察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跨条件物理泛化、错误因果定位、修复后不破坏既有行为</a:t>
            </a: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三件事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17 / 23</a:t>
            </a:r>
          </a:p>
        </p:txBody>
      </p:sp>
      <p:pic>
        <p:nvPicPr>
          <p:cNvPr id="43" name="phys_cf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14350" y="1672778"/>
            <a:ext cx="6553200" cy="366484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2000" fill="hold"/>
                                        <p:tgtEl>
                                          <p:spTgt spid="4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43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研究三（二·续）：基于物理状态与干预测试的验证、诊断与定向修复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5715000" cy="409575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85775" y="5181600"/>
            <a:ext cx="5657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方法框架：构建物理世界 → 执行仿真 → 干预验证 → 落地诊断 → 定向修复与回归测试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2700" y="14478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96050" y="14478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· 物理泛化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0500" y="1447800"/>
            <a:ext cx="39814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未见过的质量、摩擦、碰撞参数、初速度、外力下仿真是否仍正确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2700" y="192405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6050" y="192405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· 错误诊断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500" y="192405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能否区分碰撞体、摩擦设置、数值积分不稳定等原因，而非随机调参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62700" y="24003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6050" y="24003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· 可靠修复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500" y="240030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利用物理状态与视觉证据修复，并通过回归测试（Regression Tests）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2700" y="2952750"/>
            <a:ext cx="5372100" cy="257175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15100" y="3048000"/>
            <a:ext cx="510540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核心消融（同一模型、工具权限与计算预算）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5100" y="33528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29400" y="33528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One-shot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0" y="33528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不提供反馈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5100" y="36957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29400" y="36957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Execution Feedback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0" y="36957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运行错误与报错日志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15100" y="40386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29400" y="40386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Visual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2500" y="40386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渲染图与动画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5100" y="43815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629400" y="43815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Physical State Feedback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2500" y="43815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位置、速度、接触、能量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15100" y="47244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629400" y="47244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72500" y="47244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状态 + 干预测试 + 定向修复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5124450"/>
            <a:ext cx="51244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指标：反事实通过率 · 修复成功率 · 回归失败率 · 成本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目标：从评测"能否生成会动的世界"推进到评测"能否构建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条件变化下仍遵守物理规律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的世界"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18 / 23</a:t>
            </a:r>
          </a:p>
        </p:txBody>
      </p:sp>
      <p:pic>
        <p:nvPicPr>
          <p:cNvPr id="42" name="phys_loop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14350" y="1497592"/>
            <a:ext cx="5600700" cy="36342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2000" fill="hold"/>
                                        <p:tgtEl>
                                          <p:spTgt spid="4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42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19 /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已完成工作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2857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irst_guipru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596" y="1504950"/>
            <a:ext cx="1516206" cy="196215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71500" y="3562350"/>
            <a:ext cx="120015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4375" y="3571875"/>
            <a:ext cx="9715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投稿 KDD 2027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3857625"/>
            <a:ext cx="7048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4030860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4225" y="1428750"/>
            <a:ext cx="2667000" cy="2857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first_stl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035" y="1504950"/>
            <a:ext cx="1387378" cy="196215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438525" y="35623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71875" y="35623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8525" y="3857625"/>
            <a:ext cx="485775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8525" y="4030860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1250" y="1428750"/>
            <a:ext cx="2667000" cy="2857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first_weaveben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1060" y="1504950"/>
            <a:ext cx="1387378" cy="196215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305550" y="35623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38900" y="35623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5550" y="3857625"/>
            <a:ext cx="847725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5550" y="4030860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8275" y="1428750"/>
            <a:ext cx="2667000" cy="2857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irst_recre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085" y="1504950"/>
            <a:ext cx="1387378" cy="196215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9172575" y="3562350"/>
            <a:ext cx="1152525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15450" y="3571875"/>
            <a:ext cx="923925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技术报告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2575" y="3857625"/>
            <a:ext cx="1095375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2575" y="4030860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400550"/>
            <a:ext cx="11277600" cy="1104900"/>
          </a:xfrm>
          <a:prstGeom prst="roundRect">
            <a:avLst>
              <a:gd name="adj" fmla="val 10344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28650" y="4572000"/>
            <a:ext cx="18002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2000" y="4572000"/>
            <a:ext cx="15906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Qwen 团队 · 研究型实习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650" y="4895850"/>
            <a:ext cx="1099185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研究一、二的评测环境与训练数据已应用于模型优化，参与 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研发，深入接触前沿基础模型在计算机操作与长程智能体任务中的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关键痛点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；本课题的研究问题源于一线训练与评测需求，所构建的评测、环境与数据可直接服务于基础模型后训练。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研究一（评测）与研究二（训练）已完成，形成可扩展评测与训练框架的基础；后续聚焦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研究三（应用）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20 / 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预期创新点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19500" cy="4095750"/>
          </a:xfrm>
          <a:prstGeom prst="roundRect">
            <a:avLst>
              <a:gd name="adj" fmla="val 315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8650" y="1524000"/>
            <a:ext cx="819150" cy="35614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1962150"/>
            <a:ext cx="33337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综合数字智能体范式与轨迹感知的可信评测</a:t>
            </a:r>
          </a:p>
        </p:txBody>
      </p:sp>
      <p:pic>
        <p:nvPicPr>
          <p:cNvPr id="8" name="Picture 7" descr="fig_overview_new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602505"/>
            <a:ext cx="3390900" cy="134818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650" y="4343400"/>
            <a:ext cx="33147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形式化 CLI 与 GUI 交织的混合能力范式；以单通道基线与人工审查筛选需协同的长程任务，以轨迹审计替代仅依据结果的判分，揭示自主编排与自我验证瓶颈。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6250" y="1428750"/>
            <a:ext cx="3619500" cy="4095750"/>
          </a:xfrm>
          <a:prstGeom prst="roundRect">
            <a:avLst>
              <a:gd name="adj" fmla="val 315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457700" y="1524000"/>
            <a:ext cx="819150" cy="35614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7700" y="1962150"/>
            <a:ext cx="33337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以原版应用为 oracle 的可扩展可验证训练</a:t>
            </a:r>
          </a:p>
        </p:txBody>
      </p:sp>
      <p:pic>
        <p:nvPicPr>
          <p:cNvPr id="13" name="Picture 12" descr="rw_fig2_recre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0550" y="2870361"/>
            <a:ext cx="3390900" cy="8124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57700" y="4343400"/>
            <a:ext cx="33147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任意开源应用即可转化为"环境 + 隐藏行为测试"，为混合行为提供可验证奖励；验证习得行为可迁移至分布外任务。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5300" y="1428750"/>
            <a:ext cx="3619500" cy="4095750"/>
          </a:xfrm>
          <a:prstGeom prst="roundRect">
            <a:avLst>
              <a:gd name="adj" fmla="val 315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86750" y="1524000"/>
            <a:ext cx="819150" cy="35614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6750" y="1962150"/>
            <a:ext cx="33337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面向真实世界的环境扩展与物理落地验证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750" y="4343400"/>
            <a:ext cx="33147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构建职业化个人电脑环境与真实数据驱动的任务流水线；以反事实干预检验生成内容的物理机制，并以诊断与定向修复提升可靠性。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三点创新共享同一原则：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以可执行、可验证的证据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度量与训练智能体，而非依赖结果表象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21 / 23</a:t>
            </a:r>
          </a:p>
        </p:txBody>
      </p:sp>
      <p:pic>
        <p:nvPicPr>
          <p:cNvPr id="23" name="innov03.mp4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229600" y="2328428"/>
            <a:ext cx="3390900" cy="189634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2000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23"/>
                </p:tgtEl>
              </p:cMediaNode>
            </p:video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研究计划：研究三（应用）的推进安排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9600" y="1619250"/>
            <a:ext cx="10953750" cy="28575"/>
          </a:xfrm>
          <a:prstGeom prst="rect">
            <a:avLst/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09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2026.10 – 2027.01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9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职业化个人电脑环境构建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266950"/>
            <a:ext cx="2438400" cy="11668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会计 / 法律 / 电商 / 医疗 / 设计 / 芯片等职业调研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App Mock：基于复刻能力仿真业务系统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个人文件、账户与状态数据库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7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95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2027.02 – 2027.05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4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67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真实数据驱动与任务流水线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7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脱敏真实数据驱动状态与事件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任务生成 → 轨迹 → 状态优先 verifier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先拒绝采样 SFT，再可验证奖励 RL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4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53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2027.06 – 2027.09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4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物理世界智能体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反事实干预基准（RQ1–RQ3）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验证、诊断与定向修复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核心消融；中期检查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2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410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2027.10 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9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660874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82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整合与论文撰写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2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评测—训练—应用整合为统一框架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补充实验、开源整理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学位论文撰写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90950"/>
            <a:ext cx="112776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39052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预期达到目标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" y="4210050"/>
            <a:ext cx="10991850" cy="771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构建覆盖多个职业的个人电脑可验证环境与 SFT / RL 任务流水线，验证其对职业化个人智能体能力的提升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建立物理世界生成的反事实干预基准与定向修复方法，验证其对跨条件物理泛化的提升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形成"评测—训练—应用"的可扩展框架，产出高水平论文并开源基准、环境与代码；完成学位论文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预期成果：研究三形成 1–2 篇高水平论文（职业化个人智能体；物理世界智能体），开源环境、基准与代码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22 / 23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0750"/>
            <a:ext cx="7277100" cy="1234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汇报结束</a:t>
            </a:r>
          </a:p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恳请各位老师批评指正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6766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3924300"/>
            <a:ext cx="7296150" cy="32563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　｜　导师：王好谦 教授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1.xml><?xml version="1.0" encoding="utf-8"?>
<p:tagLst xmlns:p="http://schemas.openxmlformats.org/presentationml/2006/main">
  <p:tag name="COMMONDATA" val="eyJoZGlkIjoiZjVhNGJiMWVmZTg4ZjFhYWZhYWFiMzBkODkwYWRkZmUifQ=="/>
  <p:tag name="resource_record_key" val="{&quot;10&quot;:[21555167,21545204,21575396,21552757,21550399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WPS 演示</Application>
  <PresentationFormat>宽屏</PresentationFormat>
  <Paragraphs>4</Paragraphs>
  <Slides>8</Slides>
  <Notes>10</Notes>
  <HiddenSlides>1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4" baseType="lpstr">
      <vt:lpstr>Arial</vt:lpstr>
      <vt:lpstr>宋体</vt:lpstr>
      <vt:lpstr>Wingdings</vt:lpstr>
      <vt:lpstr>Wingdings</vt:lpstr>
      <vt:lpstr>Arial</vt:lpstr>
      <vt:lpstr>微软雅黑 Light</vt:lpstr>
      <vt:lpstr>方正小标宋简体</vt:lpstr>
      <vt:lpstr>Times New Roman Bold</vt:lpstr>
      <vt:lpstr>Times New Roman</vt:lpstr>
      <vt:lpstr>Noto Sans SC</vt:lpstr>
      <vt:lpstr>Noto Sans SC</vt:lpstr>
      <vt:lpstr>Times New Roman Regular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86189</dc:creator>
  <cp:lastModifiedBy>文</cp:lastModifiedBy>
  <cp:revision>764</cp:revision>
  <dcterms:created xsi:type="dcterms:W3CDTF">2026-03-22T08:21:00Z</dcterms:created>
  <dcterms:modified xsi:type="dcterms:W3CDTF">2026-03-22T08:59:47Z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436FDA4FD1FAADFA3B57116922FA7F82_43</vt:lpwstr>
  </property>
</Properties>
</file>